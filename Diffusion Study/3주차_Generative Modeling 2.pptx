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160"/>
  </p:notesMasterIdLst>
  <p:handoutMasterIdLst>
    <p:handoutMasterId r:id="rId161"/>
  </p:handoutMasterIdLst>
  <p:sldIdLst>
    <p:sldId id="540" r:id="rId4"/>
    <p:sldId id="362" r:id="rId5"/>
    <p:sldId id="377" r:id="rId6"/>
    <p:sldId id="378" r:id="rId7"/>
    <p:sldId id="382" r:id="rId8"/>
    <p:sldId id="379" r:id="rId9"/>
    <p:sldId id="380" r:id="rId10"/>
    <p:sldId id="472" r:id="rId11"/>
    <p:sldId id="260" r:id="rId12"/>
    <p:sldId id="551" r:id="rId13"/>
    <p:sldId id="384" r:id="rId14"/>
    <p:sldId id="415" r:id="rId15"/>
    <p:sldId id="386" r:id="rId16"/>
    <p:sldId id="391" r:id="rId17"/>
    <p:sldId id="393" r:id="rId18"/>
    <p:sldId id="392" r:id="rId19"/>
    <p:sldId id="394" r:id="rId20"/>
    <p:sldId id="396" r:id="rId21"/>
    <p:sldId id="397" r:id="rId22"/>
    <p:sldId id="400" r:id="rId23"/>
    <p:sldId id="398" r:id="rId24"/>
    <p:sldId id="401" r:id="rId25"/>
    <p:sldId id="371" r:id="rId26"/>
    <p:sldId id="403" r:id="rId27"/>
    <p:sldId id="413" r:id="rId28"/>
    <p:sldId id="412" r:id="rId29"/>
    <p:sldId id="404" r:id="rId30"/>
    <p:sldId id="411" r:id="rId31"/>
    <p:sldId id="416" r:id="rId32"/>
    <p:sldId id="422" r:id="rId33"/>
    <p:sldId id="576" r:id="rId34"/>
    <p:sldId id="419" r:id="rId35"/>
    <p:sldId id="420" r:id="rId36"/>
    <p:sldId id="421" r:id="rId37"/>
    <p:sldId id="476" r:id="rId38"/>
    <p:sldId id="577" r:id="rId39"/>
    <p:sldId id="425" r:id="rId40"/>
    <p:sldId id="478" r:id="rId41"/>
    <p:sldId id="436" r:id="rId42"/>
    <p:sldId id="426" r:id="rId43"/>
    <p:sldId id="437" r:id="rId44"/>
    <p:sldId id="361" r:id="rId45"/>
    <p:sldId id="432" r:id="rId46"/>
    <p:sldId id="491" r:id="rId47"/>
    <p:sldId id="490" r:id="rId48"/>
    <p:sldId id="489" r:id="rId49"/>
    <p:sldId id="488" r:id="rId50"/>
    <p:sldId id="481" r:id="rId51"/>
    <p:sldId id="479" r:id="rId52"/>
    <p:sldId id="482" r:id="rId53"/>
    <p:sldId id="480" r:id="rId54"/>
    <p:sldId id="483" r:id="rId55"/>
    <p:sldId id="486" r:id="rId56"/>
    <p:sldId id="492" r:id="rId57"/>
    <p:sldId id="493" r:id="rId58"/>
    <p:sldId id="495" r:id="rId59"/>
    <p:sldId id="496" r:id="rId60"/>
    <p:sldId id="440" r:id="rId61"/>
    <p:sldId id="497" r:id="rId62"/>
    <p:sldId id="501" r:id="rId63"/>
    <p:sldId id="498" r:id="rId64"/>
    <p:sldId id="499" r:id="rId65"/>
    <p:sldId id="500" r:id="rId66"/>
    <p:sldId id="443" r:id="rId67"/>
    <p:sldId id="578" r:id="rId68"/>
    <p:sldId id="449" r:id="rId69"/>
    <p:sldId id="502" r:id="rId70"/>
    <p:sldId id="506" r:id="rId71"/>
    <p:sldId id="505" r:id="rId72"/>
    <p:sldId id="552" r:id="rId73"/>
    <p:sldId id="444" r:id="rId74"/>
    <p:sldId id="451" r:id="rId75"/>
    <p:sldId id="507" r:id="rId76"/>
    <p:sldId id="508" r:id="rId77"/>
    <p:sldId id="509" r:id="rId78"/>
    <p:sldId id="459" r:id="rId79"/>
    <p:sldId id="465" r:id="rId80"/>
    <p:sldId id="466" r:id="rId81"/>
    <p:sldId id="456" r:id="rId82"/>
    <p:sldId id="520" r:id="rId83"/>
    <p:sldId id="510" r:id="rId84"/>
    <p:sldId id="519" r:id="rId85"/>
    <p:sldId id="518" r:id="rId86"/>
    <p:sldId id="542" r:id="rId87"/>
    <p:sldId id="541" r:id="rId88"/>
    <p:sldId id="543" r:id="rId89"/>
    <p:sldId id="521" r:id="rId90"/>
    <p:sldId id="513" r:id="rId91"/>
    <p:sldId id="463" r:id="rId92"/>
    <p:sldId id="514" r:id="rId93"/>
    <p:sldId id="517" r:id="rId94"/>
    <p:sldId id="538" r:id="rId95"/>
    <p:sldId id="522" r:id="rId96"/>
    <p:sldId id="464" r:id="rId97"/>
    <p:sldId id="523" r:id="rId98"/>
    <p:sldId id="515" r:id="rId99"/>
    <p:sldId id="516" r:id="rId100"/>
    <p:sldId id="524" r:id="rId101"/>
    <p:sldId id="525" r:id="rId102"/>
    <p:sldId id="526" r:id="rId103"/>
    <p:sldId id="468" r:id="rId104"/>
    <p:sldId id="469" r:id="rId105"/>
    <p:sldId id="460" r:id="rId106"/>
    <p:sldId id="527" r:id="rId107"/>
    <p:sldId id="511" r:id="rId108"/>
    <p:sldId id="512" r:id="rId109"/>
    <p:sldId id="545" r:id="rId110"/>
    <p:sldId id="457" r:id="rId111"/>
    <p:sldId id="546" r:id="rId112"/>
    <p:sldId id="544" r:id="rId113"/>
    <p:sldId id="547" r:id="rId114"/>
    <p:sldId id="539" r:id="rId115"/>
    <p:sldId id="453" r:id="rId116"/>
    <p:sldId id="529" r:id="rId117"/>
    <p:sldId id="530" r:id="rId118"/>
    <p:sldId id="532" r:id="rId119"/>
    <p:sldId id="454" r:id="rId120"/>
    <p:sldId id="533" r:id="rId121"/>
    <p:sldId id="534" r:id="rId122"/>
    <p:sldId id="535" r:id="rId123"/>
    <p:sldId id="536" r:id="rId124"/>
    <p:sldId id="537" r:id="rId125"/>
    <p:sldId id="455" r:id="rId126"/>
    <p:sldId id="458" r:id="rId127"/>
    <p:sldId id="549" r:id="rId128"/>
    <p:sldId id="548" r:id="rId129"/>
    <p:sldId id="550" r:id="rId130"/>
    <p:sldId id="528" r:id="rId131"/>
    <p:sldId id="467" r:id="rId132"/>
    <p:sldId id="470" r:id="rId133"/>
    <p:sldId id="471" r:id="rId134"/>
    <p:sldId id="474" r:id="rId135"/>
    <p:sldId id="473" r:id="rId136"/>
    <p:sldId id="553" r:id="rId137"/>
    <p:sldId id="571" r:id="rId138"/>
    <p:sldId id="555" r:id="rId139"/>
    <p:sldId id="572" r:id="rId140"/>
    <p:sldId id="573" r:id="rId141"/>
    <p:sldId id="570" r:id="rId142"/>
    <p:sldId id="560" r:id="rId143"/>
    <p:sldId id="561" r:id="rId144"/>
    <p:sldId id="556" r:id="rId145"/>
    <p:sldId id="557" r:id="rId146"/>
    <p:sldId id="558" r:id="rId147"/>
    <p:sldId id="559" r:id="rId148"/>
    <p:sldId id="562" r:id="rId149"/>
    <p:sldId id="563" r:id="rId150"/>
    <p:sldId id="564" r:id="rId151"/>
    <p:sldId id="565" r:id="rId152"/>
    <p:sldId id="567" r:id="rId153"/>
    <p:sldId id="566" r:id="rId154"/>
    <p:sldId id="568" r:id="rId155"/>
    <p:sldId id="569" r:id="rId156"/>
    <p:sldId id="579" r:id="rId157"/>
    <p:sldId id="574" r:id="rId158"/>
    <p:sldId id="575" r:id="rId159"/>
  </p:sldIdLst>
  <p:sldSz cx="12192000" cy="6858000"/>
  <p:notesSz cx="6858000" cy="9144000"/>
  <p:embeddedFontLst>
    <p:embeddedFont>
      <p:font typeface="Pretendard Variable" panose="02000003000000020004" pitchFamily="2" charset="-127"/>
      <p:bold r:id="rId162"/>
    </p:embeddedFont>
    <p:embeddedFont>
      <p:font typeface="Pretendard Variable SemiBold" panose="02000003000000020004" pitchFamily="2" charset="-127"/>
      <p:regular r:id="rId163"/>
      <p:bold r:id="rId164"/>
    </p:embeddedFont>
    <p:embeddedFont>
      <p:font typeface="Amazon Ember" panose="020B0603020204020204" pitchFamily="34" charset="0"/>
      <p:regular r:id="rId165"/>
      <p:bold r:id="rId166"/>
      <p:italic r:id="rId167"/>
      <p:boldItalic r:id="rId168"/>
    </p:embeddedFont>
    <p:embeddedFont>
      <p:font typeface="Amazon Ember Display" panose="020F0603020204020204" pitchFamily="34" charset="0"/>
      <p:regular r:id="rId169"/>
      <p:bold r:id="rId170"/>
      <p:italic r:id="rId171"/>
      <p:boldItalic r:id="rId172"/>
    </p:embeddedFont>
    <p:embeddedFont>
      <p:font typeface="Cambria Math" panose="02040503050406030204" pitchFamily="18" charset="0"/>
      <p:regular r:id="rId173"/>
    </p:embeddedFont>
    <p:embeddedFont>
      <p:font typeface="Lucida Console" panose="020B0609040504020204" pitchFamily="49" charset="0"/>
      <p:regular r:id="rId174"/>
    </p:embeddedFont>
    <p:embeddedFont>
      <p:font typeface="Pretendard Medium" panose="02000503000000020004" pitchFamily="2" charset="-127"/>
      <p:regular r:id="rId175"/>
      <p:bold r:id="rId176"/>
    </p:embeddedFont>
    <p:embeddedFont>
      <p:font typeface="Pretendard SemiBold" panose="02000503000000020004" pitchFamily="2" charset="-127"/>
      <p:regular r:id="rId177"/>
      <p:bold r:id="rId178"/>
    </p:embeddedFont>
    <p:embeddedFont>
      <p:font typeface="Pretendard Variable Black" panose="02000003000000020004" pitchFamily="2" charset="-127"/>
      <p:bold r:id="rId179"/>
    </p:embeddedFont>
    <p:embeddedFont>
      <p:font typeface="Pretendard Variable Medium" panose="02000003000000020004" pitchFamily="2" charset="-127"/>
      <p:regular r:id="rId18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25896864-DF69-40F5-8CB7-E9E220E900ED}">
          <p14:sldIdLst/>
        </p14:section>
        <p14:section name="Title slide options" id="{8806E88D-7D3F-475C-A6F5-14A5B6CD3EBE}">
          <p14:sldIdLst>
            <p14:sldId id="540"/>
            <p14:sldId id="362"/>
            <p14:sldId id="377"/>
            <p14:sldId id="378"/>
            <p14:sldId id="382"/>
            <p14:sldId id="379"/>
            <p14:sldId id="380"/>
            <p14:sldId id="472"/>
            <p14:sldId id="260"/>
          </p14:sldIdLst>
        </p14:section>
        <p14:section name="Divider slide options" id="{53D029EB-DEEC-436B-98BE-1B30026C68BA}">
          <p14:sldIdLst>
            <p14:sldId id="551"/>
          </p14:sldIdLst>
        </p14:section>
        <p14:section name="Content slides" id="{EC17E99E-D672-4609-B42A-AE99DD1E8900}">
          <p14:sldIdLst>
            <p14:sldId id="384"/>
            <p14:sldId id="415"/>
            <p14:sldId id="386"/>
            <p14:sldId id="391"/>
            <p14:sldId id="393"/>
            <p14:sldId id="392"/>
            <p14:sldId id="394"/>
            <p14:sldId id="396"/>
            <p14:sldId id="397"/>
            <p14:sldId id="400"/>
            <p14:sldId id="398"/>
            <p14:sldId id="401"/>
            <p14:sldId id="371"/>
            <p14:sldId id="403"/>
            <p14:sldId id="413"/>
            <p14:sldId id="412"/>
            <p14:sldId id="404"/>
            <p14:sldId id="411"/>
            <p14:sldId id="416"/>
            <p14:sldId id="422"/>
            <p14:sldId id="576"/>
            <p14:sldId id="419"/>
            <p14:sldId id="420"/>
            <p14:sldId id="421"/>
            <p14:sldId id="476"/>
            <p14:sldId id="577"/>
            <p14:sldId id="425"/>
            <p14:sldId id="478"/>
            <p14:sldId id="436"/>
            <p14:sldId id="426"/>
            <p14:sldId id="437"/>
            <p14:sldId id="361"/>
            <p14:sldId id="432"/>
            <p14:sldId id="491"/>
            <p14:sldId id="490"/>
            <p14:sldId id="489"/>
            <p14:sldId id="488"/>
            <p14:sldId id="481"/>
            <p14:sldId id="479"/>
            <p14:sldId id="482"/>
            <p14:sldId id="480"/>
            <p14:sldId id="483"/>
            <p14:sldId id="486"/>
            <p14:sldId id="492"/>
            <p14:sldId id="493"/>
            <p14:sldId id="495"/>
            <p14:sldId id="496"/>
            <p14:sldId id="440"/>
            <p14:sldId id="497"/>
            <p14:sldId id="501"/>
            <p14:sldId id="498"/>
            <p14:sldId id="499"/>
            <p14:sldId id="500"/>
            <p14:sldId id="443"/>
            <p14:sldId id="578"/>
            <p14:sldId id="449"/>
            <p14:sldId id="502"/>
            <p14:sldId id="506"/>
            <p14:sldId id="505"/>
            <p14:sldId id="552"/>
            <p14:sldId id="444"/>
            <p14:sldId id="451"/>
            <p14:sldId id="507"/>
            <p14:sldId id="508"/>
            <p14:sldId id="509"/>
            <p14:sldId id="459"/>
            <p14:sldId id="465"/>
            <p14:sldId id="466"/>
            <p14:sldId id="456"/>
            <p14:sldId id="520"/>
            <p14:sldId id="510"/>
            <p14:sldId id="519"/>
            <p14:sldId id="518"/>
            <p14:sldId id="542"/>
            <p14:sldId id="541"/>
            <p14:sldId id="543"/>
            <p14:sldId id="521"/>
            <p14:sldId id="513"/>
            <p14:sldId id="463"/>
            <p14:sldId id="514"/>
            <p14:sldId id="517"/>
            <p14:sldId id="538"/>
            <p14:sldId id="522"/>
            <p14:sldId id="464"/>
            <p14:sldId id="523"/>
            <p14:sldId id="515"/>
            <p14:sldId id="516"/>
            <p14:sldId id="524"/>
            <p14:sldId id="525"/>
            <p14:sldId id="526"/>
            <p14:sldId id="468"/>
            <p14:sldId id="469"/>
            <p14:sldId id="460"/>
            <p14:sldId id="527"/>
            <p14:sldId id="511"/>
            <p14:sldId id="512"/>
            <p14:sldId id="545"/>
            <p14:sldId id="457"/>
            <p14:sldId id="546"/>
            <p14:sldId id="544"/>
            <p14:sldId id="547"/>
            <p14:sldId id="539"/>
            <p14:sldId id="453"/>
            <p14:sldId id="529"/>
            <p14:sldId id="530"/>
            <p14:sldId id="532"/>
            <p14:sldId id="454"/>
            <p14:sldId id="533"/>
            <p14:sldId id="534"/>
            <p14:sldId id="535"/>
            <p14:sldId id="536"/>
            <p14:sldId id="537"/>
            <p14:sldId id="455"/>
            <p14:sldId id="458"/>
            <p14:sldId id="549"/>
            <p14:sldId id="548"/>
            <p14:sldId id="550"/>
            <p14:sldId id="528"/>
            <p14:sldId id="467"/>
            <p14:sldId id="470"/>
            <p14:sldId id="471"/>
            <p14:sldId id="474"/>
            <p14:sldId id="473"/>
            <p14:sldId id="553"/>
            <p14:sldId id="571"/>
            <p14:sldId id="555"/>
            <p14:sldId id="572"/>
            <p14:sldId id="573"/>
            <p14:sldId id="570"/>
            <p14:sldId id="560"/>
            <p14:sldId id="561"/>
            <p14:sldId id="556"/>
            <p14:sldId id="557"/>
            <p14:sldId id="558"/>
            <p14:sldId id="559"/>
            <p14:sldId id="562"/>
            <p14:sldId id="563"/>
            <p14:sldId id="564"/>
            <p14:sldId id="565"/>
            <p14:sldId id="567"/>
            <p14:sldId id="566"/>
            <p14:sldId id="568"/>
            <p14:sldId id="569"/>
            <p14:sldId id="579"/>
            <p14:sldId id="574"/>
            <p14:sldId id="575"/>
          </p14:sldIdLst>
        </p14:section>
        <p14:section name="Thank you options" id="{7E98B0BD-72E6-4477-9B70-9A023E279BCE}">
          <p14:sldIdLst/>
        </p14:section>
        <p14:section name="Examples" id="{5052AD04-C0D9-4FF6-AA6F-420659794DEE}">
          <p14:sldIdLst/>
        </p14:section>
        <p14:section name="Template directions" id="{9E4ACA30-D387-48B9-B60B-FCAB7867C6F7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3F3"/>
    <a:srgbClr val="1757A0"/>
    <a:srgbClr val="4617DD"/>
    <a:srgbClr val="0FCE57"/>
    <a:srgbClr val="232F3E"/>
    <a:srgbClr val="FFFFFF"/>
    <a:srgbClr val="1F2F3F"/>
    <a:srgbClr val="1FA682"/>
    <a:srgbClr val="FFEDC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97" autoAdjust="0"/>
    <p:restoredTop sz="62472" autoAdjust="0"/>
  </p:normalViewPr>
  <p:slideViewPr>
    <p:cSldViewPr snapToGrid="0">
      <p:cViewPr>
        <p:scale>
          <a:sx n="106" d="100"/>
          <a:sy n="106" d="100"/>
        </p:scale>
        <p:origin x="18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59" Type="http://schemas.openxmlformats.org/officeDocument/2006/relationships/slide" Target="slides/slide156.xml"/><Relationship Id="rId170" Type="http://schemas.openxmlformats.org/officeDocument/2006/relationships/font" Target="fonts/font9.fntdata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160" Type="http://schemas.openxmlformats.org/officeDocument/2006/relationships/notesMaster" Target="notesMasters/notesMaster1.xml"/><Relationship Id="rId181" Type="http://schemas.openxmlformats.org/officeDocument/2006/relationships/presProps" Target="presProps.xml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71" Type="http://schemas.openxmlformats.org/officeDocument/2006/relationships/font" Target="fonts/font10.fntdata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handoutMaster" Target="handoutMasters/handoutMaster1.xml"/><Relationship Id="rId182" Type="http://schemas.openxmlformats.org/officeDocument/2006/relationships/viewProps" Target="viewProps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slide" Target="slides/slide132.xml"/><Relationship Id="rId151" Type="http://schemas.openxmlformats.org/officeDocument/2006/relationships/slide" Target="slides/slide148.xml"/><Relationship Id="rId156" Type="http://schemas.openxmlformats.org/officeDocument/2006/relationships/slide" Target="slides/slide153.xml"/><Relationship Id="rId177" Type="http://schemas.openxmlformats.org/officeDocument/2006/relationships/font" Target="fonts/font16.fntdata"/><Relationship Id="rId172" Type="http://schemas.openxmlformats.org/officeDocument/2006/relationships/font" Target="fonts/font11.fntdata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slide" Target="slides/slide138.xml"/><Relationship Id="rId146" Type="http://schemas.openxmlformats.org/officeDocument/2006/relationships/slide" Target="slides/slide143.xml"/><Relationship Id="rId167" Type="http://schemas.openxmlformats.org/officeDocument/2006/relationships/font" Target="fonts/font6.fntdata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162" Type="http://schemas.openxmlformats.org/officeDocument/2006/relationships/font" Target="fonts/font1.fntdata"/><Relationship Id="rId183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157" Type="http://schemas.openxmlformats.org/officeDocument/2006/relationships/slide" Target="slides/slide154.xml"/><Relationship Id="rId178" Type="http://schemas.openxmlformats.org/officeDocument/2006/relationships/font" Target="fonts/font17.fntdata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slide" Target="slides/slide149.xml"/><Relationship Id="rId173" Type="http://schemas.openxmlformats.org/officeDocument/2006/relationships/font" Target="fonts/font12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font" Target="fonts/font7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font" Target="fonts/font2.fntdata"/><Relationship Id="rId184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slide" Target="slides/slide155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74" Type="http://schemas.openxmlformats.org/officeDocument/2006/relationships/font" Target="fonts/font13.fntdata"/><Relationship Id="rId179" Type="http://schemas.openxmlformats.org/officeDocument/2006/relationships/font" Target="fonts/font18.fntdata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164" Type="http://schemas.openxmlformats.org/officeDocument/2006/relationships/font" Target="fonts/font3.fntdata"/><Relationship Id="rId169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80" Type="http://schemas.openxmlformats.org/officeDocument/2006/relationships/font" Target="fonts/font19.fntdata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slide" Target="slides/slide151.xml"/><Relationship Id="rId175" Type="http://schemas.openxmlformats.org/officeDocument/2006/relationships/font" Target="fonts/font14.fntdata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font" Target="fonts/font4.fntdata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slide" Target="slides/slide152.xml"/><Relationship Id="rId176" Type="http://schemas.openxmlformats.org/officeDocument/2006/relationships/font" Target="fonts/font15.fntdata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font" Target="fonts/font5.fntdata"/><Relationship Id="rId1" Type="http://schemas.openxmlformats.org/officeDocument/2006/relationships/customXml" Target="../customXml/item1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4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05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56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97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50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72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02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15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74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6F7F-4712-2D6A-42E4-D4B57F710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17276-CA88-7068-CE78-9CDA02AF7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45BA3-F9DC-AC53-7E5D-E9E3841E7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가지고 있는 데이터 </a:t>
            </a:r>
            <a:r>
              <a:rPr lang="en-US" dirty="0"/>
              <a:t>x</a:t>
            </a:r>
            <a:r>
              <a:rPr lang="ko-KR" altLang="en-US" dirty="0"/>
              <a:t>가 가장 그럴듯하게 나올 수 있는 파라미터 </a:t>
            </a:r>
            <a:r>
              <a:rPr lang="el-GR" dirty="0">
                <a:effectLst/>
              </a:rPr>
              <a:t>θ</a:t>
            </a:r>
            <a:r>
              <a:rPr lang="ko-KR" altLang="en-US" dirty="0"/>
              <a:t>는 무엇일까</a:t>
            </a:r>
            <a:r>
              <a:rPr lang="en-US" altLang="ko-KR" dirty="0"/>
              <a:t>?</a:t>
            </a:r>
          </a:p>
          <a:p>
            <a:endParaRPr lang="en-US" b="0" dirty="0"/>
          </a:p>
          <a:p>
            <a:endParaRPr lang="en-KR" b="0" dirty="0"/>
          </a:p>
          <a:p>
            <a:r>
              <a:rPr lang="ko-KR" altLang="en-US" dirty="0"/>
              <a:t>데이터를 관찰한 후</a:t>
            </a:r>
            <a:r>
              <a:rPr lang="en-US" altLang="ko-KR" dirty="0"/>
              <a:t>, </a:t>
            </a:r>
            <a:r>
              <a:rPr lang="ko-KR" altLang="en-US" dirty="0"/>
              <a:t>이 데이터를 가장 잘 설명할 것이라고 생각되는 파라미터 </a:t>
            </a:r>
            <a:r>
              <a:rPr lang="el-GR" dirty="0">
                <a:effectLst/>
              </a:rPr>
              <a:t>θ</a:t>
            </a:r>
            <a:r>
              <a:rPr lang="ko-KR" altLang="en-US" dirty="0" err="1"/>
              <a:t>에</a:t>
            </a:r>
            <a:r>
              <a:rPr lang="ko-KR" altLang="en-US" dirty="0"/>
              <a:t> 대한 확률 분포</a:t>
            </a:r>
            <a:endParaRPr lang="en-KR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E3D67-BE95-C694-2B82-196BFDC84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30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95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20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34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DCEB84-1B2A-5C0C-64EA-6C158B89A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674"/>
            <a:ext cx="12216384" cy="6871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269514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AF3A13-CD80-F2E8-3DAA-F653F278D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674"/>
            <a:ext cx="12216384" cy="6871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4A1AE1-7907-F24D-8677-0B8F5F67234B}" type="datetime1">
              <a:rPr lang="en-US" smtClean="0"/>
              <a:pPr/>
              <a:t>7/7/25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92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C92E0974-0CD4-8086-326C-CC1E512E8F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724" y="0"/>
            <a:ext cx="12226724" cy="6871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FBA4412-B7A6-5248-9101-6EE6DBC2D916}" type="datetime1">
              <a:rPr lang="en-US" smtClean="0"/>
              <a:pPr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20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174688-BDB2-D3DA-51BB-B1A62BC725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3717"/>
            <a:ext cx="12216384" cy="6871717"/>
          </a:xfrm>
          <a:prstGeom prst="rect">
            <a:avLst/>
          </a:prstGeom>
        </p:spPr>
      </p:pic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41519F39-6580-C4C2-BB47-492DBFE4A8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19A95A1-B9DA-4AAF-6327-04E6E02C33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DD60EAE-90A8-B220-D5E0-25B932A829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372C3DC5-490A-678D-993A-0001998C3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FCCCA-452D-9DA7-013E-E3237E8C1941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273A5BBD-DB49-AE14-144E-73B8C449E0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669" y="551565"/>
            <a:ext cx="1003039" cy="59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D24585-5FD4-1B19-CEF5-1CD39DA740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674"/>
            <a:ext cx="12216384" cy="6871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44218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6736434-7E81-994B-854B-1BF33F160A0D}" type="datetime1">
              <a:rPr lang="en-US" smtClean="0"/>
              <a:t>7/8/25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0D62F-E191-C046-B6EA-E79BE99AA24A}" type="datetime1">
              <a:rPr lang="en-US" smtClean="0"/>
              <a:t>7/8/25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4412-B7A6-5248-9101-6EE6DBC2D916}" type="datetime1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10CAA-001C-4D0F-BB74-F1ACD384CD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01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1D3B374-854B-EF47-9B56-0018B9F83111}" type="datetime1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2222-37A4-5449-B1D9-9B13ADA59E84}" type="datetime1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78D1-9721-044C-B65C-A6FC97994CEC}" type="datetime1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4422CFE-CB70-E144-AF43-F0FCE393742F}" type="datetime1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4229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4FC2D43-256D-6645-BCF9-A844B8D70195}" type="datetime1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10858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4038599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C0C526-AA41-9246-8D2F-123642CF358A}" type="datetime1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C29B-2875-A847-90DD-93F5B9D216F5}" type="datetime1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7C09E-9944-944E-A974-7D6AA4E02B83}" type="datetime1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F02E835-1245-C748-8E9F-651FE6B45587}" type="datetime1">
              <a:rPr lang="en-US" smtClean="0"/>
              <a:t>7/7/25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96E8718-D810-5D42-BBA7-DBDBA7B074E9}" type="datetime1">
              <a:rPr lang="en-US" smtClean="0"/>
              <a:t>7/7/25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958DF5-F549-8B46-95E0-C2CB36033BB5}" type="datetime1">
              <a:rPr lang="en-US" smtClean="0"/>
              <a:t>7/7/25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449579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1397-8FE7-FB4B-82EE-58C288712F6D}" type="datetime1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8789C-A0D1-A74F-A15D-501FE221905E}" type="datetime1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EFB7-825D-FD49-9015-DED228A83D99}" type="datetime1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4A219A-BE84-4EDF-84E9-7B8C5EE9E5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06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1CC3-E800-D94E-ACE2-59E99B1146F6}" type="datetime1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4B5C68-7AAF-714C-BA5C-79EE2A2BF521}" type="datetime1">
              <a:rPr lang="en-US" smtClean="0"/>
              <a:t>7/7/25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22D055C-F955-814B-8E36-6633B2B2BF72}" type="datetime1">
              <a:rPr lang="en-US" smtClean="0"/>
              <a:t>7/7/25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95221"/>
            <a:ext cx="8067261" cy="1900504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>
              <a:duotone>
                <a:prstClr val="black"/>
                <a:srgbClr val="19191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8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150" y="3274218"/>
            <a:ext cx="309563" cy="309563"/>
          </a:xfr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8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2BEA218-CD6F-B44E-B26C-C64BF244E0F0}" type="datetime1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0039-AC38-8C4D-BBF6-A4179217D919}" type="datetime1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8F1F-E927-864D-8933-A87A9B46D340}" type="datetime1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1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480131"/>
          </a:xfrm>
        </p:spPr>
        <p:txBody>
          <a:bodyPr/>
          <a:lstStyle>
            <a:lvl1pPr>
              <a:defRPr sz="2800" b="1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9E88-8D52-D44B-9301-05276D5B5248}" type="datetime1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28875"/>
            <a:ext cx="6867525" cy="95566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Q&amp;A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6FF82B-B4E0-4C97-87F3-C1C0B88375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58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</p:spPr>
        <p:txBody>
          <a:bodyPr anchor="ctr" anchorCtr="0"/>
          <a:lstStyle>
            <a:lvl1pPr>
              <a:defRPr sz="4400"/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8746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2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35531"/>
          </a:xfrm>
        </p:spPr>
        <p:txBody>
          <a:bodyPr anchor="t" anchorCtr="0"/>
          <a:lstStyle>
            <a:lvl1pPr>
              <a:defRPr sz="40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448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44846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385405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1718982"/>
            <a:ext cx="10972800" cy="44913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C9B-6FB6-E64C-9786-C40DFE89F624}" type="datetime1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9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914399"/>
            <a:ext cx="7962900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148F-2774-EA45-8C22-2C39149188FB}" type="datetime1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4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Do not use layouts after this slide.</a:t>
            </a:r>
            <a:br>
              <a:rPr lang="en-US" sz="6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They are not part of the official template.</a:t>
            </a:r>
            <a:endParaRPr lang="en-US" sz="60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380999" y="163722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4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19D5990-0C54-831D-96A4-1627FE9FCB07}"/>
              </a:ext>
            </a:extLst>
          </p:cNvPr>
          <p:cNvSpPr/>
          <p:nvPr userDrawn="1"/>
        </p:nvSpPr>
        <p:spPr>
          <a:xfrm>
            <a:off x="0" y="15433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 b="1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7" name="Picture 6" descr="정장 - 대학상징 - 대학소개 - 서울대학교">
            <a:extLst>
              <a:ext uri="{FF2B5EF4-FFF2-40B4-BE49-F238E27FC236}">
                <a16:creationId xmlns:a16="http://schemas.microsoft.com/office/drawing/2014/main" id="{1CEEA42D-03E6-42C5-DB73-A8862FA337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95E115-D62C-AE0C-429A-CF37FB8895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09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Color set 2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B1A5DF-D1AF-9EE3-9432-779B4BB2A974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29286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EF3D5-2436-9240-B6D0-2048A71FFF33}" type="datetime1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40" r:id="rId2"/>
    <p:sldLayoutId id="2147483741" r:id="rId3"/>
    <p:sldLayoutId id="2147483676" r:id="rId4"/>
    <p:sldLayoutId id="2147483726" r:id="rId5"/>
    <p:sldLayoutId id="2147483661" r:id="rId6"/>
    <p:sldLayoutId id="2147483654" r:id="rId7"/>
    <p:sldLayoutId id="2147483709" r:id="rId8"/>
    <p:sldLayoutId id="2147483663" r:id="rId9"/>
    <p:sldLayoutId id="2147483655" r:id="rId10"/>
    <p:sldLayoutId id="2147483650" r:id="rId11"/>
    <p:sldLayoutId id="2147483664" r:id="rId12"/>
    <p:sldLayoutId id="2147483666" r:id="rId13"/>
    <p:sldLayoutId id="2147483667" r:id="rId14"/>
    <p:sldLayoutId id="2147483665" r:id="rId15"/>
    <p:sldLayoutId id="2147483668" r:id="rId16"/>
    <p:sldLayoutId id="2147483653" r:id="rId17"/>
    <p:sldLayoutId id="2147483689" r:id="rId18"/>
    <p:sldLayoutId id="2147483691" r:id="rId19"/>
    <p:sldLayoutId id="2147483690" r:id="rId20"/>
    <p:sldLayoutId id="2147483657" r:id="rId21"/>
    <p:sldLayoutId id="2147483692" r:id="rId22"/>
    <p:sldLayoutId id="2147483693" r:id="rId23"/>
    <p:sldLayoutId id="2147483694" r:id="rId24"/>
    <p:sldLayoutId id="2147483652" r:id="rId25"/>
    <p:sldLayoutId id="2147483669" r:id="rId26"/>
    <p:sldLayoutId id="2147483670" r:id="rId27"/>
    <p:sldLayoutId id="2147483673" r:id="rId28"/>
    <p:sldLayoutId id="2147483671" r:id="rId29"/>
    <p:sldLayoutId id="2147483672" r:id="rId30"/>
    <p:sldLayoutId id="2147483695" r:id="rId31"/>
    <p:sldLayoutId id="2147483674" r:id="rId32"/>
    <p:sldLayoutId id="2147483675" r:id="rId33"/>
    <p:sldLayoutId id="2147483656" r:id="rId34"/>
    <p:sldLayoutId id="2147483707" r:id="rId35"/>
    <p:sldLayoutId id="2147483708" r:id="rId36"/>
    <p:sldLayoutId id="2147483678" r:id="rId37"/>
    <p:sldLayoutId id="2147483743" r:id="rId38"/>
    <p:sldLayoutId id="2147483744" r:id="rId3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Pretendard Variable Black" panose="02000003000000020004" pitchFamily="2" charset="-127"/>
          <a:ea typeface="Pretendard Variable Black" panose="02000003000000020004" pitchFamily="2" charset="-127"/>
          <a:cs typeface="Pretendard Variable Black" panose="02000003000000020004" pitchFamily="2" charset="-12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5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4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5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5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5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5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5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520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520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12" Type="http://schemas.openxmlformats.org/officeDocument/2006/relationships/image" Target="../media/image7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52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5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78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image" Target="../media/image82.png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19" Type="http://schemas.openxmlformats.org/officeDocument/2006/relationships/image" Target="../media/image85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78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image" Target="../media/image82.png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19" Type="http://schemas.openxmlformats.org/officeDocument/2006/relationships/image" Target="../media/image85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78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image" Target="../media/image82.png"/><Relationship Id="rId16" Type="http://schemas.openxmlformats.org/officeDocument/2006/relationships/image" Target="../media/image95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microsoft.com/office/2007/relationships/hdphoto" Target="../media/hdphoto5.wdp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29.png"/><Relationship Id="rId2" Type="http://schemas.openxmlformats.org/officeDocument/2006/relationships/image" Target="../media/image84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91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29.png"/><Relationship Id="rId3" Type="http://schemas.microsoft.com/office/2007/relationships/hdphoto" Target="../media/hdphoto6.wdp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84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91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microsoft.com/office/2007/relationships/hdphoto" Target="../media/hdphoto3.wdp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29.png"/><Relationship Id="rId2" Type="http://schemas.openxmlformats.org/officeDocument/2006/relationships/image" Target="../media/image84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91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microsoft.com/office/2007/relationships/hdphoto" Target="../media/hdphoto7.wdp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29.png"/><Relationship Id="rId2" Type="http://schemas.openxmlformats.org/officeDocument/2006/relationships/image" Target="../media/image84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91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microsoft.com/office/2007/relationships/hdphoto" Target="../media/hdphoto8.wdp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29.png"/><Relationship Id="rId2" Type="http://schemas.openxmlformats.org/officeDocument/2006/relationships/image" Target="../media/image84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91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8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41.png"/><Relationship Id="rId4" Type="http://schemas.openxmlformats.org/officeDocument/2006/relationships/image" Target="../media/image13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4.png"/><Relationship Id="rId4" Type="http://schemas.openxmlformats.org/officeDocument/2006/relationships/image" Target="../media/image13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9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1.png"/><Relationship Id="rId4" Type="http://schemas.openxmlformats.org/officeDocument/2006/relationships/image" Target="../media/image149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49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4.png"/><Relationship Id="rId4" Type="http://schemas.openxmlformats.org/officeDocument/2006/relationships/image" Target="../media/image149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1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162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0.png"/><Relationship Id="rId11" Type="http://schemas.openxmlformats.org/officeDocument/2006/relationships/image" Target="../media/image16.png"/><Relationship Id="rId5" Type="http://schemas.openxmlformats.org/officeDocument/2006/relationships/image" Target="../media/image12.jpeg"/><Relationship Id="rId10" Type="http://schemas.openxmlformats.org/officeDocument/2006/relationships/image" Target="../media/image162.png"/><Relationship Id="rId4" Type="http://schemas.openxmlformats.org/officeDocument/2006/relationships/image" Target="../media/image480.png"/><Relationship Id="rId9" Type="http://schemas.openxmlformats.org/officeDocument/2006/relationships/image" Target="../media/image510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12" Type="http://schemas.openxmlformats.org/officeDocument/2006/relationships/image" Target="../media/image16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63.png"/><Relationship Id="rId5" Type="http://schemas.openxmlformats.org/officeDocument/2006/relationships/image" Target="../media/image490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162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13" Type="http://schemas.openxmlformats.org/officeDocument/2006/relationships/image" Target="../media/image164.png"/><Relationship Id="rId3" Type="http://schemas.openxmlformats.org/officeDocument/2006/relationships/image" Target="../media/image480.png"/><Relationship Id="rId7" Type="http://schemas.openxmlformats.org/officeDocument/2006/relationships/image" Target="../media/image15.png"/><Relationship Id="rId12" Type="http://schemas.openxmlformats.org/officeDocument/2006/relationships/image" Target="../media/image163.png"/><Relationship Id="rId2" Type="http://schemas.openxmlformats.org/officeDocument/2006/relationships/image" Target="../media/image12.png"/><Relationship Id="rId16" Type="http://schemas.microsoft.com/office/2007/relationships/hdphoto" Target="../media/hdphoto8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65.png"/><Relationship Id="rId5" Type="http://schemas.openxmlformats.org/officeDocument/2006/relationships/image" Target="../media/image490.png"/><Relationship Id="rId15" Type="http://schemas.openxmlformats.org/officeDocument/2006/relationships/image" Target="../media/image84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openxmlformats.org/officeDocument/2006/relationships/image" Target="../media/image162.png"/><Relationship Id="rId14" Type="http://schemas.openxmlformats.org/officeDocument/2006/relationships/image" Target="../media/image166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80.png"/><Relationship Id="rId7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90.png"/><Relationship Id="rId10" Type="http://schemas.openxmlformats.org/officeDocument/2006/relationships/image" Target="../media/image169.png"/><Relationship Id="rId4" Type="http://schemas.openxmlformats.org/officeDocument/2006/relationships/image" Target="../media/image12.jpeg"/><Relationship Id="rId9" Type="http://schemas.openxmlformats.org/officeDocument/2006/relationships/image" Target="../media/image162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7" Type="http://schemas.openxmlformats.org/officeDocument/2006/relationships/image" Target="../media/image168.png"/><Relationship Id="rId12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microsoft.com/office/2007/relationships/hdphoto" Target="../media/hdphoto3.wdp"/><Relationship Id="rId5" Type="http://schemas.openxmlformats.org/officeDocument/2006/relationships/image" Target="../media/image490.png"/><Relationship Id="rId10" Type="http://schemas.openxmlformats.org/officeDocument/2006/relationships/image" Target="../media/image84.png"/><Relationship Id="rId9" Type="http://schemas.openxmlformats.org/officeDocument/2006/relationships/image" Target="../media/image171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10" Type="http://schemas.openxmlformats.org/officeDocument/2006/relationships/image" Target="../media/image190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10" Type="http://schemas.openxmlformats.org/officeDocument/2006/relationships/image" Target="../media/image191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png"/><Relationship Id="rId11" Type="http://schemas.openxmlformats.org/officeDocument/2006/relationships/image" Target="../media/image192.png"/><Relationship Id="rId5" Type="http://schemas.openxmlformats.org/officeDocument/2006/relationships/image" Target="../media/image185.png"/><Relationship Id="rId10" Type="http://schemas.openxmlformats.org/officeDocument/2006/relationships/image" Target="../media/image191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png"/><Relationship Id="rId11" Type="http://schemas.openxmlformats.org/officeDocument/2006/relationships/image" Target="../media/image192.png"/><Relationship Id="rId5" Type="http://schemas.openxmlformats.org/officeDocument/2006/relationships/image" Target="../media/image185.png"/><Relationship Id="rId10" Type="http://schemas.openxmlformats.org/officeDocument/2006/relationships/image" Target="../media/image191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79986BE-08F0-DED1-9883-73080EA3B6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/>
              <a:t>Jaeik</a:t>
            </a:r>
            <a:r>
              <a:rPr lang="en-US" altLang="ko-KR" dirty="0"/>
              <a:t> Kim	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0A28C4B-C2F7-AFDA-6EB2-ECA35FEB74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313932"/>
          </a:xfrm>
        </p:spPr>
        <p:txBody>
          <a:bodyPr/>
          <a:lstStyle/>
          <a:p>
            <a:r>
              <a:rPr lang="en-US" altLang="ko-KR" dirty="0"/>
              <a:t>SNU AIDAS Lab</a:t>
            </a:r>
            <a:endParaRPr lang="ko-KR" alt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D64A51D-07AF-247D-2BC1-B99E36CEB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2126159"/>
            <a:ext cx="6460999" cy="757130"/>
          </a:xfrm>
        </p:spPr>
        <p:txBody>
          <a:bodyPr/>
          <a:lstStyle/>
          <a:p>
            <a:r>
              <a:rPr lang="en-US" altLang="ko-KR" dirty="0"/>
              <a:t>Generative Modeling </a:t>
            </a:r>
            <a:r>
              <a:rPr lang="en-US" b="0" dirty="0"/>
              <a:t>II</a:t>
            </a:r>
            <a:endParaRPr lang="en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67164D-C3A3-6BDE-A71F-C902721DCCB7}"/>
              </a:ext>
            </a:extLst>
          </p:cNvPr>
          <p:cNvSpPr txBox="1"/>
          <p:nvPr/>
        </p:nvSpPr>
        <p:spPr>
          <a:xfrm>
            <a:off x="609598" y="17380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Diffusion Seminar (Week3)</a:t>
            </a:r>
            <a:endParaRPr lang="ko-KR" altLang="en-US" dirty="0"/>
          </a:p>
        </p:txBody>
      </p:sp>
      <p:sp>
        <p:nvSpPr>
          <p:cNvPr id="22" name="부제목 7">
            <a:extLst>
              <a:ext uri="{FF2B5EF4-FFF2-40B4-BE49-F238E27FC236}">
                <a16:creationId xmlns:a16="http://schemas.microsoft.com/office/drawing/2014/main" id="{0FBCC1CA-D5C1-F390-6073-55E64E5CE766}"/>
              </a:ext>
            </a:extLst>
          </p:cNvPr>
          <p:cNvSpPr txBox="1">
            <a:spLocks/>
          </p:cNvSpPr>
          <p:nvPr/>
        </p:nvSpPr>
        <p:spPr>
          <a:xfrm>
            <a:off x="589933" y="2906719"/>
            <a:ext cx="6685509" cy="5355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In-depth VAE and Introduction to DDPM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4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EEFEF3-AAAD-8951-1CC7-07C78FB1ECDD}"/>
              </a:ext>
            </a:extLst>
          </p:cNvPr>
          <p:cNvSpPr txBox="1"/>
          <p:nvPr/>
        </p:nvSpPr>
        <p:spPr>
          <a:xfrm>
            <a:off x="609598" y="3013501"/>
            <a:ext cx="3250890" cy="83099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4800" b="1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Recap: VAE</a:t>
            </a:r>
          </a:p>
        </p:txBody>
      </p:sp>
    </p:spTree>
    <p:extLst>
      <p:ext uri="{BB962C8B-B14F-4D97-AF65-F5344CB8AC3E}">
        <p14:creationId xmlns:p14="http://schemas.microsoft.com/office/powerpoint/2010/main" val="167013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6CB34-E30C-A3B0-9BA6-9EFEF96D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CA2DC3-814D-EA47-3470-9A2796B0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Previous Seminar - VAE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5F0CB4-CDA3-A78C-4093-FECC708B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3D9CFF-6AAF-F324-2646-82A16E89A2D2}"/>
              </a:ext>
            </a:extLst>
          </p:cNvPr>
          <p:cNvGrpSpPr/>
          <p:nvPr/>
        </p:nvGrpSpPr>
        <p:grpSpPr>
          <a:xfrm>
            <a:off x="1195745" y="2814016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00B5137-63C2-A524-4C6C-34AAC8D30607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00B5137-63C2-A524-4C6C-34AAC8D30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5698166-450D-A2C8-7681-153DD93F3F32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6" name="Trapezoid 5">
                <a:extLst>
                  <a:ext uri="{FF2B5EF4-FFF2-40B4-BE49-F238E27FC236}">
                    <a16:creationId xmlns:a16="http://schemas.microsoft.com/office/drawing/2014/main" id="{D50A4C6C-3F27-E167-BBF0-0FB84ED7488B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8A8FAB03-BC6C-3E2B-4976-DA54540DC83F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8" name="Picture 7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31693EE4-F8DC-B003-9970-BC82329C0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302AE11-BB92-F781-5811-1D1EE9A306A9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32D609-42BB-35B5-242C-5B40A311C44D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6995E28-681E-E6E5-DBD4-1AC478D0D130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07EED4BD-A717-A3FD-61FD-6F2481AF5E37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4BA65F7-38B3-8C05-A625-86F8D20FD6E8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2EFD91DD-1C59-4817-6732-40FFAC2397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5408F9A-B7F2-6C4F-3921-4BB8DA093FA3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702AE39-59F2-DC20-CD9B-C4835B514102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702AE39-59F2-DC20-CD9B-C4835B5141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A60EE4CB-8AB1-070B-B405-E78EB5C258FA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FA16FD1-1AE0-A080-A460-CBBE0004ECED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0F4C04-E97A-F0E3-AD47-59F33FF9A447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55D460F-F420-5E79-09CE-51CCCBB3A6BF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4B1927D8-51AA-D349-0D63-69C919102277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6402982C-6680-7552-EF8C-4A0903126183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966718C-17B5-8224-DA9E-D39C00DCA70E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87FEB5C-6111-AE92-0674-BE9C92388440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D15E15F-F894-EB51-0088-806D2DA1BAC5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D15E15F-F894-EB51-0088-806D2DA1B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E6D3F240-DAC2-FAFA-1ACA-D89775CCDE1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Recap: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519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9CBE3-2F3C-6EDB-DC32-150F8532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53085E-5CB0-A14B-12E7-A5D6AADA6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Previous Seminar - VAE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E635BE-8BA3-DD90-C945-20B237CF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FCD4861-6B2B-67DE-CE66-EF5A3A059252}"/>
              </a:ext>
            </a:extLst>
          </p:cNvPr>
          <p:cNvGrpSpPr/>
          <p:nvPr/>
        </p:nvGrpSpPr>
        <p:grpSpPr>
          <a:xfrm>
            <a:off x="1195745" y="2814016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8F81CF5-6FA3-BE82-90BD-74D28B51C76B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8F81CF5-6FA3-BE82-90BD-74D28B51C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8873ECE-EBE0-DF92-612F-9DE93E59BCEC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6" name="Trapezoid 5">
                <a:extLst>
                  <a:ext uri="{FF2B5EF4-FFF2-40B4-BE49-F238E27FC236}">
                    <a16:creationId xmlns:a16="http://schemas.microsoft.com/office/drawing/2014/main" id="{0C470316-A339-30A8-AC62-6F92490E4D6B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88D6F229-255A-6170-7ACC-739CBDB618F6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8" name="Picture 7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874204BB-096F-A555-BFBD-4931B3757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550EE0-4521-BA57-1283-6A6ADB45352B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C9E4D33-5B9B-1ADE-995C-F43D0D638BA7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9EBAB4-5AD2-FC7C-EF75-B74593296B19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B26392B-04E6-B7AC-2C7C-CDB7E05D1E9B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8002459-43F1-FF79-EB6D-768C41804D72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D85E5DBA-F843-30B5-ACA6-9755D85B9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47DA45F-4F8A-A9E2-3E19-958B9E555327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6403C40-4765-1945-C84C-F9FDE7B7F925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6403C40-4765-1945-C84C-F9FDE7B7F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BE2FC8C6-A66D-5948-67B5-4CF397729665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BF8A115-8774-F9CD-3008-A7A5EDE3E2FF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B3901DE-0A47-17E8-981C-A24FB796012D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0C45546-8933-0CC7-60C5-C10A8B330AF9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84CDD0D-B520-F814-9753-2FD1AA9194B8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04FC0DB-5032-43E7-0EBD-438C50AA074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EFB3861-7B3B-3BD1-A229-6195D7123652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96D8B74-05AA-657B-88E5-670EBC4BF65C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EB67EB8-3C6D-39FE-BFF7-C00CDE21CF20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EB67EB8-3C6D-39FE-BFF7-C00CDE21C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20C850-D30D-4EBF-52E7-40C90D1DF8CD}"/>
                  </a:ext>
                </a:extLst>
              </p:cNvPr>
              <p:cNvSpPr txBox="1"/>
              <p:nvPr/>
            </p:nvSpPr>
            <p:spPr>
              <a:xfrm>
                <a:off x="2364886" y="1936351"/>
                <a:ext cx="8122673" cy="64504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Objective</a:t>
                </a:r>
                <a:r>
                  <a:rPr lang="en-US" sz="2400" b="1" dirty="0">
                    <a:solidFill>
                      <a:schemeClr val="tx1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en-KR" sz="2400" b="1" dirty="0">
                  <a:solidFill>
                    <a:schemeClr val="tx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20C850-D30D-4EBF-52E7-40C90D1DF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886" y="1936351"/>
                <a:ext cx="8122673" cy="645048"/>
              </a:xfrm>
              <a:prstGeom prst="rect">
                <a:avLst/>
              </a:prstGeom>
              <a:blipFill>
                <a:blip r:embed="rId11"/>
                <a:stretch>
                  <a:fillRect l="-2344" b="-576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ADD54567-A4B3-9C75-40FC-9234C99B940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Recap: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907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43307-814F-DEFC-8307-A87717A8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9904FD-1C41-0BAE-276A-74CCC142E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Previous Seminar - VAE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80C849-4C68-CC10-89A7-C4CAD8F5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74A4EA-7DC7-9660-2985-25FDF08758A4}"/>
              </a:ext>
            </a:extLst>
          </p:cNvPr>
          <p:cNvGrpSpPr/>
          <p:nvPr/>
        </p:nvGrpSpPr>
        <p:grpSpPr>
          <a:xfrm>
            <a:off x="1195745" y="2814016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ECB036F-EE6B-D75C-7951-50D23BF8C53C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ECB036F-EE6B-D75C-7951-50D23BF8C5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F87CD98-F3A9-AA42-7C30-775F6DC4C72C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6" name="Trapezoid 5">
                <a:extLst>
                  <a:ext uri="{FF2B5EF4-FFF2-40B4-BE49-F238E27FC236}">
                    <a16:creationId xmlns:a16="http://schemas.microsoft.com/office/drawing/2014/main" id="{FED453EE-F631-A045-0947-066756D5C57D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0AE17-92A7-8CEC-6DAB-0330A563A558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8" name="Picture 7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60424871-3BB0-3357-4BA7-3B9CF8488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73CEDD2-4605-6688-4DF4-61F183548436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C136599-E62F-0AD8-E417-E8632627CFB4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0378E1-7959-A2EF-A70B-234A5306541B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2ACA7E-161E-27B4-66F4-12FBE7F1D59F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F749797-6784-FCCE-F107-A9832248A9B0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1B63D996-C317-512C-E442-D65D32B5B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7622222-F77F-CD70-AAF7-08D22AF2B611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64781AD-D147-EF34-A0B5-A4D76E50FDFF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64781AD-D147-EF34-A0B5-A4D76E50FD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CCB46F93-2F20-5D80-A376-81D12EE3926C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231B52A-859C-E82C-EDAF-105CB5335195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71565AE-8AEF-A52A-F1C7-C8E95FB2872A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FE80923-8130-11C4-325E-5741A32333C9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80A578DA-1E4B-FDA2-A4CF-AC71BB106938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A20AF6D-17F8-A90A-F0D3-4AC66AC3D4F2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0CADF36-2AA6-BA5E-6110-4EC8A58DC387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CFCED2-BFD5-1E68-8041-14FBB9997DD8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F0F0DE3-A033-68A2-5493-47A7DB4ABB0A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F0F0DE3-A033-68A2-5493-47A7DB4AB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011F3B2-81A9-BAB3-F91B-02D2CD620AF9}"/>
                  </a:ext>
                </a:extLst>
              </p:cNvPr>
              <p:cNvSpPr txBox="1"/>
              <p:nvPr/>
            </p:nvSpPr>
            <p:spPr>
              <a:xfrm>
                <a:off x="2364886" y="1936351"/>
                <a:ext cx="8198013" cy="64504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Objective</a:t>
                </a:r>
                <a:r>
                  <a:rPr lang="en-US" sz="2400" b="1" dirty="0">
                    <a:solidFill>
                      <a:schemeClr val="tx1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en-KR" sz="2400" b="1" dirty="0">
                  <a:solidFill>
                    <a:schemeClr val="tx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011F3B2-81A9-BAB3-F91B-02D2CD620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886" y="1936351"/>
                <a:ext cx="8198013" cy="645048"/>
              </a:xfrm>
              <a:prstGeom prst="rect">
                <a:avLst/>
              </a:prstGeom>
              <a:blipFill>
                <a:blip r:embed="rId11"/>
                <a:stretch>
                  <a:fillRect l="-2322" b="-576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9EFBFE4-E767-F454-63F1-5DEC419AFDCB}"/>
              </a:ext>
            </a:extLst>
          </p:cNvPr>
          <p:cNvSpPr txBox="1"/>
          <p:nvPr/>
        </p:nvSpPr>
        <p:spPr>
          <a:xfrm>
            <a:off x="5251879" y="1641250"/>
            <a:ext cx="218489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88296C-1060-649F-797F-4F6B83F69992}"/>
              </a:ext>
            </a:extLst>
          </p:cNvPr>
          <p:cNvSpPr/>
          <p:nvPr/>
        </p:nvSpPr>
        <p:spPr>
          <a:xfrm>
            <a:off x="5379578" y="2034086"/>
            <a:ext cx="2039647" cy="45110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541B8BEA-6369-76DB-40C1-4AF9F8E530E4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Recap: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576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2220-81BE-160F-BBE8-871079F2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004C31-79EC-B224-7C60-DA140CD4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Previous Seminar - VAE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261E74-543B-82F5-C6C2-91D5C46F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2A78F05-26E9-B050-5DF7-3DC467C53C9A}"/>
              </a:ext>
            </a:extLst>
          </p:cNvPr>
          <p:cNvGrpSpPr/>
          <p:nvPr/>
        </p:nvGrpSpPr>
        <p:grpSpPr>
          <a:xfrm>
            <a:off x="1195745" y="2814016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1817B9B-F03A-C6AC-DE97-DA9109CF7E25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1817B9B-F03A-C6AC-DE97-DA9109CF7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76A6794-5911-597E-2F2A-57FE8C3E27D3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6" name="Trapezoid 5">
                <a:extLst>
                  <a:ext uri="{FF2B5EF4-FFF2-40B4-BE49-F238E27FC236}">
                    <a16:creationId xmlns:a16="http://schemas.microsoft.com/office/drawing/2014/main" id="{94D01482-4850-B9C1-610A-1F5DF62058EA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DC14C5E2-64FA-E5AA-712F-DC61A948C0EC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8" name="Picture 7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1F43C10C-CE69-7121-6C41-AA9F0615C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170AC2-CC5E-F83C-263C-C3E6FA6BB21C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BEF01D1-2AC3-B303-6FAE-75CBB2198084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8E9348-B530-C58E-16A0-FC7D3663474D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5FC8704-1B5B-1067-59CA-2C56BF3C01DB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5EDABB7-47D3-4BEA-63AB-EC065F30E118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B3B160B0-5043-29EF-69A9-EA13B9A85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20DF16D-C45B-A0B7-41C3-C99BBA4BCAB5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4E705B0-60DF-5196-C2FE-B874E8994DBD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4E705B0-60DF-5196-C2FE-B874E8994D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241CAEEE-9825-CA78-2F75-BFD44CB60967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FA6F0CA-538E-6CE6-4307-95214A5AEBA1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E9E518C-AAA2-20F7-3843-51D776EF8972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CFCD7EE-C4B1-F184-7F34-7A1D24D9DE41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11E97C72-28E4-35A8-73B9-F8C5B31DDA17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F88C80FF-26F7-95FF-3DA2-1D90E2A26B06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B7B64F6-7581-2257-F764-F91FBDB783AC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0B7507F-3F4E-4535-0F38-7D0D2CE2E8ED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471263C-B179-B4A7-16F1-094735A71355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471263C-B179-B4A7-16F1-094735A71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BEE2DD-2170-D55D-5014-ED393FD91BDD}"/>
                  </a:ext>
                </a:extLst>
              </p:cNvPr>
              <p:cNvSpPr txBox="1"/>
              <p:nvPr/>
            </p:nvSpPr>
            <p:spPr>
              <a:xfrm>
                <a:off x="2364886" y="1936351"/>
                <a:ext cx="8198013" cy="64504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Objective</a:t>
                </a:r>
                <a:r>
                  <a:rPr lang="en-US" sz="2400" b="1" dirty="0">
                    <a:solidFill>
                      <a:schemeClr val="tx1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en-KR" sz="2400" b="1" dirty="0">
                  <a:solidFill>
                    <a:schemeClr val="tx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BEE2DD-2170-D55D-5014-ED393FD91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886" y="1936351"/>
                <a:ext cx="8198013" cy="645048"/>
              </a:xfrm>
              <a:prstGeom prst="rect">
                <a:avLst/>
              </a:prstGeom>
              <a:blipFill>
                <a:blip r:embed="rId11"/>
                <a:stretch>
                  <a:fillRect l="-2322" b="-576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B30CB4B6-F21E-6185-2989-5104362BAF88}"/>
              </a:ext>
            </a:extLst>
          </p:cNvPr>
          <p:cNvSpPr/>
          <p:nvPr/>
        </p:nvSpPr>
        <p:spPr>
          <a:xfrm>
            <a:off x="5379578" y="2034086"/>
            <a:ext cx="2039647" cy="45110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6A1892-196F-BC2A-355C-FCEAA51F4C83}"/>
              </a:ext>
            </a:extLst>
          </p:cNvPr>
          <p:cNvSpPr txBox="1"/>
          <p:nvPr/>
        </p:nvSpPr>
        <p:spPr>
          <a:xfrm>
            <a:off x="7598957" y="1642007"/>
            <a:ext cx="424680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Prior Fitting Term = Regularization Term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ECC396-8F69-6BF6-F90B-46636DC9856C}"/>
              </a:ext>
            </a:extLst>
          </p:cNvPr>
          <p:cNvSpPr/>
          <p:nvPr/>
        </p:nvSpPr>
        <p:spPr>
          <a:xfrm>
            <a:off x="7782895" y="2009473"/>
            <a:ext cx="2614374" cy="50734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00F538D-2DA4-1F40-8CE2-DB34C388349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Recap: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703AE4-9BA0-6596-BB75-F49A57A35C99}"/>
              </a:ext>
            </a:extLst>
          </p:cNvPr>
          <p:cNvSpPr txBox="1"/>
          <p:nvPr/>
        </p:nvSpPr>
        <p:spPr>
          <a:xfrm>
            <a:off x="5251879" y="1641250"/>
            <a:ext cx="218489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</p:spTree>
    <p:extLst>
      <p:ext uri="{BB962C8B-B14F-4D97-AF65-F5344CB8AC3E}">
        <p14:creationId xmlns:p14="http://schemas.microsoft.com/office/powerpoint/2010/main" val="316318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511D-E612-7E60-B4FA-17ADC881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90811D-88E0-5D37-7577-E907CF815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Previous Seminar - VAE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9C0857-DEAA-1A99-0F6E-61CFA68C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CA8A8B4-1660-519E-CE3E-8D526A6D7500}"/>
              </a:ext>
            </a:extLst>
          </p:cNvPr>
          <p:cNvGrpSpPr/>
          <p:nvPr/>
        </p:nvGrpSpPr>
        <p:grpSpPr>
          <a:xfrm>
            <a:off x="1195745" y="2814016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1CB4196-426E-C59B-C7E4-31834398761C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1CB4196-426E-C59B-C7E4-318343987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93374C-B346-6FCD-6918-04581ADB3C84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6" name="Trapezoid 5">
                <a:extLst>
                  <a:ext uri="{FF2B5EF4-FFF2-40B4-BE49-F238E27FC236}">
                    <a16:creationId xmlns:a16="http://schemas.microsoft.com/office/drawing/2014/main" id="{115AD054-E923-A712-2BE9-B37FB963443A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7D975963-0EF1-E1DF-A040-7014144F91A4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8" name="Picture 7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5F7F4D07-45A5-302D-BCEA-4F4DE1C3B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B5F0EE-99A7-1F16-F7BA-F02989F9A068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3C050A-F15B-D6EE-0E18-9C0FF47BBFA9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76E0EC5-095E-1066-C3CA-216413506BA8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A8CDA1BE-E543-D635-B78B-25C57B7B835D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816C0BE-F137-0131-985F-F2B783F05443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15D218A0-5BBB-ECB1-1F58-C689C20784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3162C1-5A75-6260-013C-C42D0AB52BF9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054638D-3832-CBA2-1198-98F3AF967892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054638D-3832-CBA2-1198-98F3AF967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A2B498CF-F54B-7F37-555C-494A656BBE97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B3884C9-BF20-F443-96C5-F2B0F77D938B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2D76751-EFB1-3F62-882F-399B87B27062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BEF1CA4-32AD-88B9-26AC-B0147CF7E915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ECF27E0C-48D5-8DF8-D0AA-3A79BFD8C740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4C36FA6F-BE23-0150-BED4-425FEFDE846A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93C8521-D244-EBE0-F9AF-D0B46D39A7A6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A80D119-86A4-AD64-6F1C-ECF8E2E8B0D4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CA90C26-7836-EF50-80FE-E31F66D6E97D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CA90C26-7836-EF50-80FE-E31F66D6E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02BF100-B7AB-4DDF-7EAD-40101140FC89}"/>
              </a:ext>
            </a:extLst>
          </p:cNvPr>
          <p:cNvSpPr txBox="1"/>
          <p:nvPr/>
        </p:nvSpPr>
        <p:spPr>
          <a:xfrm>
            <a:off x="3923585" y="1696524"/>
            <a:ext cx="3882473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KR" sz="2400" b="1" dirty="0">
                <a:solidFill>
                  <a:srgbClr val="C0000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How can we optimize VAE?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A0670262-AC16-1F42-6ED0-D1B5AAAC4062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Recap: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533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236A0-B20F-48CF-2A00-80ED5F1D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58D887-3A5D-FA21-5A59-53CD8533F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Previous Seminar - VAE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3FC006-3348-DD8B-4E32-F99702D9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5A5DD47-D69B-0BE4-2955-94D60D13D9FD}"/>
              </a:ext>
            </a:extLst>
          </p:cNvPr>
          <p:cNvGrpSpPr/>
          <p:nvPr/>
        </p:nvGrpSpPr>
        <p:grpSpPr>
          <a:xfrm>
            <a:off x="1195745" y="2814016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E77A4F3-8CCB-946F-F9A3-3650FD0E4DA6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1CB4196-426E-C59B-C7E4-318343987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C3313E3-A502-0DA7-F5CA-29B35B48AB25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6" name="Trapezoid 5">
                <a:extLst>
                  <a:ext uri="{FF2B5EF4-FFF2-40B4-BE49-F238E27FC236}">
                    <a16:creationId xmlns:a16="http://schemas.microsoft.com/office/drawing/2014/main" id="{FFDD2D90-D811-31B5-0798-3E8CB9CE82BF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5F096C11-9FDD-D379-CE7F-A6985CADC03C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8" name="Picture 7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BDE832D7-606E-79A6-512E-A7F8E99E7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685FE02-88B7-EC86-FFDA-DDB9BDEE4A2C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052C950-1713-E57F-63F6-F77E54C552AF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88B7F2B-4C5A-51EC-52A5-B65308E39E50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9F7FDA6-1784-0BE6-22FA-D2262A13E463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1D3755A-5E73-46B2-96ED-B3DF15961678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008BFDB-8EF3-86F2-8FE1-861257CD8C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1F84EB1-8DF7-D3D5-B713-7E8E71FAD3A8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148DBA0-81B4-6B44-B13B-A2E9E5B231CC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054638D-3832-CBA2-1198-98F3AF967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5F1A34FC-DEDC-18D5-CE73-BC95267A66AC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4142822-0CB5-E069-4A94-47FACBF00D28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C559ACA-59DD-105F-A565-3429E83CBE6C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25EEB3-6726-AF27-B590-7ECD5A8B6746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1C0385C7-F6EB-972E-2EE1-3374DF45A808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7DE13C8-1CAA-A618-57A4-D3ABFC9C5B4D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478BA14-96EF-914D-9228-302793C2F944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7D588FF-27F1-DEA5-3112-94A4DA91F8F3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00CDE03-5413-DEE9-167E-81AA7817B6E1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CA90C26-7836-EF50-80FE-E31F66D6E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D9CCC0-0623-6946-2F9D-6F0BEE8406F9}"/>
                  </a:ext>
                </a:extLst>
              </p:cNvPr>
              <p:cNvSpPr txBox="1"/>
              <p:nvPr/>
            </p:nvSpPr>
            <p:spPr>
              <a:xfrm>
                <a:off x="3923585" y="1696524"/>
                <a:ext cx="3882473" cy="1200329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ctr"/>
                <a:r>
                  <a:rPr lang="en-KR" sz="2400" b="1" dirty="0">
                    <a:solidFill>
                      <a:srgbClr val="C00000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How can we optimize VAE?</a:t>
                </a:r>
              </a:p>
              <a:p>
                <a:pPr algn="ctr"/>
                <a:endParaRPr lang="en-KR" sz="2400" b="1" dirty="0">
                  <a:solidFill>
                    <a:srgbClr val="C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  <a:p>
                <a:pPr algn="ctr"/>
                <a:r>
                  <a:rPr lang="en-KR" sz="2400" b="1" dirty="0">
                    <a:solidFill>
                      <a:srgbClr val="C00000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VAE </a:t>
                </a:r>
                <a14:m>
                  <m:oMath xmlns:m="http://schemas.openxmlformats.org/officeDocument/2006/math">
                    <m:r>
                      <a:rPr lang="en-KR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SemiBold" panose="02000503000000020004" pitchFamily="2" charset="-127"/>
                      </a:rPr>
                      <m:t>⟷</m:t>
                    </m:r>
                  </m:oMath>
                </a14:m>
                <a:r>
                  <a:rPr lang="en-KR" sz="2400" b="1" dirty="0">
                    <a:solidFill>
                      <a:srgbClr val="C00000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 Diffusion Model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D9CCC0-0623-6946-2F9D-6F0BEE840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585" y="1696524"/>
                <a:ext cx="3882473" cy="1200329"/>
              </a:xfrm>
              <a:prstGeom prst="rect">
                <a:avLst/>
              </a:prstGeom>
              <a:blipFill>
                <a:blip r:embed="rId11"/>
                <a:stretch>
                  <a:fillRect l="-4575" t="-4167" r="-4248" b="-1145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F9B9DBB3-B84A-ED61-0268-36011FD32A7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Recap: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963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55BE9F-F5D3-D811-FF26-E6EEB6ED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CE3E6-F081-7677-8F06-D45B5FFACA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714500"/>
            <a:ext cx="10972800" cy="2967736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Basics: Likelihood, MLE, MAP, Variational Inference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Deep dive into VAE: Optimization and Generation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DDPM(Denoising Diffusion Probabilistic Model) Overview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F65B8F-AD55-FB45-B2EE-E29FE64E94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0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1AAF-81EE-F459-5460-8C474F13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675ABF-55E9-4722-2B80-6AFE3651391B}"/>
              </a:ext>
            </a:extLst>
          </p:cNvPr>
          <p:cNvSpPr txBox="1"/>
          <p:nvPr/>
        </p:nvSpPr>
        <p:spPr>
          <a:xfrm>
            <a:off x="609598" y="3013501"/>
            <a:ext cx="1864293" cy="83099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4800" b="1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Basics</a:t>
            </a:r>
          </a:p>
        </p:txBody>
      </p:sp>
    </p:spTree>
    <p:extLst>
      <p:ext uri="{BB962C8B-B14F-4D97-AF65-F5344CB8AC3E}">
        <p14:creationId xmlns:p14="http://schemas.microsoft.com/office/powerpoint/2010/main" val="284663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63B5-5C27-3CBE-8CAA-57C85A3B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0F6A57-9188-901A-FA74-841D863E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C451DE-1EC9-B171-B7C2-41EE040B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342DA-AAD0-1597-B27A-6153FFA0C7E5}"/>
              </a:ext>
            </a:extLst>
          </p:cNvPr>
          <p:cNvSpPr txBox="1"/>
          <p:nvPr/>
        </p:nvSpPr>
        <p:spPr>
          <a:xfrm flipH="1">
            <a:off x="609600" y="1694688"/>
            <a:ext cx="1097280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  <a:r>
              <a:rPr lang="ko-KR" alt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measures </a:t>
            </a:r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well a statistical model explains observed data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 by calculating the probability of seeing that data under different(i.e., unknown) parameter values of the model.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F9A1E14-F753-41B1-1B10-24F8B3AB82A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670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60B0-798F-27E6-23D0-EC04FE2B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8A594E-31BE-8476-771D-E26975CF8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4902C4-AEE2-A550-45AA-753963A6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F79C4-9D25-9E73-D7C9-6D5AA13E7053}"/>
              </a:ext>
            </a:extLst>
          </p:cNvPr>
          <p:cNvSpPr txBox="1"/>
          <p:nvPr/>
        </p:nvSpPr>
        <p:spPr>
          <a:xfrm flipH="1">
            <a:off x="609600" y="1694688"/>
            <a:ext cx="10972800" cy="230832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  <a:r>
              <a:rPr lang="ko-KR" alt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measures </a:t>
            </a:r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well a statistical model explains observed data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 by calculating the probability of seeing that data under different(i.e., unknown) parameter values of the model.</a:t>
            </a:r>
          </a:p>
          <a:p>
            <a:endParaRPr lang="en-US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US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= How likely </a:t>
            </a:r>
            <a:r>
              <a:rPr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it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is to generate the observed data?</a:t>
            </a:r>
            <a:endParaRPr lang="en-KR" sz="2400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F9657E-43FD-9DC6-7D97-F8B38424FDE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628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A219-F774-8891-7164-B8A01DDC6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7B8BB8-B929-75FD-EC18-85F1CB11E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61B83-47E7-CEFA-3424-8A972443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A12DE02-0F99-0F07-F09A-B3A6F3D243A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466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7D46-9F91-4FBE-850C-341453E0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BFDF1F-E4E2-7407-F6D3-56FF6AE2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21AD0E-3137-C3C5-FBB5-9CAFFDD2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CDFFB-9C19-AF1C-FC25-7D22E04B1640}"/>
              </a:ext>
            </a:extLst>
          </p:cNvPr>
          <p:cNvSpPr txBox="1"/>
          <p:nvPr/>
        </p:nvSpPr>
        <p:spPr>
          <a:xfrm>
            <a:off x="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68D35-6679-C156-5800-E7CAE6FC5141}"/>
              </a:ext>
            </a:extLst>
          </p:cNvPr>
          <p:cNvSpPr txBox="1"/>
          <p:nvPr/>
        </p:nvSpPr>
        <p:spPr>
          <a:xfrm>
            <a:off x="609600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Probability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7043D6D-8C71-F93E-30E9-40658BFB654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209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7011-B231-DDC2-837A-C09B6B7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AB890F-0D86-BCCD-7495-8DA65733B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399BAA-BD8C-BFB5-A073-88682974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26CA0-2096-6F2D-DB75-BD75293588F9}"/>
              </a:ext>
            </a:extLst>
          </p:cNvPr>
          <p:cNvSpPr txBox="1"/>
          <p:nvPr/>
        </p:nvSpPr>
        <p:spPr>
          <a:xfrm>
            <a:off x="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33822-D967-432B-8B2B-70FEDBD231CA}"/>
              </a:ext>
            </a:extLst>
          </p:cNvPr>
          <p:cNvSpPr txBox="1"/>
          <p:nvPr/>
        </p:nvSpPr>
        <p:spPr>
          <a:xfrm>
            <a:off x="609600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Probability</a:t>
            </a:r>
          </a:p>
        </p:txBody>
      </p:sp>
      <p:pic>
        <p:nvPicPr>
          <p:cNvPr id="1026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40500EB3-A489-37AE-17F4-A82A4FE55F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837363" y="2462416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A86AA7-49E8-3332-A527-24D587B391C7}"/>
                  </a:ext>
                </a:extLst>
              </p:cNvPr>
              <p:cNvSpPr txBox="1"/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A86AA7-49E8-3332-A527-24D587B39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9BDA404-D4C7-6FAE-A20D-C871568392B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243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A8C8D-5F68-4FA1-9073-F602779C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BA3CD8-0B4B-386B-9429-B33EE7B8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896C99-92E2-9928-9808-BC39A272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3C4CB-29D6-5086-B25B-3164E6A41B33}"/>
              </a:ext>
            </a:extLst>
          </p:cNvPr>
          <p:cNvSpPr txBox="1"/>
          <p:nvPr/>
        </p:nvSpPr>
        <p:spPr>
          <a:xfrm>
            <a:off x="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AD698-9DC5-9DDA-2F3B-0F889EA384A0}"/>
              </a:ext>
            </a:extLst>
          </p:cNvPr>
          <p:cNvSpPr txBox="1"/>
          <p:nvPr/>
        </p:nvSpPr>
        <p:spPr>
          <a:xfrm>
            <a:off x="609600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Probability</a:t>
            </a:r>
          </a:p>
        </p:txBody>
      </p:sp>
      <p:pic>
        <p:nvPicPr>
          <p:cNvPr id="1026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1BA498D2-805E-246D-C456-17D24E815A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837363" y="2462416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A649DB-7FD4-0908-5A86-3E618903FB99}"/>
              </a:ext>
            </a:extLst>
          </p:cNvPr>
          <p:cNvCxnSpPr>
            <a:cxnSpLocks/>
          </p:cNvCxnSpPr>
          <p:nvPr/>
        </p:nvCxnSpPr>
        <p:spPr>
          <a:xfrm flipV="1">
            <a:off x="2974312" y="4364354"/>
            <a:ext cx="602901" cy="45928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69A8360-E1D3-0579-0860-696DF20AE4C0}"/>
              </a:ext>
            </a:extLst>
          </p:cNvPr>
          <p:cNvSpPr/>
          <p:nvPr/>
        </p:nvSpPr>
        <p:spPr>
          <a:xfrm>
            <a:off x="3577213" y="4250453"/>
            <a:ext cx="150725" cy="1507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2C1A07-C3CD-9346-9025-D4B5358DE261}"/>
              </a:ext>
            </a:extLst>
          </p:cNvPr>
          <p:cNvSpPr txBox="1"/>
          <p:nvPr/>
        </p:nvSpPr>
        <p:spPr>
          <a:xfrm>
            <a:off x="2123310" y="4793061"/>
            <a:ext cx="158697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4D6C76-ADCE-392D-9E14-68ADB1F56457}"/>
                  </a:ext>
                </a:extLst>
              </p:cNvPr>
              <p:cNvSpPr txBox="1"/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4D6C76-ADCE-392D-9E14-68ADB1F56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4ED18A7-689E-9EDC-8869-82E6D05508C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443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FF543-00A0-2628-6DBC-1CEFBA74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A37ED6-8071-2B06-775B-7D8FD056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B22C1E-E87B-3139-0FE0-B5E264BA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C9373-0DA8-D560-3806-51AB065F0F64}"/>
              </a:ext>
            </a:extLst>
          </p:cNvPr>
          <p:cNvSpPr txBox="1"/>
          <p:nvPr/>
        </p:nvSpPr>
        <p:spPr>
          <a:xfrm>
            <a:off x="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7EA09-D5D7-7395-92CC-2383BD39E217}"/>
              </a:ext>
            </a:extLst>
          </p:cNvPr>
          <p:cNvSpPr txBox="1"/>
          <p:nvPr/>
        </p:nvSpPr>
        <p:spPr>
          <a:xfrm>
            <a:off x="609600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Probability</a:t>
            </a:r>
          </a:p>
        </p:txBody>
      </p:sp>
      <p:pic>
        <p:nvPicPr>
          <p:cNvPr id="1026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1145A7B6-0411-ADE0-6F63-4FD70C3E8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837363" y="2462416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21EB3A-F561-DF15-EDD5-83E73BF10227}"/>
              </a:ext>
            </a:extLst>
          </p:cNvPr>
          <p:cNvCxnSpPr>
            <a:cxnSpLocks/>
          </p:cNvCxnSpPr>
          <p:nvPr/>
        </p:nvCxnSpPr>
        <p:spPr>
          <a:xfrm flipV="1">
            <a:off x="2974312" y="4364354"/>
            <a:ext cx="602901" cy="45928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D38206A-206A-6976-33B0-FE1D9F810F11}"/>
              </a:ext>
            </a:extLst>
          </p:cNvPr>
          <p:cNvSpPr/>
          <p:nvPr/>
        </p:nvSpPr>
        <p:spPr>
          <a:xfrm>
            <a:off x="3577213" y="4250453"/>
            <a:ext cx="150725" cy="1507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59D98F-0573-C93C-D271-2F55DAC78923}"/>
              </a:ext>
            </a:extLst>
          </p:cNvPr>
          <p:cNvSpPr txBox="1"/>
          <p:nvPr/>
        </p:nvSpPr>
        <p:spPr>
          <a:xfrm>
            <a:off x="2123310" y="4793061"/>
            <a:ext cx="158697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7313C43-FEFB-2A84-B0F5-4DCE8A9B313C}"/>
              </a:ext>
            </a:extLst>
          </p:cNvPr>
          <p:cNvCxnSpPr>
            <a:cxnSpLocks/>
          </p:cNvCxnSpPr>
          <p:nvPr/>
        </p:nvCxnSpPr>
        <p:spPr>
          <a:xfrm flipV="1">
            <a:off x="3648157" y="3237969"/>
            <a:ext cx="4418" cy="1063149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E1F3D9-82FC-AA39-0B4F-ACF2954EF2A3}"/>
                  </a:ext>
                </a:extLst>
              </p:cNvPr>
              <p:cNvSpPr txBox="1"/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E1F3D9-82FC-AA39-0B4F-ACF2954E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8305207B-153E-03AA-3CE1-F36FE77E4A0D}"/>
              </a:ext>
            </a:extLst>
          </p:cNvPr>
          <p:cNvSpPr/>
          <p:nvPr/>
        </p:nvSpPr>
        <p:spPr>
          <a:xfrm>
            <a:off x="3628503" y="3174241"/>
            <a:ext cx="59316" cy="593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D9E1B58-919A-0AE4-1CC6-B652582E3ED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2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37BE-8317-0081-1AC8-4CA28C6D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AED795-62CE-FAB7-DAB9-02BAA3E8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2DE97E-6CB6-FEDB-1943-38C158B7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4ACA9-D719-215B-50C0-52C0640AB3BD}"/>
              </a:ext>
            </a:extLst>
          </p:cNvPr>
          <p:cNvSpPr txBox="1"/>
          <p:nvPr/>
        </p:nvSpPr>
        <p:spPr>
          <a:xfrm>
            <a:off x="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8B2A9-AB40-C60F-A6BA-950FEB6E6BB0}"/>
              </a:ext>
            </a:extLst>
          </p:cNvPr>
          <p:cNvSpPr txBox="1"/>
          <p:nvPr/>
        </p:nvSpPr>
        <p:spPr>
          <a:xfrm>
            <a:off x="609600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Probability</a:t>
            </a:r>
          </a:p>
        </p:txBody>
      </p:sp>
      <p:pic>
        <p:nvPicPr>
          <p:cNvPr id="1026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07560E1E-3DBC-A45E-E1FD-E4E6538DED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837363" y="2462416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84583D-4DC0-A8DC-AED0-748727B54F1E}"/>
              </a:ext>
            </a:extLst>
          </p:cNvPr>
          <p:cNvCxnSpPr>
            <a:cxnSpLocks/>
          </p:cNvCxnSpPr>
          <p:nvPr/>
        </p:nvCxnSpPr>
        <p:spPr>
          <a:xfrm flipV="1">
            <a:off x="2974312" y="4364354"/>
            <a:ext cx="602901" cy="45928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A9ECEBD-D3DB-0402-77F1-BF9384C597A9}"/>
              </a:ext>
            </a:extLst>
          </p:cNvPr>
          <p:cNvSpPr/>
          <p:nvPr/>
        </p:nvSpPr>
        <p:spPr>
          <a:xfrm>
            <a:off x="3577213" y="4250453"/>
            <a:ext cx="150725" cy="1507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BAC76-DE52-FF8D-6A9E-3860CE36DA95}"/>
              </a:ext>
            </a:extLst>
          </p:cNvPr>
          <p:cNvSpPr txBox="1"/>
          <p:nvPr/>
        </p:nvSpPr>
        <p:spPr>
          <a:xfrm>
            <a:off x="2123310" y="4793061"/>
            <a:ext cx="158697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2F616F-0A81-47ED-9900-A71794FDEEE5}"/>
              </a:ext>
            </a:extLst>
          </p:cNvPr>
          <p:cNvCxnSpPr>
            <a:cxnSpLocks/>
          </p:cNvCxnSpPr>
          <p:nvPr/>
        </p:nvCxnSpPr>
        <p:spPr>
          <a:xfrm flipV="1">
            <a:off x="3648157" y="3237969"/>
            <a:ext cx="4418" cy="1063149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59DACC-E388-509A-D866-3F236F379FF3}"/>
                  </a:ext>
                </a:extLst>
              </p:cNvPr>
              <p:cNvSpPr txBox="1"/>
              <p:nvPr/>
            </p:nvSpPr>
            <p:spPr>
              <a:xfrm>
                <a:off x="2005620" y="5259773"/>
                <a:ext cx="163846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=0.24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59DACC-E388-509A-D866-3F236F379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620" y="5259773"/>
                <a:ext cx="1638461" cy="307777"/>
              </a:xfrm>
              <a:prstGeom prst="rect">
                <a:avLst/>
              </a:prstGeom>
              <a:blipFill>
                <a:blip r:embed="rId4"/>
                <a:stretch>
                  <a:fillRect l="-2290" r="-2290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433E1C-C269-D774-09D2-AE769714C9C5}"/>
                  </a:ext>
                </a:extLst>
              </p:cNvPr>
              <p:cNvSpPr txBox="1"/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433E1C-C269-D774-09D2-AE769714C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blipFill>
                <a:blip r:embed="rId5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6FBEE73E-7704-FB84-0FDB-2B0DDD575AC0}"/>
              </a:ext>
            </a:extLst>
          </p:cNvPr>
          <p:cNvSpPr/>
          <p:nvPr/>
        </p:nvSpPr>
        <p:spPr>
          <a:xfrm>
            <a:off x="3628503" y="3174241"/>
            <a:ext cx="59316" cy="593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234F4E-F92D-BAC8-07E1-A2C70DF03AE0}"/>
              </a:ext>
            </a:extLst>
          </p:cNvPr>
          <p:cNvCxnSpPr>
            <a:cxnSpLocks/>
          </p:cNvCxnSpPr>
          <p:nvPr/>
        </p:nvCxnSpPr>
        <p:spPr>
          <a:xfrm flipH="1">
            <a:off x="1211693" y="3201423"/>
            <a:ext cx="2407888" cy="0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2EA4CDB-1AE3-023C-1EE8-3FA24F7B28E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055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9FF03-EBC2-7CEA-5AF4-89E72291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BE36A7-8266-22B2-BB00-2ECBB9AD0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AF9ADD-4F56-9C7A-FFEB-D166C8E3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160CD-F600-D4EE-4B6D-2666EADCCA3E}"/>
              </a:ext>
            </a:extLst>
          </p:cNvPr>
          <p:cNvSpPr txBox="1"/>
          <p:nvPr/>
        </p:nvSpPr>
        <p:spPr>
          <a:xfrm>
            <a:off x="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E7945-7F04-BA38-C846-861F7803DF43}"/>
              </a:ext>
            </a:extLst>
          </p:cNvPr>
          <p:cNvSpPr txBox="1"/>
          <p:nvPr/>
        </p:nvSpPr>
        <p:spPr>
          <a:xfrm>
            <a:off x="609600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Probability</a:t>
            </a:r>
          </a:p>
        </p:txBody>
      </p:sp>
      <p:pic>
        <p:nvPicPr>
          <p:cNvPr id="1026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8FB60242-E9CE-8447-26A8-DACF872C2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837363" y="2462416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CD288903-2DD6-899F-D663-6221F8E7F3C5}"/>
              </a:ext>
            </a:extLst>
          </p:cNvPr>
          <p:cNvSpPr/>
          <p:nvPr/>
        </p:nvSpPr>
        <p:spPr>
          <a:xfrm>
            <a:off x="3577213" y="4250453"/>
            <a:ext cx="150725" cy="1507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558A15-BAED-2461-45DA-D6C65B612FBD}"/>
              </a:ext>
            </a:extLst>
          </p:cNvPr>
          <p:cNvCxnSpPr>
            <a:cxnSpLocks/>
          </p:cNvCxnSpPr>
          <p:nvPr/>
        </p:nvCxnSpPr>
        <p:spPr>
          <a:xfrm flipV="1">
            <a:off x="3648157" y="3237969"/>
            <a:ext cx="4418" cy="1063149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FFDC4-A422-6C01-29E3-9160D4704255}"/>
                  </a:ext>
                </a:extLst>
              </p:cNvPr>
              <p:cNvSpPr txBox="1"/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FFDC4-A422-6C01-29E3-9160D4704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612AB6F4-5A0E-6825-2C7E-D05DC7C22D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6869288" y="2462415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7FD400-B5D7-8740-C4F5-8A088D0A73F1}"/>
              </a:ext>
            </a:extLst>
          </p:cNvPr>
          <p:cNvCxnSpPr>
            <a:cxnSpLocks/>
          </p:cNvCxnSpPr>
          <p:nvPr/>
        </p:nvCxnSpPr>
        <p:spPr>
          <a:xfrm flipV="1">
            <a:off x="2974312" y="4364354"/>
            <a:ext cx="602901" cy="45928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1C31656-B737-FBD4-54B1-D540DA59210B}"/>
              </a:ext>
            </a:extLst>
          </p:cNvPr>
          <p:cNvSpPr txBox="1"/>
          <p:nvPr/>
        </p:nvSpPr>
        <p:spPr>
          <a:xfrm>
            <a:off x="2123310" y="4793061"/>
            <a:ext cx="158697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1254CF-FA6D-C373-42F1-98A0E15AC726}"/>
              </a:ext>
            </a:extLst>
          </p:cNvPr>
          <p:cNvCxnSpPr>
            <a:cxnSpLocks/>
          </p:cNvCxnSpPr>
          <p:nvPr/>
        </p:nvCxnSpPr>
        <p:spPr>
          <a:xfrm flipH="1">
            <a:off x="1211693" y="3201423"/>
            <a:ext cx="2407888" cy="0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DC8902E-19F0-8962-4C45-26BFD7CE1040}"/>
              </a:ext>
            </a:extLst>
          </p:cNvPr>
          <p:cNvSpPr/>
          <p:nvPr/>
        </p:nvSpPr>
        <p:spPr>
          <a:xfrm>
            <a:off x="3628503" y="3174241"/>
            <a:ext cx="59316" cy="593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DF97EF-7E6E-88BD-C2E0-A89A1737A5A2}"/>
                  </a:ext>
                </a:extLst>
              </p:cNvPr>
              <p:cNvSpPr txBox="1"/>
              <p:nvPr/>
            </p:nvSpPr>
            <p:spPr>
              <a:xfrm>
                <a:off x="9682414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DF97EF-7E6E-88BD-C2E0-A89A1737A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2414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9C4854F-18E2-4F01-A21A-0E9D68CBB7F7}"/>
                  </a:ext>
                </a:extLst>
              </p:cNvPr>
              <p:cNvSpPr txBox="1"/>
              <p:nvPr/>
            </p:nvSpPr>
            <p:spPr>
              <a:xfrm>
                <a:off x="2005620" y="5259773"/>
                <a:ext cx="16945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=0.24 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9C4854F-18E2-4F01-A21A-0E9D68CBB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620" y="5259773"/>
                <a:ext cx="1694566" cy="307777"/>
              </a:xfrm>
              <a:prstGeom prst="rect">
                <a:avLst/>
              </a:prstGeom>
              <a:blipFill>
                <a:blip r:embed="rId5"/>
                <a:stretch>
                  <a:fillRect l="-2222" t="-8000" r="-5185" b="-36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A9FD2BD-F4BA-FF91-3760-5E8B04818A4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064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C181-1A72-36CF-6747-900B66D64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A4BA31-D3B4-AC68-DA4B-EB1AA97DB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B71140-D511-DC13-0794-ADE5628B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33616-7656-1092-61DF-EF490BF5EA1C}"/>
              </a:ext>
            </a:extLst>
          </p:cNvPr>
          <p:cNvSpPr txBox="1"/>
          <p:nvPr/>
        </p:nvSpPr>
        <p:spPr>
          <a:xfrm>
            <a:off x="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5317E5-CD5A-FD56-0AAA-6B798741E9B8}"/>
              </a:ext>
            </a:extLst>
          </p:cNvPr>
          <p:cNvSpPr txBox="1"/>
          <p:nvPr/>
        </p:nvSpPr>
        <p:spPr>
          <a:xfrm>
            <a:off x="609600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Probability</a:t>
            </a:r>
          </a:p>
        </p:txBody>
      </p:sp>
      <p:pic>
        <p:nvPicPr>
          <p:cNvPr id="1026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08B24191-EC08-211E-05A3-9DEC5EBD49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837363" y="2462416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F53037-872F-1361-251B-565E4250F6EA}"/>
              </a:ext>
            </a:extLst>
          </p:cNvPr>
          <p:cNvSpPr/>
          <p:nvPr/>
        </p:nvSpPr>
        <p:spPr>
          <a:xfrm>
            <a:off x="3577213" y="4250453"/>
            <a:ext cx="150725" cy="1507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0AE102-A65C-F45F-D5F8-64D2F2501E59}"/>
              </a:ext>
            </a:extLst>
          </p:cNvPr>
          <p:cNvCxnSpPr>
            <a:cxnSpLocks/>
          </p:cNvCxnSpPr>
          <p:nvPr/>
        </p:nvCxnSpPr>
        <p:spPr>
          <a:xfrm flipV="1">
            <a:off x="3648157" y="3237969"/>
            <a:ext cx="4418" cy="1063149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045047-C969-6179-48D4-85C2A5A4B42D}"/>
                  </a:ext>
                </a:extLst>
              </p:cNvPr>
              <p:cNvSpPr txBox="1"/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045047-C969-6179-48D4-85C2A5A4B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DAB1EEAD-B570-529B-5A90-89041EBBEC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6869288" y="2462415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eft Bracket 12">
            <a:extLst>
              <a:ext uri="{FF2B5EF4-FFF2-40B4-BE49-F238E27FC236}">
                <a16:creationId xmlns:a16="http://schemas.microsoft.com/office/drawing/2014/main" id="{FE49B75F-4961-2DDF-461E-8A23F5ACC5E0}"/>
              </a:ext>
            </a:extLst>
          </p:cNvPr>
          <p:cNvSpPr/>
          <p:nvPr/>
        </p:nvSpPr>
        <p:spPr>
          <a:xfrm rot="5400000">
            <a:off x="9796343" y="4070767"/>
            <a:ext cx="80383" cy="445174"/>
          </a:xfrm>
          <a:prstGeom prst="leftBracket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C0F46F-CC27-1244-EC1D-E935A92299C7}"/>
              </a:ext>
            </a:extLst>
          </p:cNvPr>
          <p:cNvCxnSpPr>
            <a:cxnSpLocks/>
          </p:cNvCxnSpPr>
          <p:nvPr/>
        </p:nvCxnSpPr>
        <p:spPr>
          <a:xfrm flipV="1">
            <a:off x="2974312" y="4364354"/>
            <a:ext cx="602901" cy="45928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F5940A0-E354-3D39-6CFA-EE59F390928E}"/>
              </a:ext>
            </a:extLst>
          </p:cNvPr>
          <p:cNvSpPr txBox="1"/>
          <p:nvPr/>
        </p:nvSpPr>
        <p:spPr>
          <a:xfrm>
            <a:off x="2123310" y="4793061"/>
            <a:ext cx="158697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6C295E-8207-0A2D-C947-E4A74184F029}"/>
              </a:ext>
            </a:extLst>
          </p:cNvPr>
          <p:cNvCxnSpPr>
            <a:cxnSpLocks/>
          </p:cNvCxnSpPr>
          <p:nvPr/>
        </p:nvCxnSpPr>
        <p:spPr>
          <a:xfrm flipH="1">
            <a:off x="1211693" y="3201423"/>
            <a:ext cx="2407888" cy="0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523621-FF7B-1AFC-EA6E-E3BCCAADD904}"/>
              </a:ext>
            </a:extLst>
          </p:cNvPr>
          <p:cNvCxnSpPr>
            <a:cxnSpLocks/>
          </p:cNvCxnSpPr>
          <p:nvPr/>
        </p:nvCxnSpPr>
        <p:spPr>
          <a:xfrm flipV="1">
            <a:off x="8929200" y="4361254"/>
            <a:ext cx="657040" cy="462378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AEA74E7-5A2B-E49D-66FB-EBD2585B1E9C}"/>
              </a:ext>
            </a:extLst>
          </p:cNvPr>
          <p:cNvSpPr txBox="1"/>
          <p:nvPr/>
        </p:nvSpPr>
        <p:spPr>
          <a:xfrm>
            <a:off x="7957697" y="4823632"/>
            <a:ext cx="163666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Expected event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E1F69E-1046-C7C2-0CCF-005D53A23FD6}"/>
              </a:ext>
            </a:extLst>
          </p:cNvPr>
          <p:cNvSpPr/>
          <p:nvPr/>
        </p:nvSpPr>
        <p:spPr>
          <a:xfrm>
            <a:off x="3628503" y="3174241"/>
            <a:ext cx="59316" cy="593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0951EE-3618-1593-522A-2E48BCEF3C86}"/>
                  </a:ext>
                </a:extLst>
              </p:cNvPr>
              <p:cNvSpPr txBox="1"/>
              <p:nvPr/>
            </p:nvSpPr>
            <p:spPr>
              <a:xfrm>
                <a:off x="9682414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0951EE-3618-1593-522A-2E48BCEF3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2414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7CAF02-84F6-B51F-98A4-DC8BFBF44710}"/>
                  </a:ext>
                </a:extLst>
              </p:cNvPr>
              <p:cNvSpPr txBox="1"/>
              <p:nvPr/>
            </p:nvSpPr>
            <p:spPr>
              <a:xfrm>
                <a:off x="2005620" y="5259773"/>
                <a:ext cx="16945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=0.24 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7CAF02-84F6-B51F-98A4-DC8BFBF44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620" y="5259773"/>
                <a:ext cx="1694566" cy="307777"/>
              </a:xfrm>
              <a:prstGeom prst="rect">
                <a:avLst/>
              </a:prstGeom>
              <a:blipFill>
                <a:blip r:embed="rId5"/>
                <a:stretch>
                  <a:fillRect l="-2222" t="-8000" r="-5185" b="-36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21EACE0-9A1D-BE64-C118-8206A59A0D8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61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E235-8EEF-7E68-F6F2-10505857B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55796A-65C3-E302-2CFD-EB5A06814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F597B-83E2-BE3B-60E3-CDB77B5A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0C698-1376-7995-62E1-2B8F9A5D5BF1}"/>
              </a:ext>
            </a:extLst>
          </p:cNvPr>
          <p:cNvSpPr txBox="1"/>
          <p:nvPr/>
        </p:nvSpPr>
        <p:spPr>
          <a:xfrm>
            <a:off x="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9446D-50A2-1BEE-81EF-3EF6E400DC37}"/>
              </a:ext>
            </a:extLst>
          </p:cNvPr>
          <p:cNvSpPr txBox="1"/>
          <p:nvPr/>
        </p:nvSpPr>
        <p:spPr>
          <a:xfrm>
            <a:off x="609600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Probability</a:t>
            </a:r>
          </a:p>
        </p:txBody>
      </p:sp>
      <p:pic>
        <p:nvPicPr>
          <p:cNvPr id="1026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52FF6A15-6960-20F0-FBDE-8668499266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837363" y="2462416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6441DD7-BADC-4573-B339-C5B5CB92DEE4}"/>
              </a:ext>
            </a:extLst>
          </p:cNvPr>
          <p:cNvSpPr/>
          <p:nvPr/>
        </p:nvSpPr>
        <p:spPr>
          <a:xfrm>
            <a:off x="3577213" y="4250453"/>
            <a:ext cx="150725" cy="1507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E56A97-4672-5184-20E4-28496B620092}"/>
              </a:ext>
            </a:extLst>
          </p:cNvPr>
          <p:cNvCxnSpPr>
            <a:cxnSpLocks/>
          </p:cNvCxnSpPr>
          <p:nvPr/>
        </p:nvCxnSpPr>
        <p:spPr>
          <a:xfrm flipV="1">
            <a:off x="3648157" y="3237969"/>
            <a:ext cx="4418" cy="1063149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3A993B-C12F-436A-2B74-E8444B5DBEBB}"/>
                  </a:ext>
                </a:extLst>
              </p:cNvPr>
              <p:cNvSpPr txBox="1"/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3A993B-C12F-436A-2B74-E8444B5DB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F8A03F60-BA8E-0D14-2076-1411E63CC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6869288" y="2462415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B3116716-0FF2-7DCF-CF98-63AA0FAC7EAE}"/>
              </a:ext>
            </a:extLst>
          </p:cNvPr>
          <p:cNvSpPr/>
          <p:nvPr/>
        </p:nvSpPr>
        <p:spPr>
          <a:xfrm>
            <a:off x="9594363" y="3020354"/>
            <a:ext cx="484342" cy="1321778"/>
          </a:xfrm>
          <a:custGeom>
            <a:avLst/>
            <a:gdLst>
              <a:gd name="connsiteX0" fmla="*/ 6626 w 483704"/>
              <a:gd name="connsiteY0" fmla="*/ 1219200 h 1252330"/>
              <a:gd name="connsiteX1" fmla="*/ 0 w 483704"/>
              <a:gd name="connsiteY1" fmla="*/ 0 h 1252330"/>
              <a:gd name="connsiteX2" fmla="*/ 483704 w 483704"/>
              <a:gd name="connsiteY2" fmla="*/ 781878 h 1252330"/>
              <a:gd name="connsiteX3" fmla="*/ 483704 w 483704"/>
              <a:gd name="connsiteY3" fmla="*/ 1252330 h 1252330"/>
              <a:gd name="connsiteX4" fmla="*/ 6626 w 483704"/>
              <a:gd name="connsiteY4" fmla="*/ 1219200 h 1252330"/>
              <a:gd name="connsiteX0" fmla="*/ 6626 w 490330"/>
              <a:gd name="connsiteY0" fmla="*/ 1219200 h 1222387"/>
              <a:gd name="connsiteX1" fmla="*/ 0 w 490330"/>
              <a:gd name="connsiteY1" fmla="*/ 0 h 1222387"/>
              <a:gd name="connsiteX2" fmla="*/ 483704 w 490330"/>
              <a:gd name="connsiteY2" fmla="*/ 781878 h 1222387"/>
              <a:gd name="connsiteX3" fmla="*/ 490330 w 490330"/>
              <a:gd name="connsiteY3" fmla="*/ 1219200 h 1222387"/>
              <a:gd name="connsiteX4" fmla="*/ 6626 w 490330"/>
              <a:gd name="connsiteY4" fmla="*/ 1219200 h 1222387"/>
              <a:gd name="connsiteX0" fmla="*/ 6626 w 490330"/>
              <a:gd name="connsiteY0" fmla="*/ 1219200 h 1222387"/>
              <a:gd name="connsiteX1" fmla="*/ 0 w 490330"/>
              <a:gd name="connsiteY1" fmla="*/ 0 h 1222387"/>
              <a:gd name="connsiteX2" fmla="*/ 483704 w 490330"/>
              <a:gd name="connsiteY2" fmla="*/ 781878 h 1222387"/>
              <a:gd name="connsiteX3" fmla="*/ 490330 w 490330"/>
              <a:gd name="connsiteY3" fmla="*/ 1219200 h 1222387"/>
              <a:gd name="connsiteX4" fmla="*/ 6626 w 490330"/>
              <a:gd name="connsiteY4" fmla="*/ 1219200 h 1222387"/>
              <a:gd name="connsiteX0" fmla="*/ 638 w 484342"/>
              <a:gd name="connsiteY0" fmla="*/ 1318591 h 1321778"/>
              <a:gd name="connsiteX1" fmla="*/ 639 w 484342"/>
              <a:gd name="connsiteY1" fmla="*/ 0 h 1321778"/>
              <a:gd name="connsiteX2" fmla="*/ 477716 w 484342"/>
              <a:gd name="connsiteY2" fmla="*/ 881269 h 1321778"/>
              <a:gd name="connsiteX3" fmla="*/ 484342 w 484342"/>
              <a:gd name="connsiteY3" fmla="*/ 1318591 h 1321778"/>
              <a:gd name="connsiteX4" fmla="*/ 638 w 484342"/>
              <a:gd name="connsiteY4" fmla="*/ 1318591 h 1321778"/>
              <a:gd name="connsiteX0" fmla="*/ 638 w 484342"/>
              <a:gd name="connsiteY0" fmla="*/ 1318591 h 1321778"/>
              <a:gd name="connsiteX1" fmla="*/ 639 w 484342"/>
              <a:gd name="connsiteY1" fmla="*/ 0 h 1321778"/>
              <a:gd name="connsiteX2" fmla="*/ 471090 w 484342"/>
              <a:gd name="connsiteY2" fmla="*/ 788504 h 1321778"/>
              <a:gd name="connsiteX3" fmla="*/ 484342 w 484342"/>
              <a:gd name="connsiteY3" fmla="*/ 1318591 h 1321778"/>
              <a:gd name="connsiteX4" fmla="*/ 638 w 484342"/>
              <a:gd name="connsiteY4" fmla="*/ 1318591 h 1321778"/>
              <a:gd name="connsiteX0" fmla="*/ 638 w 484342"/>
              <a:gd name="connsiteY0" fmla="*/ 1318591 h 1321778"/>
              <a:gd name="connsiteX1" fmla="*/ 639 w 484342"/>
              <a:gd name="connsiteY1" fmla="*/ 0 h 1321778"/>
              <a:gd name="connsiteX2" fmla="*/ 471090 w 484342"/>
              <a:gd name="connsiteY2" fmla="*/ 788504 h 1321778"/>
              <a:gd name="connsiteX3" fmla="*/ 484342 w 484342"/>
              <a:gd name="connsiteY3" fmla="*/ 1318591 h 1321778"/>
              <a:gd name="connsiteX4" fmla="*/ 638 w 484342"/>
              <a:gd name="connsiteY4" fmla="*/ 1318591 h 1321778"/>
              <a:gd name="connsiteX0" fmla="*/ 638 w 484342"/>
              <a:gd name="connsiteY0" fmla="*/ 1318591 h 1321778"/>
              <a:gd name="connsiteX1" fmla="*/ 639 w 484342"/>
              <a:gd name="connsiteY1" fmla="*/ 0 h 1321778"/>
              <a:gd name="connsiteX2" fmla="*/ 471090 w 484342"/>
              <a:gd name="connsiteY2" fmla="*/ 788504 h 1321778"/>
              <a:gd name="connsiteX3" fmla="*/ 484342 w 484342"/>
              <a:gd name="connsiteY3" fmla="*/ 1318591 h 1321778"/>
              <a:gd name="connsiteX4" fmla="*/ 638 w 484342"/>
              <a:gd name="connsiteY4" fmla="*/ 1318591 h 1321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342" h="1321778">
                <a:moveTo>
                  <a:pt x="638" y="1318591"/>
                </a:moveTo>
                <a:cubicBezTo>
                  <a:pt x="-1571" y="912191"/>
                  <a:pt x="2848" y="406400"/>
                  <a:pt x="639" y="0"/>
                </a:cubicBezTo>
                <a:cubicBezTo>
                  <a:pt x="161874" y="260626"/>
                  <a:pt x="296603" y="554383"/>
                  <a:pt x="471090" y="788504"/>
                </a:cubicBezTo>
                <a:lnTo>
                  <a:pt x="484342" y="1318591"/>
                </a:lnTo>
                <a:cubicBezTo>
                  <a:pt x="325316" y="1307548"/>
                  <a:pt x="159664" y="1329634"/>
                  <a:pt x="638" y="1318591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643F09-C266-1458-8271-930EEC19CB8E}"/>
              </a:ext>
            </a:extLst>
          </p:cNvPr>
          <p:cNvCxnSpPr>
            <a:cxnSpLocks/>
          </p:cNvCxnSpPr>
          <p:nvPr/>
        </p:nvCxnSpPr>
        <p:spPr>
          <a:xfrm flipV="1">
            <a:off x="2974312" y="4364354"/>
            <a:ext cx="602901" cy="45928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DFE9A8C-57ED-E681-0E97-A5BCC92F24B7}"/>
              </a:ext>
            </a:extLst>
          </p:cNvPr>
          <p:cNvSpPr txBox="1"/>
          <p:nvPr/>
        </p:nvSpPr>
        <p:spPr>
          <a:xfrm>
            <a:off x="2123310" y="4793061"/>
            <a:ext cx="158697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7985F1-7E0C-FB65-1497-B4E8BC7F2857}"/>
              </a:ext>
            </a:extLst>
          </p:cNvPr>
          <p:cNvCxnSpPr>
            <a:cxnSpLocks/>
          </p:cNvCxnSpPr>
          <p:nvPr/>
        </p:nvCxnSpPr>
        <p:spPr>
          <a:xfrm flipH="1">
            <a:off x="1211693" y="3201423"/>
            <a:ext cx="2407888" cy="0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313171-5320-7DDF-4388-AEEA16EA69F8}"/>
                  </a:ext>
                </a:extLst>
              </p:cNvPr>
              <p:cNvSpPr txBox="1"/>
              <p:nvPr/>
            </p:nvSpPr>
            <p:spPr>
              <a:xfrm>
                <a:off x="7861423" y="5240167"/>
                <a:ext cx="16945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=0.21 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313171-5320-7DDF-4388-AEEA16EA6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423" y="5240167"/>
                <a:ext cx="1694566" cy="307777"/>
              </a:xfrm>
              <a:prstGeom prst="rect">
                <a:avLst/>
              </a:prstGeom>
              <a:blipFill>
                <a:blip r:embed="rId5"/>
                <a:stretch>
                  <a:fillRect l="-2985" t="-8000" r="-5224" b="-40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7737BD-C0C0-EFED-4B9C-67B33AE0C2DA}"/>
              </a:ext>
            </a:extLst>
          </p:cNvPr>
          <p:cNvCxnSpPr>
            <a:cxnSpLocks/>
          </p:cNvCxnSpPr>
          <p:nvPr/>
        </p:nvCxnSpPr>
        <p:spPr>
          <a:xfrm flipV="1">
            <a:off x="8929200" y="4361254"/>
            <a:ext cx="657040" cy="462378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60CB127-F56B-BE2F-8E34-DB87390FA977}"/>
              </a:ext>
            </a:extLst>
          </p:cNvPr>
          <p:cNvSpPr txBox="1"/>
          <p:nvPr/>
        </p:nvSpPr>
        <p:spPr>
          <a:xfrm>
            <a:off x="7957697" y="4823632"/>
            <a:ext cx="163666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Expected event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20CBF5E-605E-E60D-940D-12381D62A580}"/>
              </a:ext>
            </a:extLst>
          </p:cNvPr>
          <p:cNvSpPr/>
          <p:nvPr/>
        </p:nvSpPr>
        <p:spPr>
          <a:xfrm>
            <a:off x="3628503" y="3174241"/>
            <a:ext cx="59316" cy="593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F22764-B071-AF56-9B1E-E750B1F95B35}"/>
                  </a:ext>
                </a:extLst>
              </p:cNvPr>
              <p:cNvSpPr txBox="1"/>
              <p:nvPr/>
            </p:nvSpPr>
            <p:spPr>
              <a:xfrm>
                <a:off x="9682414" y="2584275"/>
                <a:ext cx="12945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F22764-B071-AF56-9B1E-E750B1F95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2414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3883" r="-5825" b="-3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35F6F7-B99F-7165-E8E2-395DCA2B6772}"/>
                  </a:ext>
                </a:extLst>
              </p:cNvPr>
              <p:cNvSpPr txBox="1"/>
              <p:nvPr/>
            </p:nvSpPr>
            <p:spPr>
              <a:xfrm>
                <a:off x="2005620" y="5259773"/>
                <a:ext cx="16945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=0.24 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35F6F7-B99F-7165-E8E2-395DCA2B6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620" y="5259773"/>
                <a:ext cx="1694566" cy="307777"/>
              </a:xfrm>
              <a:prstGeom prst="rect">
                <a:avLst/>
              </a:prstGeom>
              <a:blipFill>
                <a:blip r:embed="rId6"/>
                <a:stretch>
                  <a:fillRect l="-2222" t="-8000" r="-5185" b="-36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13690EC-C6C1-661F-3379-3300F9034565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158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B6627-F275-2B1C-64A3-9DAF8A8D6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081D8C-9610-FEE1-FD08-DA8BC85B4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BA5E9B-43DD-8DA0-D72D-720F13D0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B6E9A-1D1D-7FA5-D5C9-53F4AD100A16}"/>
              </a:ext>
            </a:extLst>
          </p:cNvPr>
          <p:cNvSpPr txBox="1"/>
          <p:nvPr/>
        </p:nvSpPr>
        <p:spPr>
          <a:xfrm>
            <a:off x="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07CAAB-538D-9AB9-9A73-A386E5FAEE32}"/>
              </a:ext>
            </a:extLst>
          </p:cNvPr>
          <p:cNvSpPr txBox="1"/>
          <p:nvPr/>
        </p:nvSpPr>
        <p:spPr>
          <a:xfrm>
            <a:off x="6096000" y="1756119"/>
            <a:ext cx="6096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2000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Probability</a:t>
            </a:r>
          </a:p>
        </p:txBody>
      </p:sp>
      <p:pic>
        <p:nvPicPr>
          <p:cNvPr id="1026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61F80B1A-6ABB-C816-A44F-B166E2B82F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837363" y="2462416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1A854D8-4B4E-7EEB-CC22-AD27CBDE1C23}"/>
              </a:ext>
            </a:extLst>
          </p:cNvPr>
          <p:cNvSpPr/>
          <p:nvPr/>
        </p:nvSpPr>
        <p:spPr>
          <a:xfrm>
            <a:off x="3577213" y="4250453"/>
            <a:ext cx="150725" cy="1507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014014-3300-A03A-A2BD-AD5D8539CFCF}"/>
              </a:ext>
            </a:extLst>
          </p:cNvPr>
          <p:cNvCxnSpPr>
            <a:cxnSpLocks/>
          </p:cNvCxnSpPr>
          <p:nvPr/>
        </p:nvCxnSpPr>
        <p:spPr>
          <a:xfrm flipV="1">
            <a:off x="3648157" y="3237969"/>
            <a:ext cx="4418" cy="1063149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156D41-BF6A-86F6-3E98-381E4A92CE7B}"/>
                  </a:ext>
                </a:extLst>
              </p:cNvPr>
              <p:cNvSpPr txBox="1"/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156D41-BF6A-86F6-3E98-381E4A92C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65" y="2584275"/>
                <a:ext cx="1294522" cy="307777"/>
              </a:xfrm>
              <a:prstGeom prst="rect">
                <a:avLst/>
              </a:prstGeom>
              <a:blipFill>
                <a:blip r:embed="rId4"/>
                <a:stretch>
                  <a:fillRect l="-2857" r="-4762" b="-25926"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The Standard Normal Distribution | Calculator, Examples &amp; Uses">
            <a:extLst>
              <a:ext uri="{FF2B5EF4-FFF2-40B4-BE49-F238E27FC236}">
                <a16:creationId xmlns:a16="http://schemas.microsoft.com/office/drawing/2014/main" id="{FA32762F-C462-028A-F5CD-9C7A3CC0F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1" t="22417" r="9317" b="15897"/>
          <a:stretch>
            <a:fillRect/>
          </a:stretch>
        </p:blipFill>
        <p:spPr bwMode="auto">
          <a:xfrm>
            <a:off x="6869288" y="2462415"/>
            <a:ext cx="4119824" cy="20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1BADBB4E-3BA9-ECD9-7EB3-80677D9E743E}"/>
              </a:ext>
            </a:extLst>
          </p:cNvPr>
          <p:cNvSpPr/>
          <p:nvPr/>
        </p:nvSpPr>
        <p:spPr>
          <a:xfrm>
            <a:off x="9594363" y="3020354"/>
            <a:ext cx="484342" cy="1321778"/>
          </a:xfrm>
          <a:custGeom>
            <a:avLst/>
            <a:gdLst>
              <a:gd name="connsiteX0" fmla="*/ 6626 w 483704"/>
              <a:gd name="connsiteY0" fmla="*/ 1219200 h 1252330"/>
              <a:gd name="connsiteX1" fmla="*/ 0 w 483704"/>
              <a:gd name="connsiteY1" fmla="*/ 0 h 1252330"/>
              <a:gd name="connsiteX2" fmla="*/ 483704 w 483704"/>
              <a:gd name="connsiteY2" fmla="*/ 781878 h 1252330"/>
              <a:gd name="connsiteX3" fmla="*/ 483704 w 483704"/>
              <a:gd name="connsiteY3" fmla="*/ 1252330 h 1252330"/>
              <a:gd name="connsiteX4" fmla="*/ 6626 w 483704"/>
              <a:gd name="connsiteY4" fmla="*/ 1219200 h 1252330"/>
              <a:gd name="connsiteX0" fmla="*/ 6626 w 490330"/>
              <a:gd name="connsiteY0" fmla="*/ 1219200 h 1222387"/>
              <a:gd name="connsiteX1" fmla="*/ 0 w 490330"/>
              <a:gd name="connsiteY1" fmla="*/ 0 h 1222387"/>
              <a:gd name="connsiteX2" fmla="*/ 483704 w 490330"/>
              <a:gd name="connsiteY2" fmla="*/ 781878 h 1222387"/>
              <a:gd name="connsiteX3" fmla="*/ 490330 w 490330"/>
              <a:gd name="connsiteY3" fmla="*/ 1219200 h 1222387"/>
              <a:gd name="connsiteX4" fmla="*/ 6626 w 490330"/>
              <a:gd name="connsiteY4" fmla="*/ 1219200 h 1222387"/>
              <a:gd name="connsiteX0" fmla="*/ 6626 w 490330"/>
              <a:gd name="connsiteY0" fmla="*/ 1219200 h 1222387"/>
              <a:gd name="connsiteX1" fmla="*/ 0 w 490330"/>
              <a:gd name="connsiteY1" fmla="*/ 0 h 1222387"/>
              <a:gd name="connsiteX2" fmla="*/ 483704 w 490330"/>
              <a:gd name="connsiteY2" fmla="*/ 781878 h 1222387"/>
              <a:gd name="connsiteX3" fmla="*/ 490330 w 490330"/>
              <a:gd name="connsiteY3" fmla="*/ 1219200 h 1222387"/>
              <a:gd name="connsiteX4" fmla="*/ 6626 w 490330"/>
              <a:gd name="connsiteY4" fmla="*/ 1219200 h 1222387"/>
              <a:gd name="connsiteX0" fmla="*/ 638 w 484342"/>
              <a:gd name="connsiteY0" fmla="*/ 1318591 h 1321778"/>
              <a:gd name="connsiteX1" fmla="*/ 639 w 484342"/>
              <a:gd name="connsiteY1" fmla="*/ 0 h 1321778"/>
              <a:gd name="connsiteX2" fmla="*/ 477716 w 484342"/>
              <a:gd name="connsiteY2" fmla="*/ 881269 h 1321778"/>
              <a:gd name="connsiteX3" fmla="*/ 484342 w 484342"/>
              <a:gd name="connsiteY3" fmla="*/ 1318591 h 1321778"/>
              <a:gd name="connsiteX4" fmla="*/ 638 w 484342"/>
              <a:gd name="connsiteY4" fmla="*/ 1318591 h 1321778"/>
              <a:gd name="connsiteX0" fmla="*/ 638 w 484342"/>
              <a:gd name="connsiteY0" fmla="*/ 1318591 h 1321778"/>
              <a:gd name="connsiteX1" fmla="*/ 639 w 484342"/>
              <a:gd name="connsiteY1" fmla="*/ 0 h 1321778"/>
              <a:gd name="connsiteX2" fmla="*/ 471090 w 484342"/>
              <a:gd name="connsiteY2" fmla="*/ 788504 h 1321778"/>
              <a:gd name="connsiteX3" fmla="*/ 484342 w 484342"/>
              <a:gd name="connsiteY3" fmla="*/ 1318591 h 1321778"/>
              <a:gd name="connsiteX4" fmla="*/ 638 w 484342"/>
              <a:gd name="connsiteY4" fmla="*/ 1318591 h 1321778"/>
              <a:gd name="connsiteX0" fmla="*/ 638 w 484342"/>
              <a:gd name="connsiteY0" fmla="*/ 1318591 h 1321778"/>
              <a:gd name="connsiteX1" fmla="*/ 639 w 484342"/>
              <a:gd name="connsiteY1" fmla="*/ 0 h 1321778"/>
              <a:gd name="connsiteX2" fmla="*/ 471090 w 484342"/>
              <a:gd name="connsiteY2" fmla="*/ 788504 h 1321778"/>
              <a:gd name="connsiteX3" fmla="*/ 484342 w 484342"/>
              <a:gd name="connsiteY3" fmla="*/ 1318591 h 1321778"/>
              <a:gd name="connsiteX4" fmla="*/ 638 w 484342"/>
              <a:gd name="connsiteY4" fmla="*/ 1318591 h 1321778"/>
              <a:gd name="connsiteX0" fmla="*/ 638 w 484342"/>
              <a:gd name="connsiteY0" fmla="*/ 1318591 h 1321778"/>
              <a:gd name="connsiteX1" fmla="*/ 639 w 484342"/>
              <a:gd name="connsiteY1" fmla="*/ 0 h 1321778"/>
              <a:gd name="connsiteX2" fmla="*/ 471090 w 484342"/>
              <a:gd name="connsiteY2" fmla="*/ 788504 h 1321778"/>
              <a:gd name="connsiteX3" fmla="*/ 484342 w 484342"/>
              <a:gd name="connsiteY3" fmla="*/ 1318591 h 1321778"/>
              <a:gd name="connsiteX4" fmla="*/ 638 w 484342"/>
              <a:gd name="connsiteY4" fmla="*/ 1318591 h 1321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342" h="1321778">
                <a:moveTo>
                  <a:pt x="638" y="1318591"/>
                </a:moveTo>
                <a:cubicBezTo>
                  <a:pt x="-1571" y="912191"/>
                  <a:pt x="2848" y="406400"/>
                  <a:pt x="639" y="0"/>
                </a:cubicBezTo>
                <a:cubicBezTo>
                  <a:pt x="161874" y="260626"/>
                  <a:pt x="296603" y="554383"/>
                  <a:pt x="471090" y="788504"/>
                </a:cubicBezTo>
                <a:lnTo>
                  <a:pt x="484342" y="1318591"/>
                </a:lnTo>
                <a:cubicBezTo>
                  <a:pt x="325316" y="1307548"/>
                  <a:pt x="159664" y="1329634"/>
                  <a:pt x="638" y="1318591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810DF1-C120-92E9-F2B3-AF25DE681297}"/>
              </a:ext>
            </a:extLst>
          </p:cNvPr>
          <p:cNvCxnSpPr>
            <a:cxnSpLocks/>
          </p:cNvCxnSpPr>
          <p:nvPr/>
        </p:nvCxnSpPr>
        <p:spPr>
          <a:xfrm flipV="1">
            <a:off x="8929200" y="4361254"/>
            <a:ext cx="657040" cy="462378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569240A-03BC-D384-719B-0D4FA9A8D987}"/>
              </a:ext>
            </a:extLst>
          </p:cNvPr>
          <p:cNvSpPr txBox="1"/>
          <p:nvPr/>
        </p:nvSpPr>
        <p:spPr>
          <a:xfrm>
            <a:off x="7957697" y="4823632"/>
            <a:ext cx="163666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Expected event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3AD132-0848-C1C9-ABBF-9BADFF7C544A}"/>
              </a:ext>
            </a:extLst>
          </p:cNvPr>
          <p:cNvCxnSpPr>
            <a:cxnSpLocks/>
          </p:cNvCxnSpPr>
          <p:nvPr/>
        </p:nvCxnSpPr>
        <p:spPr>
          <a:xfrm flipV="1">
            <a:off x="2974312" y="4364354"/>
            <a:ext cx="602901" cy="45928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F8D770F-E57C-1687-A9BF-8898E080C0E2}"/>
              </a:ext>
            </a:extLst>
          </p:cNvPr>
          <p:cNvSpPr txBox="1"/>
          <p:nvPr/>
        </p:nvSpPr>
        <p:spPr>
          <a:xfrm>
            <a:off x="2123310" y="4793061"/>
            <a:ext cx="158697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7D65FF-AA74-CECC-8FC0-FB041D9DD0F0}"/>
              </a:ext>
            </a:extLst>
          </p:cNvPr>
          <p:cNvCxnSpPr>
            <a:cxnSpLocks/>
          </p:cNvCxnSpPr>
          <p:nvPr/>
        </p:nvCxnSpPr>
        <p:spPr>
          <a:xfrm flipH="1">
            <a:off x="1211693" y="3201423"/>
            <a:ext cx="2407888" cy="0"/>
          </a:xfrm>
          <a:prstGeom prst="straightConnector1">
            <a:avLst/>
          </a:prstGeom>
          <a:ln w="22225" cap="rnd">
            <a:solidFill>
              <a:srgbClr val="C0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98C3AA-C37F-3F5A-F532-DFA6FBE9B21E}"/>
                  </a:ext>
                </a:extLst>
              </p:cNvPr>
              <p:cNvSpPr txBox="1"/>
              <p:nvPr/>
            </p:nvSpPr>
            <p:spPr>
              <a:xfrm>
                <a:off x="7861423" y="5240167"/>
                <a:ext cx="16945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=0.21 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98C3AA-C37F-3F5A-F532-DFA6FBE9B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423" y="5240167"/>
                <a:ext cx="1694566" cy="307777"/>
              </a:xfrm>
              <a:prstGeom prst="rect">
                <a:avLst/>
              </a:prstGeom>
              <a:blipFill>
                <a:blip r:embed="rId4"/>
                <a:stretch>
                  <a:fillRect l="-2985" t="-8000" r="-5224" b="-40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E0C0FD97-8D2C-7510-9AB7-991E0DAB31F8}"/>
              </a:ext>
            </a:extLst>
          </p:cNvPr>
          <p:cNvSpPr/>
          <p:nvPr/>
        </p:nvSpPr>
        <p:spPr>
          <a:xfrm>
            <a:off x="3628503" y="3174241"/>
            <a:ext cx="59316" cy="593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6BDD86-2A1A-129B-5897-2D32DFA5B520}"/>
                  </a:ext>
                </a:extLst>
              </p:cNvPr>
              <p:cNvSpPr txBox="1"/>
              <p:nvPr/>
            </p:nvSpPr>
            <p:spPr>
              <a:xfrm>
                <a:off x="9682414" y="2584275"/>
                <a:ext cx="1294522" cy="307777"/>
              </a:xfrm>
              <a:prstGeom prst="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6BDD86-2A1A-129B-5897-2D32DFA5B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2414" y="2584275"/>
                <a:ext cx="1294522" cy="307777"/>
              </a:xfrm>
              <a:prstGeom prst="rect">
                <a:avLst/>
              </a:prstGeom>
              <a:blipFill>
                <a:blip r:embed="rId5"/>
                <a:stretch>
                  <a:fillRect l="-2857" r="-4762" b="-25926"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20CED10-397A-A5F8-CDE0-5B6ED5F2E556}"/>
              </a:ext>
            </a:extLst>
          </p:cNvPr>
          <p:cNvSpPr txBox="1"/>
          <p:nvPr/>
        </p:nvSpPr>
        <p:spPr>
          <a:xfrm>
            <a:off x="4138645" y="2214943"/>
            <a:ext cx="1324080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Want to find</a:t>
            </a:r>
            <a:endParaRPr lang="en-KR" dirty="0" err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ED835-424B-64EE-DE4D-88F92937397F}"/>
              </a:ext>
            </a:extLst>
          </p:cNvPr>
          <p:cNvSpPr txBox="1"/>
          <p:nvPr/>
        </p:nvSpPr>
        <p:spPr>
          <a:xfrm>
            <a:off x="10585579" y="2214943"/>
            <a:ext cx="54822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Fixed</a:t>
            </a:r>
            <a:endParaRPr lang="en-KR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1294A99-6F10-BF77-331B-C3576BD2CB3E}"/>
                  </a:ext>
                </a:extLst>
              </p:cNvPr>
              <p:cNvSpPr txBox="1"/>
              <p:nvPr/>
            </p:nvSpPr>
            <p:spPr>
              <a:xfrm>
                <a:off x="2005620" y="5259773"/>
                <a:ext cx="16945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=0.24 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1294A99-6F10-BF77-331B-C3576BD2C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620" y="5259773"/>
                <a:ext cx="1694566" cy="307777"/>
              </a:xfrm>
              <a:prstGeom prst="rect">
                <a:avLst/>
              </a:prstGeom>
              <a:blipFill>
                <a:blip r:embed="rId6"/>
                <a:stretch>
                  <a:fillRect l="-2222" t="-8000" r="-5185" b="-36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77D7E50-6623-017D-B3C8-67F99170661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818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9704-4C2D-D41A-2E66-018A670C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FF47D2-CE41-AADC-49A2-011F676C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Likelihood Estimation(MLE)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94917A-B1B7-7DAA-802E-3FF52705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A23D9-96EE-FEC2-3E0C-AF41DF4B1B7D}"/>
              </a:ext>
            </a:extLst>
          </p:cNvPr>
          <p:cNvSpPr txBox="1"/>
          <p:nvPr/>
        </p:nvSpPr>
        <p:spPr>
          <a:xfrm flipH="1">
            <a:off x="609600" y="1694688"/>
            <a:ext cx="10972800" cy="110799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MLE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aims to estimate the parameters of a probability distribution by </a:t>
            </a:r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finding the parameter values that maximize the likelihood of the observed data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90A6110-9907-7E08-3E2A-B67EB42248D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969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11F11-5535-DD7D-736C-BC4B3DFC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D49BD8-1429-B609-A8F5-7A5E15F2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Likelihood Estimation(MLE)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B09159-2BF4-0B9E-FFFF-E67FD43E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96C55B-DD58-CCFA-4658-B1B3EEF61045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3594958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MLE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aims to estimate the parameters of a probability distribution by </a:t>
                </a:r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finding the parameter values that maximize the likelihood of the observed data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.</a:t>
                </a: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All generative models aims to </a:t>
                </a:r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likelihood of observed data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either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implicit or explicit ways.</a:t>
                </a: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𝑑𝑎𝑡𝑎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96C55B-DD58-CCFA-4658-B1B3EEF61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3594958"/>
              </a:xfrm>
              <a:prstGeom prst="rect">
                <a:avLst/>
              </a:prstGeom>
              <a:blipFill>
                <a:blip r:embed="rId2"/>
                <a:stretch>
                  <a:fillRect l="-1734" t="-1408" r="-1850" b="-176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125633F-44D2-78CF-D69D-51079422351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930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75A81-7C02-F58B-4923-659F32E1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32AC4F-F032-ED67-5160-38362B976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Likelihood Estimation(MLE)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A59D43-8455-5EEC-B1C2-57656E09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5EAE299-B4C0-B345-82BB-A1D9E78DF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084" y="3939373"/>
            <a:ext cx="7555832" cy="280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3C9F68-490F-D2DF-5E73-90ECB2CDF1D1}"/>
              </a:ext>
            </a:extLst>
          </p:cNvPr>
          <p:cNvSpPr txBox="1"/>
          <p:nvPr/>
        </p:nvSpPr>
        <p:spPr>
          <a:xfrm flipH="1">
            <a:off x="609600" y="1694688"/>
            <a:ext cx="10972800" cy="258532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MLE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aims to estimate the parameters of a probability distribution by </a:t>
            </a:r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finding the parameter values that maximize the likelihood of the observed data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US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All generative models aims to </a:t>
            </a:r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maximize likelihood of observed data</a:t>
            </a:r>
            <a:r>
              <a:rPr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,</a:t>
            </a:r>
            <a:r>
              <a:rPr lang="ko-KR" alt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either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implicit or explicit ways.</a:t>
            </a:r>
          </a:p>
          <a:p>
            <a:endParaRPr lang="en-US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9B27DC7-E161-5D9B-0794-07F468D5D96A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189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06BD6-D8AC-2F40-9A5A-9FB860EF1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346300-B6FF-BF5E-1D5F-2D52BDD33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Likelihood Estimation(MLE)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D1CBB6-85A6-A941-0027-7F6675F6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1B3B70EE-6126-0A2A-2047-EAB99EA9C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084" y="3939373"/>
            <a:ext cx="7555832" cy="280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6631A1-5AF1-30E4-C5BF-9C916A0900BD}"/>
              </a:ext>
            </a:extLst>
          </p:cNvPr>
          <p:cNvSpPr txBox="1"/>
          <p:nvPr/>
        </p:nvSpPr>
        <p:spPr>
          <a:xfrm flipH="1">
            <a:off x="609600" y="1694688"/>
            <a:ext cx="10972800" cy="258532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MLE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aims to estimate the parameters of a probability distribution by </a:t>
            </a:r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finding the parameter values that maximize the likelihood of the observed data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US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All generative models aims to </a:t>
            </a:r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maximize likelihood of observed data</a:t>
            </a:r>
            <a:r>
              <a:rPr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,</a:t>
            </a:r>
            <a:r>
              <a:rPr lang="ko-KR" alt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either</a:t>
            </a: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implicit or explicit ways.</a:t>
            </a:r>
          </a:p>
          <a:p>
            <a:endParaRPr lang="en-US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F4A2D37A-1042-8A9F-7A38-00B7C08D8BE4}"/>
              </a:ext>
            </a:extLst>
          </p:cNvPr>
          <p:cNvSpPr/>
          <p:nvPr/>
        </p:nvSpPr>
        <p:spPr>
          <a:xfrm rot="2351492">
            <a:off x="3821230" y="4425492"/>
            <a:ext cx="972151" cy="25988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6E29B-4673-9C8B-93C5-149DFE7C8F4B}"/>
              </a:ext>
            </a:extLst>
          </p:cNvPr>
          <p:cNvSpPr txBox="1"/>
          <p:nvPr/>
        </p:nvSpPr>
        <p:spPr>
          <a:xfrm>
            <a:off x="2226607" y="3826217"/>
            <a:ext cx="218008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Maximizes likelihood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8E3EC9B-8531-D443-BC57-D7AE3F3E6C0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2209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33B7-5329-C726-3223-0D9D45D0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C98CEF-F74A-FF94-24A3-938B91C6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Likelihood Estimation(MLE)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FBD599-19B0-C9E6-E452-9E98D646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98A1AC-CB69-BB5D-7B85-D529174EAA0F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165596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MLE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e>
                      </m:func>
                      <m:r>
                        <a:rPr lang="en-US" altLang="ko-KR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98A1AC-CB69-BB5D-7B85-D529174EA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1655966"/>
              </a:xfrm>
              <a:prstGeom prst="rect">
                <a:avLst/>
              </a:prstGeom>
              <a:blipFill>
                <a:blip r:embed="rId2"/>
                <a:stretch>
                  <a:fillRect l="-1734" t="-3053" b="-534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B384B8C-1F13-46E8-D998-9E5ECE6EB105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115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2437-AA20-8DA1-396C-E3170ECA0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9FA491-459F-78B1-BD22-AE179CC8A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Likelihood Estimation(MLE)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992BC7-C4BF-A2B9-15A8-7721AE94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7337B6-6BC4-B27B-618A-2DEFB7DBF190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165596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MLE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e>
                      </m:func>
                      <m:r>
                        <a:rPr lang="en-US" altLang="ko-KR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7337B6-6BC4-B27B-618A-2DEFB7DBF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1655966"/>
              </a:xfrm>
              <a:prstGeom prst="rect">
                <a:avLst/>
              </a:prstGeom>
              <a:blipFill>
                <a:blip r:embed="rId2"/>
                <a:stretch>
                  <a:fillRect l="-1734" t="-3053" b="-534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4800C8A-99B9-9CA8-01DD-0761452465B2}"/>
              </a:ext>
            </a:extLst>
          </p:cNvPr>
          <p:cNvSpPr/>
          <p:nvPr/>
        </p:nvSpPr>
        <p:spPr>
          <a:xfrm>
            <a:off x="3578087" y="2027583"/>
            <a:ext cx="5102087" cy="68911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F0C10-D926-8F06-1679-44AD7662A216}"/>
              </a:ext>
            </a:extLst>
          </p:cNvPr>
          <p:cNvSpPr txBox="1"/>
          <p:nvPr/>
        </p:nvSpPr>
        <p:spPr>
          <a:xfrm>
            <a:off x="4602001" y="2849009"/>
            <a:ext cx="303127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Overfitting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to 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5946B8B-09B5-67F9-CCDA-C95F130E9664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421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BFFB3-7014-FD24-9EE8-9AE09C88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4FCF90-4708-D297-0CA0-FD2D126D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Likelihood Estimation(MLE)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512434-65EA-E4B8-1F45-2E6B93728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A2DD17-AE05-98AF-FC0B-F0C01D8748C9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165596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MLE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e>
                      </m:func>
                      <m:r>
                        <a:rPr lang="en-US" altLang="ko-KR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A2DD17-AE05-98AF-FC0B-F0C01D874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1655966"/>
              </a:xfrm>
              <a:prstGeom prst="rect">
                <a:avLst/>
              </a:prstGeom>
              <a:blipFill>
                <a:blip r:embed="rId2"/>
                <a:stretch>
                  <a:fillRect l="-1734" t="-3053" b="-534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28EDB87-A0F4-A23A-1D7B-544C0B0DCCA5}"/>
              </a:ext>
            </a:extLst>
          </p:cNvPr>
          <p:cNvSpPr/>
          <p:nvPr/>
        </p:nvSpPr>
        <p:spPr>
          <a:xfrm>
            <a:off x="3578087" y="2027583"/>
            <a:ext cx="5102087" cy="68911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167685-8EB3-7F99-22D6-714F1C631C98}"/>
              </a:ext>
            </a:extLst>
          </p:cNvPr>
          <p:cNvSpPr txBox="1"/>
          <p:nvPr/>
        </p:nvSpPr>
        <p:spPr>
          <a:xfrm>
            <a:off x="4602001" y="2849009"/>
            <a:ext cx="303127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Overfitting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to 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39188-5E51-BD33-846B-1236FC551A6C}"/>
              </a:ext>
            </a:extLst>
          </p:cNvPr>
          <p:cNvSpPr txBox="1"/>
          <p:nvPr/>
        </p:nvSpPr>
        <p:spPr>
          <a:xfrm flipH="1">
            <a:off x="609600" y="3992094"/>
            <a:ext cx="10972800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Example: Coin flip</a:t>
            </a:r>
            <a:endParaRPr lang="en-US" altLang="ko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11366E2-CF09-577A-9406-561BC61982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1932923"/>
                  </p:ext>
                </p:extLst>
              </p:nvPr>
            </p:nvGraphicFramePr>
            <p:xfrm>
              <a:off x="2946399" y="4633767"/>
              <a:ext cx="6299202" cy="127481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99734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209973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  <a:gridCol w="2099734">
                      <a:extLst>
                        <a:ext uri="{9D8B030D-6E8A-4147-A177-3AD203B41FA5}">
                          <a16:colId xmlns:a16="http://schemas.microsoft.com/office/drawing/2014/main" val="256462020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Head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Tail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p>
                                    <m: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KR" sz="2100" dirty="0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10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1.0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8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2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0.8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11366E2-CF09-577A-9406-561BC61982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1932923"/>
                  </p:ext>
                </p:extLst>
              </p:nvPr>
            </p:nvGraphicFramePr>
            <p:xfrm>
              <a:off x="2946399" y="4633767"/>
              <a:ext cx="6299202" cy="127481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99734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209973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  <a:gridCol w="2099734">
                      <a:extLst>
                        <a:ext uri="{9D8B030D-6E8A-4147-A177-3AD203B41FA5}">
                          <a16:colId xmlns:a16="http://schemas.microsoft.com/office/drawing/2014/main" val="256462020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Head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Tail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5882" b="-2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10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1.0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8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2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0.8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A84496C-CB7A-70CC-40F9-0CDC58812C4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01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4F45-FDD3-DB6E-2DFE-E930116AE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D22DF5-F45F-ECE5-72AB-2F4E0A7A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Likelihood Estimation(MLE)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5B9800-B2E0-E79C-5DC7-C3AC6895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13353A-4306-89AA-FDF0-E5E990B0A4AA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165596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MLE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e>
                      </m:func>
                      <m:r>
                        <a:rPr lang="en-US" altLang="ko-KR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13353A-4306-89AA-FDF0-E5E990B0A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1655966"/>
              </a:xfrm>
              <a:prstGeom prst="rect">
                <a:avLst/>
              </a:prstGeom>
              <a:blipFill>
                <a:blip r:embed="rId2"/>
                <a:stretch>
                  <a:fillRect l="-1734" t="-3053" b="-534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B3187D1-97C2-F0DC-7BB2-ED455F00DB4D}"/>
              </a:ext>
            </a:extLst>
          </p:cNvPr>
          <p:cNvSpPr/>
          <p:nvPr/>
        </p:nvSpPr>
        <p:spPr>
          <a:xfrm>
            <a:off x="3578087" y="2027583"/>
            <a:ext cx="5102087" cy="68911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0CACE-D947-B0BB-F991-86B7315A9362}"/>
              </a:ext>
            </a:extLst>
          </p:cNvPr>
          <p:cNvSpPr txBox="1"/>
          <p:nvPr/>
        </p:nvSpPr>
        <p:spPr>
          <a:xfrm>
            <a:off x="4602001" y="2849009"/>
            <a:ext cx="303127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Overfitting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to observed data</a:t>
            </a:r>
            <a:endParaRPr lang="en-KR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50D6F-D122-D5DA-13AA-B0DA0EE3A8D1}"/>
              </a:ext>
            </a:extLst>
          </p:cNvPr>
          <p:cNvSpPr txBox="1"/>
          <p:nvPr/>
        </p:nvSpPr>
        <p:spPr>
          <a:xfrm flipH="1">
            <a:off x="609600" y="3992094"/>
            <a:ext cx="10972800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Example: Coin flip</a:t>
            </a:r>
            <a:endParaRPr lang="en-US" altLang="ko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0ECA5A2-C412-6887-80CE-3455DBA11E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837350"/>
                  </p:ext>
                </p:extLst>
              </p:nvPr>
            </p:nvGraphicFramePr>
            <p:xfrm>
              <a:off x="2946399" y="4633767"/>
              <a:ext cx="6299202" cy="169966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99734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209973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  <a:gridCol w="2099734">
                      <a:extLst>
                        <a:ext uri="{9D8B030D-6E8A-4147-A177-3AD203B41FA5}">
                          <a16:colId xmlns:a16="http://schemas.microsoft.com/office/drawing/2014/main" val="256462020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Head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Tail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p>
                                    <m:r>
                                      <a:rPr lang="en-US" sz="2100" b="1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KR" sz="2100" dirty="0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10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1.0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8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2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0.8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solidFill>
                                <a:srgbClr val="C00000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8</a:t>
                          </a:r>
                          <a:endParaRPr lang="en-KR" sz="2100" b="0" i="0" dirty="0">
                            <a:solidFill>
                              <a:srgbClr val="C00000"/>
                            </a:solidFill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solidFill>
                                <a:srgbClr val="C00000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2</a:t>
                          </a:r>
                          <a:endParaRPr lang="en-KR" sz="2100" b="0" i="0" dirty="0">
                            <a:solidFill>
                              <a:srgbClr val="C00000"/>
                            </a:solidFill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solidFill>
                                <a:srgbClr val="C00000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0.65</a:t>
                          </a:r>
                          <a:endParaRPr lang="en-KR" sz="2100" b="0" i="0" dirty="0">
                            <a:solidFill>
                              <a:srgbClr val="C00000"/>
                            </a:solidFill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731406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0ECA5A2-C412-6887-80CE-3455DBA11E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837350"/>
                  </p:ext>
                </p:extLst>
              </p:nvPr>
            </p:nvGraphicFramePr>
            <p:xfrm>
              <a:off x="2946399" y="4633767"/>
              <a:ext cx="6299202" cy="169966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99734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209973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  <a:gridCol w="2099734">
                      <a:extLst>
                        <a:ext uri="{9D8B030D-6E8A-4147-A177-3AD203B41FA5}">
                          <a16:colId xmlns:a16="http://schemas.microsoft.com/office/drawing/2014/main" val="256462020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Head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Tail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5882" b="-3205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10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1.0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8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2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0.8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solidFill>
                                <a:srgbClr val="C00000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8</a:t>
                          </a:r>
                          <a:endParaRPr lang="en-KR" sz="2100" b="0" i="0" dirty="0">
                            <a:solidFill>
                              <a:srgbClr val="C00000"/>
                            </a:solidFill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solidFill>
                                <a:srgbClr val="C00000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2</a:t>
                          </a:r>
                          <a:endParaRPr lang="en-KR" sz="2100" b="0" i="0" dirty="0">
                            <a:solidFill>
                              <a:srgbClr val="C00000"/>
                            </a:solidFill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2100" b="0" i="0" dirty="0">
                              <a:solidFill>
                                <a:srgbClr val="C00000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0.65</a:t>
                          </a:r>
                          <a:endParaRPr lang="en-KR" sz="2100" b="0" i="0" dirty="0">
                            <a:solidFill>
                              <a:srgbClr val="C00000"/>
                            </a:solidFill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73140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5BEFB6A-784B-8D76-7721-8F16D230D24C}"/>
              </a:ext>
            </a:extLst>
          </p:cNvPr>
          <p:cNvSpPr/>
          <p:nvPr/>
        </p:nvSpPr>
        <p:spPr>
          <a:xfrm>
            <a:off x="2946399" y="5860187"/>
            <a:ext cx="6299202" cy="53255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CCB40-86A7-D74A-5C62-CEF52086A261}"/>
              </a:ext>
            </a:extLst>
          </p:cNvPr>
          <p:cNvSpPr txBox="1"/>
          <p:nvPr/>
        </p:nvSpPr>
        <p:spPr>
          <a:xfrm>
            <a:off x="5167059" y="6400313"/>
            <a:ext cx="185788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More reasonable!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EAA27CD-0612-6213-1A4B-807FC4EAF55D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222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ADAE-7381-EA02-BCFE-30F80F19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96840F-22DB-323E-EBB1-034BA084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A Posterior(MAP)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BFDE0D-D097-F8A6-FEF5-C93C6CA8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CEBF24-68EA-BB6B-25B2-96FC480A75FB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156966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 i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- 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What is the likely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</m:oMath>
                </a14:m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given data x?</a:t>
                </a:r>
              </a:p>
              <a:p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- E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valuates how likely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</m:oMath>
                </a14:m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is to be correct, given the observed data.</a:t>
                </a:r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CEBF24-68EA-BB6B-25B2-96FC480A7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1569660"/>
              </a:xfrm>
              <a:prstGeom prst="rect">
                <a:avLst/>
              </a:prstGeom>
              <a:blipFill>
                <a:blip r:embed="rId3"/>
                <a:stretch>
                  <a:fillRect l="-1734" t="-3226" b="-806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DDA54E0-ED05-CD9A-5C1E-E7472111A244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61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7A4B-62EA-5B48-6173-BF50B61E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C1A7D4-A678-F50F-9EE7-24086788C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A Posterior(MAP)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4BBD25-3117-6E39-8922-5CCB46D7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95C93F-E33F-2321-F39C-3EDB0E107541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 i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95C93F-E33F-2321-F39C-3EDB0E107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blipFill>
                <a:blip r:embed="rId2"/>
                <a:stretch>
                  <a:fillRect l="-1734" t="-2235" b="-335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1D3B078-A8C1-AD0B-BE76-DB36833658D2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618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4F456-C267-B13E-C5FC-67FBF13C4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66EF56-60BA-86EF-F714-85280FF2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A Posterior(MAP)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2751D7-D9F9-14AF-66FD-035DDD98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69B075-488D-D80F-AA06-9886FAE69527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 i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69B075-488D-D80F-AA06-9886FAE69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blipFill>
                <a:blip r:embed="rId2"/>
                <a:stretch>
                  <a:fillRect l="-1734" t="-2235" b="-335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2AA2F9-943F-7704-D8DF-2AA15FF0A55B}"/>
              </a:ext>
            </a:extLst>
          </p:cNvPr>
          <p:cNvCxnSpPr>
            <a:cxnSpLocks/>
          </p:cNvCxnSpPr>
          <p:nvPr/>
        </p:nvCxnSpPr>
        <p:spPr>
          <a:xfrm>
            <a:off x="5383155" y="3362569"/>
            <a:ext cx="1656862" cy="0"/>
          </a:xfrm>
          <a:prstGeom prst="line">
            <a:avLst/>
          </a:prstGeom>
          <a:ln w="254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F3A1FD-C6EC-E8E2-E05C-85F0268D28BD}"/>
              </a:ext>
            </a:extLst>
          </p:cNvPr>
          <p:cNvSpPr txBox="1"/>
          <p:nvPr/>
        </p:nvSpPr>
        <p:spPr>
          <a:xfrm>
            <a:off x="5306690" y="3422660"/>
            <a:ext cx="180979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By Bayesian Rule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F65A841-40A7-0666-B636-E73C826FA47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033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71F4-F94C-C8BD-3966-FD738E78C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AEC816-CABB-B9E7-418E-9B7852839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A Posterior(MAP)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058B7E-F62E-0643-2E64-378351BE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68706E-66A1-0CBE-B76E-6FC03B5C1BD3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 i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68706E-66A1-0CBE-B76E-6FC03B5C1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blipFill>
                <a:blip r:embed="rId2"/>
                <a:stretch>
                  <a:fillRect l="-1734" t="-2235" b="-335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3C7D2F0-20ED-BCD1-14D5-3583C9B27C14}"/>
              </a:ext>
            </a:extLst>
          </p:cNvPr>
          <p:cNvSpPr txBox="1"/>
          <p:nvPr/>
        </p:nvSpPr>
        <p:spPr>
          <a:xfrm>
            <a:off x="5791746" y="3298092"/>
            <a:ext cx="9601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Constant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395393-23E5-DD89-0370-A4EF6218C14C}"/>
              </a:ext>
            </a:extLst>
          </p:cNvPr>
          <p:cNvCxnSpPr>
            <a:cxnSpLocks/>
          </p:cNvCxnSpPr>
          <p:nvPr/>
        </p:nvCxnSpPr>
        <p:spPr>
          <a:xfrm flipV="1">
            <a:off x="6096000" y="2860430"/>
            <a:ext cx="461107" cy="437662"/>
          </a:xfrm>
          <a:prstGeom prst="line">
            <a:avLst/>
          </a:prstGeom>
          <a:ln w="381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58CB19B-BC1E-1238-BD09-25EB17EF4FF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478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CFB7-8135-C39E-B32D-F9DB9451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90AB66-3291-0BCF-2A99-AF7B7D0B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A Posterior(MAP)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9D3820-97E5-AAF5-117C-BC91B22B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08CCEE-105C-87D8-F5B7-2B480D6E52E7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 i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08CCEE-105C-87D8-F5B7-2B480D6E5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blipFill>
                <a:blip r:embed="rId2"/>
                <a:stretch>
                  <a:fillRect l="-1734" t="-2235" b="-335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159035-1779-A243-5CC5-DA103A682807}"/>
              </a:ext>
            </a:extLst>
          </p:cNvPr>
          <p:cNvCxnSpPr>
            <a:cxnSpLocks/>
          </p:cNvCxnSpPr>
          <p:nvPr/>
        </p:nvCxnSpPr>
        <p:spPr>
          <a:xfrm>
            <a:off x="3162650" y="3126155"/>
            <a:ext cx="846642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52FF7F-FDB7-F310-FC8D-D0D20F079FB4}"/>
              </a:ext>
            </a:extLst>
          </p:cNvPr>
          <p:cNvCxnSpPr>
            <a:cxnSpLocks/>
          </p:cNvCxnSpPr>
          <p:nvPr/>
        </p:nvCxnSpPr>
        <p:spPr>
          <a:xfrm>
            <a:off x="5951415" y="3325447"/>
            <a:ext cx="629139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B642EF-A6CF-18DE-2B6B-5A8306F2A466}"/>
              </a:ext>
            </a:extLst>
          </p:cNvPr>
          <p:cNvCxnSpPr>
            <a:cxnSpLocks/>
          </p:cNvCxnSpPr>
          <p:nvPr/>
        </p:nvCxnSpPr>
        <p:spPr>
          <a:xfrm>
            <a:off x="6463323" y="2454032"/>
            <a:ext cx="629139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03DA6E-9F9B-96BC-9D7F-03D31C52513C}"/>
              </a:ext>
            </a:extLst>
          </p:cNvPr>
          <p:cNvCxnSpPr>
            <a:cxnSpLocks/>
          </p:cNvCxnSpPr>
          <p:nvPr/>
        </p:nvCxnSpPr>
        <p:spPr>
          <a:xfrm>
            <a:off x="5466861" y="2454032"/>
            <a:ext cx="929049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B6A64AD-CCA6-7501-C2F5-B95CF6788D2A}"/>
              </a:ext>
            </a:extLst>
          </p:cNvPr>
          <p:cNvSpPr txBox="1"/>
          <p:nvPr/>
        </p:nvSpPr>
        <p:spPr>
          <a:xfrm>
            <a:off x="3207662" y="3171558"/>
            <a:ext cx="756617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dirty="0">
                <a:solidFill>
                  <a:srgbClr val="1757A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Posterio</a:t>
            </a:r>
            <a:r>
              <a:rPr lang="en-KR" sz="1400" dirty="0">
                <a:solidFill>
                  <a:srgbClr val="1757A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3B6FBC-FCCD-1377-32EF-801FBDE9DBC4}"/>
              </a:ext>
            </a:extLst>
          </p:cNvPr>
          <p:cNvSpPr txBox="1"/>
          <p:nvPr/>
        </p:nvSpPr>
        <p:spPr>
          <a:xfrm>
            <a:off x="5882866" y="3378664"/>
            <a:ext cx="766235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dirty="0">
                <a:solidFill>
                  <a:schemeClr val="accent6">
                    <a:lumMod val="50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Evidenc</a:t>
            </a:r>
            <a:r>
              <a:rPr lang="en-KR" sz="1400" dirty="0">
                <a:solidFill>
                  <a:schemeClr val="accent6">
                    <a:lumMod val="50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25C758-7A91-D500-6C94-C507739D374C}"/>
              </a:ext>
            </a:extLst>
          </p:cNvPr>
          <p:cNvSpPr txBox="1"/>
          <p:nvPr/>
        </p:nvSpPr>
        <p:spPr>
          <a:xfrm>
            <a:off x="5506589" y="2146255"/>
            <a:ext cx="849592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dirty="0">
                <a:solidFill>
                  <a:srgbClr val="0FCE57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</a:t>
            </a:r>
            <a:r>
              <a:rPr lang="en-KR" sz="1400" dirty="0">
                <a:solidFill>
                  <a:srgbClr val="0FCE57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36C3E3-C8EC-5C83-62DE-26A3FAA74D27}"/>
              </a:ext>
            </a:extLst>
          </p:cNvPr>
          <p:cNvSpPr txBox="1"/>
          <p:nvPr/>
        </p:nvSpPr>
        <p:spPr>
          <a:xfrm>
            <a:off x="6463323" y="2146255"/>
            <a:ext cx="629139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1400" dirty="0">
                <a:solidFill>
                  <a:srgbClr val="4617DD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Prior</a:t>
            </a:r>
            <a:endParaRPr lang="en-KR" sz="1400" dirty="0">
              <a:solidFill>
                <a:srgbClr val="4617DD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A6461BC-6C1A-6B41-658D-BA2F4A4E202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481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5BF70-0E22-3458-EA81-DF50FA85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505BDC-BA91-695B-F33D-A671B104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Maximum A Posterior(MAP)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E96A4-B211-7C5F-A621-85CEA5C9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482650-3108-B9C1-46E1-4B366ADDFE61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 i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482650-3108-B9C1-46E1-4B366ADDF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2268570"/>
              </a:xfrm>
              <a:prstGeom prst="rect">
                <a:avLst/>
              </a:prstGeom>
              <a:blipFill>
                <a:blip r:embed="rId3"/>
                <a:stretch>
                  <a:fillRect l="-1734" t="-2235" b="-335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6BFD73-E0C0-3ADE-1B5C-83A342578DE6}"/>
              </a:ext>
            </a:extLst>
          </p:cNvPr>
          <p:cNvCxnSpPr>
            <a:cxnSpLocks/>
          </p:cNvCxnSpPr>
          <p:nvPr/>
        </p:nvCxnSpPr>
        <p:spPr>
          <a:xfrm>
            <a:off x="3162650" y="3126155"/>
            <a:ext cx="846642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0B333A-B111-46A4-6C0B-A81FDB692C3F}"/>
              </a:ext>
            </a:extLst>
          </p:cNvPr>
          <p:cNvCxnSpPr>
            <a:cxnSpLocks/>
          </p:cNvCxnSpPr>
          <p:nvPr/>
        </p:nvCxnSpPr>
        <p:spPr>
          <a:xfrm>
            <a:off x="5951415" y="3325447"/>
            <a:ext cx="629139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AB30B9-4C60-C4E3-11B6-D20AD52442A4}"/>
              </a:ext>
            </a:extLst>
          </p:cNvPr>
          <p:cNvCxnSpPr>
            <a:cxnSpLocks/>
          </p:cNvCxnSpPr>
          <p:nvPr/>
        </p:nvCxnSpPr>
        <p:spPr>
          <a:xfrm>
            <a:off x="6463323" y="2454032"/>
            <a:ext cx="629139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9C220C-5FA9-CE84-1A5B-DD844444732D}"/>
              </a:ext>
            </a:extLst>
          </p:cNvPr>
          <p:cNvCxnSpPr>
            <a:cxnSpLocks/>
          </p:cNvCxnSpPr>
          <p:nvPr/>
        </p:nvCxnSpPr>
        <p:spPr>
          <a:xfrm>
            <a:off x="5466861" y="2454032"/>
            <a:ext cx="929049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2A1A71F-E5F0-4FA0-5248-2B117E16E2FA}"/>
              </a:ext>
            </a:extLst>
          </p:cNvPr>
          <p:cNvSpPr txBox="1"/>
          <p:nvPr/>
        </p:nvSpPr>
        <p:spPr>
          <a:xfrm>
            <a:off x="3207662" y="3171558"/>
            <a:ext cx="756617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dirty="0">
                <a:solidFill>
                  <a:srgbClr val="1757A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Posterio</a:t>
            </a:r>
            <a:r>
              <a:rPr lang="en-KR" sz="1400" dirty="0">
                <a:solidFill>
                  <a:srgbClr val="1757A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7A0E2E-8D4D-FAD5-9CAD-5B626A54DABF}"/>
              </a:ext>
            </a:extLst>
          </p:cNvPr>
          <p:cNvSpPr txBox="1"/>
          <p:nvPr/>
        </p:nvSpPr>
        <p:spPr>
          <a:xfrm>
            <a:off x="5882866" y="3378664"/>
            <a:ext cx="766235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dirty="0">
                <a:solidFill>
                  <a:schemeClr val="accent6">
                    <a:lumMod val="50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Evidenc</a:t>
            </a:r>
            <a:r>
              <a:rPr lang="en-KR" sz="1400" dirty="0">
                <a:solidFill>
                  <a:schemeClr val="accent6">
                    <a:lumMod val="50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2CBF35-5B31-CB9E-FF29-6D452BB09B47}"/>
              </a:ext>
            </a:extLst>
          </p:cNvPr>
          <p:cNvSpPr txBox="1"/>
          <p:nvPr/>
        </p:nvSpPr>
        <p:spPr>
          <a:xfrm>
            <a:off x="5506589" y="2146255"/>
            <a:ext cx="849592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dirty="0">
                <a:solidFill>
                  <a:srgbClr val="0FCE57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Likelihoo</a:t>
            </a:r>
            <a:r>
              <a:rPr lang="en-KR" sz="1400" dirty="0">
                <a:solidFill>
                  <a:srgbClr val="0FCE57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50725D-27B6-1597-899A-8721C86D96B7}"/>
              </a:ext>
            </a:extLst>
          </p:cNvPr>
          <p:cNvSpPr txBox="1"/>
          <p:nvPr/>
        </p:nvSpPr>
        <p:spPr>
          <a:xfrm>
            <a:off x="6463323" y="2146255"/>
            <a:ext cx="629139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1400" dirty="0">
                <a:solidFill>
                  <a:srgbClr val="4617DD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Prior</a:t>
            </a:r>
            <a:endParaRPr lang="en-KR" sz="1400" dirty="0">
              <a:solidFill>
                <a:srgbClr val="4617DD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C561840-D08B-5E26-D0BD-0B5227312DC2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8256DE-678E-360E-5DFC-285C491898AB}"/>
              </a:ext>
            </a:extLst>
          </p:cNvPr>
          <p:cNvSpPr txBox="1"/>
          <p:nvPr/>
        </p:nvSpPr>
        <p:spPr>
          <a:xfrm flipH="1">
            <a:off x="609600" y="3992094"/>
            <a:ext cx="10972800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Example: Coin flip</a:t>
            </a:r>
            <a:endParaRPr lang="en-US" altLang="ko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E041686-5DCB-2245-6650-A9A682385080}"/>
              </a:ext>
            </a:extLst>
          </p:cNvPr>
          <p:cNvGraphicFramePr>
            <a:graphicFrameLocks noGrp="1"/>
          </p:cNvGraphicFramePr>
          <p:nvPr/>
        </p:nvGraphicFramePr>
        <p:xfrm>
          <a:off x="2946399" y="4790067"/>
          <a:ext cx="6299205" cy="12748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59841">
                  <a:extLst>
                    <a:ext uri="{9D8B030D-6E8A-4147-A177-3AD203B41FA5}">
                      <a16:colId xmlns:a16="http://schemas.microsoft.com/office/drawing/2014/main" val="398847479"/>
                    </a:ext>
                  </a:extLst>
                </a:gridCol>
                <a:gridCol w="1259841">
                  <a:extLst>
                    <a:ext uri="{9D8B030D-6E8A-4147-A177-3AD203B41FA5}">
                      <a16:colId xmlns:a16="http://schemas.microsoft.com/office/drawing/2014/main" val="2758612964"/>
                    </a:ext>
                  </a:extLst>
                </a:gridCol>
                <a:gridCol w="1259841">
                  <a:extLst>
                    <a:ext uri="{9D8B030D-6E8A-4147-A177-3AD203B41FA5}">
                      <a16:colId xmlns:a16="http://schemas.microsoft.com/office/drawing/2014/main" val="783509343"/>
                    </a:ext>
                  </a:extLst>
                </a:gridCol>
                <a:gridCol w="1259841">
                  <a:extLst>
                    <a:ext uri="{9D8B030D-6E8A-4147-A177-3AD203B41FA5}">
                      <a16:colId xmlns:a16="http://schemas.microsoft.com/office/drawing/2014/main" val="3510861727"/>
                    </a:ext>
                  </a:extLst>
                </a:gridCol>
                <a:gridCol w="1259841">
                  <a:extLst>
                    <a:ext uri="{9D8B030D-6E8A-4147-A177-3AD203B41FA5}">
                      <a16:colId xmlns:a16="http://schemas.microsoft.com/office/drawing/2014/main" val="256462020"/>
                    </a:ext>
                  </a:extLst>
                </a:gridCol>
              </a:tblGrid>
              <a:tr h="425095">
                <a:tc>
                  <a:txBody>
                    <a:bodyPr/>
                    <a:lstStyle/>
                    <a:p>
                      <a:pPr algn="ctr"/>
                      <a:r>
                        <a:rPr lang="en-US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Head</a:t>
                      </a:r>
                      <a:endParaRPr lang="en-KR" sz="2100" b="0" i="0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endParaRP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Tail</a:t>
                      </a: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MLE</a:t>
                      </a: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Prior</a:t>
                      </a: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100" b="0" dirty="0"/>
                        <a:t>MAP</a:t>
                      </a: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2233110"/>
                  </a:ext>
                </a:extLst>
              </a:tr>
              <a:tr h="42323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10</a:t>
                      </a:r>
                      <a:endParaRPr lang="en-KR" sz="2100" b="0" i="0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endParaRP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0</a:t>
                      </a:r>
                      <a:endParaRPr lang="en-KR" sz="2100" b="0" i="0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endParaRP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1.0</a:t>
                      </a: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100" b="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0.5</a:t>
                      </a: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100" b="0" i="0" dirty="0">
                          <a:solidFill>
                            <a:srgbClr val="C00000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0.75</a:t>
                      </a:r>
                      <a:endParaRPr lang="en-KR" sz="2100" b="0" i="0" dirty="0">
                        <a:solidFill>
                          <a:srgbClr val="C00000"/>
                        </a:solidFill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endParaRP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434662"/>
                  </a:ext>
                </a:extLst>
              </a:tr>
              <a:tr h="42323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8</a:t>
                      </a:r>
                      <a:endParaRPr lang="en-KR" sz="2100" b="0" i="0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endParaRP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2</a:t>
                      </a:r>
                      <a:endParaRPr lang="en-KR" sz="2100" b="0" i="0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endParaRP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100" b="0" i="0" dirty="0"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0.8</a:t>
                      </a: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100" b="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0.5</a:t>
                      </a: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100" b="0" i="0" dirty="0">
                          <a:solidFill>
                            <a:srgbClr val="C00000"/>
                          </a:solidFill>
                          <a:latin typeface="Pretendard Variable Medium" panose="02000003000000020004" pitchFamily="2" charset="-127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a:t>0.65</a:t>
                      </a:r>
                      <a:endParaRPr lang="en-KR" sz="2100" b="0" i="0" dirty="0">
                        <a:solidFill>
                          <a:srgbClr val="C00000"/>
                        </a:solidFill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endParaRPr>
                    </a:p>
                  </a:txBody>
                  <a:tcPr marL="104818" marR="104818" marT="52409" marB="524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2538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55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6680-E9B9-A669-4CD4-FE298D4E9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802A46-0C56-026C-7178-170DA546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Relationship between MLE and MAP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7A4E61-C4CB-E0BA-8090-F5CD846C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8D0951-EBD8-7ED2-1267-ED8F479CB609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33119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MLE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likelihood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x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𝜃</m:t>
                    </m:r>
                    <m: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solidFill>
                    <a:srgbClr val="C00000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8D0951-EBD8-7ED2-1267-ED8F479CB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3311932"/>
              </a:xfrm>
              <a:prstGeom prst="rect">
                <a:avLst/>
              </a:prstGeom>
              <a:blipFill>
                <a:blip r:embed="rId2"/>
                <a:stretch>
                  <a:fillRect l="-1734" t="-1527" b="-190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EAC4B5-5412-D8FB-029B-BA340244B9E4}"/>
              </a:ext>
            </a:extLst>
          </p:cNvPr>
          <p:cNvSpPr txBox="1"/>
          <p:nvPr/>
        </p:nvSpPr>
        <p:spPr>
          <a:xfrm flipH="1">
            <a:off x="609600" y="3992094"/>
            <a:ext cx="1097280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47828-C86F-CB60-3098-A386E8B31349}"/>
              </a:ext>
            </a:extLst>
          </p:cNvPr>
          <p:cNvCxnSpPr>
            <a:cxnSpLocks/>
          </p:cNvCxnSpPr>
          <p:nvPr/>
        </p:nvCxnSpPr>
        <p:spPr>
          <a:xfrm>
            <a:off x="6756194" y="4176913"/>
            <a:ext cx="591091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76B97A-9B2B-85FA-928B-BA4F991C5F4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114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F4B8-0D02-3377-52B8-AD292F8A3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1CF08F-4D33-C893-B752-1F833B52C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Relationship between MLE and MAP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7F5D09-F561-3470-73BF-C9FD82F6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611AB2-D502-F4FA-C3E8-DBAD87EB337E}"/>
                  </a:ext>
                </a:extLst>
              </p:cNvPr>
              <p:cNvSpPr txBox="1"/>
              <p:nvPr/>
            </p:nvSpPr>
            <p:spPr>
              <a:xfrm flipH="1">
                <a:off x="609600" y="1694688"/>
                <a:ext cx="10972800" cy="33119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MLE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likelihood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x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𝜃</m:t>
                    </m:r>
                    <m: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solidFill>
                    <a:srgbClr val="C00000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611AB2-D502-F4FA-C3E8-DBAD87EB3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" y="1694688"/>
                <a:ext cx="10972800" cy="3311932"/>
              </a:xfrm>
              <a:prstGeom prst="rect">
                <a:avLst/>
              </a:prstGeom>
              <a:blipFill>
                <a:blip r:embed="rId3"/>
                <a:stretch>
                  <a:fillRect l="-1734" t="-1527" b="-190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E924A8-105F-C29E-8595-62AD412D436B}"/>
              </a:ext>
            </a:extLst>
          </p:cNvPr>
          <p:cNvSpPr txBox="1"/>
          <p:nvPr/>
        </p:nvSpPr>
        <p:spPr>
          <a:xfrm flipH="1">
            <a:off x="609600" y="3992094"/>
            <a:ext cx="1097280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9390B5-59F4-B9E1-6A6C-7D464CB51913}"/>
              </a:ext>
            </a:extLst>
          </p:cNvPr>
          <p:cNvCxnSpPr>
            <a:cxnSpLocks/>
          </p:cNvCxnSpPr>
          <p:nvPr/>
        </p:nvCxnSpPr>
        <p:spPr>
          <a:xfrm>
            <a:off x="6756194" y="4176913"/>
            <a:ext cx="591091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BF5376-2643-F75B-9611-F4F4C7AD5D94}"/>
                  </a:ext>
                </a:extLst>
              </p:cNvPr>
              <p:cNvSpPr txBox="1"/>
              <p:nvPr/>
            </p:nvSpPr>
            <p:spPr>
              <a:xfrm>
                <a:off x="4522999" y="4822107"/>
                <a:ext cx="518334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</a:t>
                </a:r>
                <a:r>
                  <a:rPr lang="en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ctrl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a:rPr lang="en-US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</m:oMath>
                </a14:m>
                <a:r>
                  <a:rPr lang="en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is uniform(</a:t>
                </a:r>
                <a:r>
                  <a:rPr lang="en-KR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i.e., </a:t>
                </a:r>
                <a:r>
                  <a:rPr lang="en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constant), then MAP = MLE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BF5376-2643-F75B-9611-F4F4C7AD5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999" y="4822107"/>
                <a:ext cx="5183342" cy="369332"/>
              </a:xfrm>
              <a:prstGeom prst="rect">
                <a:avLst/>
              </a:prstGeom>
              <a:blipFill>
                <a:blip r:embed="rId4"/>
                <a:stretch>
                  <a:fillRect l="-2689" t="-6667" r="-733" b="-23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9">
            <a:extLst>
              <a:ext uri="{FF2B5EF4-FFF2-40B4-BE49-F238E27FC236}">
                <a16:creationId xmlns:a16="http://schemas.microsoft.com/office/drawing/2014/main" id="{F953951E-48BF-58E2-96C0-14C85DDF3CD0}"/>
              </a:ext>
            </a:extLst>
          </p:cNvPr>
          <p:cNvSpPr/>
          <p:nvPr/>
        </p:nvSpPr>
        <p:spPr>
          <a:xfrm rot="16200000">
            <a:off x="6778307" y="4411465"/>
            <a:ext cx="546861" cy="21387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689F594-202F-52F5-E500-E5F827C3E41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341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39061-0111-35E8-ED5C-DB05AB8D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A44420-8420-03F2-3227-BA6C1086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MLE and MAP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D94989-773D-EFD4-3EBB-C1CAE9E9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F30BB-E21A-A7D1-0509-D574DDAA7700}"/>
              </a:ext>
            </a:extLst>
          </p:cNvPr>
          <p:cNvSpPr txBox="1"/>
          <p:nvPr/>
        </p:nvSpPr>
        <p:spPr>
          <a:xfrm flipH="1">
            <a:off x="609600" y="1694688"/>
            <a:ext cx="10972800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endParaRPr lang="en-US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542DB-3710-422C-D34D-65E51FE6E5DC}"/>
              </a:ext>
            </a:extLst>
          </p:cNvPr>
          <p:cNvSpPr txBox="1"/>
          <p:nvPr/>
        </p:nvSpPr>
        <p:spPr>
          <a:xfrm flipH="1">
            <a:off x="609600" y="3992094"/>
            <a:ext cx="1097280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170FC-098A-7514-1AEF-7A3D516DCFF8}"/>
              </a:ext>
            </a:extLst>
          </p:cNvPr>
          <p:cNvSpPr txBox="1"/>
          <p:nvPr/>
        </p:nvSpPr>
        <p:spPr>
          <a:xfrm>
            <a:off x="2411896" y="5500707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KR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6601217-69E7-92C6-B284-5D50C846D6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1406111"/>
                  </p:ext>
                </p:extLst>
              </p:nvPr>
            </p:nvGraphicFramePr>
            <p:xfrm>
              <a:off x="1688271" y="1743184"/>
              <a:ext cx="8815458" cy="26814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5127">
                      <a:extLst>
                        <a:ext uri="{9D8B030D-6E8A-4147-A177-3AD203B41FA5}">
                          <a16:colId xmlns:a16="http://schemas.microsoft.com/office/drawing/2014/main" val="4037665437"/>
                        </a:ext>
                      </a:extLst>
                    </a:gridCol>
                    <a:gridCol w="3182087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300824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MLE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MAP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Objective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argmax</m:t>
                                        </m:r>
                                      </m:e>
                                      <m:lim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𝜃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𝑃</m:t>
                                    </m:r>
                                    <m:d>
                                      <m:dPr>
                                        <m:endChr m:val="|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𝜃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argmax</m:t>
                                        </m:r>
                                      </m:e>
                                      <m:lim>
                                        <m: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𝜃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𝑃</m:t>
                                    </m:r>
                                    <m:d>
                                      <m:dPr>
                                        <m:endChr m:val="|"/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)</m:t>
                                    </m:r>
                                    <m: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KR" sz="20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Prior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Considered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Overfitting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Highly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Reduced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388114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Estimate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3352688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Uncertainty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326003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6601217-69E7-92C6-B284-5D50C846D6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1406111"/>
                  </p:ext>
                </p:extLst>
              </p:nvPr>
            </p:nvGraphicFramePr>
            <p:xfrm>
              <a:off x="1688271" y="1743184"/>
              <a:ext cx="8815458" cy="26814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5127">
                      <a:extLst>
                        <a:ext uri="{9D8B030D-6E8A-4147-A177-3AD203B41FA5}">
                          <a16:colId xmlns:a16="http://schemas.microsoft.com/office/drawing/2014/main" val="4037665437"/>
                        </a:ext>
                      </a:extLst>
                    </a:gridCol>
                    <a:gridCol w="3182087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300824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MLE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MAP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5569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Objective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2470" t="-84091" r="-94821" b="-3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2437" t="-84091" b="-3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Prior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Considered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Overfitting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Highly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Reduced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388114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Estimate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3352688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Uncertainty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32600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00D1F5A-9DC2-7108-4205-F4BCE47871CD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93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801CE-1CD0-54F0-D06B-C64B25A2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1C53B-2425-2EE0-B651-5587BEE2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MLE and MAP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2C4131-01A9-9236-26F6-8C9F1EE2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885AD-8ADF-2DE4-0FB0-B4020E62C881}"/>
              </a:ext>
            </a:extLst>
          </p:cNvPr>
          <p:cNvSpPr txBox="1"/>
          <p:nvPr/>
        </p:nvSpPr>
        <p:spPr>
          <a:xfrm flipH="1">
            <a:off x="609600" y="1694688"/>
            <a:ext cx="10972800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endParaRPr lang="en-US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D6AA6-BD21-E58A-9DCE-999D897FD1DE}"/>
              </a:ext>
            </a:extLst>
          </p:cNvPr>
          <p:cNvSpPr txBox="1"/>
          <p:nvPr/>
        </p:nvSpPr>
        <p:spPr>
          <a:xfrm flipH="1">
            <a:off x="609600" y="3992094"/>
            <a:ext cx="1097280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58EFF85-77E0-433F-518E-16065B0A6C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1676646"/>
                  </p:ext>
                </p:extLst>
              </p:nvPr>
            </p:nvGraphicFramePr>
            <p:xfrm>
              <a:off x="1688271" y="1743184"/>
              <a:ext cx="8815458" cy="26814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5127">
                      <a:extLst>
                        <a:ext uri="{9D8B030D-6E8A-4147-A177-3AD203B41FA5}">
                          <a16:colId xmlns:a16="http://schemas.microsoft.com/office/drawing/2014/main" val="4037665437"/>
                        </a:ext>
                      </a:extLst>
                    </a:gridCol>
                    <a:gridCol w="3182087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300824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MLE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MAP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Objective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argmax</m:t>
                                        </m:r>
                                      </m:e>
                                      <m:lim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𝜃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𝑃</m:t>
                                    </m:r>
                                    <m:d>
                                      <m:dPr>
                                        <m:endChr m:val="|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𝜃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argmax</m:t>
                                        </m:r>
                                      </m:e>
                                      <m:lim>
                                        <m: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𝜃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𝑃</m:t>
                                    </m:r>
                                    <m:d>
                                      <m:dPr>
                                        <m:endChr m:val="|"/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)</m:t>
                                    </m:r>
                                    <m: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KR" sz="20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Prior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Considered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Overfitting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Highly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Reduced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388114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Estimate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3352688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Uncertainty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326003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58EFF85-77E0-433F-518E-16065B0A6C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1676646"/>
                  </p:ext>
                </p:extLst>
              </p:nvPr>
            </p:nvGraphicFramePr>
            <p:xfrm>
              <a:off x="1688271" y="1743184"/>
              <a:ext cx="8815458" cy="26814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5127">
                      <a:extLst>
                        <a:ext uri="{9D8B030D-6E8A-4147-A177-3AD203B41FA5}">
                          <a16:colId xmlns:a16="http://schemas.microsoft.com/office/drawing/2014/main" val="4037665437"/>
                        </a:ext>
                      </a:extLst>
                    </a:gridCol>
                    <a:gridCol w="3182087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300824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MLE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MAP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5569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Objective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2470" t="-84091" r="-94821" b="-3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2437" t="-84091" b="-3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Prior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Considered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Overfitting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Highly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Reduced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388114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Estimate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3352688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Uncertainty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32600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51DE4EB-C791-2DD3-66F7-E38FBC52B23E}"/>
              </a:ext>
            </a:extLst>
          </p:cNvPr>
          <p:cNvSpPr/>
          <p:nvPr/>
        </p:nvSpPr>
        <p:spPr>
          <a:xfrm>
            <a:off x="2133600" y="3992094"/>
            <a:ext cx="1722783" cy="43255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24BBF1-1D1C-C584-2703-CBF524220C29}"/>
              </a:ext>
            </a:extLst>
          </p:cNvPr>
          <p:cNvSpPr txBox="1"/>
          <p:nvPr/>
        </p:nvSpPr>
        <p:spPr>
          <a:xfrm>
            <a:off x="1588355" y="4632965"/>
            <a:ext cx="2813271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Why it is important?</a:t>
            </a:r>
            <a:endParaRPr lang="en-KR" sz="2400" dirty="0" err="1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D258D73-1D8D-D5C0-C53A-0B4E5F0FDCF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673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CCAA-598B-9585-0960-7D3FFD0D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05522C-99EA-EDC5-5708-E0D79875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b="0" dirty="0"/>
              <a:t>MLE and MAP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D2C294-E3D8-2684-F782-94CCCDF7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B3E1F-DD31-8242-807F-CFCB019C201C}"/>
              </a:ext>
            </a:extLst>
          </p:cNvPr>
          <p:cNvSpPr txBox="1"/>
          <p:nvPr/>
        </p:nvSpPr>
        <p:spPr>
          <a:xfrm flipH="1">
            <a:off x="609600" y="1694688"/>
            <a:ext cx="10972800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endParaRPr lang="en-US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23368-0699-6DB0-9FAE-5827A763FD2D}"/>
              </a:ext>
            </a:extLst>
          </p:cNvPr>
          <p:cNvSpPr txBox="1"/>
          <p:nvPr/>
        </p:nvSpPr>
        <p:spPr>
          <a:xfrm flipH="1">
            <a:off x="609600" y="3992094"/>
            <a:ext cx="1097280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76FA40A-8EFB-7A7D-65FE-ACDEB23DAF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4325608"/>
                  </p:ext>
                </p:extLst>
              </p:nvPr>
            </p:nvGraphicFramePr>
            <p:xfrm>
              <a:off x="1688271" y="1743184"/>
              <a:ext cx="8815458" cy="26814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5127">
                      <a:extLst>
                        <a:ext uri="{9D8B030D-6E8A-4147-A177-3AD203B41FA5}">
                          <a16:colId xmlns:a16="http://schemas.microsoft.com/office/drawing/2014/main" val="4037665437"/>
                        </a:ext>
                      </a:extLst>
                    </a:gridCol>
                    <a:gridCol w="3182087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300824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MLE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MAP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Objective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argmax</m:t>
                                        </m:r>
                                      </m:e>
                                      <m:lim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𝜃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𝑃</m:t>
                                    </m:r>
                                    <m:d>
                                      <m:dPr>
                                        <m:endChr m:val="|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𝜃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argmax</m:t>
                                        </m:r>
                                      </m:e>
                                      <m:lim>
                                        <m: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𝜃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𝑃</m:t>
                                    </m:r>
                                    <m:d>
                                      <m:dPr>
                                        <m:endChr m:val="|"/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)</m:t>
                                    </m:r>
                                    <m: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KR" sz="20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Prior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Considered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Overfitting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Highly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Reduced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388114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Estimate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3352688"/>
                      </a:ext>
                    </a:extLst>
                  </a:tr>
                  <a:tr h="423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Uncertainty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326003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76FA40A-8EFB-7A7D-65FE-ACDEB23DAF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4325608"/>
                  </p:ext>
                </p:extLst>
              </p:nvPr>
            </p:nvGraphicFramePr>
            <p:xfrm>
              <a:off x="1688271" y="1743184"/>
              <a:ext cx="8815458" cy="26814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5127">
                      <a:extLst>
                        <a:ext uri="{9D8B030D-6E8A-4147-A177-3AD203B41FA5}">
                          <a16:colId xmlns:a16="http://schemas.microsoft.com/office/drawing/2014/main" val="4037665437"/>
                        </a:ext>
                      </a:extLst>
                    </a:gridCol>
                    <a:gridCol w="3182087">
                      <a:extLst>
                        <a:ext uri="{9D8B030D-6E8A-4147-A177-3AD203B41FA5}">
                          <a16:colId xmlns:a16="http://schemas.microsoft.com/office/drawing/2014/main" val="398847479"/>
                        </a:ext>
                      </a:extLst>
                    </a:gridCol>
                    <a:gridCol w="3008244">
                      <a:extLst>
                        <a:ext uri="{9D8B030D-6E8A-4147-A177-3AD203B41FA5}">
                          <a16:colId xmlns:a16="http://schemas.microsoft.com/office/drawing/2014/main" val="2758612964"/>
                        </a:ext>
                      </a:extLst>
                    </a:gridCol>
                  </a:tblGrid>
                  <a:tr h="425095">
                    <a:tc>
                      <a:txBody>
                        <a:bodyPr/>
                        <a:lstStyle/>
                        <a:p>
                          <a:pPr algn="ctr"/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MLE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MAP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2233110"/>
                      </a:ext>
                    </a:extLst>
                  </a:tr>
                  <a:tr h="5569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Objective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2470" t="-84091" r="-94821" b="-3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2437" t="-84091" b="-3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662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Prior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Considered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22538778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Overfitting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Highly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Reduced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388114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Estimate</a:t>
                          </a:r>
                          <a:endParaRPr lang="en-KR" sz="2100" b="0" i="0" dirty="0">
                            <a:latin typeface="Pretendard Variable Medium" panose="02000003000000020004" pitchFamily="2" charset="-127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endParaRP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Point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3352688"/>
                      </a:ext>
                    </a:extLst>
                  </a:tr>
                  <a:tr h="424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Uncertainty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sz="2100" b="0" i="0" dirty="0">
                              <a:solidFill>
                                <a:schemeClr val="tx1"/>
                              </a:solidFill>
                              <a:latin typeface="Pretendard Variable Medium" panose="02000003000000020004" pitchFamily="2" charset="-127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a:t>Not considerd</a:t>
                          </a:r>
                        </a:p>
                      </a:txBody>
                      <a:tcPr marL="104818" marR="104818" marT="52409" marB="5240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32600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FB508C6-C6EC-FECC-7F96-3BE4E24C2AE6}"/>
              </a:ext>
            </a:extLst>
          </p:cNvPr>
          <p:cNvSpPr/>
          <p:nvPr/>
        </p:nvSpPr>
        <p:spPr>
          <a:xfrm>
            <a:off x="2133600" y="3992094"/>
            <a:ext cx="1722783" cy="43255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2217FA-0FC8-FE2F-FEF0-34F98B27D6DF}"/>
              </a:ext>
            </a:extLst>
          </p:cNvPr>
          <p:cNvSpPr txBox="1"/>
          <p:nvPr/>
        </p:nvSpPr>
        <p:spPr>
          <a:xfrm>
            <a:off x="1588355" y="4632965"/>
            <a:ext cx="3135474" cy="83099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Why it is important?</a:t>
            </a:r>
            <a:r>
              <a:rPr lang="ko-KR" altLang="en-US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   </a:t>
            </a:r>
            <a:endParaRPr lang="en-US" altLang="ko-KR" sz="240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pPr algn="l"/>
            <a:endParaRPr lang="en-KR" sz="2400" dirty="0" err="1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D1C4F-3170-7D1D-AD2A-F26609308096}"/>
              </a:ext>
            </a:extLst>
          </p:cNvPr>
          <p:cNvSpPr txBox="1"/>
          <p:nvPr/>
        </p:nvSpPr>
        <p:spPr>
          <a:xfrm>
            <a:off x="4723829" y="4632965"/>
            <a:ext cx="5430974" cy="83099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Reliability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Sample diversity(generative model)</a:t>
            </a:r>
            <a:endParaRPr lang="en-KR" sz="2400" dirty="0" err="1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44DC27B-042F-6B29-3FC7-EC2A848EC83B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95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A12E8-25F4-6B3D-B738-4FB8AC630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B93D69B-502E-1B6E-45FC-C091EA8888F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914401"/>
                <a:ext cx="10972800" cy="2347630"/>
              </a:xfrm>
            </p:spPr>
            <p:txBody>
              <a:bodyPr/>
              <a:lstStyle/>
              <a:p>
                <a:pPr/>
                <a:r>
                  <a:rPr lang="en-US" dirty="0"/>
                  <a:t>Variational Inference(VI)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B93D69B-502E-1B6E-45FC-C091EA8888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914401"/>
                <a:ext cx="10972800" cy="2347630"/>
              </a:xfrm>
              <a:blipFill>
                <a:blip r:embed="rId2"/>
                <a:stretch>
                  <a:fillRect l="-2312" t="-5946" b="-864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723877-E1E2-83B0-2E0A-12B1EC6C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00ED49F-6C8E-6A65-27F5-27D9FBA28C7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718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D045B-8EE0-B0A6-DCDE-5ADD4C8E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50671A6-BFE4-E2E1-19B7-C0C025712CD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</p:spPr>
            <p:txBody>
              <a:bodyPr/>
              <a:lstStyle/>
              <a:p>
                <a:pPr/>
                <a:r>
                  <a:rPr lang="en-US" dirty="0"/>
                  <a:t>Variational Inference(VI)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dirty="0"/>
                </a:br>
                <a:br>
                  <a:rPr lang="en-US" dirty="0"/>
                </a:br>
                <a:r>
                  <a:rPr lang="en-US" sz="2400" b="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 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seeks to approximate the full posterior, </a:t>
                </a:r>
                <a:r>
                  <a:rPr lang="en-US" sz="2400" b="0" u="sng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rather than maximizing a point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.</a:t>
                </a:r>
                <a:b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e>
                      </m:d>
                      <m:r>
                        <a:rPr lang="en-US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∫</m:t>
                          </m:r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br>
                  <a:rPr lang="en-US" sz="24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50671A6-BFE4-E2E1-19B7-C0C025712C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  <a:blipFill>
                <a:blip r:embed="rId2"/>
                <a:stretch>
                  <a:fillRect l="-2312" t="-3022" b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A46F3-3CCE-51F2-8D1E-C7F0E898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680E3C-4151-61BA-1704-5A17D54B9C89}"/>
              </a:ext>
            </a:extLst>
          </p:cNvPr>
          <p:cNvSpPr/>
          <p:nvPr/>
        </p:nvSpPr>
        <p:spPr>
          <a:xfrm>
            <a:off x="3160295" y="2638926"/>
            <a:ext cx="906380" cy="43313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F237247-02B8-25CA-D276-D23A408B977A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337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08A4-48F8-7323-2F72-97F52AF2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A3EB8B1-67FF-DC02-3E92-4E5EE5C0E3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</p:spPr>
            <p:txBody>
              <a:bodyPr/>
              <a:lstStyle/>
              <a:p>
                <a:pPr/>
                <a:r>
                  <a:rPr lang="en-US" dirty="0"/>
                  <a:t>Variational Inference(VI)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dirty="0"/>
                </a:br>
                <a:br>
                  <a:rPr lang="en-US" dirty="0"/>
                </a:br>
                <a:r>
                  <a:rPr lang="en-US" sz="2400" b="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 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seeks to approximate the full posterior, </a:t>
                </a:r>
                <a:r>
                  <a:rPr lang="en-US" sz="2400" b="0" u="sng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rather than maximizing a point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.</a:t>
                </a:r>
                <a:b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∫</m:t>
                          </m:r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A3EB8B1-67FF-DC02-3E92-4E5EE5C0E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  <a:blipFill>
                <a:blip r:embed="rId2"/>
                <a:stretch>
                  <a:fillRect l="-2312" t="-3022" b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2228C9-CA1A-462B-C866-FCF01ADB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BBA554-3771-D28D-2576-DC1905AA1B24}"/>
              </a:ext>
            </a:extLst>
          </p:cNvPr>
          <p:cNvSpPr/>
          <p:nvPr/>
        </p:nvSpPr>
        <p:spPr>
          <a:xfrm>
            <a:off x="3160295" y="2638926"/>
            <a:ext cx="906380" cy="43313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A626184-97E9-6DF8-A61F-FE2BCFF6B60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692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BD7C1-1A13-F3DA-079B-8F8ADC3F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E0F849F-ADBF-64BA-C3F1-34DB817B3BB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</p:spPr>
            <p:txBody>
              <a:bodyPr/>
              <a:lstStyle/>
              <a:p>
                <a:pPr/>
                <a:r>
                  <a:rPr lang="en-US" dirty="0"/>
                  <a:t>Variational Inference(VI)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dirty="0"/>
                </a:br>
                <a:br>
                  <a:rPr lang="en-US" dirty="0"/>
                </a:br>
                <a:r>
                  <a:rPr lang="en-US" sz="2400" b="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 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seeks to approximate the full posterior, </a:t>
                </a:r>
                <a:r>
                  <a:rPr lang="en-US" sz="2400" b="0" u="sng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rather than maximizing a point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.</a:t>
                </a:r>
                <a:b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∫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E0F849F-ADBF-64BA-C3F1-34DB817B3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  <a:blipFill>
                <a:blip r:embed="rId2"/>
                <a:stretch>
                  <a:fillRect l="-2312" t="-3022" b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B3FB65-A064-86BB-8E5A-BA016EAD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65D92-40E6-D4C1-9A24-969F627D380D}"/>
              </a:ext>
            </a:extLst>
          </p:cNvPr>
          <p:cNvSpPr/>
          <p:nvPr/>
        </p:nvSpPr>
        <p:spPr>
          <a:xfrm>
            <a:off x="3160295" y="2638926"/>
            <a:ext cx="906380" cy="43313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9952F3F-4C16-DD25-0077-A6AC7556A90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042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D8B9-4042-1DE2-B4FF-63BDC445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70C8CEA-2588-B282-A488-08141735C1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</p:spPr>
            <p:txBody>
              <a:bodyPr/>
              <a:lstStyle/>
              <a:p>
                <a:pPr/>
                <a:r>
                  <a:rPr lang="en-US" dirty="0"/>
                  <a:t>Variational Inference(VI)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dirty="0"/>
                </a:br>
                <a:br>
                  <a:rPr lang="en-US" dirty="0"/>
                </a:br>
                <a:r>
                  <a:rPr lang="en-US" sz="2400" b="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 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seeks to approximate the full posterior, </a:t>
                </a:r>
                <a:r>
                  <a:rPr lang="en-US" sz="2400" b="0" u="sng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rather than maximizing a point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.</a:t>
                </a:r>
                <a:b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∫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70C8CEA-2588-B282-A488-08141735C1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  <a:blipFill>
                <a:blip r:embed="rId2"/>
                <a:stretch>
                  <a:fillRect l="-2312" t="-3022" b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B2D272-2756-74CA-7C68-617954E3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D06D9-B878-B281-9C8F-857C080DD3A9}"/>
              </a:ext>
            </a:extLst>
          </p:cNvPr>
          <p:cNvSpPr txBox="1"/>
          <p:nvPr/>
        </p:nvSpPr>
        <p:spPr>
          <a:xfrm>
            <a:off x="8929200" y="5099759"/>
            <a:ext cx="1287212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Evidence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925A7-E116-36E6-D736-78D9CB9D1281}"/>
              </a:ext>
            </a:extLst>
          </p:cNvPr>
          <p:cNvSpPr/>
          <p:nvPr/>
        </p:nvSpPr>
        <p:spPr>
          <a:xfrm>
            <a:off x="6644082" y="5125453"/>
            <a:ext cx="2138972" cy="41027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1143C4-5D37-39B8-9E84-9D6715C90783}"/>
              </a:ext>
            </a:extLst>
          </p:cNvPr>
          <p:cNvSpPr/>
          <p:nvPr/>
        </p:nvSpPr>
        <p:spPr>
          <a:xfrm>
            <a:off x="3160295" y="2638926"/>
            <a:ext cx="906380" cy="43313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E978B20-734D-1669-5C08-C1CB97F3CEB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83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EDB1-B3D1-CD70-B534-8AE4996F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8FB7D1B-6CE9-7EE8-A400-AB97E7BA57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</p:spPr>
            <p:txBody>
              <a:bodyPr/>
              <a:lstStyle/>
              <a:p>
                <a:pPr/>
                <a:r>
                  <a:rPr lang="en-US" dirty="0"/>
                  <a:t>Variational Inference(VI)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MAP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</a:t>
                </a:r>
                <a:r>
                  <a:rPr lang="ko-KR" alt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Maximize posterior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altLang="ko-KR" sz="2400" b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(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∝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dirty="0"/>
                </a:br>
                <a:br>
                  <a:rPr lang="en-US" dirty="0"/>
                </a:br>
                <a:r>
                  <a:rPr lang="en-US" sz="2400" b="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 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seeks to approximate the full posterior, </a:t>
                </a:r>
                <a:r>
                  <a:rPr lang="en-US" sz="2400" b="0" u="sng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rather than maximizing a point</a:t>
                </a:r>
                <a: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.</a:t>
                </a:r>
                <a:br>
                  <a:rPr lang="en-US" sz="2400" b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∫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8FB7D1B-6CE9-7EE8-A400-AB97E7BA5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914401"/>
                <a:ext cx="10972800" cy="4621330"/>
              </a:xfrm>
              <a:blipFill>
                <a:blip r:embed="rId2"/>
                <a:stretch>
                  <a:fillRect l="-2312" t="-3022" b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689423-8440-0C75-B93C-2948671E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077EA-27AC-4BC8-1AF5-36424BB99B3C}"/>
              </a:ext>
            </a:extLst>
          </p:cNvPr>
          <p:cNvSpPr txBox="1"/>
          <p:nvPr/>
        </p:nvSpPr>
        <p:spPr>
          <a:xfrm>
            <a:off x="7042830" y="5600709"/>
            <a:ext cx="1628651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Intractable!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5E82A-2C02-6FF5-3114-DDD45722C3D6}"/>
              </a:ext>
            </a:extLst>
          </p:cNvPr>
          <p:cNvSpPr/>
          <p:nvPr/>
        </p:nvSpPr>
        <p:spPr>
          <a:xfrm>
            <a:off x="3160295" y="2638926"/>
            <a:ext cx="906380" cy="43313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C4F18CDC-4B81-2410-98EA-415F48BF3FE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7C3E44-3BC1-EAED-07C1-C726D948F804}"/>
              </a:ext>
            </a:extLst>
          </p:cNvPr>
          <p:cNvSpPr/>
          <p:nvPr/>
        </p:nvSpPr>
        <p:spPr>
          <a:xfrm>
            <a:off x="6644082" y="5125453"/>
            <a:ext cx="2138972" cy="41027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9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C1FB-F682-995D-4D37-7CA4A928D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9826DD-7AE7-9FE5-8B10-19B837E9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1BA4BD-4B1D-0F6E-795B-037F81C8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EA7A89-C067-1C3F-5CD8-DA8FE0A2B518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944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∫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EA7A89-C067-1C3F-5CD8-DA8FE0A2B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944939"/>
              </a:xfrm>
              <a:prstGeom prst="rect">
                <a:avLst/>
              </a:prstGeom>
              <a:blipFill>
                <a:blip r:embed="rId2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4">
            <a:extLst>
              <a:ext uri="{FF2B5EF4-FFF2-40B4-BE49-F238E27FC236}">
                <a16:creationId xmlns:a16="http://schemas.microsoft.com/office/drawing/2014/main" id="{F856BB74-161E-AE2D-D469-938B03D13023}"/>
              </a:ext>
            </a:extLst>
          </p:cNvPr>
          <p:cNvSpPr/>
          <p:nvPr/>
        </p:nvSpPr>
        <p:spPr>
          <a:xfrm rot="10800000">
            <a:off x="5759116" y="2117556"/>
            <a:ext cx="994609" cy="29677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54359-33D8-8A4F-1C67-333059A4767F}"/>
              </a:ext>
            </a:extLst>
          </p:cNvPr>
          <p:cNvSpPr txBox="1"/>
          <p:nvPr/>
        </p:nvSpPr>
        <p:spPr>
          <a:xfrm>
            <a:off x="6938211" y="2035112"/>
            <a:ext cx="4255973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Bayesian 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parameter inference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CCBFA6E-4AB8-E10A-F830-911CDD5A1D6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49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662C1-E6BD-71DD-7342-43A1C53EB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4C6EE3-8371-A48C-C7DA-F9AEEE41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1D8B8-7FB0-AE86-2657-81454BAF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6C92F0-59DD-3D91-091E-7245FF811D13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944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∫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6C92F0-59DD-3D91-091E-7245FF811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944939"/>
              </a:xfrm>
              <a:prstGeom prst="rect">
                <a:avLst/>
              </a:prstGeom>
              <a:blipFill>
                <a:blip r:embed="rId2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4">
            <a:extLst>
              <a:ext uri="{FF2B5EF4-FFF2-40B4-BE49-F238E27FC236}">
                <a16:creationId xmlns:a16="http://schemas.microsoft.com/office/drawing/2014/main" id="{A3828F85-FA77-9798-8F0A-8D001E47777A}"/>
              </a:ext>
            </a:extLst>
          </p:cNvPr>
          <p:cNvSpPr/>
          <p:nvPr/>
        </p:nvSpPr>
        <p:spPr>
          <a:xfrm rot="10800000">
            <a:off x="5759116" y="2117556"/>
            <a:ext cx="994609" cy="29677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19F3E-C572-23FC-A070-A886E542D85B}"/>
              </a:ext>
            </a:extLst>
          </p:cNvPr>
          <p:cNvSpPr txBox="1"/>
          <p:nvPr/>
        </p:nvSpPr>
        <p:spPr>
          <a:xfrm>
            <a:off x="6938211" y="2032827"/>
            <a:ext cx="4227119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Bayesian 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parameter inference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B48C6F-C702-C1A5-C1FA-216EB1D3243A}"/>
                  </a:ext>
                </a:extLst>
              </p:cNvPr>
              <p:cNvSpPr txBox="1"/>
              <p:nvPr/>
            </p:nvSpPr>
            <p:spPr>
              <a:xfrm>
                <a:off x="-1020610" y="2823448"/>
                <a:ext cx="13848335" cy="923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∫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𝑑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B48C6F-C702-C1A5-C1FA-216EB1D32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2823448"/>
                <a:ext cx="13848335" cy="923779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>
            <a:extLst>
              <a:ext uri="{FF2B5EF4-FFF2-40B4-BE49-F238E27FC236}">
                <a16:creationId xmlns:a16="http://schemas.microsoft.com/office/drawing/2014/main" id="{E750F05E-0EEE-EBF1-B7AB-F4E5C4482871}"/>
              </a:ext>
            </a:extLst>
          </p:cNvPr>
          <p:cNvSpPr/>
          <p:nvPr/>
        </p:nvSpPr>
        <p:spPr>
          <a:xfrm rot="10800000">
            <a:off x="5759116" y="3235328"/>
            <a:ext cx="994609" cy="29677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4A6EAB-C9CB-D815-E2BA-C024A8BAAD4B}"/>
              </a:ext>
            </a:extLst>
          </p:cNvPr>
          <p:cNvSpPr txBox="1"/>
          <p:nvPr/>
        </p:nvSpPr>
        <p:spPr>
          <a:xfrm>
            <a:off x="6938211" y="3150599"/>
            <a:ext cx="3465692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 variable inference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28776-88E9-94D9-6A1C-3C78FAF0E517}"/>
              </a:ext>
            </a:extLst>
          </p:cNvPr>
          <p:cNvCxnSpPr>
            <a:cxnSpLocks/>
          </p:cNvCxnSpPr>
          <p:nvPr/>
        </p:nvCxnSpPr>
        <p:spPr>
          <a:xfrm>
            <a:off x="6938211" y="3599894"/>
            <a:ext cx="3465692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5F1670A-120C-1C64-1A02-D14144B57111}"/>
              </a:ext>
            </a:extLst>
          </p:cNvPr>
          <p:cNvSpPr txBox="1"/>
          <p:nvPr/>
        </p:nvSpPr>
        <p:spPr>
          <a:xfrm>
            <a:off x="7932072" y="3692227"/>
            <a:ext cx="147796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VAE, Diffusion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FC13E3B8-35A6-EA53-C098-A3B3014368F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819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8669-BDD1-BD6A-9049-E74F5F2D8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31B858-AD96-D3C3-1B09-9731BB3C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5D0527-6D3C-12AF-A134-73AB3C54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0657B0-FF06-E743-1642-3F209AA4DF70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280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0657B0-FF06-E743-1642-3F209AA4D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28066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FBB656F9-FFFA-1211-C3D4-0F55F3793399}"/>
              </a:ext>
            </a:extLst>
          </p:cNvPr>
          <p:cNvSpPr/>
          <p:nvPr/>
        </p:nvSpPr>
        <p:spPr>
          <a:xfrm>
            <a:off x="834189" y="1837696"/>
            <a:ext cx="2253916" cy="4723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D6BAA8AE-8805-4A86-DEA5-7B5E3AD63725}"/>
              </a:ext>
            </a:extLst>
          </p:cNvPr>
          <p:cNvSpPr/>
          <p:nvPr/>
        </p:nvSpPr>
        <p:spPr>
          <a:xfrm rot="5400000">
            <a:off x="3294998" y="1749200"/>
            <a:ext cx="268359" cy="64935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2C1B22-41E4-5E54-9DC2-4F22083AF667}"/>
                  </a:ext>
                </a:extLst>
              </p:cNvPr>
              <p:cNvSpPr txBox="1"/>
              <p:nvPr/>
            </p:nvSpPr>
            <p:spPr>
              <a:xfrm>
                <a:off x="3926134" y="1837696"/>
                <a:ext cx="6042423" cy="46166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Let’s approximate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sz="240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z</m:t>
                        </m:r>
                        <m:r>
                          <a:rPr lang="en-US" sz="2400" b="0" i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 </m:t>
                        </m:r>
                      </m:e>
                    </m:d>
                    <m:r>
                      <a:rPr lang="en-US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x</m:t>
                    </m:r>
                    <m:r>
                      <a:rPr lang="en-US" sz="2400" b="0" i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with tractable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2C1B22-41E4-5E54-9DC2-4F22083AF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134" y="1837696"/>
                <a:ext cx="6042423" cy="461665"/>
              </a:xfrm>
              <a:prstGeom prst="rect">
                <a:avLst/>
              </a:prstGeom>
              <a:blipFill>
                <a:blip r:embed="rId3"/>
                <a:stretch>
                  <a:fillRect l="-3151" t="-10811" r="-1681" b="-2973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A2E5EFB-F82E-F36A-7B7D-F47FAF0E8DC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061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FDF75-3F19-2BAA-A6A3-1783B1FB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9B9216-F8CB-A101-20E8-0D76DFC7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4DBC9A-CF90-349B-9000-B7528BB4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824285-852D-4316-F147-5D44E1A9662E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1698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824285-852D-4316-F147-5D44E1A96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1698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62D1174-4EAB-9995-2594-97051D4080B0}"/>
              </a:ext>
            </a:extLst>
          </p:cNvPr>
          <p:cNvSpPr/>
          <p:nvPr/>
        </p:nvSpPr>
        <p:spPr>
          <a:xfrm>
            <a:off x="834189" y="1837696"/>
            <a:ext cx="2253916" cy="4723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DC0FC3C0-E316-69CC-2DA8-DBEE7E8CE6AA}"/>
              </a:ext>
            </a:extLst>
          </p:cNvPr>
          <p:cNvSpPr/>
          <p:nvPr/>
        </p:nvSpPr>
        <p:spPr>
          <a:xfrm rot="5400000">
            <a:off x="3294998" y="1749200"/>
            <a:ext cx="268359" cy="64935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EA36BE-8732-2525-42DE-EC78938AD49B}"/>
                  </a:ext>
                </a:extLst>
              </p:cNvPr>
              <p:cNvSpPr txBox="1"/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1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1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min</m:t>
                            </m:r>
                          </m:e>
                          <m:li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𝐾𝐿</m:t>
                            </m:r>
                          </m:sub>
                        </m:s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 ||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))</m:t>
                        </m:r>
                      </m:e>
                    </m:func>
                  </m:oMath>
                </a14:m>
                <a:endParaRPr lang="en-KR" sz="21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EA36BE-8732-2525-42DE-EC78938AD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06EE911-17BD-3379-C2DB-8C9C3DC1453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25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7E24D-DE3F-F422-A413-EED11848F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E5775D-B896-0861-FF3B-BAB93061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41CB5-67B8-8F5F-EA8F-BC5B4DA17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6BDE44-F682-96E6-6D44-1500C5C8A696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b>
                            <m:sup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𝑄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𝑑𝑧</m:t>
                              </m:r>
                            </m:e>
                          </m:nary>
                        </m:e>
                      </m:func>
                      <m:r>
                        <a:rPr lang="ko-KR" alt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𝑙𝑜𝑔</m:t>
                      </m:r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</m:e>
                      </m:d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)]= 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𝑙𝑜𝑔</m:t>
                      </m:r>
                      <m:f>
                        <m:fPr>
                          <m:ctrlP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, </m:t>
                              </m:r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 i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func>
                        <m:func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6BDE44-F682-96E6-6D44-1500C5C8A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blipFill>
                <a:blip r:embed="rId2"/>
                <a:stretch>
                  <a:fillRect t="-492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3BF991-867C-3BC5-53EF-29AFDCAF6E36}"/>
                  </a:ext>
                </a:extLst>
              </p:cNvPr>
              <p:cNvSpPr txBox="1"/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3BF991-867C-3BC5-53EF-29AFDCAF6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blipFill>
                <a:blip r:embed="rId3"/>
                <a:stretch>
                  <a:fillRect r="-7362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>
            <a:extLst>
              <a:ext uri="{FF2B5EF4-FFF2-40B4-BE49-F238E27FC236}">
                <a16:creationId xmlns:a16="http://schemas.microsoft.com/office/drawing/2014/main" id="{62E05827-A705-26BD-5A26-47555035C6FC}"/>
              </a:ext>
            </a:extLst>
          </p:cNvPr>
          <p:cNvSpPr/>
          <p:nvPr/>
        </p:nvSpPr>
        <p:spPr>
          <a:xfrm rot="5400000">
            <a:off x="3294998" y="1749200"/>
            <a:ext cx="268359" cy="64935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6BEAA3-8719-7A74-013B-AEF88470A37A}"/>
                  </a:ext>
                </a:extLst>
              </p:cNvPr>
              <p:cNvSpPr txBox="1"/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1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1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min</m:t>
                            </m:r>
                          </m:e>
                          <m:li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𝐾𝐿</m:t>
                            </m:r>
                          </m:sub>
                        </m:s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 ||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))</m:t>
                        </m:r>
                      </m:e>
                    </m:func>
                  </m:oMath>
                </a14:m>
                <a:endParaRPr lang="en-KR" sz="21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6BEAA3-8719-7A74-013B-AEF88470A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blipFill>
                <a:blip r:embed="rId4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DD42DCC-8B8A-7B95-F284-7C80DB42CC05}"/>
              </a:ext>
            </a:extLst>
          </p:cNvPr>
          <p:cNvSpPr/>
          <p:nvPr/>
        </p:nvSpPr>
        <p:spPr>
          <a:xfrm>
            <a:off x="834189" y="1837696"/>
            <a:ext cx="2253916" cy="4723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806F9AC-5FD0-E99B-C84F-6E9800A771F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809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A9916-95C1-A96D-457E-E6CDA0B2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AF1772-E7CD-B34C-CB93-FC90F0E4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00EA93-5FA2-0F56-9FDD-39D7A048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5A2AF7-1F50-0B58-AD13-E51CA228E819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b>
                            <m:sup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𝑄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𝑑𝑧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400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altLang="ko-KR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 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f>
                        <m:fPr>
                          <m:ctrlP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altLang="ko-KR" sz="2400" b="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, </m:t>
                              </m:r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 i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func>
                        <m:func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5A2AF7-1F50-0B58-AD13-E51CA228E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blipFill>
                <a:blip r:embed="rId2"/>
                <a:stretch>
                  <a:fillRect t="-492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>
            <a:extLst>
              <a:ext uri="{FF2B5EF4-FFF2-40B4-BE49-F238E27FC236}">
                <a16:creationId xmlns:a16="http://schemas.microsoft.com/office/drawing/2014/main" id="{9339AB96-B39E-A5E1-8AD1-5B83C01F5D91}"/>
              </a:ext>
            </a:extLst>
          </p:cNvPr>
          <p:cNvSpPr/>
          <p:nvPr/>
        </p:nvSpPr>
        <p:spPr>
          <a:xfrm rot="5400000">
            <a:off x="3294998" y="1749200"/>
            <a:ext cx="268359" cy="64935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8C2FA-B0CE-F57C-9D1E-E5521EA2BED2}"/>
              </a:ext>
            </a:extLst>
          </p:cNvPr>
          <p:cNvSpPr/>
          <p:nvPr/>
        </p:nvSpPr>
        <p:spPr>
          <a:xfrm>
            <a:off x="834189" y="1837696"/>
            <a:ext cx="2253916" cy="4723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BDBD2F-9A08-7BC8-E633-4B218B689AA4}"/>
                  </a:ext>
                </a:extLst>
              </p:cNvPr>
              <p:cNvSpPr txBox="1"/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1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1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min</m:t>
                            </m:r>
                          </m:e>
                          <m:li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𝐾𝐿</m:t>
                            </m:r>
                          </m:sub>
                        </m:s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 ||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))</m:t>
                        </m:r>
                      </m:e>
                    </m:func>
                  </m:oMath>
                </a14:m>
                <a:endParaRPr lang="en-KR" sz="21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BDBD2F-9A08-7BC8-E633-4B218B689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ABBAB60-DCF0-8B47-8B9D-EBE242106E3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A6B49A5-C177-10CE-FDCB-6BD26DA47607}"/>
                  </a:ext>
                </a:extLst>
              </p:cNvPr>
              <p:cNvSpPr txBox="1"/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A6B49A5-C177-10CE-FDCB-6BD26DA47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blipFill>
                <a:blip r:embed="rId4"/>
                <a:stretch>
                  <a:fillRect r="-7362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488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A6E2-59EC-B36B-AF5A-0FF6EA2D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F4E61A-8AA3-B4D4-4F5D-8A65C198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118937-80A8-D5C2-019D-B1288FAF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82F5B6-E11A-9D93-FE83-7630E8EF2ABA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b>
                            <m:sup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𝑄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𝑑𝑧</m:t>
                              </m:r>
                            </m:e>
                          </m:nary>
                        </m:e>
                      </m:func>
                      <m:r>
                        <a:rPr lang="ko-KR" alt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400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altLang="ko-KR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 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f>
                        <m:fPr>
                          <m:ctrlPr>
                            <a:rPr lang="en-US" altLang="ko-KR" sz="240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altLang="ko-KR" sz="2400" b="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, 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 i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func>
                        <m:func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82F5B6-E11A-9D93-FE83-7630E8EF2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blipFill>
                <a:blip r:embed="rId2"/>
                <a:stretch>
                  <a:fillRect t="-492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>
            <a:extLst>
              <a:ext uri="{FF2B5EF4-FFF2-40B4-BE49-F238E27FC236}">
                <a16:creationId xmlns:a16="http://schemas.microsoft.com/office/drawing/2014/main" id="{E597ACFA-37CA-EA7E-2400-88F182863F80}"/>
              </a:ext>
            </a:extLst>
          </p:cNvPr>
          <p:cNvSpPr/>
          <p:nvPr/>
        </p:nvSpPr>
        <p:spPr>
          <a:xfrm rot="5400000">
            <a:off x="3294998" y="1749200"/>
            <a:ext cx="268359" cy="64935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620326-93DB-4460-E9F7-8A52E4E518AF}"/>
              </a:ext>
            </a:extLst>
          </p:cNvPr>
          <p:cNvSpPr/>
          <p:nvPr/>
        </p:nvSpPr>
        <p:spPr>
          <a:xfrm>
            <a:off x="834189" y="1837696"/>
            <a:ext cx="2253916" cy="4723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902CFE-68B3-5E63-6B45-87C06D6BD5C5}"/>
                  </a:ext>
                </a:extLst>
              </p:cNvPr>
              <p:cNvSpPr txBox="1"/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1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1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min</m:t>
                            </m:r>
                          </m:e>
                          <m:li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𝐾𝐿</m:t>
                            </m:r>
                          </m:sub>
                        </m:s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 ||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))</m:t>
                        </m:r>
                      </m:e>
                    </m:func>
                  </m:oMath>
                </a14:m>
                <a:endParaRPr lang="en-KR" sz="21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902CFE-68B3-5E63-6B45-87C06D6BD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135617-4BD9-14D6-6FAA-646831FEC7C8}"/>
                  </a:ext>
                </a:extLst>
              </p:cNvPr>
              <p:cNvSpPr txBox="1"/>
              <p:nvPr/>
            </p:nvSpPr>
            <p:spPr>
              <a:xfrm>
                <a:off x="10015191" y="4405247"/>
                <a:ext cx="201337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Bayesian)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135617-4BD9-14D6-6FAA-646831FEC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191" y="4405247"/>
                <a:ext cx="2013372" cy="369332"/>
              </a:xfrm>
              <a:prstGeom prst="rect">
                <a:avLst/>
              </a:prstGeom>
              <a:blipFill>
                <a:blip r:embed="rId4"/>
                <a:stretch>
                  <a:fillRect r="-7500" b="-2069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8A96A28-6241-3C85-F27E-793760842F4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25A391-F49E-E898-6144-E61E059F47BC}"/>
                  </a:ext>
                </a:extLst>
              </p:cNvPr>
              <p:cNvSpPr txBox="1"/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25A391-F49E-E898-6144-E61E059F4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blipFill>
                <a:blip r:embed="rId5"/>
                <a:stretch>
                  <a:fillRect r="-7362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461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A1B5-D343-3AB2-1970-5B7C4D1C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286874-B10E-FE4F-9C9C-D0E69572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48D372-E899-D36A-8CB4-DCE0282F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40B5FD-A331-0BFA-5B9D-B6CF76DA5686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b>
                            <m:sup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𝑄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𝑑𝑧</m:t>
                      </m:r>
                      <m:r>
                        <a:rPr lang="ko-KR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 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f>
                        <m:fPr>
                          <m:ctrlPr>
                            <a:rPr lang="en-US" altLang="ko-K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, 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func>
                        <m:func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40B5FD-A331-0BFA-5B9D-B6CF76DA5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blipFill>
                <a:blip r:embed="rId2"/>
                <a:stretch>
                  <a:fillRect t="-492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>
            <a:extLst>
              <a:ext uri="{FF2B5EF4-FFF2-40B4-BE49-F238E27FC236}">
                <a16:creationId xmlns:a16="http://schemas.microsoft.com/office/drawing/2014/main" id="{D5A873B2-D98E-FF38-E633-30BD4D080C33}"/>
              </a:ext>
            </a:extLst>
          </p:cNvPr>
          <p:cNvSpPr/>
          <p:nvPr/>
        </p:nvSpPr>
        <p:spPr>
          <a:xfrm rot="5400000">
            <a:off x="3294998" y="1749200"/>
            <a:ext cx="268359" cy="64935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70534E-ACBF-036B-03D0-AF811DFBCD99}"/>
              </a:ext>
            </a:extLst>
          </p:cNvPr>
          <p:cNvSpPr/>
          <p:nvPr/>
        </p:nvSpPr>
        <p:spPr>
          <a:xfrm>
            <a:off x="834189" y="1837696"/>
            <a:ext cx="2253916" cy="4723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CAD6D6-FF7E-7D59-FB89-3FD7DC3CD1DB}"/>
                  </a:ext>
                </a:extLst>
              </p:cNvPr>
              <p:cNvSpPr txBox="1"/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1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1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min</m:t>
                            </m:r>
                          </m:e>
                          <m:li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𝐾𝐿</m:t>
                            </m:r>
                          </m:sub>
                        </m:s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 ||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))</m:t>
                        </m:r>
                      </m:e>
                    </m:func>
                  </m:oMath>
                </a14:m>
                <a:endParaRPr lang="en-KR" sz="21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CAD6D6-FF7E-7D59-FB89-3FD7DC3C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BAA8D3-11DB-75AA-2BEF-724CACFB8DE7}"/>
                  </a:ext>
                </a:extLst>
              </p:cNvPr>
              <p:cNvSpPr txBox="1"/>
              <p:nvPr/>
            </p:nvSpPr>
            <p:spPr>
              <a:xfrm>
                <a:off x="10015191" y="4405247"/>
                <a:ext cx="201337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Bayesian)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BAA8D3-11DB-75AA-2BEF-724CACFB8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191" y="4405247"/>
                <a:ext cx="2013372" cy="369332"/>
              </a:xfrm>
              <a:prstGeom prst="rect">
                <a:avLst/>
              </a:prstGeom>
              <a:blipFill>
                <a:blip r:embed="rId4"/>
                <a:stretch>
                  <a:fillRect r="-7500" b="-2069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565B919-CB65-B853-5C9D-F1AB7BA6F9D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CCC733-D625-112A-83FF-5486C8A79948}"/>
                  </a:ext>
                </a:extLst>
              </p:cNvPr>
              <p:cNvSpPr txBox="1"/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CCC733-D625-112A-83FF-5486C8A79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blipFill>
                <a:blip r:embed="rId5"/>
                <a:stretch>
                  <a:fillRect r="-7362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10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30FE7-1213-71EF-F212-66FA28C5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7EFFB7-C2D2-4220-2EED-64DDCE52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9828DE-FF9F-0B52-DB65-32485EE3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F98910-6120-93CC-8FAE-10B518FDD334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b>
                            <m:sup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𝑄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𝑑𝑧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 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f>
                        <m:fPr>
                          <m:ctrlPr>
                            <a:rPr lang="en-US" altLang="ko-K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, 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func>
                        <m:funcPr>
                          <m:ctrlPr>
                            <a:rPr lang="en-US" altLang="ko-KR" sz="24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F98910-6120-93CC-8FAE-10B518FDD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blipFill>
                <a:blip r:embed="rId2"/>
                <a:stretch>
                  <a:fillRect t="-492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>
            <a:extLst>
              <a:ext uri="{FF2B5EF4-FFF2-40B4-BE49-F238E27FC236}">
                <a16:creationId xmlns:a16="http://schemas.microsoft.com/office/drawing/2014/main" id="{42C825F6-3979-3718-ED56-58E9A27CA988}"/>
              </a:ext>
            </a:extLst>
          </p:cNvPr>
          <p:cNvSpPr/>
          <p:nvPr/>
        </p:nvSpPr>
        <p:spPr>
          <a:xfrm rot="5400000">
            <a:off x="3294998" y="1749200"/>
            <a:ext cx="268359" cy="64935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AA0793-0A5B-7DC4-74B1-783AA3ABCDDF}"/>
              </a:ext>
            </a:extLst>
          </p:cNvPr>
          <p:cNvSpPr/>
          <p:nvPr/>
        </p:nvSpPr>
        <p:spPr>
          <a:xfrm>
            <a:off x="834189" y="1837696"/>
            <a:ext cx="2253916" cy="4723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B7329C-2939-B456-4430-2D459FD54B69}"/>
                  </a:ext>
                </a:extLst>
              </p:cNvPr>
              <p:cNvSpPr txBox="1"/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1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1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min</m:t>
                            </m:r>
                          </m:e>
                          <m:li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𝐾𝐿</m:t>
                            </m:r>
                          </m:sub>
                        </m:s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 ||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))</m:t>
                        </m:r>
                      </m:e>
                    </m:func>
                  </m:oMath>
                </a14:m>
                <a:endParaRPr lang="en-KR" sz="21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B7329C-2939-B456-4430-2D459FD54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657688-22E2-5CB7-DF14-22E576E79EA4}"/>
                  </a:ext>
                </a:extLst>
              </p:cNvPr>
              <p:cNvSpPr txBox="1"/>
              <p:nvPr/>
            </p:nvSpPr>
            <p:spPr>
              <a:xfrm>
                <a:off x="10015191" y="4405247"/>
                <a:ext cx="201337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Bayesian)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657688-22E2-5CB7-DF14-22E576E79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191" y="4405247"/>
                <a:ext cx="2013372" cy="369332"/>
              </a:xfrm>
              <a:prstGeom prst="rect">
                <a:avLst/>
              </a:prstGeom>
              <a:blipFill>
                <a:blip r:embed="rId4"/>
                <a:stretch>
                  <a:fillRect r="-7500" b="-2069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5974AE7-A94E-CBCC-F0B9-5167B074BB2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FA52DC-0BD7-8C1F-A865-F0746D9329F3}"/>
                  </a:ext>
                </a:extLst>
              </p:cNvPr>
              <p:cNvSpPr txBox="1"/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FA52DC-0BD7-8C1F-A865-F0746D932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blipFill>
                <a:blip r:embed="rId5"/>
                <a:stretch>
                  <a:fillRect r="-7362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59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2F21-5F04-F167-9250-797CD02D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33E427-AA97-98AA-6CA9-633ED59E8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41BEA7-F629-9D18-2BB0-05D02997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327491-202B-015C-FBB3-756D0ED56881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b>
                            <m:sup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𝑄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𝑑𝑧</m:t>
                      </m:r>
                      <m:r>
                        <a:rPr lang="ko-KR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</m:t>
                      </m:r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 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  <m:r>
                            <a:rPr lang="en-US" altLang="ko-KR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r>
                        <a:rPr lang="en-US" altLang="ko-KR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f>
                        <m:fPr>
                          <m:ctrlPr>
                            <a:rPr lang="en-US" altLang="ko-K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, </m:t>
                              </m:r>
                              <m: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func>
                        <m:funcPr>
                          <m:ctrlPr>
                            <a:rPr lang="en-US" altLang="ko-KR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327491-202B-015C-FBB3-756D0ED56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6172459"/>
              </a:xfrm>
              <a:prstGeom prst="rect">
                <a:avLst/>
              </a:prstGeom>
              <a:blipFill>
                <a:blip r:embed="rId2"/>
                <a:stretch>
                  <a:fillRect t="-492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>
            <a:extLst>
              <a:ext uri="{FF2B5EF4-FFF2-40B4-BE49-F238E27FC236}">
                <a16:creationId xmlns:a16="http://schemas.microsoft.com/office/drawing/2014/main" id="{1B0BE00D-85B3-F575-204D-0A226C58F81A}"/>
              </a:ext>
            </a:extLst>
          </p:cNvPr>
          <p:cNvSpPr/>
          <p:nvPr/>
        </p:nvSpPr>
        <p:spPr>
          <a:xfrm rot="5400000">
            <a:off x="3294998" y="1749200"/>
            <a:ext cx="268359" cy="64935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BB77B3-3139-B83E-1070-DF50ECD8BCF4}"/>
              </a:ext>
            </a:extLst>
          </p:cNvPr>
          <p:cNvSpPr/>
          <p:nvPr/>
        </p:nvSpPr>
        <p:spPr>
          <a:xfrm>
            <a:off x="834189" y="1837696"/>
            <a:ext cx="2253916" cy="4723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815F03-5551-7B8C-0F8D-8804A510823F}"/>
                  </a:ext>
                </a:extLst>
              </p:cNvPr>
              <p:cNvSpPr txBox="1"/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1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1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min</m:t>
                            </m:r>
                          </m:e>
                          <m:li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𝐾𝐿</m:t>
                            </m:r>
                          </m:sub>
                        </m:s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 ||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))</m:t>
                        </m:r>
                      </m:e>
                    </m:func>
                  </m:oMath>
                </a14:m>
                <a:endParaRPr lang="en-KR" sz="21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815F03-5551-7B8C-0F8D-8804A5108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57" y="1817366"/>
                <a:ext cx="6612834" cy="513026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E54023-8ABB-610F-7D9F-0276AF81C6A7}"/>
                  </a:ext>
                </a:extLst>
              </p:cNvPr>
              <p:cNvSpPr txBox="1"/>
              <p:nvPr/>
            </p:nvSpPr>
            <p:spPr>
              <a:xfrm>
                <a:off x="10015191" y="4405247"/>
                <a:ext cx="201337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Bayesian)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E54023-8ABB-610F-7D9F-0276AF81C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191" y="4405247"/>
                <a:ext cx="2013372" cy="369332"/>
              </a:xfrm>
              <a:prstGeom prst="rect">
                <a:avLst/>
              </a:prstGeom>
              <a:blipFill>
                <a:blip r:embed="rId4"/>
                <a:stretch>
                  <a:fillRect r="-7500" b="-2069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63745FB-771D-A55F-4BB0-C0AEBED50303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F92CD4-9564-3579-5B00-F7C0A3759251}"/>
                  </a:ext>
                </a:extLst>
              </p:cNvPr>
              <p:cNvSpPr txBox="1"/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F92CD4-9564-3579-5B00-F7C0A3759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789" y="3188897"/>
                <a:ext cx="2050241" cy="369332"/>
              </a:xfrm>
              <a:prstGeom prst="rect">
                <a:avLst/>
              </a:prstGeom>
              <a:blipFill>
                <a:blip r:embed="rId5"/>
                <a:stretch>
                  <a:fillRect r="-7362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7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E240-0DB2-EB7D-8821-800D35F7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D4B865-5E8F-33C9-F29E-CEDBF912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84E353-C211-10A7-1EC1-B4A878F1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9A1600-BC94-9130-46A9-B4CD9CDBD759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𝑙𝑜𝑔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,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altLang="ko-KR" sz="240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∴</m:t>
                      </m:r>
                      <m:func>
                        <m:func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|| </m:t>
                      </m:r>
                      <m:r>
                        <a:rPr lang="en-US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r>
                        <a:rPr lang="en-US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))+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||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altLang="ko-KR" sz="2400" i="1" dirty="0">
                  <a:solidFill>
                    <a:srgbClr val="F2F3F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9A1600-BC94-9130-46A9-B4CD9CDBD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C377AA3-2F7B-D6E0-D5DD-C8323DAF062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51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391D-F7B0-1D0A-E89E-9EE924F9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3E3D8D-FDE6-77F3-99DC-A234A168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35AB3A-8711-5561-D7DD-01F885A26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CBDEFA-7DA3-8866-F5C2-EA8215E91147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𝑙𝑜𝑔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,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∴</m:t>
                      </m:r>
                      <m:func>
                        <m:func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||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))+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sz="240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||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altLang="ko-KR" sz="2400" i="1" dirty="0">
                  <a:solidFill>
                    <a:srgbClr val="F2F3F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CBDEFA-7DA3-8866-F5C2-EA8215E91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28557B0-DF60-14DD-56B5-17BF418BF45A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37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D7E5-6C27-5EE7-6E77-47323D1E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BEBBB1-791A-0409-BEAD-06055665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76C5F8-F21E-38CE-4204-193B9E5B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62F300-7E51-424B-C762-293B26C8838D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𝑙𝑜𝑔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,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∴</m:t>
                      </m:r>
                      <m:func>
                        <m:func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||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))+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sz="240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||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altLang="ko-KR" sz="2400" i="1" dirty="0">
                  <a:solidFill>
                    <a:srgbClr val="F2F3F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62F300-7E51-424B-C762-293B26C88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2C57E8-2B80-9AE4-42CB-621DAD678CCA}"/>
              </a:ext>
            </a:extLst>
          </p:cNvPr>
          <p:cNvCxnSpPr>
            <a:cxnSpLocks/>
          </p:cNvCxnSpPr>
          <p:nvPr/>
        </p:nvCxnSpPr>
        <p:spPr>
          <a:xfrm>
            <a:off x="2679031" y="3312695"/>
            <a:ext cx="2719137" cy="0"/>
          </a:xfrm>
          <a:prstGeom prst="line">
            <a:avLst/>
          </a:prstGeom>
          <a:ln w="254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7DCD47-1F2F-9D21-7555-AF05A418087D}"/>
                  </a:ext>
                </a:extLst>
              </p:cNvPr>
              <p:cNvSpPr txBox="1"/>
              <p:nvPr/>
            </p:nvSpPr>
            <p:spPr>
              <a:xfrm>
                <a:off x="4908884" y="3360639"/>
                <a:ext cx="426399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7DCD47-1F2F-9D21-7555-AF05A4180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884" y="3360639"/>
                <a:ext cx="426399" cy="369332"/>
              </a:xfrm>
              <a:prstGeom prst="rect">
                <a:avLst/>
              </a:prstGeom>
              <a:blipFill>
                <a:blip r:embed="rId3"/>
                <a:stretch>
                  <a:fillRect l="-11429" r="-857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01F5F8F-F73B-AE2A-99CC-9FA55B889EF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127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6DDE4-E797-2397-3B3E-37BB104CB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ECCCA3-ADED-A7F2-AE57-99BF6C5A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CA8BFE-6D12-B6F4-58C9-8D79CE0B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AD1A1C-723F-664F-8865-3316F1640E5E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𝑙𝑜𝑔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,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∴</m:t>
                      </m:r>
                      <m:func>
                        <m:func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||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))+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||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altLang="ko-KR" sz="2400" i="1" dirty="0">
                  <a:solidFill>
                    <a:srgbClr val="F2F3F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AD1A1C-723F-664F-8865-3316F1640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BAB062-D5B6-7B93-BBA6-203B1A3C83CB}"/>
              </a:ext>
            </a:extLst>
          </p:cNvPr>
          <p:cNvCxnSpPr>
            <a:cxnSpLocks/>
          </p:cNvCxnSpPr>
          <p:nvPr/>
        </p:nvCxnSpPr>
        <p:spPr>
          <a:xfrm flipV="1">
            <a:off x="2743200" y="2890327"/>
            <a:ext cx="2622884" cy="334136"/>
          </a:xfrm>
          <a:prstGeom prst="line">
            <a:avLst/>
          </a:prstGeom>
          <a:ln w="254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E611B7E-12DE-B32C-A1C7-139733F57FB2}"/>
              </a:ext>
            </a:extLst>
          </p:cNvPr>
          <p:cNvSpPr/>
          <p:nvPr/>
        </p:nvSpPr>
        <p:spPr>
          <a:xfrm>
            <a:off x="1179095" y="3577389"/>
            <a:ext cx="4323347" cy="50532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9C389-C249-E5EA-F2A9-9A7CB978A057}"/>
              </a:ext>
            </a:extLst>
          </p:cNvPr>
          <p:cNvSpPr txBox="1"/>
          <p:nvPr/>
        </p:nvSpPr>
        <p:spPr>
          <a:xfrm>
            <a:off x="5707271" y="3599219"/>
            <a:ext cx="777457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ELBO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D890B2E-8D8F-B3C6-311A-8C9379AAFF5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973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6B003-1B05-151A-05B5-6BC65068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B7E4A3-A567-62BB-5ED1-52D3DA85E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9EA45B-ECC4-E0DC-CAB9-49B3BE39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9E4ED2-6F22-6182-0FE2-EEB607B16E1C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𝑙𝑜𝑔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,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∴</m:t>
                      </m:r>
                      <m:func>
                        <m:func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||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))+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||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altLang="ko-KR" sz="2400" i="1" dirty="0">
                  <a:solidFill>
                    <a:srgbClr val="F2F3F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9E4ED2-6F22-6182-0FE2-EEB607B16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166FD0-FFA4-7D5D-D40B-07511937E0D8}"/>
                  </a:ext>
                </a:extLst>
              </p:cNvPr>
              <p:cNvSpPr txBox="1"/>
              <p:nvPr/>
            </p:nvSpPr>
            <p:spPr>
              <a:xfrm>
                <a:off x="7376264" y="4405247"/>
                <a:ext cx="201337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Bayesian)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166FD0-FFA4-7D5D-D40B-07511937E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264" y="4405247"/>
                <a:ext cx="2013372" cy="369332"/>
              </a:xfrm>
              <a:prstGeom prst="rect">
                <a:avLst/>
              </a:prstGeom>
              <a:blipFill>
                <a:blip r:embed="rId3"/>
                <a:stretch>
                  <a:fillRect r="-7500" b="-2069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011EF66-DF9E-8A91-44EC-492DB13D3BC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521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1388E-92DB-E077-0E16-08162E27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0F382-8AAB-C694-BD29-F8CDEFC6B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3840AA-402F-B1BA-22CE-9368DA5D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9A8FFE-EEA9-577D-63F7-20B6ED235D69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 ||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))=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𝑙𝑜𝑔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𝑄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𝑥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,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 Variable Medium" panose="02000003000000020004" pitchFamily="2" charset="-127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∴</m:t>
                      </m:r>
                      <m:func>
                        <m:func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 ||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|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))+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,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𝑙𝑜𝑔</m:t>
                          </m:r>
                          <m:r>
                            <a:rPr lang="en-US" altLang="ko-KR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 </m:t>
                          </m:r>
                          <m:r>
                            <a:rPr lang="en-US" altLang="ko-KR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|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𝑄</m:t>
                          </m:r>
                          <m:d>
                            <m:dPr>
                              <m:endChr m:val="|"/>
                              <m:ctrlPr>
                                <a:rPr lang="en-US" altLang="ko-KR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𝜆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||</m:t>
                      </m:r>
                      <m:r>
                        <a:rPr lang="en-US" altLang="ko-KR" sz="24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𝑃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)</m:t>
                      </m:r>
                    </m:oMath>
                  </m:oMathPara>
                </a14:m>
                <a:endParaRPr lang="en-US" altLang="ko-KR" sz="2400" i="1" dirty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 Variable Medium" panose="02000003000000020004" pitchFamily="2" charset="-127"/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9A8FFE-EEA9-577D-63F7-20B6ED235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56529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40AED9-B2F9-7E12-443A-0720BFA20CB5}"/>
                  </a:ext>
                </a:extLst>
              </p:cNvPr>
              <p:cNvSpPr txBox="1"/>
              <p:nvPr/>
            </p:nvSpPr>
            <p:spPr>
              <a:xfrm>
                <a:off x="7376264" y="4405247"/>
                <a:ext cx="201337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Bayesian)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40AED9-B2F9-7E12-443A-0720BFA20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264" y="4405247"/>
                <a:ext cx="2013372" cy="369332"/>
              </a:xfrm>
              <a:prstGeom prst="rect">
                <a:avLst/>
              </a:prstGeom>
              <a:blipFill>
                <a:blip r:embed="rId3"/>
                <a:stretch>
                  <a:fillRect r="-7500" b="-2069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AA3602-98F6-0339-DECA-D0E53C9619B9}"/>
                  </a:ext>
                </a:extLst>
              </p:cNvPr>
              <p:cNvSpPr txBox="1"/>
              <p:nvPr/>
            </p:nvSpPr>
            <p:spPr>
              <a:xfrm>
                <a:off x="5895536" y="5196522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AA3602-98F6-0339-DECA-D0E53C961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536" y="5196522"/>
                <a:ext cx="2050241" cy="369332"/>
              </a:xfrm>
              <a:prstGeom prst="rect">
                <a:avLst/>
              </a:prstGeom>
              <a:blipFill>
                <a:blip r:embed="rId4"/>
                <a:stretch>
                  <a:fillRect r="-7407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98F36A0-C42F-8F0C-E4A0-C590FFDD21AB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649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7767-C810-4FBC-804A-4229629E3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E30E76-2D51-FEF3-042B-E5B387CCE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C9D8E-8425-DCE1-F029-52568A575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04F69A-59A6-DFAC-A00C-A36E4F891E08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3049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|| 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))+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𝑙𝑜𝑔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2400" dirty="0"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                  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≥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04F69A-59A6-DFAC-A00C-A36E4F891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3049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299BA55-2EEF-6495-6239-F3A6DD41A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877" y="3588541"/>
            <a:ext cx="6320246" cy="2700959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558079B-5FBA-97F9-A3EA-A7FD53D46A4D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228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9265-88BD-C856-ACBE-45700D0E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69B7D7-2A31-52B0-0641-EA5D5120E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Variational Inference(VI)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1743A-B0DE-6F87-1305-2FAB7266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3375DE-3814-143E-AFA0-03A5E9B67072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3049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|| 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))+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𝑙𝑜𝑔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2400" dirty="0"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                  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≥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3375DE-3814-143E-AFA0-03A5E9B67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3049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0D25839-C7F1-BC2F-4BF0-4D3260D9F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877" y="3588541"/>
            <a:ext cx="6320246" cy="2700959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C8A2F57-1D74-FC51-30BF-00581AC4C57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6DC37C-CE32-886C-FDF5-598A341B2CD2}"/>
              </a:ext>
            </a:extLst>
          </p:cNvPr>
          <p:cNvSpPr txBox="1"/>
          <p:nvPr/>
        </p:nvSpPr>
        <p:spPr>
          <a:xfrm>
            <a:off x="519600" y="4030421"/>
            <a:ext cx="2153653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KR" u="sng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Resource</a:t>
            </a:r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: </a:t>
            </a:r>
          </a:p>
          <a:p>
            <a:pPr algn="r"/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IWAE</a:t>
            </a:r>
          </a:p>
          <a:p>
            <a:pPr algn="r"/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Normalizing flo</a:t>
            </a:r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83931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C8929-E01A-151F-37FB-D737E79DA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7BDE8A-13E4-0230-4072-41985913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Amortized Variational Inference(AVI)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B3D854-2014-885E-7628-6095F276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937883-24DD-B1BE-0437-7FE87FF68806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3736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≥</m:t>
                    </m:r>
                    <m:sSub>
                      <m:sSubPr>
                        <m:ctrlPr>
                          <a:rPr lang="en-US" altLang="ko-K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937883-24DD-B1BE-0437-7FE87FF68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37360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6B1714E-5968-3ABC-CA1A-9E33612DBC05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62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FD31D-1B60-9B35-83C1-4456CB81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A00A8C-38BA-3B59-4780-25CD035F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Amortized Variational Inference(AVI)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852B0D-3C04-0946-0518-949F2181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ADD7B8-CB11-7592-69A8-CDC14548B50A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4526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≥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≥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ADD7B8-CB11-7592-69A8-CDC14548B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4526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7EC6783-BC52-B291-E204-3C51051EDCAB}"/>
              </a:ext>
            </a:extLst>
          </p:cNvPr>
          <p:cNvSpPr txBox="1"/>
          <p:nvPr/>
        </p:nvSpPr>
        <p:spPr>
          <a:xfrm>
            <a:off x="733925" y="3066075"/>
            <a:ext cx="9436769" cy="728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>
              <a:lnSpc>
                <a:spcPct val="200000"/>
              </a:lnSpc>
            </a:pPr>
            <a:endParaRPr lang="en-US" altLang="ko-KR" sz="2400" i="1" dirty="0">
              <a:latin typeface="Cambria Math" panose="02040503050406030204" pitchFamily="18" charset="0"/>
              <a:ea typeface="Cambria Math" panose="02040503050406030204" pitchFamily="18" charset="0"/>
              <a:cs typeface="Pretendard Variable Medium" panose="02000003000000020004" pitchFamily="2" charset="-127"/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205626D-E0C6-838D-5AD4-44727DDB927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796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31E7A-BF1B-7DA9-F654-53079BA0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F230B3-3672-02A9-69B4-52AEB8A4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Amortized Variational Inference(AVI)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E16FE1-C069-2F82-E860-21C75592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85880-5C8A-C376-CF33-C91A6F68CA05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4526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≥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≥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85880-5C8A-C376-CF33-C91A6F68C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4526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02A9F95-F092-E0C9-2839-8D47AC63CCB3}"/>
              </a:ext>
            </a:extLst>
          </p:cNvPr>
          <p:cNvSpPr txBox="1"/>
          <p:nvPr/>
        </p:nvSpPr>
        <p:spPr>
          <a:xfrm>
            <a:off x="733925" y="3066075"/>
            <a:ext cx="9436769" cy="728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>
              <a:lnSpc>
                <a:spcPct val="200000"/>
              </a:lnSpc>
            </a:pPr>
            <a:endParaRPr lang="en-US" altLang="ko-KR" sz="2400" i="1" dirty="0">
              <a:latin typeface="Cambria Math" panose="02040503050406030204" pitchFamily="18" charset="0"/>
              <a:ea typeface="Cambria Math" panose="02040503050406030204" pitchFamily="18" charset="0"/>
              <a:cs typeface="Pretendard Variable Medium" panose="02000003000000020004" pitchFamily="2" charset="-127"/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20D9D1D3-E9AE-2238-1D02-4CCABB84F9E3}"/>
              </a:ext>
            </a:extLst>
          </p:cNvPr>
          <p:cNvSpPr/>
          <p:nvPr/>
        </p:nvSpPr>
        <p:spPr>
          <a:xfrm rot="10800000">
            <a:off x="5919536" y="3269634"/>
            <a:ext cx="232611" cy="70053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E5D2E-7890-A77A-CAA7-BD8BD08FF52A}"/>
                  </a:ext>
                </a:extLst>
              </p:cNvPr>
              <p:cNvSpPr txBox="1"/>
              <p:nvPr/>
            </p:nvSpPr>
            <p:spPr>
              <a:xfrm>
                <a:off x="3767816" y="3977247"/>
                <a:ext cx="4536050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KR" dirty="0"/>
                  <a:t>We have to optimize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KR" dirty="0"/>
                  <a:t> given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KR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E5D2E-7890-A77A-CAA7-BD8BD08FF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816" y="3977247"/>
                <a:ext cx="4536050" cy="369332"/>
              </a:xfrm>
              <a:prstGeom prst="rect">
                <a:avLst/>
              </a:prstGeom>
              <a:blipFill>
                <a:blip r:embed="rId3"/>
                <a:stretch>
                  <a:fillRect l="-3073" t="-3226" b="-2258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D1392EC-CEEB-5F72-8436-F4B12C343AE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895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E9B9-7A8B-023E-E5BF-66A916949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9E4402-5198-1E87-2F88-3B4B3040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1975926"/>
          </a:xfrm>
        </p:spPr>
        <p:txBody>
          <a:bodyPr/>
          <a:lstStyle/>
          <a:p>
            <a:r>
              <a:rPr lang="en-US" dirty="0"/>
              <a:t>Amortized Variational Inference(AVI)</a:t>
            </a: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94812D-5838-E429-CE1F-6C74B93A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8E0463-9F0C-D16C-A579-15BA988BADA8}"/>
                  </a:ext>
                </a:extLst>
              </p:cNvPr>
              <p:cNvSpPr txBox="1"/>
              <p:nvPr/>
            </p:nvSpPr>
            <p:spPr>
              <a:xfrm>
                <a:off x="-1020610" y="1705676"/>
                <a:ext cx="13848335" cy="4526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≥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≥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: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</a:p>
              <a:p>
                <a:pPr lvl="4">
                  <a:lnSpc>
                    <a:spcPct val="200000"/>
                  </a:lnSpc>
                </a:pP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8E0463-9F0C-D16C-A579-15BA988B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705676"/>
                <a:ext cx="13848335" cy="4526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F3B0843-7BD7-5835-664B-EF3F6709194C}"/>
              </a:ext>
            </a:extLst>
          </p:cNvPr>
          <p:cNvSpPr txBox="1"/>
          <p:nvPr/>
        </p:nvSpPr>
        <p:spPr>
          <a:xfrm>
            <a:off x="733925" y="3066075"/>
            <a:ext cx="9436769" cy="728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>
              <a:lnSpc>
                <a:spcPct val="200000"/>
              </a:lnSpc>
            </a:pPr>
            <a:endParaRPr lang="en-US" altLang="ko-KR" sz="2400" i="1" dirty="0">
              <a:latin typeface="Cambria Math" panose="02040503050406030204" pitchFamily="18" charset="0"/>
              <a:ea typeface="Cambria Math" panose="02040503050406030204" pitchFamily="18" charset="0"/>
              <a:cs typeface="Pretendard Variable Medium" panose="02000003000000020004" pitchFamily="2" charset="-127"/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1416EF86-A0A4-C6E2-689F-79B8D5797537}"/>
              </a:ext>
            </a:extLst>
          </p:cNvPr>
          <p:cNvSpPr/>
          <p:nvPr/>
        </p:nvSpPr>
        <p:spPr>
          <a:xfrm rot="10800000">
            <a:off x="5919536" y="3269634"/>
            <a:ext cx="232611" cy="70053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F0CA41-3E7C-D492-96C4-C4EAD7DFF17B}"/>
                  </a:ext>
                </a:extLst>
              </p:cNvPr>
              <p:cNvSpPr txBox="1"/>
              <p:nvPr/>
            </p:nvSpPr>
            <p:spPr>
              <a:xfrm>
                <a:off x="3767816" y="3977247"/>
                <a:ext cx="4536050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KR" dirty="0"/>
                  <a:t>We have to optimize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KR" dirty="0"/>
                  <a:t> given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KR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F0CA41-3E7C-D492-96C4-C4EAD7DFF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816" y="3977247"/>
                <a:ext cx="4536050" cy="369332"/>
              </a:xfrm>
              <a:prstGeom prst="rect">
                <a:avLst/>
              </a:prstGeom>
              <a:blipFill>
                <a:blip r:embed="rId3"/>
                <a:stretch>
                  <a:fillRect l="-3073" t="-3226" b="-2258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1DE939-1722-16F8-5E85-F5E80C9306E2}"/>
                  </a:ext>
                </a:extLst>
              </p:cNvPr>
              <p:cNvSpPr txBox="1"/>
              <p:nvPr/>
            </p:nvSpPr>
            <p:spPr>
              <a:xfrm>
                <a:off x="3767816" y="4433192"/>
                <a:ext cx="4156459" cy="39408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dirty="0"/>
                  <a:t>Let’s model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𝜙</m:t>
                    </m:r>
                  </m:oMath>
                </a14:m>
                <a:r>
                  <a:rPr lang="en-US" dirty="0"/>
                  <a:t> that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KR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1DE939-1722-16F8-5E85-F5E80C930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816" y="4433192"/>
                <a:ext cx="4156459" cy="394082"/>
              </a:xfrm>
              <a:prstGeom prst="rect">
                <a:avLst/>
              </a:prstGeom>
              <a:blipFill>
                <a:blip r:embed="rId4"/>
                <a:stretch>
                  <a:fillRect l="-3354" t="-3030" b="-1515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014CE65-DFAD-FDCC-D261-2BFC03999A7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Basics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399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2A39-7C60-3D5A-E66A-3FFDA9BF4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20B34C-F9D7-8576-A6B1-B91A23B43638}"/>
              </a:ext>
            </a:extLst>
          </p:cNvPr>
          <p:cNvSpPr txBox="1"/>
          <p:nvPr/>
        </p:nvSpPr>
        <p:spPr>
          <a:xfrm>
            <a:off x="609598" y="3013501"/>
            <a:ext cx="5527154" cy="83099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4800" b="1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Deep dive into VAE</a:t>
            </a:r>
          </a:p>
        </p:txBody>
      </p:sp>
    </p:spTree>
    <p:extLst>
      <p:ext uri="{BB962C8B-B14F-4D97-AF65-F5344CB8AC3E}">
        <p14:creationId xmlns:p14="http://schemas.microsoft.com/office/powerpoint/2010/main" val="331577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ABB90-1205-B0C0-004B-56BAC65F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84DAB50C-7E16-7CA8-A5C5-E4DC805E98B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97408" y="524257"/>
                <a:ext cx="10972800" cy="6744026"/>
              </a:xfrm>
            </p:spPr>
            <p:txBody>
              <a:bodyPr/>
              <a:lstStyle/>
              <a:p>
                <a:pPr lvl="4">
                  <a:lnSpc>
                    <a:spcPct val="200000"/>
                  </a:lnSpc>
                </a:pPr>
                <a:r>
                  <a:rPr lang="en-US" sz="3200" b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Variational Autoencoder(VAE)</a:t>
                </a:r>
                <a:br>
                  <a:rPr lang="en-US" dirty="0"/>
                </a:b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|| 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))+</m:t>
                    </m:r>
                    <m:sSub>
                      <m:sSubPr>
                        <m:ctrlPr>
                          <a:rPr lang="en-US" altLang="ko-K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r>
                  <a:rPr lang="en-US" dirty="0"/>
                  <a:t> </a:t>
                </a: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84DAB50C-7E16-7CA8-A5C5-E4DC805E98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97408" y="524257"/>
                <a:ext cx="10972800" cy="6744026"/>
              </a:xfrm>
              <a:blipFill>
                <a:blip r:embed="rId2"/>
                <a:stretch>
                  <a:fillRect l="-2312" b="-112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EFDC03-ED54-F915-CE5D-FD064FA2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3FBEA37-12BA-9D9F-9198-702FD9779EB3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656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AD48-02EA-6602-66C5-4F8A2DB7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F7078A9-8CBA-25F7-A00A-4B4B4F4C13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97408" y="524257"/>
                <a:ext cx="11074992" cy="7482689"/>
              </a:xfrm>
            </p:spPr>
            <p:txBody>
              <a:bodyPr/>
              <a:lstStyle/>
              <a:p>
                <a:pPr lvl="4">
                  <a:lnSpc>
                    <a:spcPct val="200000"/>
                  </a:lnSpc>
                </a:pPr>
                <a:r>
                  <a:rPr lang="en-US" sz="3200" b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Variational Autoencoder(VAE)</a:t>
                </a:r>
                <a:br>
                  <a:rPr lang="en-US" dirty="0"/>
                </a:b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|| 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))+</m:t>
                    </m:r>
                    <m:sSub>
                      <m:sSubPr>
                        <m:ctrlPr>
                          <a:rPr lang="en-US" altLang="ko-K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F7078A9-8CBA-25F7-A00A-4B4B4F4C13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97408" y="524257"/>
                <a:ext cx="11074992" cy="7482689"/>
              </a:xfrm>
              <a:blipFill>
                <a:blip r:embed="rId2"/>
                <a:stretch>
                  <a:fillRect l="-2291" b="-84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4C2525-B9A5-1561-7BCD-69BBCA26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D7C86DE9-1D06-5D48-A63E-3922C1217236}"/>
              </a:ext>
            </a:extLst>
          </p:cNvPr>
          <p:cNvSpPr/>
          <p:nvPr/>
        </p:nvSpPr>
        <p:spPr>
          <a:xfrm>
            <a:off x="5852160" y="2372749"/>
            <a:ext cx="487680" cy="105625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65632A-D42D-9EF4-6010-9AAD768D1ABE}"/>
                  </a:ext>
                </a:extLst>
              </p:cNvPr>
              <p:cNvSpPr txBox="1"/>
              <p:nvPr/>
            </p:nvSpPr>
            <p:spPr>
              <a:xfrm>
                <a:off x="6339839" y="2372749"/>
                <a:ext cx="4857549" cy="922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→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800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18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(Decoder)</a:t>
                </a:r>
                <a:br>
                  <a:rPr lang="en-US" altLang="ko-KR" sz="18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(Encoder w/ amortized)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65632A-D42D-9EF4-6010-9AAD768D1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839" y="2372749"/>
                <a:ext cx="4857549" cy="922753"/>
              </a:xfrm>
              <a:prstGeom prst="rect">
                <a:avLst/>
              </a:prstGeom>
              <a:blipFill>
                <a:blip r:embed="rId3"/>
                <a:stretch>
                  <a:fillRect l="-261" b="-67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C2A2B16-B03E-DC72-C926-129F1E6487BA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50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A3F1-7E0C-3A95-C4B7-F4D25913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843837A1-F343-55E6-C434-422C4D8644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97408" y="524257"/>
                <a:ext cx="11074992" cy="8588120"/>
              </a:xfrm>
            </p:spPr>
            <p:txBody>
              <a:bodyPr/>
              <a:lstStyle/>
              <a:p>
                <a:pPr lvl="4">
                  <a:lnSpc>
                    <a:spcPct val="200000"/>
                  </a:lnSpc>
                </a:pPr>
                <a:r>
                  <a:rPr lang="en-US" sz="3200" b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Variational Autoencoder(VAE)</a:t>
                </a:r>
                <a:br>
                  <a:rPr lang="en-US" dirty="0"/>
                </a:b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|| 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))+</m:t>
                    </m:r>
                    <m:sSub>
                      <m:sSubPr>
                        <m:ctrlPr>
                          <a:rPr lang="en-US" altLang="ko-K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VAE: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br>
                  <a:rPr lang="en-US" sz="2400" i="1" dirty="0">
                    <a:latin typeface="Cambria Math" panose="02040503050406030204" pitchFamily="18" charset="0"/>
                  </a:rPr>
                </a:br>
                <a:r>
                  <a:rPr lang="en-US" dirty="0"/>
                  <a:t> </a:t>
                </a: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843837A1-F343-55E6-C434-422C4D8644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97408" y="524257"/>
                <a:ext cx="11074992" cy="8588120"/>
              </a:xfrm>
              <a:blipFill>
                <a:blip r:embed="rId2"/>
                <a:stretch>
                  <a:fillRect l="-2291" b="-73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AABFEC-8475-51FC-86CB-D0DDB65C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F74213C4-DFE2-215E-2C77-32DF365F34A0}"/>
              </a:ext>
            </a:extLst>
          </p:cNvPr>
          <p:cNvSpPr/>
          <p:nvPr/>
        </p:nvSpPr>
        <p:spPr>
          <a:xfrm>
            <a:off x="5852160" y="2372749"/>
            <a:ext cx="487680" cy="105625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3E5493-6529-300B-B78B-4454C3D3AA37}"/>
                  </a:ext>
                </a:extLst>
              </p:cNvPr>
              <p:cNvSpPr txBox="1"/>
              <p:nvPr/>
            </p:nvSpPr>
            <p:spPr>
              <a:xfrm>
                <a:off x="6339839" y="2372749"/>
                <a:ext cx="4857549" cy="922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→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800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18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(Decoder)</a:t>
                </a:r>
                <a:br>
                  <a:rPr lang="en-US" altLang="ko-KR" sz="18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(Encoder w/ amortized)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3E5493-6529-300B-B78B-4454C3D3A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839" y="2372749"/>
                <a:ext cx="4857549" cy="922753"/>
              </a:xfrm>
              <a:prstGeom prst="rect">
                <a:avLst/>
              </a:prstGeom>
              <a:blipFill>
                <a:blip r:embed="rId3"/>
                <a:stretch>
                  <a:fillRect l="-261" b="-67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B4503A7-54C0-A58C-412C-712CA3993945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547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9CE50-BEB2-0BD9-59E5-98E06B8C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2A54ACCF-1F56-F199-5597-35273D26D1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97408" y="524257"/>
                <a:ext cx="11074992" cy="8588120"/>
              </a:xfrm>
            </p:spPr>
            <p:txBody>
              <a:bodyPr/>
              <a:lstStyle/>
              <a:p>
                <a:pPr lvl="4">
                  <a:lnSpc>
                    <a:spcPct val="200000"/>
                  </a:lnSpc>
                </a:pPr>
                <a:r>
                  <a:rPr lang="en-US" sz="3200" b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Variational Autoencoder(VAE)</a:t>
                </a:r>
                <a:br>
                  <a:rPr lang="en-US" dirty="0"/>
                </a:b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|| 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))+</m:t>
                    </m:r>
                    <m:sSub>
                      <m:sSubPr>
                        <m:ctrlPr>
                          <a:rPr lang="en-US" altLang="ko-K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VAE: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br>
                  <a:rPr lang="en-US" sz="2400" i="1" dirty="0">
                    <a:latin typeface="Cambria Math" panose="02040503050406030204" pitchFamily="18" charset="0"/>
                  </a:rPr>
                </a:br>
                <a:r>
                  <a:rPr lang="en-US" dirty="0"/>
                  <a:t> </a:t>
                </a: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2A54ACCF-1F56-F199-5597-35273D26D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97408" y="524257"/>
                <a:ext cx="11074992" cy="8588120"/>
              </a:xfrm>
              <a:blipFill>
                <a:blip r:embed="rId2"/>
                <a:stretch>
                  <a:fillRect l="-2291" b="-73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691207-BB93-77E2-B0C5-88EFFB4B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13E4FF61-60DE-6F5F-9696-833DF8DE8FB1}"/>
              </a:ext>
            </a:extLst>
          </p:cNvPr>
          <p:cNvSpPr/>
          <p:nvPr/>
        </p:nvSpPr>
        <p:spPr>
          <a:xfrm>
            <a:off x="5852160" y="2372749"/>
            <a:ext cx="487680" cy="105625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7A4CE9-82E6-33C6-E8DD-09DF7FB0BB8B}"/>
                  </a:ext>
                </a:extLst>
              </p:cNvPr>
              <p:cNvSpPr txBox="1"/>
              <p:nvPr/>
            </p:nvSpPr>
            <p:spPr>
              <a:xfrm>
                <a:off x="6339839" y="2372749"/>
                <a:ext cx="4857549" cy="922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→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800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18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(Decoder)</a:t>
                </a:r>
                <a:br>
                  <a:rPr lang="en-US" altLang="ko-KR" sz="18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(Encoder w/ amortized)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7A4CE9-82E6-33C6-E8DD-09DF7FB0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839" y="2372749"/>
                <a:ext cx="4857549" cy="922753"/>
              </a:xfrm>
              <a:prstGeom prst="rect">
                <a:avLst/>
              </a:prstGeom>
              <a:blipFill>
                <a:blip r:embed="rId3"/>
                <a:stretch>
                  <a:fillRect l="-261" b="-67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1BFE3C-6E3C-F661-B886-108EF699168B}"/>
                  </a:ext>
                </a:extLst>
              </p:cNvPr>
              <p:cNvSpPr txBox="1"/>
              <p:nvPr/>
            </p:nvSpPr>
            <p:spPr>
              <a:xfrm>
                <a:off x="2230582" y="4252038"/>
                <a:ext cx="6096000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1BFE3C-6E3C-F661-B886-108EF6991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582" y="4252038"/>
                <a:ext cx="6096000" cy="645048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581D49F-516B-4FE7-7A8F-3F934DB8E69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7118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C892-0970-A6D0-1A42-91CD56D9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9EF35B44-8E2B-0652-58BB-376316CF20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97408" y="524257"/>
                <a:ext cx="11074992" cy="8588120"/>
              </a:xfrm>
            </p:spPr>
            <p:txBody>
              <a:bodyPr/>
              <a:lstStyle/>
              <a:p>
                <a:pPr lvl="4">
                  <a:lnSpc>
                    <a:spcPct val="200000"/>
                  </a:lnSpc>
                </a:pPr>
                <a:r>
                  <a:rPr lang="en-US" sz="3200" b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Variational Autoencoder(VAE)</a:t>
                </a:r>
                <a:br>
                  <a:rPr lang="en-US" dirty="0"/>
                </a:b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VI: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|| 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))+</m:t>
                    </m:r>
                    <m:sSub>
                      <m:sSubPr>
                        <m:ctrlPr>
                          <a:rPr lang="en-US" altLang="ko-K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𝑥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|</m:t>
                                </m:r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𝑄</m:t>
                        </m:r>
                        <m:d>
                          <m:dPr>
                            <m:endChr m:val="|"/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𝜆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||</m:t>
                    </m:r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br>
                  <a:rPr lang="en-US" altLang="ko-KR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VAE: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br>
                  <a:rPr lang="en-US" sz="2400" i="1" dirty="0">
                    <a:latin typeface="Cambria Math" panose="02040503050406030204" pitchFamily="18" charset="0"/>
                  </a:rPr>
                </a:br>
                <a:r>
                  <a:rPr lang="en-US" dirty="0"/>
                  <a:t> </a:t>
                </a: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sz="2400" b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US" sz="2400" b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9EF35B44-8E2B-0652-58BB-376316CF2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97408" y="524257"/>
                <a:ext cx="11074992" cy="8588120"/>
              </a:xfrm>
              <a:blipFill>
                <a:blip r:embed="rId2"/>
                <a:stretch>
                  <a:fillRect l="-2291" b="-73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D26B2-C33F-F254-9418-3017DE40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95E5493E-B248-4B6F-B43D-4971CC1E531C}"/>
              </a:ext>
            </a:extLst>
          </p:cNvPr>
          <p:cNvSpPr/>
          <p:nvPr/>
        </p:nvSpPr>
        <p:spPr>
          <a:xfrm>
            <a:off x="5852160" y="2372749"/>
            <a:ext cx="487680" cy="105625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CFCF53-B18A-FD57-076C-3287E1A43033}"/>
                  </a:ext>
                </a:extLst>
              </p:cNvPr>
              <p:cNvSpPr txBox="1"/>
              <p:nvPr/>
            </p:nvSpPr>
            <p:spPr>
              <a:xfrm>
                <a:off x="6339839" y="2372749"/>
                <a:ext cx="4857549" cy="922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𝑃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→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800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sz="18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(Decoder)</a:t>
                </a:r>
                <a:br>
                  <a:rPr lang="en-US" altLang="ko-KR" sz="18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𝑄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:r>
                  <a:rPr lang="en-US" altLang="ko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(Encoder w/ amortized)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CFCF53-B18A-FD57-076C-3287E1A43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839" y="2372749"/>
                <a:ext cx="4857549" cy="922753"/>
              </a:xfrm>
              <a:prstGeom prst="rect">
                <a:avLst/>
              </a:prstGeom>
              <a:blipFill>
                <a:blip r:embed="rId3"/>
                <a:stretch>
                  <a:fillRect l="-261" b="-67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E273D2-5F09-7AAC-2A65-65660FC42682}"/>
                  </a:ext>
                </a:extLst>
              </p:cNvPr>
              <p:cNvSpPr txBox="1"/>
              <p:nvPr/>
            </p:nvSpPr>
            <p:spPr>
              <a:xfrm>
                <a:off x="2230582" y="4252038"/>
                <a:ext cx="6096000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E273D2-5F09-7AAC-2A65-65660FC42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582" y="4252038"/>
                <a:ext cx="6096000" cy="645048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7B52F7D-BB50-76A0-7567-76D6A26F3CFB}"/>
              </a:ext>
            </a:extLst>
          </p:cNvPr>
          <p:cNvSpPr/>
          <p:nvPr/>
        </p:nvSpPr>
        <p:spPr>
          <a:xfrm>
            <a:off x="2907323" y="4252038"/>
            <a:ext cx="5064369" cy="64504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E4747-66F2-B85E-D9B8-3838804C574C}"/>
              </a:ext>
            </a:extLst>
          </p:cNvPr>
          <p:cNvSpPr txBox="1"/>
          <p:nvPr/>
        </p:nvSpPr>
        <p:spPr>
          <a:xfrm>
            <a:off x="4094587" y="4956057"/>
            <a:ext cx="273151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can we maximize it? 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910147D-DE78-06F2-1BBD-A3F83AD5185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179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59B0B-C424-0802-C9E0-24BA72DA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6D8851-9920-38E8-485B-94AD33E2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854891B-BB51-CB0C-7D8E-1900F19AF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</a:t>
            </a:r>
            <a:endParaRPr lang="en-KR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D381F3-D5C0-089E-9B09-7EF54BEFF939}"/>
              </a:ext>
            </a:extLst>
          </p:cNvPr>
          <p:cNvGrpSpPr/>
          <p:nvPr/>
        </p:nvGrpSpPr>
        <p:grpSpPr>
          <a:xfrm>
            <a:off x="1195745" y="2814016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3983F58-0048-AE2A-B81B-9741E068AD64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B7666ED-F1BF-64E2-5D0F-68DCA4858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1157E34-F5CA-699E-FCC3-3C63950F5141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9267FA2C-0F06-B3DB-2E63-C1ACE1CB343B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C009B773-180E-E896-1C09-91DC0CE27450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" name="Picture 8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CB33A7FC-D434-7E07-E340-743870D4C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0959260-2ABD-2D12-8E19-E4CD57E00349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6E395E-F961-0CF9-EA8E-F060FEE3F8F5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23924DE-A64A-994D-C394-C9B90DD3F3E7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4E61F321-DC24-63A9-3E4E-9EB97C33781B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9D5790A-9BE2-73FE-45C3-912F3C2EC673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412A3DAB-142E-E466-4A27-2E27D9CE0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B923334-93D3-E406-7658-AFA160C5281C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DC46DE8-51D3-A2AA-FF4D-6D2AC836D98C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E8CE54-97AA-90FB-B0AB-458CFC42F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06845542-19D1-59C1-E6DA-5811999AD969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0A0FD11-7709-10E6-749B-714BEA4022E0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E6993AC-A8FB-94B5-7B55-9119EF13C2B7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D79E177-0D82-1FF0-2F63-F90E20B8ECD7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CBA7D00-E90C-D91A-C2E4-44CDF454A2A7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4B47465-4BAA-8DD0-99CA-52261DDD6317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BA4E80E-7C56-8681-AC0B-A4632F95761F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70695D3-C7A9-208F-0E59-0D4123993690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FEF16FD-264F-EAAA-82AA-4AEDB54A731A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562E0F-7E03-33B7-F7E0-376E6940B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3707B755-066E-4270-621B-B62639A83B5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57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93C69-2A9A-78FE-AC0B-85CB1C15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14A2A-78C0-C1AF-2F2C-3A8D3C00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99E5504-2497-AF72-C2C5-3364782DC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</a:t>
            </a:r>
            <a:endParaRPr lang="en-KR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1B252C-52EC-D23B-7019-403C02941967}"/>
              </a:ext>
            </a:extLst>
          </p:cNvPr>
          <p:cNvGrpSpPr/>
          <p:nvPr/>
        </p:nvGrpSpPr>
        <p:grpSpPr>
          <a:xfrm>
            <a:off x="1195745" y="2814016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D342AE7-A222-5A08-106D-EF714000EF6D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B7666ED-F1BF-64E2-5D0F-68DCA4858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FAC470D-A4BA-6F79-DDE9-12DB8B95D7D9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62BED9F3-2B02-8D99-4EBE-204DAFD3F187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0752EA1A-DFB2-9319-4BFE-ACC371463674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" name="Picture 8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595C5F0A-C1B4-1250-CA41-B1F0E2A13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28AFE8B-05CA-A897-4AA7-891C789689EC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7DE44FB-658C-CDDA-3D78-D11DC6507045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B9D92A3-D74C-E2FB-97F3-28BF38A2A5DE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6665A5A-C720-BC4A-D2A8-5787854F4832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B9BF028-45A2-6804-E7AF-C06FCB37CBFF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CA9944EC-02CD-A43B-1568-BA2E1332E7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A70B246-CBBD-E96D-F94A-F631902801B6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33B335B-0A1A-A38B-FAA6-2549B8B74715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E8CE54-97AA-90FB-B0AB-458CFC42F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71DCA3F5-97AE-5351-8070-F4EA33C63FB0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E35C9B-CF4B-10DA-5374-EFCA8435178A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EDEE8A5-D23F-B918-2409-78A5F8C14C9E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0527738-3F7F-D256-7185-1116C8ED5816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F1918293-514B-9ECE-E1FE-AB6D74EA90A4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55AD456-CDDC-1EB4-7A01-D20136326526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C4DB6D1-0BA0-A7E0-FE6C-764EC0C39827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830A38A-43F4-7E3C-28CB-51372C7B2C43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777ABA6-37AF-F325-B939-943E9615F771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562E0F-7E03-33B7-F7E0-376E6940B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Down Arrow 30">
            <a:extLst>
              <a:ext uri="{FF2B5EF4-FFF2-40B4-BE49-F238E27FC236}">
                <a16:creationId xmlns:a16="http://schemas.microsoft.com/office/drawing/2014/main" id="{D198100A-A1A7-79A0-C5F8-6A224783BCCC}"/>
              </a:ext>
            </a:extLst>
          </p:cNvPr>
          <p:cNvSpPr/>
          <p:nvPr/>
        </p:nvSpPr>
        <p:spPr>
          <a:xfrm>
            <a:off x="5400459" y="2499644"/>
            <a:ext cx="365860" cy="677245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7BBA54A-4A00-E9EA-06A0-828E4E2CC96A}"/>
                  </a:ext>
                </a:extLst>
              </p:cNvPr>
              <p:cNvSpPr txBox="1"/>
              <p:nvPr/>
            </p:nvSpPr>
            <p:spPr>
              <a:xfrm>
                <a:off x="2134207" y="2039077"/>
                <a:ext cx="6898363" cy="39408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KR" dirty="0"/>
                  <a:t>Assumption1:</a:t>
                </a:r>
                <a:r>
                  <a:rPr lang="en-US" dirty="0"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𝐳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b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KR" dirty="0"/>
                  <a:t> follows  multivariative Gaussian distribution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7BBA54A-4A00-E9EA-06A0-828E4E2CC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207" y="2039077"/>
                <a:ext cx="6898363" cy="394082"/>
              </a:xfrm>
              <a:prstGeom prst="rect">
                <a:avLst/>
              </a:prstGeom>
              <a:blipFill>
                <a:blip r:embed="rId11"/>
                <a:stretch>
                  <a:fillRect l="-2206" t="-6250" r="-1471" b="-187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4F69554-DC8A-9F4C-77C7-3419EF3D6D12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624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136B9-55BD-AC56-27CE-9F6160A2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217A42-5ECD-F63B-E4B8-C0873094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5B1A4AF-39F5-BA95-B42F-366EEDFBB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</a:t>
            </a:r>
            <a:endParaRPr lang="en-KR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A9FAA-F85C-EC35-BDE2-372DF7007605}"/>
              </a:ext>
            </a:extLst>
          </p:cNvPr>
          <p:cNvGrpSpPr/>
          <p:nvPr/>
        </p:nvGrpSpPr>
        <p:grpSpPr>
          <a:xfrm>
            <a:off x="1195745" y="2814016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7790A32-E3EC-3A41-FF38-BC5EF3518E9F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B7666ED-F1BF-64E2-5D0F-68DCA4858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F29AAD6-0051-A0E5-7A07-4A823B4467CA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11FCE4DF-5ED4-AD79-1ADE-F2BEBE800B21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E70067E5-9C39-B75E-E804-52132BC58658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" name="Picture 8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81198C3D-F1F7-772C-5423-140A5C5B5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0946579-71E9-BEFB-145C-8766E96686FF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9C5921C-9FE4-A5C2-5397-84B955EF912A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F325FD3-F511-12C4-1AC2-587687A959F4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A83FDA64-BAF0-6AF5-3940-1E11C54EA0CA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F10B1AA-CA3F-8A6A-D1BA-C822E75DB78A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5FFA2FEB-521D-91CE-73C5-3A3946656C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9DC3EFD-F977-C324-2935-B443223E2C56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B512729-88F7-6115-B932-DBEDCB7342D0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E8CE54-97AA-90FB-B0AB-458CFC42F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D4F1188B-844F-B9CD-138E-6E9C94AE2079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DEB166-004B-08DA-B83F-220FDD0D7745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01CC68A-665C-1D15-692F-A6EF4F50B9E6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75D19B-BDD8-562F-C39D-62A1D674AA60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D6C233-3782-EBC5-DA46-17BD3EE20FA6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E8D1DDDA-91C0-FF37-1BF9-8D7DB13863E8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094F9F3-7180-644F-5C06-007AF5651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073923D-ECFC-36D4-E612-3EDC3AC65A9C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6F60A33-95B9-1959-1F43-D76DFA885380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6260E8C-22EB-6222-5DF8-DDDC9EE81025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562E0F-7E03-33B7-F7E0-376E6940B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Down Arrow 30">
            <a:extLst>
              <a:ext uri="{FF2B5EF4-FFF2-40B4-BE49-F238E27FC236}">
                <a16:creationId xmlns:a16="http://schemas.microsoft.com/office/drawing/2014/main" id="{00DE2571-F0D7-C883-0184-F301452C7AD8}"/>
              </a:ext>
            </a:extLst>
          </p:cNvPr>
          <p:cNvSpPr/>
          <p:nvPr/>
        </p:nvSpPr>
        <p:spPr>
          <a:xfrm>
            <a:off x="5400459" y="2499644"/>
            <a:ext cx="365860" cy="677245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F85DFD3-5C4E-A563-2BF5-DA75D2444B45}"/>
                  </a:ext>
                </a:extLst>
              </p:cNvPr>
              <p:cNvSpPr txBox="1"/>
              <p:nvPr/>
            </p:nvSpPr>
            <p:spPr>
              <a:xfrm>
                <a:off x="2134207" y="2039077"/>
                <a:ext cx="6898363" cy="39408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KR" dirty="0"/>
                  <a:t>Assumption1:</a:t>
                </a:r>
                <a:r>
                  <a:rPr lang="en-US" dirty="0"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𝐳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b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KR" dirty="0"/>
                  <a:t> follows  multivariative Gaussian distribution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F85DFD3-5C4E-A563-2BF5-DA75D2444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207" y="2039077"/>
                <a:ext cx="6898363" cy="394082"/>
              </a:xfrm>
              <a:prstGeom prst="rect">
                <a:avLst/>
              </a:prstGeom>
              <a:blipFill>
                <a:blip r:embed="rId11"/>
                <a:stretch>
                  <a:fillRect l="-2206" t="-6250" r="-1471" b="-187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Down Arrow 32">
            <a:extLst>
              <a:ext uri="{FF2B5EF4-FFF2-40B4-BE49-F238E27FC236}">
                <a16:creationId xmlns:a16="http://schemas.microsoft.com/office/drawing/2014/main" id="{B088DF4E-4465-44FC-0CF6-4AB8683EDE97}"/>
              </a:ext>
            </a:extLst>
          </p:cNvPr>
          <p:cNvSpPr/>
          <p:nvPr/>
        </p:nvSpPr>
        <p:spPr>
          <a:xfrm rot="10800000">
            <a:off x="6492974" y="4918648"/>
            <a:ext cx="365860" cy="677245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821510-237C-A182-0419-822649A9F669}"/>
                  </a:ext>
                </a:extLst>
              </p:cNvPr>
              <p:cNvSpPr txBox="1"/>
              <p:nvPr/>
            </p:nvSpPr>
            <p:spPr>
              <a:xfrm>
                <a:off x="2984187" y="5740918"/>
                <a:ext cx="738343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KR" dirty="0"/>
                  <a:t>Assumption2:</a:t>
                </a:r>
                <a:r>
                  <a:rPr lang="en-US" dirty="0"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p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dirty="0"/>
                  <a:t> follows multivariative normal Gaussian distribution 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821510-237C-A182-0419-822649A9F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187" y="5740918"/>
                <a:ext cx="7383431" cy="369332"/>
              </a:xfrm>
              <a:prstGeom prst="rect">
                <a:avLst/>
              </a:prstGeom>
              <a:blipFill>
                <a:blip r:embed="rId12"/>
                <a:stretch>
                  <a:fillRect l="-2062" t="-10345" r="-1375" b="-3103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8DFCE6E-DC00-3652-D5D5-BE640771158A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425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38C4-2459-4468-33B9-838DEAC2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ACDA97-488E-DD3C-9BC2-D9E4725F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4D5955-82CD-093E-EFFF-B29FE7A3B6BB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4D5955-82CD-093E-EFFF-B29FE7A3B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blipFill>
                <a:blip r:embed="rId2"/>
                <a:stretch>
                  <a:fillRect l="-104" t="-67949" b="-6794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AA498564-AD77-4194-61BF-C1B8DF91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B07978-06BA-8C29-E733-A0D5B0B92358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B07978-06BA-8C29-E733-A0D5B0B92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D1F203-A69B-8D0C-B7BA-CA18CE166191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>
                    <a:solidFill>
                      <a:srgbClr val="F2F3F3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D1F203-A69B-8D0C-B7BA-CA18CE166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4"/>
                <a:stretch>
                  <a:fillRect r="-349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C765A23-A897-DC96-8251-85ACC20F39C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84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B7E96-9F8C-180D-CC3A-B2F135AC0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F97D8B-BDC9-B453-C3BF-AFDCD630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75DFD1-4908-B6DC-2911-347EA3EC0BF7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>
                    <a:solidFill>
                      <a:srgbClr val="F2F3F3"/>
                    </a:solidFill>
                  </a:rPr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75DFD1-4908-B6DC-2911-347EA3EC0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blipFill>
                <a:blip r:embed="rId2"/>
                <a:stretch>
                  <a:fillRect l="-104" t="-67949" b="-6794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E76D314C-01DC-04A0-D492-90308637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FB3C99-2925-D461-F8E3-AD045A5894E7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FB3C99-2925-D461-F8E3-AD045A589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8986C3-01C3-D548-5A93-7451C79360C7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</a:t>
                </a:r>
                <a:r>
                  <a:rPr lang="en-KR" dirty="0">
                    <a:solidFill>
                      <a:srgbClr val="F2F3F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8986C3-01C3-D548-5A93-7451C7936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4"/>
                <a:stretch>
                  <a:fillRect r="-349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92A6E2C-F320-444A-B59D-BA88CD68D2D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745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0E5E-395E-AC49-A4C2-2CC26EC5B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F36DEA-84CC-03DA-3586-1982B5C6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94D8FD-0017-3564-F849-B931FEE72A5A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94D8FD-0017-3564-F849-B931FEE72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blipFill>
                <a:blip r:embed="rId2"/>
                <a:stretch>
                  <a:fillRect l="-104" t="-67949" b="-6794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B084B3C3-BEDB-7C2A-FBF1-0759933C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1037CE-A095-F44E-8A8E-4707CBFA343A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1037CE-A095-F44E-8A8E-4707CBFA3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92E3F2-EE93-73CB-A403-F979C88D43B3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</a:t>
                </a:r>
                <a:r>
                  <a:rPr lang="en-KR" dirty="0">
                    <a:solidFill>
                      <a:srgbClr val="F2F3F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92E3F2-EE93-73CB-A403-F979C88D4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4"/>
                <a:stretch>
                  <a:fillRect r="-349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FD531F8-D74E-6BA6-8283-B5DF66C0435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998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F6C1-ED5E-96A7-1FC0-36794CB6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99825E-A0D9-953D-F50F-28A1EDD3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FF2F98-E2A9-7AEB-82D0-A5613D16B886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FF2F98-E2A9-7AEB-82D0-A5613D16B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blipFill>
                <a:blip r:embed="rId2"/>
                <a:stretch>
                  <a:fillRect l="-104" t="-67949" b="-6794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52374296-018F-E993-84B1-10D1B1C7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129812-5F07-B274-E7A4-537383E93251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129812-5F07-B274-E7A4-537383E93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BD5EEA-73D1-56C2-4ECF-FA1D8D80FF22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BD5EEA-73D1-56C2-4ECF-FA1D8D80F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4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65988EE-3E30-E643-085A-F586BAF3810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14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98FE4-A654-4840-FDA4-37919139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053FCA-0425-1BD2-5A60-96EE4000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5474C-DA29-709D-A57B-47816D39B1FC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5474C-DA29-709D-A57B-47816D39B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blipFill>
                <a:blip r:embed="rId2"/>
                <a:stretch>
                  <a:fillRect l="-104" t="-67949" b="-6794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F728AD07-3C39-2010-7B89-61C9A4C30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DE94FB-A766-DB0B-BB82-005B2AC6608A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DE94FB-A766-DB0B-BB82-005B2AC66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832ADE-71E7-0C0A-F3DE-96F6C7265C66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832ADE-71E7-0C0A-F3DE-96F6C7265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4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Multivariate Normal Distribution | Brilliant Math &amp; Science Wiki">
            <a:extLst>
              <a:ext uri="{FF2B5EF4-FFF2-40B4-BE49-F238E27FC236}">
                <a16:creationId xmlns:a16="http://schemas.microsoft.com/office/drawing/2014/main" id="{7F747FE0-DF58-0F1B-D789-DCC83CA94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6667" b="90476" l="15179" r="90030">
                        <a14:foregroundMark x1="84375" y1="71230" x2="83333" y2="74405"/>
                        <a14:foregroundMark x1="83333" y1="73413" x2="84821" y2="74008"/>
                        <a14:foregroundMark x1="90030" y1="75397" x2="89732" y2="77778"/>
                        <a14:foregroundMark x1="51637" y1="90476" x2="51190" y2="890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6" t="23155" r="5545" b="5310"/>
          <a:stretch>
            <a:fillRect/>
          </a:stretch>
        </p:blipFill>
        <p:spPr bwMode="auto">
          <a:xfrm>
            <a:off x="-10571" y="4142352"/>
            <a:ext cx="3438505" cy="209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3C5758F-EE3C-D027-EDFF-76E450E43F11}"/>
              </a:ext>
            </a:extLst>
          </p:cNvPr>
          <p:cNvSpPr txBox="1"/>
          <p:nvPr/>
        </p:nvSpPr>
        <p:spPr>
          <a:xfrm>
            <a:off x="609600" y="3665747"/>
            <a:ext cx="7099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[</a:t>
            </a:r>
            <a:r>
              <a:rPr lang="en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Monte-Carlo Tecnique(Estimation)</a:t>
            </a:r>
            <a:r>
              <a:rPr lang="en-US" altLang="ko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]</a:t>
            </a:r>
            <a:endParaRPr lang="en-K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9069B2D-ADF4-B7A5-85CD-771EFD407803}"/>
                  </a:ext>
                </a:extLst>
              </p:cNvPr>
              <p:cNvSpPr txBox="1"/>
              <p:nvPr/>
            </p:nvSpPr>
            <p:spPr>
              <a:xfrm>
                <a:off x="-1859765" y="6154375"/>
                <a:ext cx="7136892" cy="41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9069B2D-ADF4-B7A5-85CD-771EFD407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59765" y="6154375"/>
                <a:ext cx="7136892" cy="419795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 Placeholder 10">
            <a:extLst>
              <a:ext uri="{FF2B5EF4-FFF2-40B4-BE49-F238E27FC236}">
                <a16:creationId xmlns:a16="http://schemas.microsoft.com/office/drawing/2014/main" id="{050D3AFA-0E17-7EC5-E5DE-64D1696DE223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434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4FD1-AAE2-C7EA-C177-DA514A92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C10E00-935E-9D14-9DC2-53ECDD98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682451-F97E-F718-2258-6E93B71FC992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682451-F97E-F718-2258-6E93B71FC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blipFill>
                <a:blip r:embed="rId2"/>
                <a:stretch>
                  <a:fillRect l="-104" t="-67949" b="-6794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9A1C165B-9C75-E772-6FD4-7314E227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F26C6A-ABE3-6065-B991-E180006B4433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F26C6A-ABE3-6065-B991-E180006B4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1D7823-9C86-41DD-0C60-69378E038787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1D7823-9C86-41DD-0C60-69378E038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4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Multivariate Normal Distribution | Brilliant Math &amp; Science Wiki">
            <a:extLst>
              <a:ext uri="{FF2B5EF4-FFF2-40B4-BE49-F238E27FC236}">
                <a16:creationId xmlns:a16="http://schemas.microsoft.com/office/drawing/2014/main" id="{8C39D08E-7245-A5DD-1E56-E495416827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6667" b="90476" l="15179" r="90030">
                        <a14:foregroundMark x1="84375" y1="71230" x2="83333" y2="74405"/>
                        <a14:foregroundMark x1="83333" y1="73413" x2="84821" y2="74008"/>
                        <a14:foregroundMark x1="90030" y1="75397" x2="89732" y2="77778"/>
                        <a14:foregroundMark x1="51637" y1="90476" x2="51190" y2="890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6" t="23155" r="5545" b="5310"/>
          <a:stretch>
            <a:fillRect/>
          </a:stretch>
        </p:blipFill>
        <p:spPr bwMode="auto">
          <a:xfrm>
            <a:off x="-10571" y="4142352"/>
            <a:ext cx="3438505" cy="209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F6865F-3AEF-2050-2BB6-4BE48D5DEEB0}"/>
              </a:ext>
            </a:extLst>
          </p:cNvPr>
          <p:cNvCxnSpPr>
            <a:cxnSpLocks/>
          </p:cNvCxnSpPr>
          <p:nvPr/>
        </p:nvCxnSpPr>
        <p:spPr>
          <a:xfrm flipV="1">
            <a:off x="1708681" y="4337696"/>
            <a:ext cx="2426028" cy="192101"/>
          </a:xfrm>
          <a:prstGeom prst="straightConnector1">
            <a:avLst/>
          </a:prstGeom>
          <a:ln w="25400" cap="rnd">
            <a:solidFill>
              <a:schemeClr val="accent6">
                <a:lumMod val="50000"/>
                <a:alpha val="67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D3D1A4-9B72-9645-A3C7-2F5BD2A954E8}"/>
              </a:ext>
            </a:extLst>
          </p:cNvPr>
          <p:cNvCxnSpPr>
            <a:cxnSpLocks/>
          </p:cNvCxnSpPr>
          <p:nvPr/>
        </p:nvCxnSpPr>
        <p:spPr>
          <a:xfrm>
            <a:off x="1982352" y="4793712"/>
            <a:ext cx="2152357" cy="0"/>
          </a:xfrm>
          <a:prstGeom prst="straightConnector1">
            <a:avLst/>
          </a:prstGeom>
          <a:ln w="25400" cap="rnd">
            <a:solidFill>
              <a:schemeClr val="accent6">
                <a:lumMod val="50000"/>
                <a:alpha val="67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1E1F5D-50BF-2E65-6EA1-C81D0697D311}"/>
              </a:ext>
            </a:extLst>
          </p:cNvPr>
          <p:cNvCxnSpPr>
            <a:cxnSpLocks/>
          </p:cNvCxnSpPr>
          <p:nvPr/>
        </p:nvCxnSpPr>
        <p:spPr>
          <a:xfrm>
            <a:off x="1290691" y="5213398"/>
            <a:ext cx="2844018" cy="175369"/>
          </a:xfrm>
          <a:prstGeom prst="straightConnector1">
            <a:avLst/>
          </a:prstGeom>
          <a:ln w="25400">
            <a:solidFill>
              <a:schemeClr val="accent6">
                <a:lumMod val="50000"/>
                <a:alpha val="67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E4685F-C348-25D0-B49B-DF7D44B0A263}"/>
              </a:ext>
            </a:extLst>
          </p:cNvPr>
          <p:cNvCxnSpPr>
            <a:cxnSpLocks/>
          </p:cNvCxnSpPr>
          <p:nvPr/>
        </p:nvCxnSpPr>
        <p:spPr>
          <a:xfrm>
            <a:off x="1476042" y="5720347"/>
            <a:ext cx="2658667" cy="381256"/>
          </a:xfrm>
          <a:prstGeom prst="straightConnector1">
            <a:avLst/>
          </a:prstGeom>
          <a:ln w="25400" cap="rnd">
            <a:solidFill>
              <a:schemeClr val="accent6">
                <a:lumMod val="50000"/>
                <a:alpha val="67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10C2618-47EC-0B68-D12D-6036D8678318}"/>
                  </a:ext>
                </a:extLst>
              </p:cNvPr>
              <p:cNvSpPr txBox="1"/>
              <p:nvPr/>
            </p:nvSpPr>
            <p:spPr>
              <a:xfrm>
                <a:off x="1178931" y="5882334"/>
                <a:ext cx="64211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10C2618-47EC-0B68-D12D-6036D8678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931" y="5882334"/>
                <a:ext cx="642112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3FDCA0B-95D2-D86F-7B56-940E3FA51748}"/>
                  </a:ext>
                </a:extLst>
              </p:cNvPr>
              <p:cNvSpPr txBox="1"/>
              <p:nvPr/>
            </p:nvSpPr>
            <p:spPr>
              <a:xfrm>
                <a:off x="1178931" y="5174055"/>
                <a:ext cx="64211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3FDCA0B-95D2-D86F-7B56-940E3FA51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931" y="5174055"/>
                <a:ext cx="642112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6D54616-ADDF-C43A-D555-8B790845E25F}"/>
                  </a:ext>
                </a:extLst>
              </p:cNvPr>
              <p:cNvSpPr txBox="1"/>
              <p:nvPr/>
            </p:nvSpPr>
            <p:spPr>
              <a:xfrm>
                <a:off x="1178931" y="4593657"/>
                <a:ext cx="64211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6D54616-ADDF-C43A-D555-8B790845E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931" y="4593657"/>
                <a:ext cx="642112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BF7F909-AA6D-9F16-1802-7D1BC03DB94C}"/>
                  </a:ext>
                </a:extLst>
              </p:cNvPr>
              <p:cNvSpPr txBox="1"/>
              <p:nvPr/>
            </p:nvSpPr>
            <p:spPr>
              <a:xfrm>
                <a:off x="1178931" y="4083732"/>
                <a:ext cx="64211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BF7F909-AA6D-9F16-1802-7D1BC03DB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931" y="4083732"/>
                <a:ext cx="642112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E32A31D-33BD-FE3B-E477-189A44811CE7}"/>
                  </a:ext>
                </a:extLst>
              </p:cNvPr>
              <p:cNvSpPr txBox="1"/>
              <p:nvPr/>
            </p:nvSpPr>
            <p:spPr>
              <a:xfrm>
                <a:off x="4292986" y="4932077"/>
                <a:ext cx="1330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E32A31D-33BD-FE3B-E477-189A44811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986" y="4932077"/>
                <a:ext cx="133050" cy="276999"/>
              </a:xfrm>
              <a:prstGeom prst="rect">
                <a:avLst/>
              </a:prstGeom>
              <a:blipFill>
                <a:blip r:embed="rId11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DF8A115-1E21-87E8-CD52-2FBB088020C3}"/>
                  </a:ext>
                </a:extLst>
              </p:cNvPr>
              <p:cNvSpPr txBox="1"/>
              <p:nvPr/>
            </p:nvSpPr>
            <p:spPr>
              <a:xfrm>
                <a:off x="4292986" y="5584909"/>
                <a:ext cx="1330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DF8A115-1E21-87E8-CD52-2FBB08802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986" y="5584909"/>
                <a:ext cx="133050" cy="276999"/>
              </a:xfrm>
              <a:prstGeom prst="rect">
                <a:avLst/>
              </a:prstGeom>
              <a:blipFill>
                <a:blip r:embed="rId12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2455E85-7BB4-DD7C-FD6B-E9C1249CE3B8}"/>
                  </a:ext>
                </a:extLst>
              </p:cNvPr>
              <p:cNvSpPr txBox="1"/>
              <p:nvPr/>
            </p:nvSpPr>
            <p:spPr>
              <a:xfrm>
                <a:off x="2337956" y="4076360"/>
                <a:ext cx="64212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smtClean="0"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KR" sz="20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2455E85-7BB4-DD7C-FD6B-E9C1249CE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956" y="4076360"/>
                <a:ext cx="6421270" cy="400110"/>
              </a:xfrm>
              <a:prstGeom prst="rect">
                <a:avLst/>
              </a:prstGeom>
              <a:blipFill>
                <a:blip r:embed="rId13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532546C-49CB-8701-486A-ACB2CEA863DE}"/>
                  </a:ext>
                </a:extLst>
              </p:cNvPr>
              <p:cNvSpPr txBox="1"/>
              <p:nvPr/>
            </p:nvSpPr>
            <p:spPr>
              <a:xfrm>
                <a:off x="2337956" y="4581149"/>
                <a:ext cx="64212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smtClean="0"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KR" sz="20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532546C-49CB-8701-486A-ACB2CEA86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956" y="4581149"/>
                <a:ext cx="6421270" cy="400110"/>
              </a:xfrm>
              <a:prstGeom prst="rect">
                <a:avLst/>
              </a:prstGeom>
              <a:blipFill>
                <a:blip r:embed="rId1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2FE2A6D-E464-51E5-EDD4-3D59327929CD}"/>
                  </a:ext>
                </a:extLst>
              </p:cNvPr>
              <p:cNvSpPr txBox="1"/>
              <p:nvPr/>
            </p:nvSpPr>
            <p:spPr>
              <a:xfrm>
                <a:off x="2337956" y="5156894"/>
                <a:ext cx="64212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smtClean="0"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KR" sz="20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2FE2A6D-E464-51E5-EDD4-3D5932792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956" y="5156894"/>
                <a:ext cx="6421270" cy="400110"/>
              </a:xfrm>
              <a:prstGeom prst="rect">
                <a:avLst/>
              </a:prstGeom>
              <a:blipFill>
                <a:blip r:embed="rId15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B60F141-2231-F28E-0299-04A73D99CC99}"/>
                  </a:ext>
                </a:extLst>
              </p:cNvPr>
              <p:cNvSpPr txBox="1"/>
              <p:nvPr/>
            </p:nvSpPr>
            <p:spPr>
              <a:xfrm>
                <a:off x="2337956" y="5868492"/>
                <a:ext cx="64212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smtClean="0"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KR" sz="20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B60F141-2231-F28E-0299-04A73D99C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956" y="5868492"/>
                <a:ext cx="6421270" cy="400110"/>
              </a:xfrm>
              <a:prstGeom prst="rect">
                <a:avLst/>
              </a:prstGeom>
              <a:blipFill>
                <a:blip r:embed="rId16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1713AE7-6332-9FED-B0DC-676BFC9B1277}"/>
                  </a:ext>
                </a:extLst>
              </p:cNvPr>
              <p:cNvSpPr txBox="1"/>
              <p:nvPr/>
            </p:nvSpPr>
            <p:spPr>
              <a:xfrm>
                <a:off x="5479948" y="4932077"/>
                <a:ext cx="1330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1713AE7-6332-9FED-B0DC-676BFC9B1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948" y="4932077"/>
                <a:ext cx="133050" cy="276999"/>
              </a:xfrm>
              <a:prstGeom prst="rect">
                <a:avLst/>
              </a:prstGeom>
              <a:blipFill>
                <a:blip r:embed="rId17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3E43DDC-9D01-7237-7902-F098F0A58E39}"/>
                  </a:ext>
                </a:extLst>
              </p:cNvPr>
              <p:cNvSpPr txBox="1"/>
              <p:nvPr/>
            </p:nvSpPr>
            <p:spPr>
              <a:xfrm>
                <a:off x="5479948" y="5582707"/>
                <a:ext cx="1330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3E43DDC-9D01-7237-7902-F098F0A58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948" y="5582707"/>
                <a:ext cx="133050" cy="276999"/>
              </a:xfrm>
              <a:prstGeom prst="rect">
                <a:avLst/>
              </a:prstGeom>
              <a:blipFill>
                <a:blip r:embed="rId18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1F432D8-9BB8-1F68-121E-4160875177BF}"/>
              </a:ext>
            </a:extLst>
          </p:cNvPr>
          <p:cNvSpPr txBox="1"/>
          <p:nvPr/>
        </p:nvSpPr>
        <p:spPr>
          <a:xfrm>
            <a:off x="609600" y="3665747"/>
            <a:ext cx="7099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[</a:t>
            </a:r>
            <a:r>
              <a:rPr lang="en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Monte-Carlo Tecnique(Estimation)</a:t>
            </a:r>
            <a:r>
              <a:rPr lang="en-US" altLang="ko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]</a:t>
            </a:r>
            <a:endParaRPr lang="en-K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F4A2BB-2910-5099-6376-AC0736995D94}"/>
                  </a:ext>
                </a:extLst>
              </p:cNvPr>
              <p:cNvSpPr txBox="1"/>
              <p:nvPr/>
            </p:nvSpPr>
            <p:spPr>
              <a:xfrm>
                <a:off x="-1859765" y="6154375"/>
                <a:ext cx="7136892" cy="41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F4A2BB-2910-5099-6376-AC0736995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59765" y="6154375"/>
                <a:ext cx="7136892" cy="419795"/>
              </a:xfrm>
              <a:prstGeom prst="rect">
                <a:avLst/>
              </a:prstGeom>
              <a:blipFill>
                <a:blip r:embed="rId1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DCFDDDE-A64C-F656-A482-683D95F0C982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781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A7E03-2BFF-A5A5-F968-0303A30E8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B9A6C3-6E2F-EEC3-710B-6F1EECAE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27D975-F4CD-70D6-76B9-2350BA2858D2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27D975-F4CD-70D6-76B9-2350BA285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blipFill>
                <a:blip r:embed="rId2"/>
                <a:stretch>
                  <a:fillRect l="-104" t="-67949" b="-6794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255049C5-0E1E-59E4-9F6E-91B06090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A2EA3F-7363-C001-9487-386DA5AF9F9C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A2EA3F-7363-C001-9487-386DA5AF9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8AB51D-D308-4982-BB2D-3257B9D644AA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8AB51D-D308-4982-BB2D-3257B9D64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4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95D56D6B-95D1-6587-4A59-E2E164A2E279}"/>
              </a:ext>
            </a:extLst>
          </p:cNvPr>
          <p:cNvGrpSpPr/>
          <p:nvPr/>
        </p:nvGrpSpPr>
        <p:grpSpPr>
          <a:xfrm>
            <a:off x="-10571" y="4076360"/>
            <a:ext cx="9010156" cy="2206084"/>
            <a:chOff x="-10571" y="4076360"/>
            <a:chExt cx="9010156" cy="2206084"/>
          </a:xfrm>
        </p:grpSpPr>
        <p:pic>
          <p:nvPicPr>
            <p:cNvPr id="3" name="Picture 2" descr="Multivariate Normal Distribution | Brilliant Math &amp; Science Wiki">
              <a:extLst>
                <a:ext uri="{FF2B5EF4-FFF2-40B4-BE49-F238E27FC236}">
                  <a16:creationId xmlns:a16="http://schemas.microsoft.com/office/drawing/2014/main" id="{3ED5D294-4AD8-4FA0-8214-FE708B7004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6667" b="90476" l="15179" r="90030">
                          <a14:foregroundMark x1="84375" y1="71230" x2="83333" y2="74405"/>
                          <a14:foregroundMark x1="83333" y1="73413" x2="84821" y2="74008"/>
                          <a14:foregroundMark x1="90030" y1="75397" x2="89732" y2="77778"/>
                          <a14:foregroundMark x1="51637" y1="90476" x2="51190" y2="890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86" t="23155" r="5545" b="5310"/>
            <a:stretch>
              <a:fillRect/>
            </a:stretch>
          </p:blipFill>
          <p:spPr bwMode="auto">
            <a:xfrm>
              <a:off x="-10571" y="4142352"/>
              <a:ext cx="3438505" cy="2097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C4ECA08-8305-C6E8-1D30-F85A3B9AB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681" y="4337696"/>
              <a:ext cx="2426028" cy="19210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62024DB-7027-17A6-DA4F-73B843286CE8}"/>
                </a:ext>
              </a:extLst>
            </p:cNvPr>
            <p:cNvCxnSpPr>
              <a:cxnSpLocks/>
            </p:cNvCxnSpPr>
            <p:nvPr/>
          </p:nvCxnSpPr>
          <p:spPr>
            <a:xfrm>
              <a:off x="1982352" y="4793712"/>
              <a:ext cx="2152357" cy="0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3C88CB6-6DFE-C0E2-F35B-1705FF77A14D}"/>
                </a:ext>
              </a:extLst>
            </p:cNvPr>
            <p:cNvCxnSpPr>
              <a:cxnSpLocks/>
            </p:cNvCxnSpPr>
            <p:nvPr/>
          </p:nvCxnSpPr>
          <p:spPr>
            <a:xfrm>
              <a:off x="1290691" y="5213398"/>
              <a:ext cx="2844018" cy="175369"/>
            </a:xfrm>
            <a:prstGeom prst="straightConnector1">
              <a:avLst/>
            </a:prstGeom>
            <a:ln w="25400">
              <a:solidFill>
                <a:schemeClr val="accent6">
                  <a:lumMod val="50000"/>
                  <a:alpha val="67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50DDB27-63ED-8055-6551-F509DEB65544}"/>
                </a:ext>
              </a:extLst>
            </p:cNvPr>
            <p:cNvCxnSpPr>
              <a:cxnSpLocks/>
            </p:cNvCxnSpPr>
            <p:nvPr/>
          </p:nvCxnSpPr>
          <p:spPr>
            <a:xfrm>
              <a:off x="1476042" y="5720347"/>
              <a:ext cx="2658667" cy="381256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7AF8617-416F-6812-D82C-6F31E3F93641}"/>
                    </a:ext>
                  </a:extLst>
                </p:cNvPr>
                <p:cNvSpPr txBox="1"/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7AF8617-416F-6812-D82C-6F31E3F936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D46E07E-0AF7-F25E-2B3F-5CEC0DF535D4}"/>
                    </a:ext>
                  </a:extLst>
                </p:cNvPr>
                <p:cNvSpPr txBox="1"/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D46E07E-0AF7-F25E-2B3F-5CEC0DF53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63E83D4-2917-2243-38E8-2383DB58B398}"/>
                    </a:ext>
                  </a:extLst>
                </p:cNvPr>
                <p:cNvSpPr txBox="1"/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63E83D4-2917-2243-38E8-2383DB58B3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8E61459-F9B3-D0DB-3BD0-90362E98C55E}"/>
                    </a:ext>
                  </a:extLst>
                </p:cNvPr>
                <p:cNvSpPr txBox="1"/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8E61459-F9B3-D0DB-3BD0-90362E98C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91827BB-4D5F-6BAD-C428-19215423D626}"/>
                    </a:ext>
                  </a:extLst>
                </p:cNvPr>
                <p:cNvSpPr txBox="1"/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91827BB-4D5F-6BAD-C428-19215423D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5000" r="-25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4161A90-5C55-FAA5-6F57-5CBF0DD38BED}"/>
                    </a:ext>
                  </a:extLst>
                </p:cNvPr>
                <p:cNvSpPr txBox="1"/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4161A90-5C55-FAA5-6F57-5CBF0DD38B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F30FDAF-379B-52E1-2F40-CE0CD1A73036}"/>
                    </a:ext>
                  </a:extLst>
                </p:cNvPr>
                <p:cNvSpPr txBox="1"/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F30FDAF-379B-52E1-2F40-CE0CD1A73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1928CCA-46FD-7C91-DBC8-27FE940D291D}"/>
                    </a:ext>
                  </a:extLst>
                </p:cNvPr>
                <p:cNvSpPr txBox="1"/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1928CCA-46FD-7C91-DBC8-27FE940D29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972E0BC-E2EF-713A-5F5C-2AB80541B5BF}"/>
                    </a:ext>
                  </a:extLst>
                </p:cNvPr>
                <p:cNvSpPr txBox="1"/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972E0BC-E2EF-713A-5F5C-2AB80541B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blipFill>
                  <a:blip r:embed="rId15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A40F440-A33A-AE0B-9DA3-32B2007D4D84}"/>
                    </a:ext>
                  </a:extLst>
                </p:cNvPr>
                <p:cNvSpPr txBox="1"/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A40F440-A33A-AE0B-9DA3-32B2007D4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blipFill>
                  <a:blip r:embed="rId16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B3D11EA-9507-E3FC-A905-170937794C80}"/>
                    </a:ext>
                  </a:extLst>
                </p:cNvPr>
                <p:cNvSpPr txBox="1"/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B3D11EA-9507-E3FC-A905-170937794C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5000" r="-25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15564D7-0C6F-6431-52FB-2992CB8AEC19}"/>
                    </a:ext>
                  </a:extLst>
                </p:cNvPr>
                <p:cNvSpPr txBox="1"/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15564D7-0C6F-6431-52FB-2992CB8AEC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241614CF-A63A-B96E-7AA9-8EC0E0C649ED}"/>
                    </a:ext>
                  </a:extLst>
                </p:cNvPr>
                <p:cNvSpPr txBox="1"/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241614CF-A63A-B96E-7AA9-8EC0E0C64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5000" r="-25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BDF5647-4B2F-A8BC-69C3-079522EF0E79}"/>
                    </a:ext>
                  </a:extLst>
                </p:cNvPr>
                <p:cNvSpPr txBox="1"/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BDF5647-4B2F-A8BC-69C3-079522EF0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50DC7F5-D04E-BAD0-C98E-4BCB49AF678D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283787"/>
              <a:ext cx="1927062" cy="689399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2F2AF2D-2D47-61A6-4C4B-AAB810CA10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459249"/>
              <a:ext cx="1892427" cy="642354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02131133-BE63-2BAB-437A-12107EF7429D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778169"/>
              <a:ext cx="1899407" cy="37291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319DF93-DAD8-C941-4D16-95E239D9B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322834"/>
              <a:ext cx="1892427" cy="2609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Donut 89">
              <a:extLst>
                <a:ext uri="{FF2B5EF4-FFF2-40B4-BE49-F238E27FC236}">
                  <a16:creationId xmlns:a16="http://schemas.microsoft.com/office/drawing/2014/main" id="{FFF23B37-37C0-1357-D52E-324385C040A9}"/>
                </a:ext>
              </a:extLst>
            </p:cNvPr>
            <p:cNvSpPr/>
            <p:nvPr/>
          </p:nvSpPr>
          <p:spPr>
            <a:xfrm>
              <a:off x="8216684" y="4822921"/>
              <a:ext cx="782901" cy="782901"/>
            </a:xfrm>
            <a:prstGeom prst="donut">
              <a:avLst>
                <a:gd name="adj" fmla="val 744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Mean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D1C28A2-D911-DB6C-916D-F16FEEFACC77}"/>
              </a:ext>
            </a:extLst>
          </p:cNvPr>
          <p:cNvSpPr txBox="1"/>
          <p:nvPr/>
        </p:nvSpPr>
        <p:spPr>
          <a:xfrm>
            <a:off x="609600" y="3665747"/>
            <a:ext cx="7099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[</a:t>
            </a:r>
            <a:r>
              <a:rPr lang="en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Monte-Carlo Tecnique(Estimation)</a:t>
            </a:r>
            <a:r>
              <a:rPr lang="en-US" altLang="ko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]</a:t>
            </a:r>
            <a:endParaRPr lang="en-K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0D3293-A481-EEE0-9EAB-842CB6D30C40}"/>
                  </a:ext>
                </a:extLst>
              </p:cNvPr>
              <p:cNvSpPr txBox="1"/>
              <p:nvPr/>
            </p:nvSpPr>
            <p:spPr>
              <a:xfrm>
                <a:off x="-1859765" y="6154375"/>
                <a:ext cx="7136892" cy="41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0D3293-A481-EEE0-9EAB-842CB6D30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59765" y="6154375"/>
                <a:ext cx="7136892" cy="419795"/>
              </a:xfrm>
              <a:prstGeom prst="rect">
                <a:avLst/>
              </a:prstGeom>
              <a:blipFill>
                <a:blip r:embed="rId1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89A7151-D177-FA9C-7309-94BE2A1832E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45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37000-73E2-B492-0656-274731E4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771F95-5537-6CEC-3F37-5F3BC1B0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74" y="6282444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86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718367-9164-9AB0-D049-6B930D2A1169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718367-9164-9AB0-D049-6B930D2A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983218"/>
              </a:xfrm>
              <a:prstGeom prst="rect">
                <a:avLst/>
              </a:prstGeom>
              <a:blipFill>
                <a:blip r:embed="rId2"/>
                <a:stretch>
                  <a:fillRect l="-104" t="-67949" b="-6794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6BD3CE2F-A7F7-AEE3-F849-024DF634D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B6447F-F847-0D35-B4E1-BF939BA453E6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B6447F-F847-0D35-B4E1-BF939BA45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A664A-DB47-EFEF-A49C-CBA2EF3811F3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A664A-DB47-EFEF-A49C-CBA2EF381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4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0C20A8ED-504D-5238-B5E3-7BEC5AD9F434}"/>
              </a:ext>
            </a:extLst>
          </p:cNvPr>
          <p:cNvGrpSpPr/>
          <p:nvPr/>
        </p:nvGrpSpPr>
        <p:grpSpPr>
          <a:xfrm>
            <a:off x="-10571" y="4076360"/>
            <a:ext cx="14201588" cy="2206084"/>
            <a:chOff x="-10571" y="4076360"/>
            <a:chExt cx="14201588" cy="2206084"/>
          </a:xfrm>
        </p:grpSpPr>
        <p:pic>
          <p:nvPicPr>
            <p:cNvPr id="3" name="Picture 2" descr="Multivariate Normal Distribution | Brilliant Math &amp; Science Wiki">
              <a:extLst>
                <a:ext uri="{FF2B5EF4-FFF2-40B4-BE49-F238E27FC236}">
                  <a16:creationId xmlns:a16="http://schemas.microsoft.com/office/drawing/2014/main" id="{45DA1C4F-F7A1-F92B-B691-444068EA70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6667" b="90476" l="15179" r="90030">
                          <a14:foregroundMark x1="84375" y1="71230" x2="83333" y2="74405"/>
                          <a14:foregroundMark x1="83333" y1="73413" x2="84821" y2="74008"/>
                          <a14:foregroundMark x1="90030" y1="75397" x2="89732" y2="77778"/>
                          <a14:foregroundMark x1="51637" y1="90476" x2="51190" y2="890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86" t="23155" r="5545" b="5310"/>
            <a:stretch>
              <a:fillRect/>
            </a:stretch>
          </p:blipFill>
          <p:spPr bwMode="auto">
            <a:xfrm>
              <a:off x="-10571" y="4142352"/>
              <a:ext cx="3438505" cy="2097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F2044E4-A121-AF9B-DAFA-A65D80D21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681" y="4337696"/>
              <a:ext cx="2426028" cy="19210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92AAC31-B0CA-78CA-1975-0DA32755662D}"/>
                </a:ext>
              </a:extLst>
            </p:cNvPr>
            <p:cNvCxnSpPr>
              <a:cxnSpLocks/>
            </p:cNvCxnSpPr>
            <p:nvPr/>
          </p:nvCxnSpPr>
          <p:spPr>
            <a:xfrm>
              <a:off x="1982352" y="4793712"/>
              <a:ext cx="2152357" cy="0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3206101-26CD-0EFF-A648-FAF9CB2376B7}"/>
                </a:ext>
              </a:extLst>
            </p:cNvPr>
            <p:cNvCxnSpPr>
              <a:cxnSpLocks/>
            </p:cNvCxnSpPr>
            <p:nvPr/>
          </p:nvCxnSpPr>
          <p:spPr>
            <a:xfrm>
              <a:off x="1290691" y="5213398"/>
              <a:ext cx="2844018" cy="175369"/>
            </a:xfrm>
            <a:prstGeom prst="straightConnector1">
              <a:avLst/>
            </a:prstGeom>
            <a:ln w="25400">
              <a:solidFill>
                <a:schemeClr val="accent6">
                  <a:lumMod val="50000"/>
                  <a:alpha val="67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AB483A1-6335-F62D-9960-3376CE582422}"/>
                </a:ext>
              </a:extLst>
            </p:cNvPr>
            <p:cNvCxnSpPr>
              <a:cxnSpLocks/>
            </p:cNvCxnSpPr>
            <p:nvPr/>
          </p:nvCxnSpPr>
          <p:spPr>
            <a:xfrm>
              <a:off x="1476042" y="5720347"/>
              <a:ext cx="2658667" cy="381256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5176BFC-E3CF-D788-D35A-A6E87A5FF3E1}"/>
                    </a:ext>
                  </a:extLst>
                </p:cNvPr>
                <p:cNvSpPr txBox="1"/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5176BFC-E3CF-D788-D35A-A6E87A5FF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52EEDC7-C23B-86C8-1AD2-2FC9C851BE63}"/>
                    </a:ext>
                  </a:extLst>
                </p:cNvPr>
                <p:cNvSpPr txBox="1"/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52EEDC7-C23B-86C8-1AD2-2FC9C851BE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4FAB957-94D7-1264-CA32-406F869BE4B5}"/>
                    </a:ext>
                  </a:extLst>
                </p:cNvPr>
                <p:cNvSpPr txBox="1"/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4FAB957-94D7-1264-CA32-406F869BE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FA8A7B-A256-DCD3-E0B6-CAF1A16A2321}"/>
                    </a:ext>
                  </a:extLst>
                </p:cNvPr>
                <p:cNvSpPr txBox="1"/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FA8A7B-A256-DCD3-E0B6-CAF1A16A2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069BC65-6D7D-7EA8-1388-71668E8FAF85}"/>
                    </a:ext>
                  </a:extLst>
                </p:cNvPr>
                <p:cNvSpPr txBox="1"/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069BC65-6D7D-7EA8-1388-71668E8FA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5000" r="-25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F4A072B-2FD8-42DA-883B-77EE2EDA3A61}"/>
                    </a:ext>
                  </a:extLst>
                </p:cNvPr>
                <p:cNvSpPr txBox="1"/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F4A072B-2FD8-42DA-883B-77EE2EDA3A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9F10214-042B-715D-0FE0-F0A1BC8F9D8A}"/>
                    </a:ext>
                  </a:extLst>
                </p:cNvPr>
                <p:cNvSpPr txBox="1"/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9F10214-042B-715D-0FE0-F0A1BC8F9D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DF8E15D-91E9-12DE-AF98-3790B39468F3}"/>
                    </a:ext>
                  </a:extLst>
                </p:cNvPr>
                <p:cNvSpPr txBox="1"/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DF8E15D-91E9-12DE-AF98-3790B39468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4D5D42D-7686-11A0-5EFA-43EDC94D1A4A}"/>
                    </a:ext>
                  </a:extLst>
                </p:cNvPr>
                <p:cNvSpPr txBox="1"/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4D5D42D-7686-11A0-5EFA-43EDC94D1A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blipFill>
                  <a:blip r:embed="rId15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8E6B8FF-0D30-C843-62B2-92A7F5937FF3}"/>
                    </a:ext>
                  </a:extLst>
                </p:cNvPr>
                <p:cNvSpPr txBox="1"/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8E6B8FF-0D30-C843-62B2-92A7F5937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blipFill>
                  <a:blip r:embed="rId16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B6E4247-D4C5-178A-D610-9AEFE83F4075}"/>
                    </a:ext>
                  </a:extLst>
                </p:cNvPr>
                <p:cNvSpPr txBox="1"/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B6E4247-D4C5-178A-D610-9AEFE83F40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5000" r="-25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040FE5D-2EA1-97A6-4A23-E1DE2017C2C6}"/>
                    </a:ext>
                  </a:extLst>
                </p:cNvPr>
                <p:cNvSpPr txBox="1"/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040FE5D-2EA1-97A6-4A23-E1DE2017C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E6A99EC6-284C-5DEF-C7DC-1D3D9F708F85}"/>
                    </a:ext>
                  </a:extLst>
                </p:cNvPr>
                <p:cNvSpPr txBox="1"/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E6A99EC6-284C-5DEF-C7DC-1D3D9F708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5000" r="-25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809BDAC-C6C4-0E13-BD4E-66E27CC6277C}"/>
                    </a:ext>
                  </a:extLst>
                </p:cNvPr>
                <p:cNvSpPr txBox="1"/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809BDAC-C6C4-0E13-BD4E-66E27CC62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A9D9AE4-7C64-763A-F248-C12E9B3CA74E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283787"/>
              <a:ext cx="1927062" cy="689399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FAA9A69-1848-C5BF-4DBD-6A7033B73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459249"/>
              <a:ext cx="1892427" cy="642354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BE281F92-349B-1B7A-A1CA-F0AC8B517728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778169"/>
              <a:ext cx="1899407" cy="37291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F2960F0-689E-AD21-9C53-56E15EF499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322834"/>
              <a:ext cx="1892427" cy="2609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Donut 89">
              <a:extLst>
                <a:ext uri="{FF2B5EF4-FFF2-40B4-BE49-F238E27FC236}">
                  <a16:creationId xmlns:a16="http://schemas.microsoft.com/office/drawing/2014/main" id="{3BC84F46-F583-2AFD-5593-09E2968690F8}"/>
                </a:ext>
              </a:extLst>
            </p:cNvPr>
            <p:cNvSpPr/>
            <p:nvPr/>
          </p:nvSpPr>
          <p:spPr>
            <a:xfrm>
              <a:off x="8216684" y="4822921"/>
              <a:ext cx="782901" cy="782901"/>
            </a:xfrm>
            <a:prstGeom prst="donut">
              <a:avLst>
                <a:gd name="adj" fmla="val 744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Mean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E116551-D64A-67ED-C619-9D2736379BA2}"/>
                </a:ext>
              </a:extLst>
            </p:cNvPr>
            <p:cNvCxnSpPr>
              <a:cxnSpLocks/>
              <a:stCxn id="90" idx="6"/>
            </p:cNvCxnSpPr>
            <p:nvPr/>
          </p:nvCxnSpPr>
          <p:spPr>
            <a:xfrm>
              <a:off x="8999585" y="5214372"/>
              <a:ext cx="948993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471802-3279-203C-524F-08E9C51E1C59}"/>
                    </a:ext>
                  </a:extLst>
                </p:cNvPr>
                <p:cNvSpPr txBox="1"/>
                <p:nvPr/>
              </p:nvSpPr>
              <p:spPr>
                <a:xfrm>
                  <a:off x="7770899" y="4973682"/>
                  <a:ext cx="6420118" cy="4601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471802-3279-203C-524F-08E9C51E1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0899" y="4973682"/>
                  <a:ext cx="6420118" cy="460191"/>
                </a:xfrm>
                <a:prstGeom prst="rect">
                  <a:avLst/>
                </a:prstGeom>
                <a:blipFill>
                  <a:blip r:embed="rId19"/>
                  <a:stretch>
                    <a:fillRect b="-5405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4C6A48C-23C2-0C9C-AE58-1E449D708130}"/>
              </a:ext>
            </a:extLst>
          </p:cNvPr>
          <p:cNvSpPr txBox="1"/>
          <p:nvPr/>
        </p:nvSpPr>
        <p:spPr>
          <a:xfrm>
            <a:off x="609600" y="3665747"/>
            <a:ext cx="7099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[</a:t>
            </a:r>
            <a:r>
              <a:rPr lang="en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Monte-Carlo Tecnique(Estimation)</a:t>
            </a:r>
            <a:r>
              <a:rPr lang="en-US" altLang="ko-KR" sz="16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]</a:t>
            </a:r>
            <a:endParaRPr lang="en-K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17FEF9-697D-1CB9-19B4-D8711919F486}"/>
                  </a:ext>
                </a:extLst>
              </p:cNvPr>
              <p:cNvSpPr txBox="1"/>
              <p:nvPr/>
            </p:nvSpPr>
            <p:spPr>
              <a:xfrm>
                <a:off x="-1859765" y="6154375"/>
                <a:ext cx="7136892" cy="41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17FEF9-697D-1CB9-19B4-D8711919F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59765" y="6154375"/>
                <a:ext cx="7136892" cy="419795"/>
              </a:xfrm>
              <a:prstGeom prst="rect">
                <a:avLst/>
              </a:prstGeom>
              <a:blipFill>
                <a:blip r:embed="rId2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65B55B-5070-A4F4-7347-2E9D2EDC081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725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C4EC0-7CEF-AD46-AB6F-DCCB9E39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5A297A-B0A0-AD68-6208-F8A80FA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A146E9-DE99-60B5-1049-BD46F3BCBA8E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380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KR" sz="2400" i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b="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Gaussian</a:t>
                </a:r>
                <a:endParaRPr lang="en-KR" sz="2400" i="1" u="sng" dirty="0"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sz="2400" b="0" i="1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:br>
                  <a:rPr lang="en-US" sz="2400" b="0" i="1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sz="2400" b="0" i="1" smtClean="0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400" b="0" i="1" smtClean="0">
                                                        <a:solidFill>
                                                          <a:srgbClr val="F2F3F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400" b="0" i="1" smtClean="0">
                                                        <a:solidFill>
                                                          <a:srgbClr val="F2F3F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400" b="0" i="1" smtClean="0">
                                                        <a:solidFill>
                                                          <a:srgbClr val="F2F3F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b="0" i="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b="0" i="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0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rad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A146E9-DE99-60B5-1049-BD46F3BCB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380430"/>
              </a:xfrm>
              <a:prstGeom prst="rect">
                <a:avLst/>
              </a:prstGeom>
              <a:blipFill>
                <a:blip r:embed="rId2"/>
                <a:stretch>
                  <a:fillRect l="-831" t="-1531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0FC19248-4B98-F274-80C1-4C0E9D4B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DE35933-ECE1-7B3F-9016-5969212FF766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DE35933-ECE1-7B3F-9016-5969212FF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011682-2053-3247-913A-91626D1ACB7C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011682-2053-3247-913A-91626D1AC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4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00DCD7E-63F2-D845-FC84-05D2A31944D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54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57BB3-7E75-E380-F877-481A4C09A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C31F56-4F98-D4C2-94FD-5C64D063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1229716-3BA0-2B8F-3070-EA76D27B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11B421-C512-094A-4ECC-D9C5E4EB89FA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11B421-C512-094A-4ECC-D9C5E4EB8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2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2242DD-262B-EF76-715B-AB25498414DA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2242DD-262B-EF76-715B-AB2549841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96E8D7-70AA-3966-3659-F9E7FC8CDF1A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3659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endParaRPr lang="en-KR" altLang="ko-KR" sz="2400" i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Gaussian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sz="2400" i="1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1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i="1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400" i="1">
                                                        <a:solidFill>
                                                          <a:srgbClr val="F2F3F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400" i="1">
                                                        <a:solidFill>
                                                          <a:srgbClr val="F2F3F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400" i="1">
                                                        <a:solidFill>
                                                          <a:srgbClr val="F2F3F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rad>
                    <m:r>
                      <a:rPr lang="en-US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rad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  <a:endParaRPr lang="en-KR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96E8D7-70AA-3966-3659-F9E7FC8CD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3659079"/>
              </a:xfrm>
              <a:prstGeom prst="rect">
                <a:avLst/>
              </a:prstGeom>
              <a:blipFill>
                <a:blip r:embed="rId4"/>
                <a:stretch>
                  <a:fillRect l="-831" t="-1833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57F10BB-399F-28B2-B508-6D90B44C1B7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834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4B9B-7D3E-B501-D288-08FD40B9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CAE4FF-B273-3E27-5664-1194A9F7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C455D7-6DC6-1193-F268-33CD4A7A7B9A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3659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KR" sz="2400" i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Gaussian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sz="2400" i="1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1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i="1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400" i="1">
                                                        <a:solidFill>
                                                          <a:srgbClr val="F2F3F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400" i="1">
                                                        <a:solidFill>
                                                          <a:srgbClr val="F2F3F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400" i="1">
                                                        <a:solidFill>
                                                          <a:srgbClr val="F2F3F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rad>
                    <m:r>
                      <a:rPr lang="en-US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rad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C455D7-6DC6-1193-F268-33CD4A7A7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3659079"/>
              </a:xfrm>
              <a:prstGeom prst="rect">
                <a:avLst/>
              </a:prstGeom>
              <a:blipFill>
                <a:blip r:embed="rId2"/>
                <a:stretch>
                  <a:fillRect l="-831" t="-1833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A359EB78-E15A-CC25-1895-2049E1AC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AAE120-1382-4EA4-9EBB-54BA50F9E18C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AAE120-1382-4EA4-9EBB-54BA50F9E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DC97A7-1196-DDC9-9D49-2E0A5F6C5A7E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DC97A7-1196-DDC9-9D49-2E0A5F6C5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6F8570F-1DDE-3AEA-EF1D-D693FE98AA3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04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6B7FF-5360-6177-2E42-38A3CCB6F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3E2378-77BA-5803-DF13-D4895A86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0EEFDC-2A61-18B8-4E5D-29AAAD7005C5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3659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KR" sz="2400" i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Gaussian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rad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0EEFDC-2A61-18B8-4E5D-29AAAD700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3659079"/>
              </a:xfrm>
              <a:prstGeom prst="rect">
                <a:avLst/>
              </a:prstGeom>
              <a:blipFill>
                <a:blip r:embed="rId2"/>
                <a:stretch>
                  <a:fillRect l="-831" t="-1833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23A7D0DC-F6C6-5F0A-7526-37AECCA1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EC8CCF-1FC8-9179-BA35-398E1F755482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EC8CCF-1FC8-9179-BA35-398E1F755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2BCD12-953C-439D-F7DC-77B93C7869F2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2BCD12-953C-439D-F7DC-77B93C786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BE10938-475A-0DE8-7CA5-2AE08AA9DAE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947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E715D-0676-2D1E-7485-8D0AC49AE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DA89A-D512-DE27-C7D8-04839A9F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3B684E-CC68-9B4D-27F8-B6B1A693067B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0284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KR" sz="2400" i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Gaussian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rad>
                  </m:oMath>
                </a14:m>
                <a:r>
                  <a:rPr lang="en-KR" sz="2400" dirty="0"/>
                  <a:t> </a:t>
                </a:r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3B684E-CC68-9B4D-27F8-B6B1A6930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028410"/>
              </a:xfrm>
              <a:prstGeom prst="rect">
                <a:avLst/>
              </a:prstGeom>
              <a:blipFill>
                <a:blip r:embed="rId2"/>
                <a:stretch>
                  <a:fillRect l="-831" t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57EBD6B6-DF63-FC01-BD12-DAFCE12F8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D57F2D-685D-8F8B-8535-73567A6F7B50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D57F2D-685D-8F8B-8535-73567A6F7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CBFDD2-90FF-4088-8D88-27272824AB75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CBFDD2-90FF-4088-8D88-27272824A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4F1EA6B-8CF5-A3B8-C0C6-59270463FCB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625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87184-15A5-6995-E83D-94ED4784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F5CE2B-E3F8-83A7-1C5F-94581F5D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98FA4-364D-CD1D-C397-8F9F6CA98D6E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0284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KR" sz="2400" i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Gaussian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bSup>
                                  <m:sSubSup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rad>
                  </m:oMath>
                </a14:m>
                <a:r>
                  <a:rPr lang="en-KR" sz="2400" dirty="0">
                    <a:solidFill>
                      <a:schemeClr val="tx1"/>
                    </a:solidFill>
                  </a:rPr>
                  <a:t> </a:t>
                </a:r>
                <a:endParaRPr lang="en-KR" sz="2400" dirty="0"/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98FA4-364D-CD1D-C397-8F9F6CA98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028410"/>
              </a:xfrm>
              <a:prstGeom prst="rect">
                <a:avLst/>
              </a:prstGeom>
              <a:blipFill>
                <a:blip r:embed="rId2"/>
                <a:stretch>
                  <a:fillRect l="-831" t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075F0D12-400A-44C4-C0F8-FB988E77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D6A70D-0B7B-AD0F-74D7-375E8DABD4BA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D6A70D-0B7B-AD0F-74D7-375E8DABD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756BE8-A0CF-25FB-1073-CEA9288B26E1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756BE8-A0CF-25FB-1073-CEA9288B2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C960D5E-B002-29EA-AD02-97AA2ADF8C40}"/>
              </a:ext>
            </a:extLst>
          </p:cNvPr>
          <p:cNvSpPr/>
          <p:nvPr/>
        </p:nvSpPr>
        <p:spPr>
          <a:xfrm>
            <a:off x="3450848" y="5210851"/>
            <a:ext cx="1897008" cy="87129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7967-3D52-7B96-11D0-766C642269C7}"/>
              </a:ext>
            </a:extLst>
          </p:cNvPr>
          <p:cNvSpPr txBox="1"/>
          <p:nvPr/>
        </p:nvSpPr>
        <p:spPr>
          <a:xfrm>
            <a:off x="1755614" y="6161584"/>
            <a:ext cx="528747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Constant if identity covariance</a:t>
            </a:r>
            <a:endParaRPr lang="en-KR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95B667F-0503-F5AF-F614-7A3633141DE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150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D3CFE-78CE-C0F1-6B8E-8E220803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4E9C6E-FB28-674C-43F5-520D493A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99D833-E022-35B1-4316-FB8A633D7D20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595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25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KR" sz="2400" i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Gaussian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rad>
                  </m:oMath>
                </a14:m>
                <a:r>
                  <a:rPr lang="en-KR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KR" sz="2400" dirty="0"/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99D833-E022-35B1-4316-FB8A633D7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595617"/>
              </a:xfrm>
              <a:prstGeom prst="rect">
                <a:avLst/>
              </a:prstGeom>
              <a:blipFill>
                <a:blip r:embed="rId2"/>
                <a:stretch>
                  <a:fillRect l="-831" t="-1460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EC16C8F1-0B6D-889D-792D-E5C7C561E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4F8DA7-62B8-5D0F-8E1D-B737F45CDC60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4F8DA7-62B8-5D0F-8E1D-B737F45CD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65498A-775D-E3D4-3393-69BA31A17A3A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65498A-775D-E3D4-3393-69BA31A17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AED3156-5538-47A6-8AD7-482EA518A06C}"/>
              </a:ext>
            </a:extLst>
          </p:cNvPr>
          <p:cNvSpPr/>
          <p:nvPr/>
        </p:nvSpPr>
        <p:spPr>
          <a:xfrm>
            <a:off x="984737" y="5323615"/>
            <a:ext cx="2166425" cy="71745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FEDD2-1FE4-2D4D-7E21-51CA8B97C644}"/>
              </a:ext>
            </a:extLst>
          </p:cNvPr>
          <p:cNvSpPr txBox="1"/>
          <p:nvPr/>
        </p:nvSpPr>
        <p:spPr>
          <a:xfrm>
            <a:off x="984737" y="6150112"/>
            <a:ext cx="528747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This is why we call it “Reconstruction” term</a:t>
            </a:r>
            <a:endParaRPr lang="en-KR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4C48582-60B7-AEE4-8A91-060D3418DFE5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301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2594-FB40-CBA6-1191-FB488159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621DBB-583D-E187-8CCA-B9A284A7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C1EC70-077E-8A09-926B-E4DB58E0094B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endParaRPr lang="en-US" sz="225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/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Bernoulli</a:t>
                </a:r>
                <a:endParaRPr lang="en-KR" sz="2400" i="1" u="sng" dirty="0"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𝐵𝑒𝑛𝑜𝑟𝑙𝑙𝑖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i="1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nary>
                      <m:naryPr>
                        <m:chr m:val="∏"/>
                        <m:ctrlPr>
                          <a:rPr lang="en-US" altLang="ko-KR" sz="240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</m:nary>
                      </m:e>
                    </m:nary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Sup>
                      <m:sSubSup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400" dirty="0">
                    <a:solidFill>
                      <a:srgbClr val="F2F3F3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  <a:endParaRPr lang="en-KR" sz="2400" dirty="0"/>
              </a:p>
              <a:p>
                <a:pPr>
                  <a:lnSpc>
                    <a:spcPct val="150000"/>
                  </a:lnSpc>
                </a:pPr>
                <a:endParaRPr lang="en-KR" sz="2400" i="1" dirty="0"/>
              </a:p>
              <a:p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C1EC70-077E-8A09-926B-E4DB58E00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blipFill>
                <a:blip r:embed="rId2"/>
                <a:stretch>
                  <a:fillRect l="-1350" t="-150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CDE998C5-54C2-485A-9875-6FCCCFA7D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012090-2A51-9E33-EE73-833E7F3FB632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012090-2A51-9E33-EE73-833E7F3FB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A521C3-CCC6-9D42-0A8D-91259DEB0060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A521C3-CCC6-9D42-0A8D-91259DEB0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351FD6A-5E8A-37DA-F997-2EE54D899D8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964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2AC3-210A-D9A6-359F-0AB83AE51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EF7384-3FDE-04B0-6BCB-8D1A37C3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B85DFA-8E8C-0F83-3C79-0EA88AD0C3D9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endParaRPr lang="en-US" sz="225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/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Bernoulli</a:t>
                </a:r>
                <a:endParaRPr lang="en-KR" sz="2400" i="1" u="sng" dirty="0"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𝐵𝑒𝑛𝑜𝑢𝑙𝑙𝑖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nary>
                      <m:naryPr>
                        <m:chr m:val="∏"/>
                        <m:ctrlPr>
                          <a:rPr lang="en-US" altLang="ko-KR" sz="240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</m:nary>
                      </m:e>
                    </m:nary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Sup>
                      <m:sSubSup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400" dirty="0">
                    <a:solidFill>
                      <a:srgbClr val="F2F3F3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  <a:endParaRPr lang="en-KR" sz="2400" dirty="0"/>
              </a:p>
              <a:p>
                <a:pPr>
                  <a:lnSpc>
                    <a:spcPct val="150000"/>
                  </a:lnSpc>
                </a:pPr>
                <a:endParaRPr lang="en-KR" sz="2400" i="1" dirty="0"/>
              </a:p>
              <a:p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B85DFA-8E8C-0F83-3C79-0EA88AD0C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blipFill>
                <a:blip r:embed="rId2"/>
                <a:stretch>
                  <a:fillRect l="-1350" t="-150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A9D9E95D-2009-210D-BC24-DA54C16E4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5679AA-BFD4-D63E-79C1-97F5E138BDA8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5679AA-BFD4-D63E-79C1-97F5E138B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33542F-0B46-9E8F-1E5B-CBA613C94ED3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33542F-0B46-9E8F-1E5B-CBA613C94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358D599-9D5C-A58D-6C37-3E1523CE6B0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675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3922-9722-5121-10A8-F4573184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4610E8-9000-4817-8F00-773C0183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1788D8-77F0-6300-A2F4-0B24EB5222C6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5421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endParaRPr lang="en-US" sz="225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/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Bernoulli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𝐵𝑒𝑛𝑜𝑢𝑙𝑙𝑖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nary>
                      <m:naryPr>
                        <m:chr m:val="∏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</m:nary>
                      </m:e>
                    </m:nary>
                    <m:sSub>
                      <m:sSubPr>
                        <m:ctrlPr>
                          <a:rPr lang="en-US" altLang="ko-KR" sz="240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Sup>
                      <m:sSubSup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400" dirty="0">
                    <a:solidFill>
                      <a:srgbClr val="F2F3F3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  <a:endParaRPr lang="en-KR" sz="2400" dirty="0"/>
              </a:p>
              <a:p>
                <a:pPr>
                  <a:lnSpc>
                    <a:spcPct val="150000"/>
                  </a:lnSpc>
                </a:pPr>
                <a:endParaRPr lang="en-KR" sz="2400" i="1" dirty="0"/>
              </a:p>
              <a:p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1788D8-77F0-6300-A2F4-0B24EB522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542141"/>
              </a:xfrm>
              <a:prstGeom prst="rect">
                <a:avLst/>
              </a:prstGeom>
              <a:blipFill>
                <a:blip r:embed="rId2"/>
                <a:stretch>
                  <a:fillRect l="-1350" t="-1480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D7B39C97-F415-7461-B9D2-CB03C773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F3B129-0694-DE3B-A200-00D67B5C2709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F3B129-0694-DE3B-A200-00D67B5C2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B5EF12-9F31-207D-1015-2A0D2E2C9B1E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B5EF12-9F31-207D-1015-2A0D2E2C9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B17FC61-DA31-8793-A6E7-304608620B93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851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0C52B-D4BE-68F5-AF19-248C0B3D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00E661-23B3-AF6A-909B-E4877DD0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79B04-0B86-09DD-96AB-4E6E702F8C0F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endParaRPr lang="en-US" sz="225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/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Bernoulli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𝐵𝑒𝑛𝑜𝑢𝑙𝑙𝑖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nary>
                      <m:naryPr>
                        <m:chr m:val="∏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</m:nary>
                      </m:e>
                    </m:nary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Sup>
                      <m:sSubSup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400" dirty="0">
                    <a:solidFill>
                      <a:srgbClr val="F2F3F3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KR" sz="2400" i="1" dirty="0"/>
              </a:p>
              <a:p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79B04-0B86-09DD-96AB-4E6E702F8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blipFill>
                <a:blip r:embed="rId2"/>
                <a:stretch>
                  <a:fillRect l="-1350" t="-150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50819A93-0E42-82C8-FB94-5D3565E0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31E424-8B53-CA3B-074A-47F9FD292748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31E424-8B53-CA3B-074A-47F9FD292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67913A-07A8-B543-2330-3B26471F752F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67913A-07A8-B543-2330-3B26471F7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95B4CDA-09BC-FA87-9B2D-403162A7A9C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455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879A-692F-3900-CE13-BCB85A30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E6AC39-2950-99D6-DBCE-7E821BE8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3A0944-2153-5FDC-D395-957DE11BF294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endParaRPr lang="en-US" sz="225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/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Bernoulli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𝐵𝑒𝑛𝑜𝑢𝑙𝑙𝑖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nary>
                      <m:naryPr>
                        <m:chr m:val="∏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</m:nary>
                      </m:e>
                    </m:nary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Sup>
                      <m:sSubSup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ko-KR" sz="2400" dirty="0">
                    <a:solidFill>
                      <a:srgbClr val="F2F3F3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  <a:endParaRPr lang="en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KR" sz="2400" i="1" dirty="0"/>
              </a:p>
              <a:p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3A0944-2153-5FDC-D395-957DE11BF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blipFill>
                <a:blip r:embed="rId2"/>
                <a:stretch>
                  <a:fillRect l="-1350" t="-150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BE62AF59-0ADC-03D2-1A7A-E1BAAD89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E460C2-4E35-4FF0-97AF-5FC670788B1A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E460C2-4E35-4FF0-97AF-5FC670788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50886D-ABBA-B3F9-99E7-4AFF832AD2F2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50886D-ABBA-B3F9-99E7-4AFF832AD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B2FBE26-1EC3-87E1-CF88-348CCACF975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096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AF19-8D0E-BF65-9355-DA3D4B60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8C7E9-F1A6-1F0E-BAD5-ED7BEF7C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F96176-9874-095D-CCD6-EB29D3F3BA28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endParaRPr lang="en-US" sz="225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/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Bernoulli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𝐵𝑒𝑛𝑜𝑢𝑙𝑙𝑖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nary>
                      <m:naryPr>
                        <m:chr m:val="∏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</m:nary>
                      </m:e>
                    </m:nary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Sup>
                      <m:sSubSup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KR" sz="2400" i="1" dirty="0"/>
              </a:p>
              <a:p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F96176-9874-095D-CCD6-EB29D3F3B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blipFill>
                <a:blip r:embed="rId2"/>
                <a:stretch>
                  <a:fillRect l="-1350" t="-150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446C3339-1945-BBD1-B2AC-0BCCAC2F5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A81004-0BC7-47A0-E8B2-90820FC7E5F3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A81004-0BC7-47A0-E8B2-90820FC7E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45B697-C48D-3760-CB24-60059E7CF6C3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45B697-C48D-3760-CB24-60059E7CF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22F024E-065D-076C-A80D-4B8716A14D0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756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05425-8D27-0D6B-AADB-E5AFF01B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4D6EB4-6121-A32F-4FF5-85FC29125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A51437-970F-041D-D9C8-C5C5A418D021}"/>
                  </a:ext>
                </a:extLst>
              </p:cNvPr>
              <p:cNvSpPr txBox="1"/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subHide m:val="on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</a:p>
              <a:p>
                <a:endParaRPr lang="en-US" sz="225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</a:t>
                </a:r>
                <a:r>
                  <a:rPr lang="en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case2)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KR" sz="2400" i="1" dirty="0"/>
                  <a:t>: </a:t>
                </a:r>
                <a:r>
                  <a:rPr lang="en-KR" sz="2400" i="1" u="sng" dirty="0">
                    <a:latin typeface="Pretendard Variable Black" panose="02000003000000020004" pitchFamily="2" charset="-127"/>
                    <a:ea typeface="Pretendard Variable Black" panose="02000003000000020004" pitchFamily="2" charset="-127"/>
                    <a:cs typeface="Pretendard Variable Black" panose="02000003000000020004" pitchFamily="2" charset="-127"/>
                  </a:rPr>
                  <a:t>Bernoulli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𝐵𝑒𝑛𝑜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𝑙𝑙𝑖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br>
                  <a:rPr lang="en-US" sz="2400" i="1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</a:rPr>
                      <m:t>log</m:t>
                    </m:r>
                    <m:nary>
                      <m:naryPr>
                        <m:chr m:val="∏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</m:nary>
                      </m:e>
                    </m:nary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Sup>
                      <m:sSubSup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KR" sz="2400" i="1" dirty="0"/>
              </a:p>
              <a:p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A51437-970F-041D-D9C8-C5C5A418D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02205"/>
                <a:ext cx="12228576" cy="4470839"/>
              </a:xfrm>
              <a:prstGeom prst="rect">
                <a:avLst/>
              </a:prstGeom>
              <a:blipFill>
                <a:blip r:embed="rId2"/>
                <a:stretch>
                  <a:fillRect l="-1350" t="-150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859FF3EE-B024-88B2-8267-C405E837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Reconstruction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889F26-54EB-07BB-4289-62B8D140F3E7}"/>
                  </a:ext>
                </a:extLst>
              </p:cNvPr>
              <p:cNvSpPr txBox="1"/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Monte-Carlo tech.)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889F26-54EB-07BB-4289-62B8D140F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90" y="2524482"/>
                <a:ext cx="2891817" cy="369332"/>
              </a:xfrm>
              <a:prstGeom prst="rect">
                <a:avLst/>
              </a:prstGeom>
              <a:blipFill>
                <a:blip r:embed="rId3"/>
                <a:stretch>
                  <a:fillRect r="-4803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231D56-EE04-76A2-908B-CFBB4E941E1D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231D56-EE04-76A2-908B-CFBB4E941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DF1F83B-356A-31C9-7C85-D27D64727875}"/>
              </a:ext>
            </a:extLst>
          </p:cNvPr>
          <p:cNvSpPr/>
          <p:nvPr/>
        </p:nvSpPr>
        <p:spPr>
          <a:xfrm>
            <a:off x="5190978" y="5266701"/>
            <a:ext cx="3964452" cy="59289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9064E-935C-5B7A-4837-F3DB4F479365}"/>
              </a:ext>
            </a:extLst>
          </p:cNvPr>
          <p:cNvSpPr txBox="1"/>
          <p:nvPr/>
        </p:nvSpPr>
        <p:spPr>
          <a:xfrm>
            <a:off x="4573457" y="5951221"/>
            <a:ext cx="519949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-Cross Entorpy</a:t>
            </a:r>
            <a:endParaRPr lang="en-KR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A5FC07A-6D3D-5674-41D1-0D823D839AED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584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F177-256D-5ACD-B976-F6F81B164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399D00-86CE-FD52-CE07-0CD9EF9D7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F9A6BE2-B39E-94FB-660B-6D305E03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Regularization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1F97BA-AC63-2B9F-A8BB-ECDE6D419452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1F97BA-AC63-2B9F-A8BB-ECDE6D419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2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95787A8-4E74-5F5C-367B-93570452965B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915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BC29-A98B-F957-3990-1EA0291C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80EB0-7EAC-BC46-BFB2-3FDBF875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33260FE-71FC-5CDA-D4A3-E86FEADAD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Regularization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9FE752-169C-1A0C-A612-345BCAE9A080}"/>
                  </a:ext>
                </a:extLst>
              </p:cNvPr>
              <p:cNvSpPr txBox="1"/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KLD for multivariate gaussian distributions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  <m:r>
                                  <m:rPr>
                                    <m:nor/>
                                  </m:rPr>
                                  <a:rPr lang="en-KR" sz="2000" dirty="0"/>
                                  <m:t> 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000" dirty="0"/>
                  <a:t> </a:t>
                </a:r>
              </a:p>
              <a:p>
                <a:pPr algn="l"/>
                <a:endParaRPr lang="en-KR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9FE752-169C-1A0C-A612-345BCAE9A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blipFill>
                <a:blip r:embed="rId2"/>
                <a:stretch>
                  <a:fillRect l="-1799" b="-1707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D3767A-EBD9-5DC0-FBF0-C340F2CB61D2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D3767A-EBD9-5DC0-FBF0-C340F2CB6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3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72285C8-3162-88FD-D119-CC860708C39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985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F00EA-7BAE-9798-B831-A00D368E4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E02B8D-B17C-87CC-660E-FFA46079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5D393A-F4A5-23F1-91F8-C3928DC0BBB9}"/>
                  </a:ext>
                </a:extLst>
              </p:cNvPr>
              <p:cNvSpPr txBox="1"/>
              <p:nvPr/>
            </p:nvSpPr>
            <p:spPr>
              <a:xfrm>
                <a:off x="609599" y="1994147"/>
                <a:ext cx="12228576" cy="3619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𝑡𝑟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nary>
                                      <m:naryPr>
                                        <m:chr m:val="∏"/>
                                        <m:supHide m:val="on"/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 smtClean="0">
                                                    <a:solidFill>
                                                      <a:srgbClr val="F2F3F3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sub>
                                            </m:sSub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b="0" i="1" dirty="0">
                    <a:solidFill>
                      <a:srgbClr val="F2F3F3"/>
                    </a:solidFill>
                    <a:latin typeface="Cambria Math" panose="02040503050406030204" pitchFamily="18" charset="0"/>
                  </a:rPr>
                  <a:t> </a:t>
                </a:r>
                <a:br>
                  <a:rPr lang="en-US" sz="2400" b="0" i="1" dirty="0">
                    <a:solidFill>
                      <a:srgbClr val="F2F3F3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</m:oMath>
                </a14:m>
                <a:r>
                  <a:rPr lang="en-US" sz="2400" i="1" dirty="0">
                    <a:solidFill>
                      <a:srgbClr val="F2F3F3"/>
                    </a:solidFill>
                    <a:latin typeface="Cambria Math" panose="02040503050406030204" pitchFamily="18" charset="0"/>
                  </a:rPr>
                  <a:t> </a:t>
                </a:r>
                <a:br>
                  <a:rPr lang="en-US" sz="2400" i="1" dirty="0">
                    <a:solidFill>
                      <a:srgbClr val="F2F3F3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func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F2F3F3"/>
                    </a:solidFill>
                  </a:rPr>
                  <a:t> </a:t>
                </a:r>
                <a:endParaRPr lang="en-US" sz="2400" dirty="0"/>
              </a:p>
              <a:p>
                <a:endParaRPr lang="en-US" sz="2400" dirty="0"/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5D393A-F4A5-23F1-91F8-C3928DC0B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1994147"/>
                <a:ext cx="12228576" cy="3619517"/>
              </a:xfrm>
              <a:prstGeom prst="rect">
                <a:avLst/>
              </a:prstGeom>
              <a:blipFill>
                <a:blip r:embed="rId2"/>
                <a:stretch>
                  <a:fillRect l="-10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AD7F7D5B-F5B2-6753-9B53-B8384A08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Regularization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9158A4-3D5E-6082-3E7F-56C21D60E1BE}"/>
                  </a:ext>
                </a:extLst>
              </p:cNvPr>
              <p:cNvSpPr txBox="1"/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KLD for multivariate gaussian distributions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  <m:r>
                                  <m:rPr>
                                    <m:nor/>
                                  </m:rPr>
                                  <a:rPr lang="en-KR" sz="2000" dirty="0"/>
                                  <m:t> 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000" dirty="0"/>
                  <a:t> </a:t>
                </a:r>
              </a:p>
              <a:p>
                <a:pPr algn="l"/>
                <a:endParaRPr lang="en-KR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9158A4-3D5E-6082-3E7F-56C21D60E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blipFill>
                <a:blip r:embed="rId3"/>
                <a:stretch>
                  <a:fillRect l="-1799" b="-1707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D844C3-45F5-6DBD-0CA5-0A7B746F99AC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D844C3-45F5-6DBD-0CA5-0A7B746F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C755920-B2D9-898B-2A21-7A0B2AAC0CB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317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6F073-7224-52D1-A25D-C34C225B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B33EB4-3717-3B69-8ABA-CF78CFF5B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FFF207-1B8D-BD14-573D-4D2BF67FA874}"/>
                  </a:ext>
                </a:extLst>
              </p:cNvPr>
              <p:cNvSpPr txBox="1"/>
              <p:nvPr/>
            </p:nvSpPr>
            <p:spPr>
              <a:xfrm>
                <a:off x="609599" y="1994147"/>
                <a:ext cx="12228576" cy="3619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𝑡𝑟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nary>
                                      <m:naryPr>
                                        <m:chr m:val="∏"/>
                                        <m:supHide m:val="on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sub>
                                            </m:sSub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 </a:t>
                </a:r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</m:oMath>
                </a14:m>
                <a:r>
                  <a:rPr lang="en-US" sz="2400" i="1" dirty="0">
                    <a:solidFill>
                      <a:srgbClr val="F2F3F3"/>
                    </a:solidFill>
                    <a:latin typeface="Cambria Math" panose="02040503050406030204" pitchFamily="18" charset="0"/>
                  </a:rPr>
                  <a:t> </a:t>
                </a:r>
                <a:br>
                  <a:rPr lang="en-US" sz="2400" i="1" dirty="0">
                    <a:solidFill>
                      <a:srgbClr val="F2F3F3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func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F2F3F3"/>
                    </a:solidFill>
                  </a:rPr>
                  <a:t> </a:t>
                </a:r>
                <a:endParaRPr lang="en-US" sz="2400" dirty="0"/>
              </a:p>
              <a:p>
                <a:endParaRPr lang="en-US" sz="2400" dirty="0"/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FFF207-1B8D-BD14-573D-4D2BF67FA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1994147"/>
                <a:ext cx="12228576" cy="3619517"/>
              </a:xfrm>
              <a:prstGeom prst="rect">
                <a:avLst/>
              </a:prstGeom>
              <a:blipFill>
                <a:blip r:embed="rId2"/>
                <a:stretch>
                  <a:fillRect l="-10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7744EED1-352F-8A23-68BB-508445DD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Regularization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E099CB-8934-6FD2-026E-2F0E46D4DE28}"/>
                  </a:ext>
                </a:extLst>
              </p:cNvPr>
              <p:cNvSpPr txBox="1"/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KLD for multivariate gaussian distributions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  <m:r>
                                  <m:rPr>
                                    <m:nor/>
                                  </m:rPr>
                                  <a:rPr lang="en-KR" sz="2000" dirty="0"/>
                                  <m:t> 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000" dirty="0"/>
                  <a:t> </a:t>
                </a:r>
              </a:p>
              <a:p>
                <a:pPr algn="l"/>
                <a:endParaRPr lang="en-KR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E099CB-8934-6FD2-026E-2F0E46D4D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blipFill>
                <a:blip r:embed="rId3"/>
                <a:stretch>
                  <a:fillRect l="-1799" b="-1707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191315-841A-1CF0-82D9-D6405F4A073B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191315-841A-1CF0-82D9-D6405F4A0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D10F9F43-D96D-9F1F-C921-C54DDD823D1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398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54A97-5834-649D-7BF0-F060215C1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1B74B1-C953-93D1-9D39-BB2F39F3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63C13-4D6B-98AE-617F-50AF5F596B47}"/>
                  </a:ext>
                </a:extLst>
              </p:cNvPr>
              <p:cNvSpPr txBox="1"/>
              <p:nvPr/>
            </p:nvSpPr>
            <p:spPr>
              <a:xfrm>
                <a:off x="609599" y="1994147"/>
                <a:ext cx="12228576" cy="3619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𝑡𝑟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nary>
                                      <m:naryPr>
                                        <m:chr m:val="∏"/>
                                        <m:supHide m:val="on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sub>
                                            </m:sSub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 </a:t>
                </a:r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br>
                  <a:rPr lang="en-US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func>
                        <m:r>
                          <a:rPr lang="en-US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F2F3F3"/>
                    </a:solidFill>
                  </a:rPr>
                  <a:t> </a:t>
                </a:r>
              </a:p>
              <a:p>
                <a:endParaRPr lang="en-US" sz="2400" dirty="0"/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63C13-4D6B-98AE-617F-50AF5F596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1994147"/>
                <a:ext cx="12228576" cy="3619517"/>
              </a:xfrm>
              <a:prstGeom prst="rect">
                <a:avLst/>
              </a:prstGeom>
              <a:blipFill>
                <a:blip r:embed="rId2"/>
                <a:stretch>
                  <a:fillRect l="-10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DF682254-0E63-8636-FA7C-F9A9D48AC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Regularization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35B3F7-68B5-985C-04C8-B304A50C5F11}"/>
                  </a:ext>
                </a:extLst>
              </p:cNvPr>
              <p:cNvSpPr txBox="1"/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KLD for multivariate gaussian distributions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  <m:r>
                                  <m:rPr>
                                    <m:nor/>
                                  </m:rPr>
                                  <a:rPr lang="en-KR" sz="2000" dirty="0"/>
                                  <m:t> 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000" dirty="0"/>
                  <a:t> </a:t>
                </a:r>
              </a:p>
              <a:p>
                <a:pPr algn="l"/>
                <a:endParaRPr lang="en-KR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35B3F7-68B5-985C-04C8-B304A50C5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blipFill>
                <a:blip r:embed="rId3"/>
                <a:stretch>
                  <a:fillRect l="-1799" b="-1707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FA1542-70A8-B715-EB46-B8D4552AF1A3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FA1542-70A8-B715-EB46-B8D4552AF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D0A1548-38E1-BDA9-CCED-AB0FE7569344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26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06D7-F97C-876E-7E97-4A73E0095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81428F-5882-27D8-AE9E-5EFBF30F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523EAA-FD54-F94E-78A0-456E8D7DB3CF}"/>
                  </a:ext>
                </a:extLst>
              </p:cNvPr>
              <p:cNvSpPr txBox="1"/>
              <p:nvPr/>
            </p:nvSpPr>
            <p:spPr>
              <a:xfrm>
                <a:off x="609599" y="1994147"/>
                <a:ext cx="12228576" cy="3619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𝑡𝑟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nary>
                                      <m:naryPr>
                                        <m:chr m:val="∏"/>
                                        <m:supHide m:val="on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sub>
                                            </m:sSub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 </a:t>
                </a:r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br>
                  <a:rPr lang="en-US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r>
                  <a:rPr lang="en-KR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523EAA-FD54-F94E-78A0-456E8D7DB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1994147"/>
                <a:ext cx="12228576" cy="3619517"/>
              </a:xfrm>
              <a:prstGeom prst="rect">
                <a:avLst/>
              </a:prstGeom>
              <a:blipFill>
                <a:blip r:embed="rId2"/>
                <a:stretch>
                  <a:fillRect l="-10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737F7176-F824-1E1F-9475-C31B5F002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Regularization Term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080A5A-3F37-4225-F178-8072D7B2A132}"/>
                  </a:ext>
                </a:extLst>
              </p:cNvPr>
              <p:cNvSpPr txBox="1"/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KLD for multivariate gaussian distributions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lit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  <m:r>
                                  <m:rPr>
                                    <m:nor/>
                                  </m:rPr>
                                  <a:rPr lang="en-KR" sz="2000" dirty="0"/>
                                  <m:t> 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000" dirty="0"/>
                  <a:t> </a:t>
                </a:r>
              </a:p>
              <a:p>
                <a:pPr algn="l"/>
                <a:endParaRPr lang="en-KR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080A5A-3F37-4225-F178-8072D7B2A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5515826"/>
                <a:ext cx="8462060" cy="1547347"/>
              </a:xfrm>
              <a:prstGeom prst="rect">
                <a:avLst/>
              </a:prstGeom>
              <a:blipFill>
                <a:blip r:embed="rId3"/>
                <a:stretch>
                  <a:fillRect l="-1799" b="-1707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4E5173-541C-1973-0CB9-00D69080DA9A}"/>
                  </a:ext>
                </a:extLst>
              </p:cNvPr>
              <p:cNvSpPr txBox="1"/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4E5173-541C-1973-0CB9-00D69080D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3544"/>
                <a:ext cx="6617368" cy="645048"/>
              </a:xfrm>
              <a:prstGeom prst="rect">
                <a:avLst/>
              </a:prstGeom>
              <a:blipFill>
                <a:blip r:embed="rId4"/>
                <a:stretch>
                  <a:fillRect l="-192"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F6BB14E-AD3C-1003-58BB-333316F47E03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904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A896-54CA-64CD-D274-CD9621F8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68B971-A9C4-BB82-103A-7CB8C836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6137834"/>
          </a:xfrm>
        </p:spPr>
        <p:txBody>
          <a:bodyPr/>
          <a:lstStyle/>
          <a:p>
            <a:pPr lvl="4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Variational Autoencoder(VAE)</a:t>
            </a:r>
            <a:br>
              <a:rPr lang="en-US" dirty="0"/>
            </a:br>
            <a:br>
              <a:rPr lang="en-US" sz="2400" i="1" dirty="0">
                <a:latin typeface="Cambria Math" panose="02040503050406030204" pitchFamily="18" charset="0"/>
              </a:rPr>
            </a:b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EF396E-BE19-CE4E-B814-BA0585350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982A-E52A-B04E-18D7-41CB9E84CF2A}"/>
              </a:ext>
            </a:extLst>
          </p:cNvPr>
          <p:cNvGrpSpPr/>
          <p:nvPr/>
        </p:nvGrpSpPr>
        <p:grpSpPr>
          <a:xfrm>
            <a:off x="477109" y="2782398"/>
            <a:ext cx="13793956" cy="2206084"/>
            <a:chOff x="-10571" y="4076360"/>
            <a:chExt cx="13793956" cy="2206084"/>
          </a:xfrm>
        </p:grpSpPr>
        <p:pic>
          <p:nvPicPr>
            <p:cNvPr id="9" name="Picture 8" descr="Multivariate Normal Distribution | Brilliant Math &amp; Science Wiki">
              <a:extLst>
                <a:ext uri="{FF2B5EF4-FFF2-40B4-BE49-F238E27FC236}">
                  <a16:creationId xmlns:a16="http://schemas.microsoft.com/office/drawing/2014/main" id="{9AB15F90-337D-314C-D4C0-057DCCEDB0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90476" l="15179" r="90030">
                          <a14:foregroundMark x1="84375" y1="71230" x2="83333" y2="74405"/>
                          <a14:foregroundMark x1="83333" y1="73413" x2="84821" y2="74008"/>
                          <a14:foregroundMark x1="90030" y1="75397" x2="89732" y2="77778"/>
                          <a14:foregroundMark x1="51637" y1="90476" x2="51190" y2="890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86" t="23155" r="5545" b="5310"/>
            <a:stretch>
              <a:fillRect/>
            </a:stretch>
          </p:blipFill>
          <p:spPr bwMode="auto">
            <a:xfrm>
              <a:off x="-10571" y="4142352"/>
              <a:ext cx="3438505" cy="2097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A84E2F7-BE51-9DB2-4503-22B694418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681" y="4337696"/>
              <a:ext cx="2426028" cy="19210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07614B9-0F7A-2B7C-4640-B5260E67267D}"/>
                </a:ext>
              </a:extLst>
            </p:cNvPr>
            <p:cNvCxnSpPr>
              <a:cxnSpLocks/>
            </p:cNvCxnSpPr>
            <p:nvPr/>
          </p:nvCxnSpPr>
          <p:spPr>
            <a:xfrm>
              <a:off x="1982352" y="4793712"/>
              <a:ext cx="2152357" cy="0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EACF8B2-7773-6AD6-D5B2-6AD7E09F70B8}"/>
                </a:ext>
              </a:extLst>
            </p:cNvPr>
            <p:cNvCxnSpPr>
              <a:cxnSpLocks/>
            </p:cNvCxnSpPr>
            <p:nvPr/>
          </p:nvCxnSpPr>
          <p:spPr>
            <a:xfrm>
              <a:off x="1290691" y="5213398"/>
              <a:ext cx="2844018" cy="175369"/>
            </a:xfrm>
            <a:prstGeom prst="straightConnector1">
              <a:avLst/>
            </a:prstGeom>
            <a:ln w="25400">
              <a:solidFill>
                <a:schemeClr val="accent6">
                  <a:lumMod val="50000"/>
                  <a:alpha val="67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96DD4FE-6191-0947-7B18-B651AEA67164}"/>
                </a:ext>
              </a:extLst>
            </p:cNvPr>
            <p:cNvCxnSpPr>
              <a:cxnSpLocks/>
            </p:cNvCxnSpPr>
            <p:nvPr/>
          </p:nvCxnSpPr>
          <p:spPr>
            <a:xfrm>
              <a:off x="1476042" y="5720347"/>
              <a:ext cx="2658667" cy="381256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EB66A71-7B00-24D7-660B-4EFD41C40BFD}"/>
                    </a:ext>
                  </a:extLst>
                </p:cNvPr>
                <p:cNvSpPr txBox="1"/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EB66A71-7B00-24D7-660B-4EFD41C40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3760A5-0341-2999-FCC0-17B3A79B727A}"/>
                    </a:ext>
                  </a:extLst>
                </p:cNvPr>
                <p:cNvSpPr txBox="1"/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3760A5-0341-2999-FCC0-17B3A79B72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D27866D-D3AA-5572-7ABD-2875FF24269B}"/>
                    </a:ext>
                  </a:extLst>
                </p:cNvPr>
                <p:cNvSpPr txBox="1"/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D27866D-D3AA-5572-7ABD-2875FF242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86C5DD9-8A12-7073-A8FC-C6BBE11201EA}"/>
                    </a:ext>
                  </a:extLst>
                </p:cNvPr>
                <p:cNvSpPr txBox="1"/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86C5DD9-8A12-7073-A8FC-C6BBE11201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2216BC8-373F-7F7D-BD93-45712F52BACE}"/>
                    </a:ext>
                  </a:extLst>
                </p:cNvPr>
                <p:cNvSpPr txBox="1"/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2216BC8-373F-7F7D-BD93-45712F52B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AC527F-82AC-4583-27D2-BC3B1C798F80}"/>
                    </a:ext>
                  </a:extLst>
                </p:cNvPr>
                <p:cNvSpPr txBox="1"/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AC527F-82AC-4583-27D2-BC3B1C798F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D2DE1C1-8E93-0B2B-13F2-E5CA3A187E57}"/>
                    </a:ext>
                  </a:extLst>
                </p:cNvPr>
                <p:cNvSpPr txBox="1"/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D2DE1C1-8E93-0B2B-13F2-E5CA3A187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672FF5D-F273-DADC-425C-740BD9F76C9A}"/>
                    </a:ext>
                  </a:extLst>
                </p:cNvPr>
                <p:cNvSpPr txBox="1"/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672FF5D-F273-DADC-425C-740BD9F76C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blipFill>
                  <a:blip r:embed="rId11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886F99A-8397-7439-A3BA-5401D3A366AF}"/>
                    </a:ext>
                  </a:extLst>
                </p:cNvPr>
                <p:cNvSpPr txBox="1"/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886F99A-8397-7439-A3BA-5401D3A366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4F07578-30DF-6DE4-3A4E-EB3AC8A74295}"/>
                    </a:ext>
                  </a:extLst>
                </p:cNvPr>
                <p:cNvSpPr txBox="1"/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4F07578-30DF-6DE4-3A4E-EB3AC8A742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CBADD3B-6289-9608-DA9D-4A434808A2FB}"/>
                    </a:ext>
                  </a:extLst>
                </p:cNvPr>
                <p:cNvSpPr txBox="1"/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CBADD3B-6289-9608-DA9D-4A434808A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E6A967E-E7FD-56B6-7B1F-E856584DA0F4}"/>
                    </a:ext>
                  </a:extLst>
                </p:cNvPr>
                <p:cNvSpPr txBox="1"/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E6A967E-E7FD-56B6-7B1F-E856584DA0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6AA0EF3-D343-D467-7B28-1F46C78CBC92}"/>
                    </a:ext>
                  </a:extLst>
                </p:cNvPr>
                <p:cNvSpPr txBox="1"/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6AA0EF3-D343-D467-7B28-1F46C78CB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21546C-F8E9-8B5D-2F18-B49A287A7B25}"/>
                    </a:ext>
                  </a:extLst>
                </p:cNvPr>
                <p:cNvSpPr txBox="1"/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21546C-F8E9-8B5D-2F18-B49A287A7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A2D4AEB-8C2E-5082-511C-0C41C8172473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283787"/>
              <a:ext cx="1927062" cy="689399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C844F51-639B-8A19-5935-7155346B00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459249"/>
              <a:ext cx="1892427" cy="642354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A175E27-8C01-07BC-C92A-F7C66D695ACC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778169"/>
              <a:ext cx="1899407" cy="37291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5BB94F3-2ADB-CFA3-D8C5-A12F79097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322834"/>
              <a:ext cx="1892427" cy="2609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Donut 34">
              <a:extLst>
                <a:ext uri="{FF2B5EF4-FFF2-40B4-BE49-F238E27FC236}">
                  <a16:creationId xmlns:a16="http://schemas.microsoft.com/office/drawing/2014/main" id="{87CD9D3B-671B-E637-A184-C066D813AFD7}"/>
                </a:ext>
              </a:extLst>
            </p:cNvPr>
            <p:cNvSpPr/>
            <p:nvPr/>
          </p:nvSpPr>
          <p:spPr>
            <a:xfrm>
              <a:off x="8216684" y="4822921"/>
              <a:ext cx="782901" cy="782901"/>
            </a:xfrm>
            <a:prstGeom prst="donut">
              <a:avLst>
                <a:gd name="adj" fmla="val 744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Mean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ED7C5B8-60A5-B282-A194-E69CDA38E19F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8999585" y="5214372"/>
              <a:ext cx="948993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4F52CF5-6861-B9B2-B858-0739FE4CFCA5}"/>
                    </a:ext>
                  </a:extLst>
                </p:cNvPr>
                <p:cNvSpPr txBox="1"/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𝐸𝐿𝐵𝑂</m:t>
                        </m:r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4F52CF5-6861-B9B2-B858-0739FE4CF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BDD5EB-4B51-D6A6-BB33-6C8B9DFAFA23}"/>
                  </a:ext>
                </a:extLst>
              </p:cNvPr>
              <p:cNvSpPr txBox="1"/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BDD5EB-4B51-D6A6-BB33-6C8B9DFAF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blipFill>
                <a:blip r:embed="rId1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8F5F4F0-F295-635F-2799-EE0CFB0E817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34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1B49-D236-8104-14C9-DA64E95A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FD7F15-739F-188C-3A8E-F2D31866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6137834"/>
          </a:xfrm>
        </p:spPr>
        <p:txBody>
          <a:bodyPr/>
          <a:lstStyle/>
          <a:p>
            <a:pPr lvl="4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Variational Autoencoder(VAE)</a:t>
            </a:r>
            <a:br>
              <a:rPr lang="en-US" dirty="0"/>
            </a:br>
            <a:br>
              <a:rPr lang="en-US" sz="2400" i="1" dirty="0">
                <a:latin typeface="Cambria Math" panose="02040503050406030204" pitchFamily="18" charset="0"/>
              </a:rPr>
            </a:b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C2AACA-6F45-C317-2E91-BA38E4BE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136BA6-97A0-3BA7-2896-BC82E264E640}"/>
              </a:ext>
            </a:extLst>
          </p:cNvPr>
          <p:cNvGrpSpPr/>
          <p:nvPr/>
        </p:nvGrpSpPr>
        <p:grpSpPr>
          <a:xfrm>
            <a:off x="477109" y="2782398"/>
            <a:ext cx="13793956" cy="2206084"/>
            <a:chOff x="-10571" y="4076360"/>
            <a:chExt cx="13793956" cy="2206084"/>
          </a:xfrm>
        </p:grpSpPr>
        <p:pic>
          <p:nvPicPr>
            <p:cNvPr id="9" name="Picture 8" descr="Multivariate Normal Distribution | Brilliant Math &amp; Science Wiki">
              <a:extLst>
                <a:ext uri="{FF2B5EF4-FFF2-40B4-BE49-F238E27FC236}">
                  <a16:creationId xmlns:a16="http://schemas.microsoft.com/office/drawing/2014/main" id="{4BED12D2-C328-A291-A6AB-B019C54193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90476" l="15179" r="90030">
                          <a14:foregroundMark x1="84375" y1="71230" x2="83333" y2="74405"/>
                          <a14:foregroundMark x1="83333" y1="73413" x2="84821" y2="74008"/>
                          <a14:foregroundMark x1="90030" y1="75397" x2="89732" y2="77778"/>
                          <a14:foregroundMark x1="51637" y1="90476" x2="51190" y2="890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86" t="23155" r="5545" b="5310"/>
            <a:stretch>
              <a:fillRect/>
            </a:stretch>
          </p:blipFill>
          <p:spPr bwMode="auto">
            <a:xfrm>
              <a:off x="-10571" y="4142352"/>
              <a:ext cx="3438505" cy="2097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583A7D0-1FC5-3D1D-0B41-0B0CD234A8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681" y="4337696"/>
              <a:ext cx="2426028" cy="19210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EB30E87-DF8F-5499-35D7-2BE557A078A6}"/>
                </a:ext>
              </a:extLst>
            </p:cNvPr>
            <p:cNvCxnSpPr>
              <a:cxnSpLocks/>
            </p:cNvCxnSpPr>
            <p:nvPr/>
          </p:nvCxnSpPr>
          <p:spPr>
            <a:xfrm>
              <a:off x="1982352" y="4793712"/>
              <a:ext cx="2152357" cy="0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E064501-F945-9856-4C7D-D8A3E14FCBA6}"/>
                </a:ext>
              </a:extLst>
            </p:cNvPr>
            <p:cNvCxnSpPr>
              <a:cxnSpLocks/>
            </p:cNvCxnSpPr>
            <p:nvPr/>
          </p:nvCxnSpPr>
          <p:spPr>
            <a:xfrm>
              <a:off x="1290691" y="5213398"/>
              <a:ext cx="2844018" cy="175369"/>
            </a:xfrm>
            <a:prstGeom prst="straightConnector1">
              <a:avLst/>
            </a:prstGeom>
            <a:ln w="25400">
              <a:solidFill>
                <a:schemeClr val="accent6">
                  <a:lumMod val="50000"/>
                  <a:alpha val="67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6708726-C7D9-61D7-F5C3-74C9376CC619}"/>
                </a:ext>
              </a:extLst>
            </p:cNvPr>
            <p:cNvCxnSpPr>
              <a:cxnSpLocks/>
            </p:cNvCxnSpPr>
            <p:nvPr/>
          </p:nvCxnSpPr>
          <p:spPr>
            <a:xfrm>
              <a:off x="1476042" y="5720347"/>
              <a:ext cx="2658667" cy="381256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9F4B60C-E52B-87F5-84D3-39F10B655707}"/>
                    </a:ext>
                  </a:extLst>
                </p:cNvPr>
                <p:cNvSpPr txBox="1"/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9F4B60C-E52B-87F5-84D3-39F10B655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D0F413-7ECF-8B67-1BA0-CAAA65737813}"/>
                    </a:ext>
                  </a:extLst>
                </p:cNvPr>
                <p:cNvSpPr txBox="1"/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D0F413-7ECF-8B67-1BA0-CAAA657378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375A5E9-3751-C08B-4D06-3620C0E51632}"/>
                    </a:ext>
                  </a:extLst>
                </p:cNvPr>
                <p:cNvSpPr txBox="1"/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375A5E9-3751-C08B-4D06-3620C0E51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5979B11-B5DC-6344-9DEE-EBC58E21B6EF}"/>
                    </a:ext>
                  </a:extLst>
                </p:cNvPr>
                <p:cNvSpPr txBox="1"/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5979B11-B5DC-6344-9DEE-EBC58E21B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C9FC4B6-46AE-C347-B532-78193031C768}"/>
                    </a:ext>
                  </a:extLst>
                </p:cNvPr>
                <p:cNvSpPr txBox="1"/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C9FC4B6-46AE-C347-B532-78193031C7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2E4811D-FE2C-98D3-48D2-B44B2B48664B}"/>
                    </a:ext>
                  </a:extLst>
                </p:cNvPr>
                <p:cNvSpPr txBox="1"/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2E4811D-FE2C-98D3-48D2-B44B2B486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1B16F18-90E1-6237-AADF-CAE235427F28}"/>
                    </a:ext>
                  </a:extLst>
                </p:cNvPr>
                <p:cNvSpPr txBox="1"/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1B16F18-90E1-6237-AADF-CAE235427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822890A-65C0-18E8-6694-6AB1B85D1D82}"/>
                    </a:ext>
                  </a:extLst>
                </p:cNvPr>
                <p:cNvSpPr txBox="1"/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822890A-65C0-18E8-6694-6AB1B85D1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blipFill>
                  <a:blip r:embed="rId11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EAC7F0-CBD5-B342-D889-3C632EE2F53D}"/>
                    </a:ext>
                  </a:extLst>
                </p:cNvPr>
                <p:cNvSpPr txBox="1"/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EAC7F0-CBD5-B342-D889-3C632EE2F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3A0F1DE-590F-9820-436F-2E907C0BC3C8}"/>
                    </a:ext>
                  </a:extLst>
                </p:cNvPr>
                <p:cNvSpPr txBox="1"/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3A0F1DE-590F-9820-436F-2E907C0BC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1801570-030B-D470-4AF9-1E15A771441A}"/>
                    </a:ext>
                  </a:extLst>
                </p:cNvPr>
                <p:cNvSpPr txBox="1"/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1801570-030B-D470-4AF9-1E15A77144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0D4C7B0-E5F8-A0DD-70B3-F5AD6ED5A124}"/>
                    </a:ext>
                  </a:extLst>
                </p:cNvPr>
                <p:cNvSpPr txBox="1"/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0D4C7B0-E5F8-A0DD-70B3-F5AD6ED5A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805ED24-4BF4-0A7D-F92C-335DC0C46E3F}"/>
                    </a:ext>
                  </a:extLst>
                </p:cNvPr>
                <p:cNvSpPr txBox="1"/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805ED24-4BF4-0A7D-F92C-335DC0C46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D357D33-0D03-BCB1-F7B9-8C45CFC9AA88}"/>
                    </a:ext>
                  </a:extLst>
                </p:cNvPr>
                <p:cNvSpPr txBox="1"/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D357D33-0D03-BCB1-F7B9-8C45CFC9AA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E65D658-17BF-4D6C-E938-7009EC206E40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283787"/>
              <a:ext cx="1927062" cy="689399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ACD5FE7-AFB0-13A2-CDD1-E044AA2EF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459249"/>
              <a:ext cx="1892427" cy="642354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E822BD7-B6D2-37A0-0A9D-F7CE826A039F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778169"/>
              <a:ext cx="1899407" cy="37291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0AEFB7A-4B25-E47D-41C1-F69EBAE7DC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322834"/>
              <a:ext cx="1892427" cy="2609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Donut 34">
              <a:extLst>
                <a:ext uri="{FF2B5EF4-FFF2-40B4-BE49-F238E27FC236}">
                  <a16:creationId xmlns:a16="http://schemas.microsoft.com/office/drawing/2014/main" id="{723211F2-D9B7-D498-DA66-2B4D30A24F65}"/>
                </a:ext>
              </a:extLst>
            </p:cNvPr>
            <p:cNvSpPr/>
            <p:nvPr/>
          </p:nvSpPr>
          <p:spPr>
            <a:xfrm>
              <a:off x="8216684" y="4822921"/>
              <a:ext cx="782901" cy="782901"/>
            </a:xfrm>
            <a:prstGeom prst="donut">
              <a:avLst>
                <a:gd name="adj" fmla="val 744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Mean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8DBCCCD-FDB4-088B-1A20-D3C6DF3E5EF3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8999585" y="5214372"/>
              <a:ext cx="948993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C055EAB-AA7E-23BF-4454-F9885B411538}"/>
                    </a:ext>
                  </a:extLst>
                </p:cNvPr>
                <p:cNvSpPr txBox="1"/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𝐸𝐿𝐵𝑂</m:t>
                        </m:r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C055EAB-AA7E-23BF-4454-F9885B4115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1691B17-D74E-EED7-0B37-0F1864CE0339}"/>
              </a:ext>
            </a:extLst>
          </p:cNvPr>
          <p:cNvSpPr txBox="1"/>
          <p:nvPr/>
        </p:nvSpPr>
        <p:spPr>
          <a:xfrm>
            <a:off x="4263843" y="5613842"/>
            <a:ext cx="113011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Stochastic</a:t>
            </a:r>
            <a:r>
              <a:rPr lang="en-US" altLang="ko-KR" dirty="0"/>
              <a:t>!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1B800A4-9ABE-EB87-3D90-7094EF47984A}"/>
                  </a:ext>
                </a:extLst>
              </p:cNvPr>
              <p:cNvSpPr txBox="1"/>
              <p:nvPr/>
            </p:nvSpPr>
            <p:spPr>
              <a:xfrm>
                <a:off x="4026555" y="5092588"/>
                <a:ext cx="1604695" cy="421590"/>
              </a:xfrm>
              <a:prstGeom prst="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1B800A4-9ABE-EB87-3D90-7094EF479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555" y="5092588"/>
                <a:ext cx="1604695" cy="421590"/>
              </a:xfrm>
              <a:prstGeom prst="rect">
                <a:avLst/>
              </a:prstGeom>
              <a:blipFill>
                <a:blip r:embed="rId17"/>
                <a:stretch>
                  <a:fillRect r="-3876"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6222D8-D911-B181-67B0-B2FCD134F77E}"/>
                  </a:ext>
                </a:extLst>
              </p:cNvPr>
              <p:cNvSpPr txBox="1"/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6222D8-D911-B181-67B0-B2FCD134F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blipFill>
                <a:blip r:embed="rId18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8E21E8DA-41C7-718F-8893-AF47B8E71A1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22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127F4-1C53-9AEF-AA39-3A8ACE2A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3ACA16-CF7D-EF2F-0684-10819085D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6137834"/>
          </a:xfrm>
        </p:spPr>
        <p:txBody>
          <a:bodyPr/>
          <a:lstStyle/>
          <a:p>
            <a:pPr lvl="4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Variational Autoencoder(VAE)</a:t>
            </a:r>
            <a:br>
              <a:rPr lang="en-US" dirty="0"/>
            </a:br>
            <a:br>
              <a:rPr lang="en-US" sz="2400" i="1" dirty="0">
                <a:latin typeface="Cambria Math" panose="02040503050406030204" pitchFamily="18" charset="0"/>
              </a:rPr>
            </a:b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EB0420-8DF6-93C8-17F5-319D10945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E5CD64F-13F6-3614-AC7E-D8377F3DA83E}"/>
              </a:ext>
            </a:extLst>
          </p:cNvPr>
          <p:cNvGrpSpPr/>
          <p:nvPr/>
        </p:nvGrpSpPr>
        <p:grpSpPr>
          <a:xfrm>
            <a:off x="477109" y="2782398"/>
            <a:ext cx="13793956" cy="2206084"/>
            <a:chOff x="-10571" y="4076360"/>
            <a:chExt cx="13793956" cy="2206084"/>
          </a:xfrm>
        </p:grpSpPr>
        <p:pic>
          <p:nvPicPr>
            <p:cNvPr id="9" name="Picture 8" descr="Multivariate Normal Distribution | Brilliant Math &amp; Science Wiki">
              <a:extLst>
                <a:ext uri="{FF2B5EF4-FFF2-40B4-BE49-F238E27FC236}">
                  <a16:creationId xmlns:a16="http://schemas.microsoft.com/office/drawing/2014/main" id="{71D61CC1-FC14-6119-7C0C-E66C2F70EF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90476" l="15179" r="90030">
                          <a14:foregroundMark x1="84375" y1="71230" x2="83333" y2="74405"/>
                          <a14:foregroundMark x1="83333" y1="73413" x2="84821" y2="74008"/>
                          <a14:foregroundMark x1="90030" y1="75397" x2="89732" y2="77778"/>
                          <a14:foregroundMark x1="51637" y1="90476" x2="51190" y2="890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86" t="23155" r="5545" b="5310"/>
            <a:stretch>
              <a:fillRect/>
            </a:stretch>
          </p:blipFill>
          <p:spPr bwMode="auto">
            <a:xfrm>
              <a:off x="-10571" y="4142352"/>
              <a:ext cx="3438505" cy="2097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C335800-EFF1-BF52-5F44-91CC3C45B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681" y="4337696"/>
              <a:ext cx="2426028" cy="19210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96C6B2A-690C-DE3C-8B58-37E4B8BDCC30}"/>
                </a:ext>
              </a:extLst>
            </p:cNvPr>
            <p:cNvCxnSpPr>
              <a:cxnSpLocks/>
            </p:cNvCxnSpPr>
            <p:nvPr/>
          </p:nvCxnSpPr>
          <p:spPr>
            <a:xfrm>
              <a:off x="1982352" y="4793712"/>
              <a:ext cx="2152357" cy="0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BF77903-3D91-C30D-77F1-39ADECCAB83D}"/>
                </a:ext>
              </a:extLst>
            </p:cNvPr>
            <p:cNvCxnSpPr>
              <a:cxnSpLocks/>
            </p:cNvCxnSpPr>
            <p:nvPr/>
          </p:nvCxnSpPr>
          <p:spPr>
            <a:xfrm>
              <a:off x="1290691" y="5213398"/>
              <a:ext cx="2844018" cy="175369"/>
            </a:xfrm>
            <a:prstGeom prst="straightConnector1">
              <a:avLst/>
            </a:prstGeom>
            <a:ln w="25400">
              <a:solidFill>
                <a:schemeClr val="accent6">
                  <a:lumMod val="50000"/>
                  <a:alpha val="67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4BAF8B8-3321-DD75-A34A-FC36232EF907}"/>
                </a:ext>
              </a:extLst>
            </p:cNvPr>
            <p:cNvCxnSpPr>
              <a:cxnSpLocks/>
            </p:cNvCxnSpPr>
            <p:nvPr/>
          </p:nvCxnSpPr>
          <p:spPr>
            <a:xfrm>
              <a:off x="1476042" y="5720347"/>
              <a:ext cx="2658667" cy="381256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5C2E77F-DD6B-3D95-3DA6-CB721DB981F9}"/>
                    </a:ext>
                  </a:extLst>
                </p:cNvPr>
                <p:cNvSpPr txBox="1"/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5C2E77F-DD6B-3D95-3DA6-CB721DB98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6F8223C-2D71-318C-10E3-9A41C64967DE}"/>
                    </a:ext>
                  </a:extLst>
                </p:cNvPr>
                <p:cNvSpPr txBox="1"/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6F8223C-2D71-318C-10E3-9A41C64967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9CA10FB-D30F-9EE4-1E2A-E2ED79113E0B}"/>
                    </a:ext>
                  </a:extLst>
                </p:cNvPr>
                <p:cNvSpPr txBox="1"/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9CA10FB-D30F-9EE4-1E2A-E2ED79113E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F0C4BF4-5F60-4F9E-300E-6FCABE2AC8F1}"/>
                    </a:ext>
                  </a:extLst>
                </p:cNvPr>
                <p:cNvSpPr txBox="1"/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F0C4BF4-5F60-4F9E-300E-6FCABE2AC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8225918-B78C-329A-8592-4CF36DEFB7BD}"/>
                    </a:ext>
                  </a:extLst>
                </p:cNvPr>
                <p:cNvSpPr txBox="1"/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8225918-B78C-329A-8592-4CF36DEFB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F92E94B-7CA5-904F-65DE-C84790C7DEC5}"/>
                    </a:ext>
                  </a:extLst>
                </p:cNvPr>
                <p:cNvSpPr txBox="1"/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F92E94B-7CA5-904F-65DE-C84790C7DE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C805179-6F51-6056-77BD-630C04F8D082}"/>
                    </a:ext>
                  </a:extLst>
                </p:cNvPr>
                <p:cNvSpPr txBox="1"/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C805179-6F51-6056-77BD-630C04F8D0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2A0F40-767E-E9EA-8BA7-F6E225DFF589}"/>
                    </a:ext>
                  </a:extLst>
                </p:cNvPr>
                <p:cNvSpPr txBox="1"/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2A0F40-767E-E9EA-8BA7-F6E225DFF5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blipFill>
                  <a:blip r:embed="rId11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EA17BB5-7537-20C7-3A66-73A48BCFCFDD}"/>
                    </a:ext>
                  </a:extLst>
                </p:cNvPr>
                <p:cNvSpPr txBox="1"/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EA17BB5-7537-20C7-3A66-73A48BCFC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E40AB8-ED70-0377-C934-75864AE8A4F4}"/>
                    </a:ext>
                  </a:extLst>
                </p:cNvPr>
                <p:cNvSpPr txBox="1"/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E40AB8-ED70-0377-C934-75864AE8A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AB64787-2B2D-5462-04C4-FC304CABBDA5}"/>
                    </a:ext>
                  </a:extLst>
                </p:cNvPr>
                <p:cNvSpPr txBox="1"/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AB64787-2B2D-5462-04C4-FC304CABBD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483A5F1-786D-8C70-CA60-348BB6D5507A}"/>
                    </a:ext>
                  </a:extLst>
                </p:cNvPr>
                <p:cNvSpPr txBox="1"/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483A5F1-786D-8C70-CA60-348BB6D55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225A4A2-BE35-AE72-64B6-F3D8E1C02089}"/>
                    </a:ext>
                  </a:extLst>
                </p:cNvPr>
                <p:cNvSpPr txBox="1"/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225A4A2-BE35-AE72-64B6-F3D8E1C020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33F3A91-FAAC-36C9-08A5-36D36E837149}"/>
                    </a:ext>
                  </a:extLst>
                </p:cNvPr>
                <p:cNvSpPr txBox="1"/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33F3A91-FAAC-36C9-08A5-36D36E837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7722FC1-09D2-0564-1019-39F7D9B6ECD7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283787"/>
              <a:ext cx="1927062" cy="689399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E5A9B95-7ADE-7CF3-5AB1-189512EE0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459249"/>
              <a:ext cx="1892427" cy="642354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4E47638-5ADD-4AFF-592D-959A21503803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778169"/>
              <a:ext cx="1899407" cy="37291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BF3EE0C-1810-2817-31EE-ECFC3B3B8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322834"/>
              <a:ext cx="1892427" cy="2609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Donut 34">
              <a:extLst>
                <a:ext uri="{FF2B5EF4-FFF2-40B4-BE49-F238E27FC236}">
                  <a16:creationId xmlns:a16="http://schemas.microsoft.com/office/drawing/2014/main" id="{660A7EB0-5465-D1DF-B6B4-C9718B6F6A69}"/>
                </a:ext>
              </a:extLst>
            </p:cNvPr>
            <p:cNvSpPr/>
            <p:nvPr/>
          </p:nvSpPr>
          <p:spPr>
            <a:xfrm>
              <a:off x="8216684" y="4822921"/>
              <a:ext cx="782901" cy="782901"/>
            </a:xfrm>
            <a:prstGeom prst="donut">
              <a:avLst>
                <a:gd name="adj" fmla="val 744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Mean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F71C9D3-F557-EBE1-D8A4-70B3CEFB28E9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8999585" y="5214372"/>
              <a:ext cx="948993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B71F6A9-A945-D648-64E2-C0C55FA663C8}"/>
                    </a:ext>
                  </a:extLst>
                </p:cNvPr>
                <p:cNvSpPr txBox="1"/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𝐸𝐿𝐵𝑂</m:t>
                        </m:r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B71F6A9-A945-D648-64E2-C0C55FA66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ight Arrow 4">
            <a:extLst>
              <a:ext uri="{FF2B5EF4-FFF2-40B4-BE49-F238E27FC236}">
                <a16:creationId xmlns:a16="http://schemas.microsoft.com/office/drawing/2014/main" id="{8AA9F222-4DA4-AE13-0FE5-931DEBA5C6B2}"/>
              </a:ext>
            </a:extLst>
          </p:cNvPr>
          <p:cNvSpPr/>
          <p:nvPr/>
        </p:nvSpPr>
        <p:spPr>
          <a:xfrm rot="10800000">
            <a:off x="4780666" y="5286391"/>
            <a:ext cx="6280340" cy="2503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92DA94-83EE-DFE2-20ED-31CB24F7C660}"/>
                  </a:ext>
                </a:extLst>
              </p:cNvPr>
              <p:cNvSpPr txBox="1"/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92DA94-83EE-DFE2-20ED-31CB24F7C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blipFill>
                <a:blip r:embed="rId1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85DB08F-9294-E4EF-74CD-D1148D37D8E3}"/>
              </a:ext>
            </a:extLst>
          </p:cNvPr>
          <p:cNvSpPr txBox="1"/>
          <p:nvPr/>
        </p:nvSpPr>
        <p:spPr>
          <a:xfrm>
            <a:off x="9265194" y="4988786"/>
            <a:ext cx="17809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Backpropagation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0AA791E-5AAC-E688-33B3-FFBA33E135C2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589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AEEA0-74F7-22C0-2DC9-AC9E0CF79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F1CABE-F9D4-7032-CAB6-30979A79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6137834"/>
          </a:xfrm>
        </p:spPr>
        <p:txBody>
          <a:bodyPr/>
          <a:lstStyle/>
          <a:p>
            <a:pPr lvl="4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Variational Autoencoder(VAE)</a:t>
            </a:r>
            <a:br>
              <a:rPr lang="en-US" dirty="0"/>
            </a:br>
            <a:br>
              <a:rPr lang="en-US" sz="2400" i="1" dirty="0">
                <a:latin typeface="Cambria Math" panose="02040503050406030204" pitchFamily="18" charset="0"/>
              </a:rPr>
            </a:b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CA1A52-4655-4E06-F8E0-A62D40DE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F2D22C-F2C5-7DEA-39F2-B19952A2DF4F}"/>
              </a:ext>
            </a:extLst>
          </p:cNvPr>
          <p:cNvGrpSpPr/>
          <p:nvPr/>
        </p:nvGrpSpPr>
        <p:grpSpPr>
          <a:xfrm>
            <a:off x="477109" y="2782398"/>
            <a:ext cx="13793956" cy="2206084"/>
            <a:chOff x="-10571" y="4076360"/>
            <a:chExt cx="13793956" cy="2206084"/>
          </a:xfrm>
        </p:grpSpPr>
        <p:pic>
          <p:nvPicPr>
            <p:cNvPr id="9" name="Picture 8" descr="Multivariate Normal Distribution | Brilliant Math &amp; Science Wiki">
              <a:extLst>
                <a:ext uri="{FF2B5EF4-FFF2-40B4-BE49-F238E27FC236}">
                  <a16:creationId xmlns:a16="http://schemas.microsoft.com/office/drawing/2014/main" id="{75011CFE-F98C-9065-CC6B-CA324A5D94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90476" l="15179" r="90030">
                          <a14:foregroundMark x1="84375" y1="71230" x2="83333" y2="74405"/>
                          <a14:foregroundMark x1="83333" y1="73413" x2="84821" y2="74008"/>
                          <a14:foregroundMark x1="90030" y1="75397" x2="89732" y2="77778"/>
                          <a14:foregroundMark x1="51637" y1="90476" x2="51190" y2="890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86" t="23155" r="5545" b="5310"/>
            <a:stretch>
              <a:fillRect/>
            </a:stretch>
          </p:blipFill>
          <p:spPr bwMode="auto">
            <a:xfrm>
              <a:off x="-10571" y="4142352"/>
              <a:ext cx="3438505" cy="2097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B9412B3-F26F-32DF-FF4A-16A67CDDA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681" y="4337696"/>
              <a:ext cx="2426028" cy="19210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8AC451E-D1EE-52F8-30A1-768E6564254C}"/>
                </a:ext>
              </a:extLst>
            </p:cNvPr>
            <p:cNvCxnSpPr>
              <a:cxnSpLocks/>
            </p:cNvCxnSpPr>
            <p:nvPr/>
          </p:nvCxnSpPr>
          <p:spPr>
            <a:xfrm>
              <a:off x="1982352" y="4793712"/>
              <a:ext cx="2152357" cy="0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E3470FC-7CF6-222E-64ED-7224CE596CA3}"/>
                </a:ext>
              </a:extLst>
            </p:cNvPr>
            <p:cNvCxnSpPr>
              <a:cxnSpLocks/>
            </p:cNvCxnSpPr>
            <p:nvPr/>
          </p:nvCxnSpPr>
          <p:spPr>
            <a:xfrm>
              <a:off x="1290691" y="5213398"/>
              <a:ext cx="2844018" cy="175369"/>
            </a:xfrm>
            <a:prstGeom prst="straightConnector1">
              <a:avLst/>
            </a:prstGeom>
            <a:ln w="25400">
              <a:solidFill>
                <a:schemeClr val="accent6">
                  <a:lumMod val="50000"/>
                  <a:alpha val="67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4B5B009-21A0-D054-D2C2-7E22D7BDE255}"/>
                </a:ext>
              </a:extLst>
            </p:cNvPr>
            <p:cNvCxnSpPr>
              <a:cxnSpLocks/>
            </p:cNvCxnSpPr>
            <p:nvPr/>
          </p:nvCxnSpPr>
          <p:spPr>
            <a:xfrm>
              <a:off x="1476042" y="5720347"/>
              <a:ext cx="2658667" cy="381256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2B9ADA5-5730-F085-C100-2C46A40D7F33}"/>
                    </a:ext>
                  </a:extLst>
                </p:cNvPr>
                <p:cNvSpPr txBox="1"/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2B9ADA5-5730-F085-C100-2C46A40D7F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904BB11-FC34-D162-C684-0DC715510FD2}"/>
                    </a:ext>
                  </a:extLst>
                </p:cNvPr>
                <p:cNvSpPr txBox="1"/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904BB11-FC34-D162-C684-0DC715510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F25DA2E-3E44-5DB2-451F-53B66DD7DC4E}"/>
                    </a:ext>
                  </a:extLst>
                </p:cNvPr>
                <p:cNvSpPr txBox="1"/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F25DA2E-3E44-5DB2-451F-53B66DD7D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14D2838-4225-EE60-15EA-BEBA5896DB62}"/>
                    </a:ext>
                  </a:extLst>
                </p:cNvPr>
                <p:cNvSpPr txBox="1"/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14D2838-4225-EE60-15EA-BEBA5896DB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67C107-A94E-35E1-CB1C-DDBC59F9040A}"/>
                    </a:ext>
                  </a:extLst>
                </p:cNvPr>
                <p:cNvSpPr txBox="1"/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67C107-A94E-35E1-CB1C-DDBC59F904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A69F203-439C-BEC7-1EDE-09DE37AC938C}"/>
                    </a:ext>
                  </a:extLst>
                </p:cNvPr>
                <p:cNvSpPr txBox="1"/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A69F203-439C-BEC7-1EDE-09DE37AC9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7C64CEC-7A39-EC3E-EB31-A5EFF691EDC1}"/>
                    </a:ext>
                  </a:extLst>
                </p:cNvPr>
                <p:cNvSpPr txBox="1"/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7C64CEC-7A39-EC3E-EB31-A5EFF691ED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F819677-41B4-19CC-5DEE-B8828837E25C}"/>
                    </a:ext>
                  </a:extLst>
                </p:cNvPr>
                <p:cNvSpPr txBox="1"/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F819677-41B4-19CC-5DEE-B8828837E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blipFill>
                  <a:blip r:embed="rId11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EBF1203-2F53-6B58-EE5A-95058284D512}"/>
                    </a:ext>
                  </a:extLst>
                </p:cNvPr>
                <p:cNvSpPr txBox="1"/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EBF1203-2F53-6B58-EE5A-95058284D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171827-A2D3-6C07-C9BE-31CD3A02EED4}"/>
                    </a:ext>
                  </a:extLst>
                </p:cNvPr>
                <p:cNvSpPr txBox="1"/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171827-A2D3-6C07-C9BE-31CD3A02E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379AB46-D5E1-951F-953B-492EE7A05224}"/>
                    </a:ext>
                  </a:extLst>
                </p:cNvPr>
                <p:cNvSpPr txBox="1"/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379AB46-D5E1-951F-953B-492EE7A052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20BC585-4F59-F662-4A53-6D75282174A2}"/>
                    </a:ext>
                  </a:extLst>
                </p:cNvPr>
                <p:cNvSpPr txBox="1"/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20BC585-4F59-F662-4A53-6D7528217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030A048-A2EE-179F-C775-57F0AA3D7F80}"/>
                    </a:ext>
                  </a:extLst>
                </p:cNvPr>
                <p:cNvSpPr txBox="1"/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030A048-A2EE-179F-C775-57F0AA3D7F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061754-55D5-B425-7B04-30CF91C3411D}"/>
                    </a:ext>
                  </a:extLst>
                </p:cNvPr>
                <p:cNvSpPr txBox="1"/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061754-55D5-B425-7B04-30CF91C34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0EA7D89-3A6F-0715-4ADE-8D6B7FF8988E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283787"/>
              <a:ext cx="1927062" cy="689399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1017CE7-5BDC-4B47-0136-33FA76125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459249"/>
              <a:ext cx="1892427" cy="642354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3E9688-93F0-0C42-88DF-3E58E095912A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778169"/>
              <a:ext cx="1899407" cy="37291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EE77787-27AD-663C-DCF0-6D978EE55C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322834"/>
              <a:ext cx="1892427" cy="2609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Donut 34">
              <a:extLst>
                <a:ext uri="{FF2B5EF4-FFF2-40B4-BE49-F238E27FC236}">
                  <a16:creationId xmlns:a16="http://schemas.microsoft.com/office/drawing/2014/main" id="{84784A87-975E-356A-6B9B-9FBF6B9B437A}"/>
                </a:ext>
              </a:extLst>
            </p:cNvPr>
            <p:cNvSpPr/>
            <p:nvPr/>
          </p:nvSpPr>
          <p:spPr>
            <a:xfrm>
              <a:off x="8216684" y="4822921"/>
              <a:ext cx="782901" cy="782901"/>
            </a:xfrm>
            <a:prstGeom prst="donut">
              <a:avLst>
                <a:gd name="adj" fmla="val 744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Mean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3697084-1123-85BB-AA66-6426CF041587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8999585" y="5214372"/>
              <a:ext cx="948993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CCEAB37-3DAF-4DF3-8A7D-6D9AE2121E6D}"/>
                    </a:ext>
                  </a:extLst>
                </p:cNvPr>
                <p:cNvSpPr txBox="1"/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𝐸𝐿𝐵𝑂</m:t>
                        </m:r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CCEAB37-3DAF-4DF3-8A7D-6D9AE2121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ight Arrow 4">
            <a:extLst>
              <a:ext uri="{FF2B5EF4-FFF2-40B4-BE49-F238E27FC236}">
                <a16:creationId xmlns:a16="http://schemas.microsoft.com/office/drawing/2014/main" id="{78E4F488-7F0E-5905-9337-F350E8ECA381}"/>
              </a:ext>
            </a:extLst>
          </p:cNvPr>
          <p:cNvSpPr/>
          <p:nvPr/>
        </p:nvSpPr>
        <p:spPr>
          <a:xfrm rot="10800000">
            <a:off x="4780666" y="5286391"/>
            <a:ext cx="6280340" cy="2503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76C10F-7DB1-C55C-73AF-02B54B31ECF8}"/>
                  </a:ext>
                </a:extLst>
              </p:cNvPr>
              <p:cNvSpPr txBox="1"/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76C10F-7DB1-C55C-73AF-02B54B31E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blipFill>
                <a:blip r:embed="rId1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D2A341-7169-0AA8-D9CF-8474670EFFDA}"/>
                  </a:ext>
                </a:extLst>
              </p:cNvPr>
              <p:cNvSpPr txBox="1"/>
              <p:nvPr/>
            </p:nvSpPr>
            <p:spPr>
              <a:xfrm>
                <a:off x="2274182" y="5107354"/>
                <a:ext cx="2348207" cy="607282"/>
              </a:xfrm>
              <a:prstGeom prst="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𝐸𝐿𝐵𝑂</m:t>
                          </m:r>
                        </m:num>
                        <m:den>
                          <m:r>
                            <a:rPr lang="en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𝐸𝐿𝐵𝑂</m:t>
                          </m:r>
                        </m:num>
                        <m:den>
                          <m:r>
                            <a:rPr lang="en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K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K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D2A341-7169-0AA8-D9CF-8474670EF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182" y="5107354"/>
                <a:ext cx="2348207" cy="607282"/>
              </a:xfrm>
              <a:prstGeom prst="rect">
                <a:avLst/>
              </a:prstGeom>
              <a:blipFill>
                <a:blip r:embed="rId18"/>
                <a:stretch>
                  <a:fillRect l="-1604" t="-2000" r="-535" b="-12000"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1C72512-83FF-D3DA-BB22-0DEB9DA85D8F}"/>
              </a:ext>
            </a:extLst>
          </p:cNvPr>
          <p:cNvSpPr txBox="1"/>
          <p:nvPr/>
        </p:nvSpPr>
        <p:spPr>
          <a:xfrm>
            <a:off x="9265194" y="4988786"/>
            <a:ext cx="17809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Backpropagation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962F3767-2C00-7847-1706-C69ABFAF279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559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2795-6D6A-011A-93B2-E831B554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690598-EE4B-97DA-D7DF-5B07B034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6137834"/>
          </a:xfrm>
        </p:spPr>
        <p:txBody>
          <a:bodyPr/>
          <a:lstStyle/>
          <a:p>
            <a:pPr lvl="4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Variational Autoencoder(VAE)</a:t>
            </a:r>
            <a:br>
              <a:rPr lang="en-US" dirty="0"/>
            </a:br>
            <a:br>
              <a:rPr lang="en-US" sz="2400" i="1" dirty="0">
                <a:latin typeface="Cambria Math" panose="02040503050406030204" pitchFamily="18" charset="0"/>
              </a:rPr>
            </a:b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2400" b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4F256A-2975-1D45-D8BB-B13A1960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F56566-0EBB-6B90-E800-A6004695EA6B}"/>
              </a:ext>
            </a:extLst>
          </p:cNvPr>
          <p:cNvGrpSpPr/>
          <p:nvPr/>
        </p:nvGrpSpPr>
        <p:grpSpPr>
          <a:xfrm>
            <a:off x="477109" y="2782398"/>
            <a:ext cx="13793956" cy="2206084"/>
            <a:chOff x="-10571" y="4076360"/>
            <a:chExt cx="13793956" cy="2206084"/>
          </a:xfrm>
        </p:grpSpPr>
        <p:pic>
          <p:nvPicPr>
            <p:cNvPr id="9" name="Picture 8" descr="Multivariate Normal Distribution | Brilliant Math &amp; Science Wiki">
              <a:extLst>
                <a:ext uri="{FF2B5EF4-FFF2-40B4-BE49-F238E27FC236}">
                  <a16:creationId xmlns:a16="http://schemas.microsoft.com/office/drawing/2014/main" id="{1F7DA80C-5EFB-8A9D-4316-970E43E35B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90476" l="15179" r="90030">
                          <a14:foregroundMark x1="84375" y1="71230" x2="83333" y2="74405"/>
                          <a14:foregroundMark x1="83333" y1="73413" x2="84821" y2="74008"/>
                          <a14:foregroundMark x1="90030" y1="75397" x2="89732" y2="77778"/>
                          <a14:foregroundMark x1="51637" y1="90476" x2="51190" y2="890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86" t="23155" r="5545" b="5310"/>
            <a:stretch>
              <a:fillRect/>
            </a:stretch>
          </p:blipFill>
          <p:spPr bwMode="auto">
            <a:xfrm>
              <a:off x="-10571" y="4142352"/>
              <a:ext cx="3438505" cy="2097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A49BA8C-77E0-00AB-1876-C5F0326123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681" y="4337696"/>
              <a:ext cx="2426028" cy="19210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16733B-83CB-2F7F-89D9-5CC11D1F16A4}"/>
                </a:ext>
              </a:extLst>
            </p:cNvPr>
            <p:cNvCxnSpPr>
              <a:cxnSpLocks/>
            </p:cNvCxnSpPr>
            <p:nvPr/>
          </p:nvCxnSpPr>
          <p:spPr>
            <a:xfrm>
              <a:off x="1982352" y="4793712"/>
              <a:ext cx="2152357" cy="0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E61497F-8F99-463D-2CCC-887D526CC717}"/>
                </a:ext>
              </a:extLst>
            </p:cNvPr>
            <p:cNvCxnSpPr>
              <a:cxnSpLocks/>
            </p:cNvCxnSpPr>
            <p:nvPr/>
          </p:nvCxnSpPr>
          <p:spPr>
            <a:xfrm>
              <a:off x="1290691" y="5213398"/>
              <a:ext cx="2844018" cy="175369"/>
            </a:xfrm>
            <a:prstGeom prst="straightConnector1">
              <a:avLst/>
            </a:prstGeom>
            <a:ln w="25400">
              <a:solidFill>
                <a:schemeClr val="accent6">
                  <a:lumMod val="50000"/>
                  <a:alpha val="67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49EEC6C-75BA-7241-E47A-05EE86F3C232}"/>
                </a:ext>
              </a:extLst>
            </p:cNvPr>
            <p:cNvCxnSpPr>
              <a:cxnSpLocks/>
            </p:cNvCxnSpPr>
            <p:nvPr/>
          </p:nvCxnSpPr>
          <p:spPr>
            <a:xfrm>
              <a:off x="1476042" y="5720347"/>
              <a:ext cx="2658667" cy="381256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B3DD13C-791E-55A2-C379-EA760126A218}"/>
                    </a:ext>
                  </a:extLst>
                </p:cNvPr>
                <p:cNvSpPr txBox="1"/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B3DD13C-791E-55A2-C379-EA760126A2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882334"/>
                  <a:ext cx="642112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48BD31D-7521-9BDA-917A-996CF2593011}"/>
                    </a:ext>
                  </a:extLst>
                </p:cNvPr>
                <p:cNvSpPr txBox="1"/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48BD31D-7521-9BDA-917A-996CF2593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5174055"/>
                  <a:ext cx="642112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E2F95D3-B23C-B437-0A11-7174EB5837AD}"/>
                    </a:ext>
                  </a:extLst>
                </p:cNvPr>
                <p:cNvSpPr txBox="1"/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E2F95D3-B23C-B437-0A11-7174EB583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593657"/>
                  <a:ext cx="642112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1A2D1BB-2744-D7D6-075B-C625B1EB0DD5}"/>
                    </a:ext>
                  </a:extLst>
                </p:cNvPr>
                <p:cNvSpPr txBox="1"/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1A2D1BB-2744-D7D6-075B-C625B1EB0D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931" y="4083732"/>
                  <a:ext cx="642112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FEBF342-F310-35F8-97A8-4AFE69E3F95A}"/>
                    </a:ext>
                  </a:extLst>
                </p:cNvPr>
                <p:cNvSpPr txBox="1"/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FEBF342-F310-35F8-97A8-4AFE69E3F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4932077"/>
                  <a:ext cx="13305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60E8067-8313-13DD-9589-7AB82AC9E640}"/>
                    </a:ext>
                  </a:extLst>
                </p:cNvPr>
                <p:cNvSpPr txBox="1"/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60E8067-8313-13DD-9589-7AB82AC9E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986" y="5584909"/>
                  <a:ext cx="13305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6364" r="-36364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66BE195-6C36-4A4E-0B95-1D29CBE29DC4}"/>
                    </a:ext>
                  </a:extLst>
                </p:cNvPr>
                <p:cNvSpPr txBox="1"/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66BE195-6C36-4A4E-0B95-1D29CBE29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076360"/>
                  <a:ext cx="6421270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DE55562-1F21-0005-B83D-6AD53C529A03}"/>
                    </a:ext>
                  </a:extLst>
                </p:cNvPr>
                <p:cNvSpPr txBox="1"/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DE55562-1F21-0005-B83D-6AD53C529A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4581149"/>
                  <a:ext cx="6421270" cy="400110"/>
                </a:xfrm>
                <a:prstGeom prst="rect">
                  <a:avLst/>
                </a:prstGeom>
                <a:blipFill>
                  <a:blip r:embed="rId11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764881E-FE3D-C3D1-0181-907573979AEF}"/>
                    </a:ext>
                  </a:extLst>
                </p:cNvPr>
                <p:cNvSpPr txBox="1"/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764881E-FE3D-C3D1-0181-907573979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156894"/>
                  <a:ext cx="6421270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9BFFB24-C580-1535-F17C-6B30F9BD04C5}"/>
                    </a:ext>
                  </a:extLst>
                </p:cNvPr>
                <p:cNvSpPr txBox="1"/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2000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9BFFB24-C580-1535-F17C-6B30F9BD0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956" y="5868492"/>
                  <a:ext cx="6421270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2ED3D69-0100-98D0-3908-976E2A97B5BA}"/>
                    </a:ext>
                  </a:extLst>
                </p:cNvPr>
                <p:cNvSpPr txBox="1"/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2ED3D69-0100-98D0-3908-976E2A97B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8A743FB-DA6F-3CC1-64DD-C21EE10B8E9D}"/>
                    </a:ext>
                  </a:extLst>
                </p:cNvPr>
                <p:cNvSpPr txBox="1"/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8A743FB-DA6F-3CC1-64DD-C21EE10B8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48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5000" r="-25000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70B2A76-504A-4AD8-E809-6C917E426C68}"/>
                    </a:ext>
                  </a:extLst>
                </p:cNvPr>
                <p:cNvSpPr txBox="1"/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70B2A76-504A-4AD8-E809-6C917E426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6" y="4932077"/>
                  <a:ext cx="13305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0D08A09-DE09-9FA9-3C22-F31FA1875B58}"/>
                    </a:ext>
                  </a:extLst>
                </p:cNvPr>
                <p:cNvSpPr txBox="1"/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KR" dirty="0" err="1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0D08A09-DE09-9FA9-3C22-F31FA1875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645" y="5582707"/>
                  <a:ext cx="1330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6364" r="-27273" b="-434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B0433BB-BA07-2721-8D72-88F1C6AC1938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283787"/>
              <a:ext cx="1927062" cy="689399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E28B3DE-C0E6-A50A-C449-6BCF1A993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459249"/>
              <a:ext cx="1892427" cy="642354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C86A200-B09E-1928-0613-37722D52F6D6}"/>
                </a:ext>
              </a:extLst>
            </p:cNvPr>
            <p:cNvCxnSpPr>
              <a:cxnSpLocks/>
            </p:cNvCxnSpPr>
            <p:nvPr/>
          </p:nvCxnSpPr>
          <p:spPr>
            <a:xfrm>
              <a:off x="6325443" y="4778169"/>
              <a:ext cx="1899407" cy="37291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2463E51-A623-B0E2-FADA-D6CEAF94CE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0078" y="5322834"/>
              <a:ext cx="1892427" cy="26091"/>
            </a:xfrm>
            <a:prstGeom prst="straightConnector1">
              <a:avLst/>
            </a:prstGeom>
            <a:ln w="25400" cap="rnd">
              <a:solidFill>
                <a:schemeClr val="accent6">
                  <a:lumMod val="50000"/>
                  <a:alpha val="67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Donut 34">
              <a:extLst>
                <a:ext uri="{FF2B5EF4-FFF2-40B4-BE49-F238E27FC236}">
                  <a16:creationId xmlns:a16="http://schemas.microsoft.com/office/drawing/2014/main" id="{75825CFD-6B54-079A-9BC7-E8A41EAFF7E1}"/>
                </a:ext>
              </a:extLst>
            </p:cNvPr>
            <p:cNvSpPr/>
            <p:nvPr/>
          </p:nvSpPr>
          <p:spPr>
            <a:xfrm>
              <a:off x="8216684" y="4822921"/>
              <a:ext cx="782901" cy="782901"/>
            </a:xfrm>
            <a:prstGeom prst="donut">
              <a:avLst>
                <a:gd name="adj" fmla="val 744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Mean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DD0D07-A067-5046-0FDB-C4B13C72DC47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8999585" y="5214372"/>
              <a:ext cx="948993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89AD171-A30E-E9D2-091B-757355EBE464}"/>
                    </a:ext>
                  </a:extLst>
                </p:cNvPr>
                <p:cNvSpPr txBox="1"/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𝐸𝐿𝐵𝑂</m:t>
                        </m:r>
                      </m:oMath>
                    </m:oMathPara>
                  </a14:m>
                  <a:endParaRPr lang="en-KR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89AD171-A30E-E9D2-091B-757355EBE4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3267" y="5009390"/>
                  <a:ext cx="642011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ight Arrow 4">
            <a:extLst>
              <a:ext uri="{FF2B5EF4-FFF2-40B4-BE49-F238E27FC236}">
                <a16:creationId xmlns:a16="http://schemas.microsoft.com/office/drawing/2014/main" id="{D3E42F7B-DA99-041F-889C-057DC1A93969}"/>
              </a:ext>
            </a:extLst>
          </p:cNvPr>
          <p:cNvSpPr/>
          <p:nvPr/>
        </p:nvSpPr>
        <p:spPr>
          <a:xfrm rot="10800000">
            <a:off x="4780666" y="5286391"/>
            <a:ext cx="6280340" cy="2503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E733BF-9F9C-436E-7AED-316122834F20}"/>
                  </a:ext>
                </a:extLst>
              </p:cNvPr>
              <p:cNvSpPr txBox="1"/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E733BF-9F9C-436E-7AED-316122834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2085" y="2460812"/>
                <a:ext cx="7136892" cy="419795"/>
              </a:xfrm>
              <a:prstGeom prst="rect">
                <a:avLst/>
              </a:prstGeom>
              <a:blipFill>
                <a:blip r:embed="rId1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C89E25-8E66-6577-17B0-2EBE27DBFA2B}"/>
                  </a:ext>
                </a:extLst>
              </p:cNvPr>
              <p:cNvSpPr txBox="1"/>
              <p:nvPr/>
            </p:nvSpPr>
            <p:spPr>
              <a:xfrm>
                <a:off x="2274182" y="5107354"/>
                <a:ext cx="2348207" cy="607282"/>
              </a:xfrm>
              <a:prstGeom prst="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𝐸𝐿𝐵𝑂</m:t>
                          </m:r>
                        </m:num>
                        <m:den>
                          <m:r>
                            <a:rPr lang="en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𝐸𝐿𝐵𝑂</m:t>
                          </m:r>
                        </m:num>
                        <m:den>
                          <m:r>
                            <a:rPr lang="en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K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K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KR" dirty="0" err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C89E25-8E66-6577-17B0-2EBE27DBF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182" y="5107354"/>
                <a:ext cx="2348207" cy="607282"/>
              </a:xfrm>
              <a:prstGeom prst="rect">
                <a:avLst/>
              </a:prstGeom>
              <a:blipFill>
                <a:blip r:embed="rId18"/>
                <a:stretch>
                  <a:fillRect l="-1604" t="-2000" r="-535" b="-12000"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6193254-553B-8971-1B88-A40BE0A4FDCF}"/>
              </a:ext>
            </a:extLst>
          </p:cNvPr>
          <p:cNvSpPr txBox="1"/>
          <p:nvPr/>
        </p:nvSpPr>
        <p:spPr>
          <a:xfrm>
            <a:off x="9265194" y="4988786"/>
            <a:ext cx="17809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Backpropagation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BF3246-D70D-36BF-C31C-B34E93FFEB89}"/>
              </a:ext>
            </a:extLst>
          </p:cNvPr>
          <p:cNvSpPr txBox="1"/>
          <p:nvPr/>
        </p:nvSpPr>
        <p:spPr>
          <a:xfrm>
            <a:off x="2439996" y="5833508"/>
            <a:ext cx="201657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Unable to compute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ABDB474B-7422-3017-6878-9C8E34CE8B9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570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4641C-3E57-2BA7-D0B9-1844A8E3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40F9BD-1D4E-E939-89AB-1B57857F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1705852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 </a:t>
            </a: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C2A6F7-F84F-B4F2-50CD-BC00EA6D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8779EC-45D1-BCA5-99A8-EC818A51D1FF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b="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r>
                  <a:rPr lang="en-US" sz="2400" i="1" dirty="0">
                    <a:solidFill>
                      <a:srgbClr val="F2F3F3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[(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solidFill>
                    <a:srgbClr val="F2F3F3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8779EC-45D1-BCA5-99A8-EC818A51D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blipFill>
                <a:blip r:embed="rId2"/>
                <a:stretch>
                  <a:fillRect b="-423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A07F8B-6312-C9A4-FE58-696C23D3F8D1}"/>
                  </a:ext>
                </a:extLst>
              </p:cNvPr>
              <p:cNvSpPr txBox="1"/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>
                  <a:solidFill>
                    <a:srgbClr val="F2F3F3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A07F8B-6312-C9A4-FE58-696C23D3F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A29DE-F2CF-8CBC-0630-76D78B8F2A31}"/>
                  </a:ext>
                </a:extLst>
              </p:cNvPr>
              <p:cNvSpPr txBox="1"/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>
                    <a:solidFill>
                      <a:srgbClr val="F2F3F3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A29DE-F2CF-8CBC-0630-76D78B8F2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blipFill>
                <a:blip r:embed="rId4"/>
                <a:stretch>
                  <a:fillRect r="-6173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B19A9B-3B4D-1598-832F-FABD440A4C5E}"/>
                  </a:ext>
                </a:extLst>
              </p:cNvPr>
              <p:cNvSpPr txBox="1"/>
              <p:nvPr/>
            </p:nvSpPr>
            <p:spPr>
              <a:xfrm>
                <a:off x="8353076" y="4486090"/>
                <a:ext cx="23564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>
                    <a:solidFill>
                      <a:srgbClr val="F2F3F3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Leibniz Rule)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B19A9B-3B4D-1598-832F-FABD440A4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076" y="4486090"/>
                <a:ext cx="2356414" cy="369332"/>
              </a:xfrm>
              <a:prstGeom prst="rect">
                <a:avLst/>
              </a:prstGeom>
              <a:blipFill>
                <a:blip r:embed="rId5"/>
                <a:stretch>
                  <a:fillRect r="-3209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F73BE0-E84F-C1C7-D255-13E8EECF1710}"/>
                  </a:ext>
                </a:extLst>
              </p:cNvPr>
              <p:cNvSpPr txBox="1"/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>
                    <a:solidFill>
                      <a:srgbClr val="F2F3F3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Product Rule)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F73BE0-E84F-C1C7-D255-13E8EECF1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blipFill>
                <a:blip r:embed="rId6"/>
                <a:stretch>
                  <a:fillRect r="-3125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7E665CB-69A1-C1A8-32A8-19C5B66710C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082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D686-95E7-D520-1C08-64AE81D2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9AF98D-ED33-73EF-392E-60EBC43B9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1705852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 </a:t>
            </a: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D5F052-409D-58B9-02B0-2D095A16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594AB3-8C13-8350-3285-307DE5394E45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[(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solidFill>
                    <a:srgbClr val="F2F3F3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594AB3-8C13-8350-3285-307DE5394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blipFill>
                <a:blip r:embed="rId2"/>
                <a:stretch>
                  <a:fillRect b="-423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114BDE-131E-7D7C-C3AB-5F0D3481C74B}"/>
                  </a:ext>
                </a:extLst>
              </p:cNvPr>
              <p:cNvSpPr txBox="1"/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>
                  <a:solidFill>
                    <a:srgbClr val="F2F3F3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114BDE-131E-7D7C-C3AB-5F0D3481C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193B14-C13F-A8AC-FA64-5C17D9264C86}"/>
                  </a:ext>
                </a:extLst>
              </p:cNvPr>
              <p:cNvSpPr txBox="1"/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193B14-C13F-A8AC-FA64-5C17D9264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blipFill>
                <a:blip r:embed="rId4"/>
                <a:stretch>
                  <a:fillRect r="-7407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6A71B2-311A-8A7A-E0DB-D8BE210D5272}"/>
                  </a:ext>
                </a:extLst>
              </p:cNvPr>
              <p:cNvSpPr txBox="1"/>
              <p:nvPr/>
            </p:nvSpPr>
            <p:spPr>
              <a:xfrm>
                <a:off x="8353076" y="4486090"/>
                <a:ext cx="23564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>
                    <a:solidFill>
                      <a:srgbClr val="F2F3F3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Leibniz Rule)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6A71B2-311A-8A7A-E0DB-D8BE210D5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076" y="4486090"/>
                <a:ext cx="2356414" cy="369332"/>
              </a:xfrm>
              <a:prstGeom prst="rect">
                <a:avLst/>
              </a:prstGeom>
              <a:blipFill>
                <a:blip r:embed="rId5"/>
                <a:stretch>
                  <a:fillRect r="-3209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E6B776-4D46-3806-35F5-DE12E961B3C6}"/>
                  </a:ext>
                </a:extLst>
              </p:cNvPr>
              <p:cNvSpPr txBox="1"/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>
                    <a:solidFill>
                      <a:srgbClr val="F2F3F3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Product Rule)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E6B776-4D46-3806-35F5-DE12E961B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blipFill>
                <a:blip r:embed="rId6"/>
                <a:stretch>
                  <a:fillRect r="-3125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3F75404-8552-D6DE-A6F9-5DC42589847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147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95804-BCF5-B0EB-6FBF-21148F9BF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152D86-41AE-8070-051B-1F9AC837A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1705852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 </a:t>
            </a: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77C96-F73A-E553-1B1D-C311A43E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677A72-B8BD-5DA0-D38B-E561FB219E06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  <m:r>
                          <a:rPr lang="en-US" sz="24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[(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677A72-B8BD-5DA0-D38B-E561FB219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blipFill>
                <a:blip r:embed="rId2"/>
                <a:stretch>
                  <a:fillRect b="-423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B3B777-3E6A-AFC1-206F-EC76C18B1A77}"/>
                  </a:ext>
                </a:extLst>
              </p:cNvPr>
              <p:cNvSpPr txBox="1"/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>
                  <a:solidFill>
                    <a:srgbClr val="F2F3F3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B3B777-3E6A-AFC1-206F-EC76C18B1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338560-63A3-B3D8-541D-D8408B5D6E4B}"/>
                  </a:ext>
                </a:extLst>
              </p:cNvPr>
              <p:cNvSpPr txBox="1"/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338560-63A3-B3D8-541D-D8408B5D6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blipFill>
                <a:blip r:embed="rId4"/>
                <a:stretch>
                  <a:fillRect r="-7407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4AEC87-D114-84FF-4791-AA6E8BA17149}"/>
                  </a:ext>
                </a:extLst>
              </p:cNvPr>
              <p:cNvSpPr txBox="1"/>
              <p:nvPr/>
            </p:nvSpPr>
            <p:spPr>
              <a:xfrm>
                <a:off x="8353076" y="4486090"/>
                <a:ext cx="23564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>
                    <a:solidFill>
                      <a:srgbClr val="F2F3F3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Leibniz Rule)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4AEC87-D114-84FF-4791-AA6E8BA17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076" y="4486090"/>
                <a:ext cx="2356414" cy="369332"/>
              </a:xfrm>
              <a:prstGeom prst="rect">
                <a:avLst/>
              </a:prstGeom>
              <a:blipFill>
                <a:blip r:embed="rId5"/>
                <a:stretch>
                  <a:fillRect r="-3209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82E41D-F207-AED1-BDFC-CE7263C5E302}"/>
                  </a:ext>
                </a:extLst>
              </p:cNvPr>
              <p:cNvSpPr txBox="1"/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>
                    <a:solidFill>
                      <a:srgbClr val="F2F3F3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Product Rule)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82E41D-F207-AED1-BDFC-CE7263C5E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blipFill>
                <a:blip r:embed="rId6"/>
                <a:stretch>
                  <a:fillRect r="-3125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F1E78AE-B2D0-09E1-8A90-E336129C169B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092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05B7-31E6-9308-EE43-DA127BED0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E7DF1A-219D-36C1-65AC-167DAFF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1705852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 </a:t>
            </a: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E9D6F3-1D02-7A59-C861-B513A49F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AF54A2-0753-537C-0765-9587D7701552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[(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altLang="ko-KR" sz="24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AF54A2-0753-537C-0765-9587D7701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blipFill>
                <a:blip r:embed="rId2"/>
                <a:stretch>
                  <a:fillRect b="-423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5E54B4-BD2B-B11C-E018-A8C35142CDB0}"/>
                  </a:ext>
                </a:extLst>
              </p:cNvPr>
              <p:cNvSpPr txBox="1"/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>
                  <a:solidFill>
                    <a:srgbClr val="F2F3F3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5E54B4-BD2B-B11C-E018-A8C35142C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6D8268-3714-A722-505D-1D38889A52BF}"/>
                  </a:ext>
                </a:extLst>
              </p:cNvPr>
              <p:cNvSpPr txBox="1"/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6D8268-3714-A722-505D-1D38889A5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blipFill>
                <a:blip r:embed="rId4"/>
                <a:stretch>
                  <a:fillRect r="-7407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80447F-66E3-C55A-2199-9B016F1F84C0}"/>
                  </a:ext>
                </a:extLst>
              </p:cNvPr>
              <p:cNvSpPr txBox="1"/>
              <p:nvPr/>
            </p:nvSpPr>
            <p:spPr>
              <a:xfrm>
                <a:off x="8353076" y="4486090"/>
                <a:ext cx="366286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Expectation &amp; Leibniz Rule)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80447F-66E3-C55A-2199-9B016F1F8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076" y="4486090"/>
                <a:ext cx="3662862" cy="369332"/>
              </a:xfrm>
              <a:prstGeom prst="rect">
                <a:avLst/>
              </a:prstGeom>
              <a:blipFill>
                <a:blip r:embed="rId5"/>
                <a:stretch>
                  <a:fillRect r="-3793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DBD4D3-FDE9-8F91-52B5-9DE2F954E9F5}"/>
                  </a:ext>
                </a:extLst>
              </p:cNvPr>
              <p:cNvSpPr txBox="1"/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>
                    <a:solidFill>
                      <a:srgbClr val="F2F3F3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Product Rule)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DBD4D3-FDE9-8F91-52B5-9DE2F954E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blipFill>
                <a:blip r:embed="rId6"/>
                <a:stretch>
                  <a:fillRect r="-3125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20629DC-CDE3-554F-CD54-6142DBB6068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511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1539-352E-AED8-4BC5-ACDE12C8D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1125AB-A509-B2CE-9F1D-FFCAEFE9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1705852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 </a:t>
            </a:r>
            <a:b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BC947B-12B7-191D-4FD6-93DCC0A6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DF8124-2E2A-0C9E-366E-B90F81646B53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𝜙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 Variable Medium" panose="02000003000000020004" pitchFamily="2" charset="-127"/>
                                    </a:rPr>
                                    <m:t>𝜙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[(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DF8124-2E2A-0C9E-366E-B90F81646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4202241"/>
              </a:xfrm>
              <a:prstGeom prst="rect">
                <a:avLst/>
              </a:prstGeom>
              <a:blipFill>
                <a:blip r:embed="rId2"/>
                <a:stretch>
                  <a:fillRect b="-423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9FC892-2953-A611-E33F-9C56E81E40C4}"/>
                  </a:ext>
                </a:extLst>
              </p:cNvPr>
              <p:cNvSpPr txBox="1"/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9FC892-2953-A611-E33F-9C56E81E4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46" y="5907917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76B94A-9B95-7957-AF70-5D1E19F7FC50}"/>
                  </a:ext>
                </a:extLst>
              </p:cNvPr>
              <p:cNvSpPr txBox="1"/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definition)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76B94A-9B95-7957-AF70-5D1E19F7F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165" y="2978994"/>
                <a:ext cx="2050241" cy="369332"/>
              </a:xfrm>
              <a:prstGeom prst="rect">
                <a:avLst/>
              </a:prstGeom>
              <a:blipFill>
                <a:blip r:embed="rId4"/>
                <a:stretch>
                  <a:fillRect r="-7407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65021C-D977-7896-C971-1970A912E19D}"/>
                  </a:ext>
                </a:extLst>
              </p:cNvPr>
              <p:cNvSpPr txBox="1"/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Product Rule)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65021C-D977-7896-C971-1970A912E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704" y="5251293"/>
                <a:ext cx="2425344" cy="369332"/>
              </a:xfrm>
              <a:prstGeom prst="rect">
                <a:avLst/>
              </a:prstGeom>
              <a:blipFill>
                <a:blip r:embed="rId5"/>
                <a:stretch>
                  <a:fillRect r="-4167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5C339D-0E0C-E659-4132-C0525DCF5A1B}"/>
                  </a:ext>
                </a:extLst>
              </p:cNvPr>
              <p:cNvSpPr txBox="1"/>
              <p:nvPr/>
            </p:nvSpPr>
            <p:spPr>
              <a:xfrm>
                <a:off x="8353076" y="4486090"/>
                <a:ext cx="366286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KR" dirty="0"/>
                  <a:t>      </a:t>
                </a:r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KR" sz="16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(By Expectation &amp; Leibniz Rule)</a:t>
                </a:r>
                <a:endParaRPr lang="en-KR" sz="16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5C339D-0E0C-E659-4132-C0525DCF5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076" y="4486090"/>
                <a:ext cx="3662862" cy="369332"/>
              </a:xfrm>
              <a:prstGeom prst="rect">
                <a:avLst/>
              </a:prstGeom>
              <a:blipFill>
                <a:blip r:embed="rId6"/>
                <a:stretch>
                  <a:fillRect r="-3793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1DE1A26-C290-E9F5-4BDA-300C427FEB5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085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E178-AB91-2E2A-30D7-8B04EC02E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5DE747-4ADC-6440-BE94-3B01D88E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930511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</a:t>
            </a: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46FDED-4BDE-7ECD-5CAB-A8A244CF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495A6A-D189-1F43-ADF1-8EC6F57D86CF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495A6A-D189-1F43-ADF1-8EC6F57D8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blipFill>
                <a:blip r:embed="rId2"/>
                <a:stretch>
                  <a:fillRect b="-2328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18ED75-83BA-C3CA-4F56-506A331B4CFB}"/>
                  </a:ext>
                </a:extLst>
              </p:cNvPr>
              <p:cNvSpPr txBox="1"/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18ED75-83BA-C3CA-4F56-506A331B4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4648AE-37F1-3495-2435-FC86CE278ACA}"/>
                  </a:ext>
                </a:extLst>
              </p:cNvPr>
              <p:cNvSpPr txBox="1"/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>
                  <a:solidFill>
                    <a:srgbClr val="F2F3F3"/>
                  </a:solidFill>
                </a:endParaRPr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4648AE-37F1-3495-2435-FC86CE278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blipFill>
                <a:blip r:embed="rId4"/>
                <a:stretch>
                  <a:fillRect t="-38537" b="-3951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341F31-0AAF-5E52-366A-F53AB38A8186}"/>
                  </a:ext>
                </a:extLst>
              </p:cNvPr>
              <p:cNvSpPr txBox="1"/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−∫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br>
                  <a:rPr lang="en-US" altLang="ko-KR" sz="2400" b="0" i="1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∇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log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−∫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</m:oMath>
                </a14:m>
                <a:br>
                  <a:rPr lang="en-US" altLang="ko-KR" sz="2400" i="1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sz="240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altLang="ko-KR" sz="2400" b="0" i="1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≈</m:t>
                    </m:r>
                  </m:oMath>
                </a14:m>
                <a:r>
                  <a:rPr lang="en-US" sz="2400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240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𝑙</m:t>
                                </m:r>
                              </m:sup>
                            </m:s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341F31-0AAF-5E52-366A-F53AB38A8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blipFill>
                <a:blip r:embed="rId5"/>
                <a:stretch>
                  <a:fillRect b="-716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95F3C5C-4FC1-6064-13A6-1B7FB44C7E8B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0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7A899-B231-07A9-B211-E32A12D9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78581A-6473-0112-340C-6B1133BB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930511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</a:t>
            </a: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358C56-88DD-9E43-F656-3C9B1813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CF9ECB-5127-36F4-BAFC-0394B625F732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CF9ECB-5127-36F4-BAFC-0394B625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blipFill>
                <a:blip r:embed="rId2"/>
                <a:stretch>
                  <a:fillRect b="-2328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213848-E7D4-916E-32B3-D90BB92242FC}"/>
                  </a:ext>
                </a:extLst>
              </p:cNvPr>
              <p:cNvSpPr txBox="1"/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213848-E7D4-916E-32B3-D90BB9224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BFB6DE-412F-31E4-B480-5F7AF579FE7F}"/>
                  </a:ext>
                </a:extLst>
              </p:cNvPr>
              <p:cNvSpPr txBox="1"/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BFB6DE-412F-31E4-B480-5F7AF579F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blipFill>
                <a:blip r:embed="rId4"/>
                <a:stretch>
                  <a:fillRect t="-38537" b="-3951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2A5A0F-E19D-69A7-6FF1-CD96CAAEEDE2}"/>
                  </a:ext>
                </a:extLst>
              </p:cNvPr>
              <p:cNvSpPr txBox="1"/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−∫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br>
                  <a:rPr lang="en-US" altLang="ko-KR" sz="2400" b="0" i="1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∇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log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−∫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</m:oMath>
                </a14:m>
                <a:br>
                  <a:rPr lang="en-US" altLang="ko-KR" sz="2400" i="1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sz="240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altLang="ko-KR" sz="2400" b="0" i="1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≈</m:t>
                    </m:r>
                  </m:oMath>
                </a14:m>
                <a:r>
                  <a:rPr lang="en-US" sz="2400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240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𝑙</m:t>
                                </m:r>
                              </m:sup>
                            </m:s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br>
                  <a:rPr lang="en-US" altLang="ko-KR" sz="24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solidFill>
                    <a:srgbClr val="F2F3F3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2A5A0F-E19D-69A7-6FF1-CD96CAAEE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blipFill>
                <a:blip r:embed="rId5"/>
                <a:stretch>
                  <a:fillRect b="-716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D5298B-CF8C-4C40-0F0B-D8064829B77B}"/>
              </a:ext>
            </a:extLst>
          </p:cNvPr>
          <p:cNvCxnSpPr/>
          <p:nvPr/>
        </p:nvCxnSpPr>
        <p:spPr>
          <a:xfrm flipV="1">
            <a:off x="3509010" y="2777490"/>
            <a:ext cx="857250" cy="431931"/>
          </a:xfrm>
          <a:prstGeom prst="line">
            <a:avLst/>
          </a:prstGeom>
          <a:ln w="28575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F66DFD-0A80-9F47-504F-C45C109ED550}"/>
              </a:ext>
            </a:extLst>
          </p:cNvPr>
          <p:cNvCxnSpPr/>
          <p:nvPr/>
        </p:nvCxnSpPr>
        <p:spPr>
          <a:xfrm flipV="1">
            <a:off x="5021580" y="2777490"/>
            <a:ext cx="857250" cy="431931"/>
          </a:xfrm>
          <a:prstGeom prst="line">
            <a:avLst/>
          </a:prstGeom>
          <a:ln w="28575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286E8B1-453E-0802-BF61-FBFBA472B85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</a:t>
            </a:r>
            <a:r>
              <a:rPr lang="en-US" dirty="0" err="1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inTo</a:t>
            </a:r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837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37C53-9EA5-3E67-C460-0A7CE176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B8BAA3-571E-3CD0-702F-588DB9B05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930511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</a:t>
            </a: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6FCD93-2552-37BC-4B6A-E4E5B8F9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0F3293-C969-8023-2F7A-C9A943FB0273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0F3293-C969-8023-2F7A-C9A943FB0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blipFill>
                <a:blip r:embed="rId2"/>
                <a:stretch>
                  <a:fillRect b="-2328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E04A13-8EC7-39A4-C3BA-01CE6404A0F8}"/>
                  </a:ext>
                </a:extLst>
              </p:cNvPr>
              <p:cNvSpPr txBox="1"/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E04A13-8EC7-39A4-C3BA-01CE6404A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79CA7A-C2C1-18C1-3FE1-5E9FEB60F589}"/>
                  </a:ext>
                </a:extLst>
              </p:cNvPr>
              <p:cNvSpPr txBox="1"/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79CA7A-C2C1-18C1-3FE1-5E9FEB60F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blipFill>
                <a:blip r:embed="rId4"/>
                <a:stretch>
                  <a:fillRect t="-38537" b="-3951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BAC27B-7698-CBA0-C4B2-22F731C5EE4C}"/>
                  </a:ext>
                </a:extLst>
              </p:cNvPr>
              <p:cNvSpPr txBox="1"/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br>
                  <a:rPr lang="en-US" altLang="ko-KR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∇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log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−∫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sSub>
                      <m:sSub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i="1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</m:oMath>
                </a14:m>
                <a:br>
                  <a:rPr lang="en-US" altLang="ko-KR" sz="2400" i="1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sz="240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altLang="ko-KR" sz="2400" b="0" i="1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≈</m:t>
                    </m:r>
                  </m:oMath>
                </a14:m>
                <a:r>
                  <a:rPr lang="en-US" sz="2400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240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𝑙</m:t>
                                </m:r>
                              </m:sup>
                            </m:s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BAC27B-7698-CBA0-C4B2-22F731C5E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blipFill>
                <a:blip r:embed="rId5"/>
                <a:stretch>
                  <a:fillRect b="-716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60BA219-E707-BB76-888C-797C86E1E7A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975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FCCB6-C352-3B00-F0C7-38DEB3315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E6F54B-8275-EE3A-328C-0DCD3D9F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930511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</a:t>
            </a: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EEE257-FF24-FAE2-16DA-232AA84B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B23FEC-E38F-BE71-784F-ABD64D62B086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B23FEC-E38F-BE71-784F-ABD64D62B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blipFill>
                <a:blip r:embed="rId2"/>
                <a:stretch>
                  <a:fillRect b="-2328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05132F-7BEC-450A-F837-9BE315AA2B77}"/>
                  </a:ext>
                </a:extLst>
              </p:cNvPr>
              <p:cNvSpPr txBox="1"/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05132F-7BEC-450A-F837-9BE315AA2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133B57-69EA-EEC3-E197-A29A6A98A996}"/>
                  </a:ext>
                </a:extLst>
              </p:cNvPr>
              <p:cNvSpPr txBox="1"/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133B57-69EA-EEC3-E197-A29A6A98A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blipFill>
                <a:blip r:embed="rId4"/>
                <a:stretch>
                  <a:fillRect t="-38537" b="-3951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BEDB85-0257-7698-7BC4-7445D8B1DB57}"/>
                  </a:ext>
                </a:extLst>
              </p:cNvPr>
              <p:cNvSpPr txBox="1"/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br>
                  <a:rPr lang="en-US" altLang="ko-KR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∇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log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−∫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</m:oMath>
                </a14:m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sz="240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2F3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solidFill>
                                        <a:srgbClr val="F2F3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altLang="ko-KR" sz="2400" b="0" i="1" dirty="0">
                    <a:solidFill>
                      <a:srgbClr val="F2F3F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≈</m:t>
                    </m:r>
                  </m:oMath>
                </a14:m>
                <a:r>
                  <a:rPr lang="en-US" sz="2400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240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𝑙</m:t>
                                </m:r>
                              </m:sup>
                            </m:s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br>
                  <a:rPr lang="en-US" altLang="ko-KR" sz="2400" dirty="0">
                    <a:solidFill>
                      <a:srgbClr val="F2F3F3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BEDB85-0257-7698-7BC4-7445D8B1D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blipFill>
                <a:blip r:embed="rId5"/>
                <a:stretch>
                  <a:fillRect b="-716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F1D1FF4-A465-2BBB-FA01-15D58B391FA6}"/>
              </a:ext>
            </a:extLst>
          </p:cNvPr>
          <p:cNvSpPr/>
          <p:nvPr/>
        </p:nvSpPr>
        <p:spPr>
          <a:xfrm>
            <a:off x="1451610" y="4823460"/>
            <a:ext cx="3246120" cy="5029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2DECF-4E2A-1BC7-F28F-5EBDDD1FB430}"/>
              </a:ext>
            </a:extLst>
          </p:cNvPr>
          <p:cNvSpPr txBox="1"/>
          <p:nvPr/>
        </p:nvSpPr>
        <p:spPr>
          <a:xfrm>
            <a:off x="2027909" y="5383257"/>
            <a:ext cx="215603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Log-derivative trick!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39B48C-8A80-A40A-6201-AC8B42597060}"/>
              </a:ext>
            </a:extLst>
          </p:cNvPr>
          <p:cNvSpPr/>
          <p:nvPr/>
        </p:nvSpPr>
        <p:spPr>
          <a:xfrm>
            <a:off x="1638300" y="4115878"/>
            <a:ext cx="1413510" cy="5029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C39291E-E247-2A6E-1F43-3FA10B30E5F5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71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7D1D-E566-6E09-CFBC-C41C0A31D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4E4DC5-FAE9-C43D-124B-2D81D2924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930511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</a:t>
            </a: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9D015-8520-D2BB-53A4-56C426BB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A81741-9701-FECD-7742-D12ECAFB2BA1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A81741-9701-FECD-7742-D12ECAFB2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blipFill>
                <a:blip r:embed="rId2"/>
                <a:stretch>
                  <a:fillRect b="-2328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EBF3CA-0C5B-DB91-1747-F01999F5B0C9}"/>
                  </a:ext>
                </a:extLst>
              </p:cNvPr>
              <p:cNvSpPr txBox="1"/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EBF3CA-0C5B-DB91-1747-F01999F5B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1C5934-B38F-7583-C2FD-DECEF4FB0C04}"/>
                  </a:ext>
                </a:extLst>
              </p:cNvPr>
              <p:cNvSpPr txBox="1"/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1C5934-B38F-7583-C2FD-DECEF4FB0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blipFill>
                <a:blip r:embed="rId4"/>
                <a:stretch>
                  <a:fillRect t="-38537" b="-3951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69B106-A822-F1F2-D344-B814AF912A56}"/>
                  </a:ext>
                </a:extLst>
              </p:cNvPr>
              <p:cNvSpPr txBox="1"/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br>
                  <a:rPr lang="en-US" altLang="ko-KR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∇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log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−∫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</m:oMath>
                </a14:m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24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sSub>
                        <m:sSub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altLang="ko-KR" sz="2400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≈</m:t>
                    </m:r>
                  </m:oMath>
                </a14:m>
                <a:r>
                  <a:rPr lang="en-US" sz="2400" dirty="0">
                    <a:solidFill>
                      <a:srgbClr val="F2F3F3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2400" i="1" smtClean="0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𝑙</m:t>
                                </m:r>
                              </m:sup>
                            </m:sSup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2F3F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F2F3F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400" i="1">
                                        <a:solidFill>
                                          <a:srgbClr val="F2F3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69B106-A822-F1F2-D344-B814AF912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blipFill>
                <a:blip r:embed="rId5"/>
                <a:stretch>
                  <a:fillRect b="-716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965CC9-0E0F-D538-289C-5267494B67E8}"/>
              </a:ext>
            </a:extLst>
          </p:cNvPr>
          <p:cNvCxnSpPr>
            <a:cxnSpLocks/>
          </p:cNvCxnSpPr>
          <p:nvPr/>
        </p:nvCxnSpPr>
        <p:spPr>
          <a:xfrm flipV="1">
            <a:off x="10561320" y="4812030"/>
            <a:ext cx="1111080" cy="417784"/>
          </a:xfrm>
          <a:prstGeom prst="line">
            <a:avLst/>
          </a:prstGeom>
          <a:ln w="28575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4988B7-F98A-2C63-CF2D-86AAC4368B43}"/>
              </a:ext>
            </a:extLst>
          </p:cNvPr>
          <p:cNvSpPr/>
          <p:nvPr/>
        </p:nvSpPr>
        <p:spPr>
          <a:xfrm>
            <a:off x="1703070" y="5486400"/>
            <a:ext cx="1805940" cy="48006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662A4E-6B21-7237-BB9E-BE7E188C4D79}"/>
                  </a:ext>
                </a:extLst>
              </p:cNvPr>
              <p:cNvSpPr txBox="1"/>
              <p:nvPr/>
            </p:nvSpPr>
            <p:spPr>
              <a:xfrm>
                <a:off x="753385" y="6038380"/>
                <a:ext cx="3705310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KR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It’s now differentiable since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𝑧</m:t>
                    </m:r>
                  </m:oMath>
                </a14:m>
                <a:r>
                  <a:rPr lang="en-KR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fixed</a:t>
                </a:r>
                <a:r>
                  <a:rPr lang="en-KR" dirty="0"/>
                  <a:t>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662A4E-6B21-7237-BB9E-BE7E188C4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85" y="6038380"/>
                <a:ext cx="3705310" cy="369332"/>
              </a:xfrm>
              <a:prstGeom prst="rect">
                <a:avLst/>
              </a:prstGeom>
              <a:blipFill>
                <a:blip r:embed="rId6"/>
                <a:stretch>
                  <a:fillRect l="-3767" t="-6667" r="-342" b="-23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FE4BABD-7070-9460-53C5-BE635A6BDEC3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602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5C25F-FA55-04C7-BF89-9A8E737C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1112C2-9A7E-B2E8-2E6B-CAD02425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930511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</a:t>
            </a: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F8BFDD-C239-C845-72A9-2EB2214A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706B8F-A100-F62E-FADC-E75DB065B12E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706B8F-A100-F62E-FADC-E75DB065B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921406"/>
              </a:xfrm>
              <a:prstGeom prst="rect">
                <a:avLst/>
              </a:prstGeom>
              <a:blipFill>
                <a:blip r:embed="rId2"/>
                <a:stretch>
                  <a:fillRect b="-2328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FF5259-7482-3AEF-9EF9-4F4B47E42437}"/>
                  </a:ext>
                </a:extLst>
              </p:cNvPr>
              <p:cNvSpPr txBox="1"/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FF5259-7482-3AEF-9EF9-4F4B47E42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74" y="2688445"/>
                <a:ext cx="7919154" cy="52097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A6D186-77CF-D53C-5F86-F49A3D700D4F}"/>
                  </a:ext>
                </a:extLst>
              </p:cNvPr>
              <p:cNvSpPr txBox="1"/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KR" sz="2400" dirty="0"/>
              </a:p>
              <a:p>
                <a:pPr lvl="4">
                  <a:lnSpc>
                    <a:spcPct val="150000"/>
                  </a:lnSpc>
                </a:pPr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A6D186-77CF-D53C-5F86-F49A3D700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2640451"/>
                <a:ext cx="15838579" cy="2589363"/>
              </a:xfrm>
              <a:prstGeom prst="rect">
                <a:avLst/>
              </a:prstGeom>
              <a:blipFill>
                <a:blip r:embed="rId4"/>
                <a:stretch>
                  <a:fillRect t="-38537" b="-3951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9C771D-45FF-6B1B-F4D3-02B082B24EF8}"/>
                  </a:ext>
                </a:extLst>
              </p:cNvPr>
              <p:cNvSpPr txBox="1"/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−∫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br>
                  <a:rPr lang="en-US" altLang="ko-KR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∇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log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𝑧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altLang="ko-K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−∫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</m:oMath>
                </a14:m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sz="24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 Variable Medium" panose="02000003000000020004" pitchFamily="2" charset="-127"/>
                        </a:rPr>
                        <m:t>log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𝑧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altLang="ko-KR" sz="2400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≈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(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ko-K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br>
                  <a:rPr lang="en-US" altLang="ko-KR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9C771D-45FF-6B1B-F4D3-02B082B24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2" y="3798368"/>
                <a:ext cx="15838579" cy="3539110"/>
              </a:xfrm>
              <a:prstGeom prst="rect">
                <a:avLst/>
              </a:prstGeom>
              <a:blipFill>
                <a:blip r:embed="rId5"/>
                <a:stretch>
                  <a:fillRect b="-716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C3C2DAF-A2A3-5012-69E0-51EFF3F8BF8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49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A7696-0279-4A0E-72C4-A27CB77E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32C461-EB62-7697-5503-46EC6711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24257"/>
            <a:ext cx="10972800" cy="930511"/>
          </a:xfrm>
        </p:spPr>
        <p:txBody>
          <a:bodyPr/>
          <a:lstStyle/>
          <a:p>
            <a:pPr lvl="3">
              <a:lnSpc>
                <a:spcPct val="200000"/>
              </a:lnSpc>
            </a:pPr>
            <a:r>
              <a:rPr lang="en-US" sz="32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REINFORCE: Log-derivative trick</a:t>
            </a:r>
            <a:endParaRPr lang="en-US" sz="2400" b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670B6-E396-2026-B737-5B2B21E3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40951D-43AA-C850-6759-474906136E1E}"/>
                  </a:ext>
                </a:extLst>
              </p:cNvPr>
              <p:cNvSpPr txBox="1"/>
              <p:nvPr/>
            </p:nvSpPr>
            <p:spPr>
              <a:xfrm>
                <a:off x="-1020610" y="1628186"/>
                <a:ext cx="15838579" cy="809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ELBO</m:t>
                    </m:r>
                  </m:oMath>
                </a14:m>
                <a:r>
                  <a:rPr lang="en-US" altLang="ko-KR" sz="2400" dirty="0">
                    <a:ea typeface="Cambria Math" panose="02040503050406030204" pitchFamily="18" charset="0"/>
                    <a:cs typeface="Pretendard Variable Medium" panose="020000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Variable Medium" panose="02000003000000020004" pitchFamily="2" charset="-127"/>
                      </a:rPr>
                      <m:t>≈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Variable Medium" panose="02000003000000020004" pitchFamily="2" charset="-127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(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𝑙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 Variable Medium" panose="02000003000000020004" pitchFamily="2" charset="-127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ko-K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40951D-43AA-C850-6759-474906136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0610" y="1628186"/>
                <a:ext cx="15838579" cy="809517"/>
              </a:xfrm>
              <a:prstGeom prst="rect">
                <a:avLst/>
              </a:prstGeom>
              <a:blipFill>
                <a:blip r:embed="rId2"/>
                <a:stretch>
                  <a:fillRect t="-40625" b="-10312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7D923F-93CD-AF60-BA86-E21D423D5583}"/>
              </a:ext>
            </a:extLst>
          </p:cNvPr>
          <p:cNvCxnSpPr>
            <a:cxnSpLocks/>
          </p:cNvCxnSpPr>
          <p:nvPr/>
        </p:nvCxnSpPr>
        <p:spPr>
          <a:xfrm>
            <a:off x="3268980" y="2437703"/>
            <a:ext cx="2023110" cy="0"/>
          </a:xfrm>
          <a:prstGeom prst="line">
            <a:avLst/>
          </a:prstGeom>
          <a:ln w="317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EF25EA2-2DA9-8242-5A80-951F4A2E914E}"/>
              </a:ext>
            </a:extLst>
          </p:cNvPr>
          <p:cNvSpPr txBox="1"/>
          <p:nvPr/>
        </p:nvSpPr>
        <p:spPr>
          <a:xfrm>
            <a:off x="3566397" y="2713490"/>
            <a:ext cx="142827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</a:rPr>
              <a:t>High variance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8C00A6-6F2A-4AE2-07B8-F35E44E35086}"/>
              </a:ext>
            </a:extLst>
          </p:cNvPr>
          <p:cNvCxnSpPr>
            <a:cxnSpLocks/>
          </p:cNvCxnSpPr>
          <p:nvPr/>
        </p:nvCxnSpPr>
        <p:spPr>
          <a:xfrm>
            <a:off x="3268980" y="2567243"/>
            <a:ext cx="7783830" cy="0"/>
          </a:xfrm>
          <a:prstGeom prst="line">
            <a:avLst/>
          </a:prstGeom>
          <a:ln w="317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F7A7F3E-2286-5AF1-619C-1F88DED08AE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925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F1B71-4834-C0D0-4586-F46B7D94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8A6FB9-C105-5E30-C9FF-77FA158A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96CBEE-EDF3-4746-7F12-8FA6DCE24339}"/>
                  </a:ext>
                </a:extLst>
              </p:cNvPr>
              <p:cNvSpPr txBox="1"/>
              <p:nvPr/>
            </p:nvSpPr>
            <p:spPr>
              <a:xfrm>
                <a:off x="-935266" y="2061578"/>
                <a:ext cx="15838579" cy="1321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𝑠𝑖𝑚𝑝𝑙𝑒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𝑑𝑖𝑠𝑡𝑟𝑖𝑏𝑢𝑡𝑖𝑜𝑛</m:t>
                      </m:r>
                      <m:d>
                        <m:d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.,</m:t>
                          </m:r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ko-KR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sz="2400" dirty="0">
                  <a:solidFill>
                    <a:srgbClr val="F2F3F3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96CBEE-EDF3-4746-7F12-8FA6DCE24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5266" y="2061578"/>
                <a:ext cx="15838579" cy="1321003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88512E-3918-2568-E49F-85189DE539B4}"/>
                  </a:ext>
                </a:extLst>
              </p:cNvPr>
              <p:cNvSpPr txBox="1"/>
              <p:nvPr/>
            </p:nvSpPr>
            <p:spPr>
              <a:xfrm>
                <a:off x="609600" y="1657731"/>
                <a:ext cx="12228576" cy="2710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Divide sampling in two step: </a:t>
                </a: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altLang="ko-KR" sz="2400" i="1" dirty="0">
                  <a:solidFill>
                    <a:srgbClr val="F2F3F3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2400" i="1" dirty="0">
                  <a:solidFill>
                    <a:srgbClr val="F2F3F3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2400" dirty="0">
                  <a:solidFill>
                    <a:srgbClr val="F2F3F3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If</m:t>
                    </m:r>
                    <m: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𝐺𝑎𝑢𝑠𝑠𝑖𝑎𝑛</m:t>
                    </m:r>
                    <m: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)⨀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m:rPr>
                            <m:nor/>
                          </m:rPr>
                          <a:rPr lang="en-KR" sz="2400" dirty="0">
                            <a:solidFill>
                              <a:srgbClr val="F2F3F3"/>
                            </a:solidFill>
                          </a:rPr>
                          <m:t>  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)⨀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88512E-3918-2568-E49F-85189DE53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57731"/>
                <a:ext cx="12228576" cy="2710550"/>
              </a:xfrm>
              <a:prstGeom prst="rect">
                <a:avLst/>
              </a:prstGeom>
              <a:blipFill>
                <a:blip r:embed="rId3"/>
                <a:stretch>
                  <a:fillRect l="-831" t="-1860" b="-232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1E16AC62-8D71-85D2-9F62-2A569587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Reparameterization trick</a:t>
            </a:r>
            <a:endParaRPr lang="en-KR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22E7D00B-2F42-54F7-98E0-F98FAB29ECD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789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A8D0-7921-C140-2F8F-4EA0E5FF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A12C63-22FC-AAD7-0F9C-3409BE34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79D178-FFB1-C1DF-7ADB-52A6A3F1A068}"/>
                  </a:ext>
                </a:extLst>
              </p:cNvPr>
              <p:cNvSpPr txBox="1"/>
              <p:nvPr/>
            </p:nvSpPr>
            <p:spPr>
              <a:xfrm>
                <a:off x="-935266" y="2061578"/>
                <a:ext cx="15838579" cy="1321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𝑠𝑖𝑚𝑝𝑙𝑒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𝑑𝑖𝑠𝑡𝑟𝑖𝑏𝑢𝑡𝑖𝑜𝑛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79D178-FFB1-C1DF-7ADB-52A6A3F1A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5266" y="2061578"/>
                <a:ext cx="15838579" cy="1321003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52D48C-C2A9-CB74-0174-5A6253BB3687}"/>
                  </a:ext>
                </a:extLst>
              </p:cNvPr>
              <p:cNvSpPr txBox="1"/>
              <p:nvPr/>
            </p:nvSpPr>
            <p:spPr>
              <a:xfrm>
                <a:off x="609600" y="1658493"/>
                <a:ext cx="12228576" cy="2710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Divide sampling in two step: </a:t>
                </a: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If</m:t>
                    </m:r>
                    <m: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𝐺𝑎𝑢𝑠𝑠𝑖𝑎𝑛</m:t>
                    </m:r>
                    <m:r>
                      <a:rPr lang="en-US" altLang="ko-KR" sz="2400" b="0" i="0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→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solidFill>
                                      <a:srgbClr val="F2F3F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sz="2400" i="1">
                                <a:solidFill>
                                  <a:srgbClr val="F2F3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)⨀</m:t>
                        </m:r>
                        <m:r>
                          <a:rPr lang="en-US" altLang="ko-KR" sz="2400" i="1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m:rPr>
                            <m:nor/>
                          </m:rPr>
                          <a:rPr lang="en-KR" sz="2400" dirty="0">
                            <a:solidFill>
                              <a:srgbClr val="F2F3F3"/>
                            </a:solidFill>
                          </a:rPr>
                          <m:t>  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)⨀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52D48C-C2A9-CB74-0174-5A6253BB3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58493"/>
                <a:ext cx="12228576" cy="2710550"/>
              </a:xfrm>
              <a:prstGeom prst="rect">
                <a:avLst/>
              </a:prstGeom>
              <a:blipFill>
                <a:blip r:embed="rId3"/>
                <a:stretch>
                  <a:fillRect l="-831" t="-1860" b="-232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90CAB8B4-55F9-5DA3-8F6E-8D1FA80B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Reparameterization trick</a:t>
            </a:r>
            <a:endParaRPr lang="en-KR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DA826C39-D954-1E86-15A9-AC86A34D382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189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96D4-ACE3-0C8F-6049-EDA2A27F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144CCD-E845-1B03-87B5-C9ADFA3A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B9AEDD-D18A-95D3-B536-B5C1FE302918}"/>
                  </a:ext>
                </a:extLst>
              </p:cNvPr>
              <p:cNvSpPr txBox="1"/>
              <p:nvPr/>
            </p:nvSpPr>
            <p:spPr>
              <a:xfrm>
                <a:off x="-935266" y="2061578"/>
                <a:ext cx="15838579" cy="1321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𝑠𝑖𝑚𝑝𝑙𝑒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𝑑𝑖𝑠𝑡𝑟𝑖𝑏𝑢𝑡𝑖𝑜𝑛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B9AEDD-D18A-95D3-B536-B5C1FE302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5266" y="2061578"/>
                <a:ext cx="15838579" cy="1321003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F3CF5B-8BD8-1C31-01F9-36F06DEA8D13}"/>
                  </a:ext>
                </a:extLst>
              </p:cNvPr>
              <p:cNvSpPr txBox="1"/>
              <p:nvPr/>
            </p:nvSpPr>
            <p:spPr>
              <a:xfrm>
                <a:off x="609600" y="1658493"/>
                <a:ext cx="12228576" cy="2710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Divide sampling in two step: </a:t>
                </a: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If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𝐺𝑎𝑢𝑠𝑠𝑖𝑎𝑛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→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)⨀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m:rPr>
                            <m:nor/>
                          </m:rPr>
                          <a:rPr lang="en-KR" sz="2400" dirty="0"/>
                          <m:t>  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)⨀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F3CF5B-8BD8-1C31-01F9-36F06DEA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58493"/>
                <a:ext cx="12228576" cy="2710550"/>
              </a:xfrm>
              <a:prstGeom prst="rect">
                <a:avLst/>
              </a:prstGeom>
              <a:blipFill>
                <a:blip r:embed="rId3"/>
                <a:stretch>
                  <a:fillRect l="-831" t="-1860" b="-232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E2E8A699-79E8-3A5D-130A-C7612095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Reparameterization trick</a:t>
            </a:r>
            <a:endParaRPr lang="en-KR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A37A7EA-DD85-DE7D-6BBA-58E517B5C5A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514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3424-8418-E985-ECE2-976DC313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71C459-217A-EC7C-C1F8-129DF213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292A49-10B8-AAA5-65F6-0A58632F4AFE}"/>
                  </a:ext>
                </a:extLst>
              </p:cNvPr>
              <p:cNvSpPr txBox="1"/>
              <p:nvPr/>
            </p:nvSpPr>
            <p:spPr>
              <a:xfrm>
                <a:off x="-935266" y="2061578"/>
                <a:ext cx="15838579" cy="1321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𝑠𝑖𝑚𝑝𝑙𝑒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𝑑𝑖𝑠𝑡𝑟𝑖𝑏𝑢𝑡𝑖𝑜𝑛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292A49-10B8-AAA5-65F6-0A58632F4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5266" y="2061578"/>
                <a:ext cx="15838579" cy="1321003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565FE5-CC34-4F27-37B7-F63CB95E4251}"/>
                  </a:ext>
                </a:extLst>
              </p:cNvPr>
              <p:cNvSpPr txBox="1"/>
              <p:nvPr/>
            </p:nvSpPr>
            <p:spPr>
              <a:xfrm>
                <a:off x="609600" y="1658493"/>
                <a:ext cx="12228576" cy="2710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Divide sampling in two step: </a:t>
                </a:r>
                <a:b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br>
                  <a:rPr lang="en-US" altLang="ko-KR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If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𝐺𝑎𝑢𝑠𝑠𝑖𝑎𝑛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→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)⨀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m:rPr>
                            <m:nor/>
                          </m:rPr>
                          <a:rPr lang="en-KR" sz="2400" dirty="0"/>
                          <m:t>  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2F3F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)⨀</m:t>
                    </m:r>
                    <m:r>
                      <a:rPr lang="en-US" altLang="ko-KR" sz="2400" b="0" i="1" smtClean="0">
                        <a:solidFill>
                          <a:srgbClr val="F2F3F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KR" sz="2400" dirty="0">
                    <a:solidFill>
                      <a:srgbClr val="F2F3F3"/>
                    </a:solidFill>
                  </a:rPr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565FE5-CC34-4F27-37B7-F63CB95E4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58493"/>
                <a:ext cx="12228576" cy="2710550"/>
              </a:xfrm>
              <a:prstGeom prst="rect">
                <a:avLst/>
              </a:prstGeom>
              <a:blipFill>
                <a:blip r:embed="rId3"/>
                <a:stretch>
                  <a:fillRect l="-831" t="-1860" b="-232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2">
            <a:extLst>
              <a:ext uri="{FF2B5EF4-FFF2-40B4-BE49-F238E27FC236}">
                <a16:creationId xmlns:a16="http://schemas.microsoft.com/office/drawing/2014/main" id="{B8A0E654-D706-EF53-37FA-90571215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Reparameterization trick</a:t>
            </a:r>
            <a:endParaRPr lang="en-KR" dirty="0"/>
          </a:p>
        </p:txBody>
      </p:sp>
      <p:pic>
        <p:nvPicPr>
          <p:cNvPr id="1026" name="Picture 2" descr="The Reparameterization Trick - Clearly Explained | Dilith Jayakody">
            <a:extLst>
              <a:ext uri="{FF2B5EF4-FFF2-40B4-BE49-F238E27FC236}">
                <a16:creationId xmlns:a16="http://schemas.microsoft.com/office/drawing/2014/main" id="{C2447969-DB69-49E3-7967-6DAA2C740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156" y="4156746"/>
            <a:ext cx="6577687" cy="254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3688D37-C2EE-5024-823D-FEF0D73C82F2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97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2F010-FDE1-E7B9-40EC-2054CFE7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C6F6C9-D716-332C-8042-207E2EB1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128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96A8BAF-38B8-08EF-3B2A-7A49C6F7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Summary </a:t>
            </a:r>
            <a:endParaRPr lang="en-KR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9683A6-E984-06BF-3919-704D9F6525DF}"/>
              </a:ext>
            </a:extLst>
          </p:cNvPr>
          <p:cNvGrpSpPr/>
          <p:nvPr/>
        </p:nvGrpSpPr>
        <p:grpSpPr>
          <a:xfrm>
            <a:off x="1195745" y="3063398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51ED1C9-7516-03AF-DF23-A57413916F1A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B7666ED-F1BF-64E2-5D0F-68DCA4858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808F2B-322D-4329-20DB-7519987FDEB7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0F4ABDE8-637C-F9BF-37B6-C0BD8E597CBA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B6D99E1-66F5-966A-CA6E-902A21293076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" name="Picture 8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99F424EC-E016-28AA-9CDD-A245D489B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D4BADD6-C5F0-0100-1B70-6C7CD54E5B2A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91FD599-22D2-EBE9-510C-025F93FEF178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7C3438D-3955-83E0-52E5-B62C94DC43A8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FD165A7A-B699-D8AB-2195-518593C46E5C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A1AB6A0-E000-98CD-BC97-C8616883E051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B363BD6E-E62F-0E08-FE05-CDE431AAC4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8CF1986-6DA2-9E22-9B01-15A9D35184B2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6A9F521-2868-1767-A851-9EC1FB8D3CCB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E8CE54-97AA-90FB-B0AB-458CFC42F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6623B0E8-CCDB-9414-7F5A-7662C4E769DA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1D740C5-C4BA-0F01-ED8B-6E72ADE01A20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825868B-1B62-796C-B38A-7A6E2BB00248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BE5F253-8415-C318-977A-5FCCF6884CE0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6FA5FCEB-497C-41B4-5CDD-AFF7CD030E34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B7B231D1-7BEC-EFDD-8FD5-F18404C703EE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B7B231D1-7BEC-EFDD-8FD5-F18404C703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F24F02A-A0FB-FEDB-2EB3-A9A3F3D7C5F5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F0D1373-D7A6-C018-F8A0-D1ABE8ACE820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07F3CE8-EB7D-2A46-2002-788F21F3BB2B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562E0F-7E03-33B7-F7E0-376E6940B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E78659F-8F15-3F9B-5FAA-63FAEFBCC9C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65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DEFE-9B59-7C71-B043-616BCBA83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5393CF47-9B5E-DB41-AFEF-58211D402DA5}"/>
              </a:ext>
            </a:extLst>
          </p:cNvPr>
          <p:cNvCxnSpPr>
            <a:stCxn id="9" idx="0"/>
            <a:endCxn id="14" idx="0"/>
          </p:cNvCxnSpPr>
          <p:nvPr/>
        </p:nvCxnSpPr>
        <p:spPr>
          <a:xfrm rot="5400000" flipH="1" flipV="1">
            <a:off x="6094748" y="-798867"/>
            <a:ext cx="2504" cy="8441063"/>
          </a:xfrm>
          <a:prstGeom prst="bentConnector3">
            <a:avLst>
              <a:gd name="adj1" fmla="val 47938019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6DA9DEAF-167A-4136-3826-C29743304DF8}"/>
                  </a:ext>
                </a:extLst>
              </p:cNvPr>
              <p:cNvSpPr/>
              <p:nvPr/>
            </p:nvSpPr>
            <p:spPr>
              <a:xfrm>
                <a:off x="3954472" y="1829661"/>
                <a:ext cx="4279392" cy="77906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9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KR" dirty="0" err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6DA9DEAF-167A-4136-3826-C29743304D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472" y="1829661"/>
                <a:ext cx="4279392" cy="779065"/>
              </a:xfrm>
              <a:prstGeom prst="roundRect">
                <a:avLst/>
              </a:prstGeom>
              <a:blipFill>
                <a:blip r:embed="rId2"/>
                <a:stretch>
                  <a:fillRect b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54A4BD-DD9C-F534-168A-E35FF3F4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8128C7-9E04-5232-D8FA-7B50DE101DD0}"/>
              </a:ext>
            </a:extLst>
          </p:cNvPr>
          <p:cNvGrpSpPr/>
          <p:nvPr/>
        </p:nvGrpSpPr>
        <p:grpSpPr>
          <a:xfrm>
            <a:off x="1195745" y="3063398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0409417-12BE-6FC4-18A3-2F9DC6AA745C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B7666ED-F1BF-64E2-5D0F-68DCA4858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A96ED1C-2AB7-8C5E-94C3-CE34B5407084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921927BB-B3DD-8DA9-C397-A91D19479E05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6D986A9-1679-EE70-AF3F-B4B6C6FA3FE0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" name="Picture 8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C9816BF2-42E1-A876-35E0-4E7F7EDB6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03CCAD2-1655-E98B-D715-6B45E74EF90E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536231-87DA-BD22-9DA4-2D5C328EE08B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749214B-625D-03D8-8A52-8319CDDEFD77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1FE4B7-8E9F-CCD3-3F60-0D7560331F6B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4F004A9-8DC7-6699-7C9C-06290A0B87F9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5F39393-9A27-8850-5DAB-D58A587DC5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F267020-D269-D9EF-79D2-BDF8585005CC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E6054AA-CB10-FEE2-822F-0368E2264477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E8CE54-97AA-90FB-B0AB-458CFC42F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8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5D568D22-C8BC-E272-C351-EB5243C1610D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635A8B7-7BBE-CCC8-5E47-96CEF50650D5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F9B5FCD-B442-5699-CF8A-385E4390F27F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55B998F-23B4-DDD6-6193-69C7B4630D62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6FB5D875-E252-6DF1-8461-7F887E01E30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2E3DC5D-F7BD-B4E1-0142-ABB433061DA8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2E3DC5D-F7BD-B4E1-0142-ABB433061D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22C6519-CED2-D147-BF7B-9F0780C192E2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9986B7D-C704-1905-00BC-C6B00C00F214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6EFC8E3-68BA-6855-BA07-A1E339852081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562E0F-7E03-33B7-F7E0-376E6940B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E8AB74D0-D1BA-330B-765F-D1854BFCB7B7}"/>
              </a:ext>
            </a:extLst>
          </p:cNvPr>
          <p:cNvSpPr/>
          <p:nvPr/>
        </p:nvSpPr>
        <p:spPr>
          <a:xfrm>
            <a:off x="4050791" y="1699314"/>
            <a:ext cx="2378133" cy="223420"/>
          </a:xfrm>
          <a:prstGeom prst="rect">
            <a:avLst/>
          </a:prstGeom>
          <a:solidFill>
            <a:schemeClr val="accent1">
              <a:lumMod val="60000"/>
              <a:lumOff val="40000"/>
              <a:alpha val="87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  <p:sp>
        <p:nvSpPr>
          <p:cNvPr id="58" name="Title 12">
            <a:extLst>
              <a:ext uri="{FF2B5EF4-FFF2-40B4-BE49-F238E27FC236}">
                <a16:creationId xmlns:a16="http://schemas.microsoft.com/office/drawing/2014/main" id="{3AAEBB38-9508-1FBA-CBE4-F0DC2101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Summary </a:t>
            </a:r>
            <a:endParaRPr lang="en-KR" dirty="0"/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F82D15FC-E1B2-9574-4BEA-5C85D4369EE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55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9B26F-BEF1-26B2-008F-34EE20BF2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ECA169-DF52-94DC-20A3-66AFDF08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BE7F69-29FC-3073-E684-175045E6CD56}"/>
              </a:ext>
            </a:extLst>
          </p:cNvPr>
          <p:cNvGrpSpPr/>
          <p:nvPr/>
        </p:nvGrpSpPr>
        <p:grpSpPr>
          <a:xfrm>
            <a:off x="1195745" y="3063398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F1CA68D-62D9-35BC-6966-98119BBA666F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B7666ED-F1BF-64E2-5D0F-68DCA4858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7B9BB2E-EA2C-1955-BC5D-49B5C1E65108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B347D5D8-496A-A6D1-0559-C8753AC5A721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A278546-F383-314E-6134-0228590CD4AE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" name="Picture 8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DA0D1751-143E-334A-60C1-6C1D068A3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710A16E-ACF5-E4A1-DF39-D6B06BC82EFF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064351E-A072-2F48-A559-9BF798542BB3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BD53E4E-0C34-C43F-9D2A-50B3061B047E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DEAE64E-B277-F0F2-BC28-5B46B1A8F714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7EF1948-B1EC-3930-BE2D-6CCE47F01C03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341204F8-3C5C-CCDA-CC70-FC663CAEF3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FBC2BD7-737F-E0BC-F3AA-F7D87E2046C3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897762A-6006-825C-9D7F-F3DFA6799BBF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E8CE54-97AA-90FB-B0AB-458CFC42F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A3BCEC36-3F24-673A-6795-A55050968BA1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2EEADF2-AC66-40B5-4FF8-4E7D6D8D5A0B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85ADA0D-9546-88A6-2814-316168832024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99A7AD0-E112-8FB7-E199-4DBA456D9DCA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0093317-6D79-0361-0CDD-E1E4D8904ECC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6BB3296-9220-B673-FC07-A731C5B30B41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6BB3296-9220-B673-FC07-A731C5B30B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707056B-EA52-4514-4F6B-449BB129822E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BAD33D-D235-3CD8-C013-D3717484F44C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F5950BE-AF00-97D6-CF2C-5403DC82EFF4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562E0F-7E03-33B7-F7E0-376E6940B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D3892F2B-8ED4-68B6-42C1-9C2C9682C3B1}"/>
              </a:ext>
            </a:extLst>
          </p:cNvPr>
          <p:cNvCxnSpPr>
            <a:stCxn id="9" idx="0"/>
            <a:endCxn id="14" idx="0"/>
          </p:cNvCxnSpPr>
          <p:nvPr/>
        </p:nvCxnSpPr>
        <p:spPr>
          <a:xfrm rot="5400000" flipH="1" flipV="1">
            <a:off x="6094748" y="-798867"/>
            <a:ext cx="2504" cy="8441063"/>
          </a:xfrm>
          <a:prstGeom prst="bentConnector3">
            <a:avLst>
              <a:gd name="adj1" fmla="val 47938019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C8C6F6AD-AF47-442E-CE8E-ECA255A73E11}"/>
                  </a:ext>
                </a:extLst>
              </p:cNvPr>
              <p:cNvSpPr/>
              <p:nvPr/>
            </p:nvSpPr>
            <p:spPr>
              <a:xfrm>
                <a:off x="3954472" y="1829661"/>
                <a:ext cx="4279392" cy="77906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9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KR" dirty="0" err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C8C6F6AD-AF47-442E-CE8E-ECA255A73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472" y="1829661"/>
                <a:ext cx="4279392" cy="779065"/>
              </a:xfrm>
              <a:prstGeom prst="roundRect">
                <a:avLst/>
              </a:prstGeom>
              <a:blipFill>
                <a:blip r:embed="rId11"/>
                <a:stretch>
                  <a:fillRect b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8B994840-427F-FDAE-321E-6502457AD84B}"/>
              </a:ext>
            </a:extLst>
          </p:cNvPr>
          <p:cNvSpPr/>
          <p:nvPr/>
        </p:nvSpPr>
        <p:spPr>
          <a:xfrm>
            <a:off x="4050791" y="1699314"/>
            <a:ext cx="2378133" cy="223420"/>
          </a:xfrm>
          <a:prstGeom prst="rect">
            <a:avLst/>
          </a:prstGeom>
          <a:solidFill>
            <a:schemeClr val="accent1">
              <a:lumMod val="60000"/>
              <a:lumOff val="40000"/>
              <a:alpha val="87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6EA2A0FA-CC81-14BB-02F2-8F45E104239B}"/>
                  </a:ext>
                </a:extLst>
              </p:cNvPr>
              <p:cNvSpPr/>
              <p:nvPr/>
            </p:nvSpPr>
            <p:spPr>
              <a:xfrm>
                <a:off x="7217636" y="5382961"/>
                <a:ext cx="4279392" cy="91841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9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func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</m:oMath>
                  </m:oMathPara>
                </a14:m>
                <a:endParaRPr lang="en-KR" dirty="0" err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6EA2A0FA-CC81-14BB-02F2-8F45E10423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636" y="5382961"/>
                <a:ext cx="4279392" cy="918411"/>
              </a:xfrm>
              <a:prstGeom prst="roundRect">
                <a:avLst/>
              </a:prstGeom>
              <a:blipFill>
                <a:blip r:embed="rId12"/>
                <a:stretch>
                  <a:fillRect l="-1479" t="-93243" b="-1297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81529C54-5606-407B-E413-BDD7F550B689}"/>
              </a:ext>
            </a:extLst>
          </p:cNvPr>
          <p:cNvSpPr/>
          <p:nvPr/>
        </p:nvSpPr>
        <p:spPr>
          <a:xfrm>
            <a:off x="7341127" y="5256865"/>
            <a:ext cx="2378133" cy="223420"/>
          </a:xfrm>
          <a:prstGeom prst="rect">
            <a:avLst/>
          </a:prstGeom>
          <a:solidFill>
            <a:schemeClr val="accent1">
              <a:lumMod val="60000"/>
              <a:lumOff val="40000"/>
              <a:alpha val="87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Regularization Term</a:t>
            </a:r>
          </a:p>
        </p:txBody>
      </p:sp>
      <p:sp>
        <p:nvSpPr>
          <p:cNvPr id="17" name="Title 12">
            <a:extLst>
              <a:ext uri="{FF2B5EF4-FFF2-40B4-BE49-F238E27FC236}">
                <a16:creationId xmlns:a16="http://schemas.microsoft.com/office/drawing/2014/main" id="{0F8389A3-C793-B72F-9BAE-2C34A352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Summary </a:t>
            </a:r>
            <a:endParaRPr lang="en-KR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659C10EB-54EB-1C03-5037-E57BA5419F1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361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F9883-FCCC-B910-A64A-2EF93895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D5F7EA-A14A-06B5-049C-CFE4A67D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6903A11-F394-0870-8F67-3CD3F5F901AC}"/>
              </a:ext>
            </a:extLst>
          </p:cNvPr>
          <p:cNvGrpSpPr/>
          <p:nvPr/>
        </p:nvGrpSpPr>
        <p:grpSpPr>
          <a:xfrm>
            <a:off x="1195745" y="3063398"/>
            <a:ext cx="10476655" cy="2111400"/>
            <a:chOff x="1195745" y="2402560"/>
            <a:chExt cx="10476655" cy="211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9847228-B71C-B506-B628-04A9DEEAE2C5}"/>
                    </a:ext>
                  </a:extLst>
                </p:cNvPr>
                <p:cNvSpPr txBox="1"/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Image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𝑥</m:t>
                      </m:r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B7666ED-F1BF-64E2-5D0F-68DCA4858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001" y="4144628"/>
                  <a:ext cx="83093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8182" t="-6667" r="-22727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BB7A483-0DE5-78CF-4B2F-9E4F31626305}"/>
                </a:ext>
              </a:extLst>
            </p:cNvPr>
            <p:cNvGrpSpPr/>
            <p:nvPr/>
          </p:nvGrpSpPr>
          <p:grpSpPr>
            <a:xfrm>
              <a:off x="3231782" y="2402560"/>
              <a:ext cx="1506071" cy="2104632"/>
              <a:chOff x="3242434" y="2402560"/>
              <a:chExt cx="1506071" cy="2104632"/>
            </a:xfrm>
          </p:grpSpPr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29A40E9C-D43C-E33B-C19C-F6A9E78B45A8}"/>
                  </a:ext>
                </a:extLst>
              </p:cNvPr>
              <p:cNvSpPr/>
              <p:nvPr/>
            </p:nvSpPr>
            <p:spPr>
              <a:xfrm rot="5400000">
                <a:off x="2943154" y="2701840"/>
                <a:ext cx="2104632" cy="1506071"/>
              </a:xfrm>
              <a:prstGeom prst="trapezoid">
                <a:avLst>
                  <a:gd name="adj" fmla="val 26989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66C530F3-CF88-972B-0F7A-E9E128E2FF1B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Probabilistic</a:t>
                    </a:r>
                  </a:p>
                  <a:p>
                    <a:pPr algn="ctr"/>
                    <a:r>
                      <a:rPr lang="en-US" dirty="0">
                        <a:latin typeface="Pretendard Variable Medium" panose="02000003000000020004" pitchFamily="2" charset="-127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a:t>Encoder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93C2E8-2577-85C2-0F3C-D44CAD7A0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702" y="3017298"/>
                    <a:ext cx="1382858" cy="9480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64" t="-2667" r="-1090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" name="Picture 8" descr="A duck swimming in the water&#10;&#10;AI-generated content may be incorrect.">
              <a:extLst>
                <a:ext uri="{FF2B5EF4-FFF2-40B4-BE49-F238E27FC236}">
                  <a16:creationId xmlns:a16="http://schemas.microsoft.com/office/drawing/2014/main" id="{31E48733-17A5-8C2A-C5CE-6BF42AE8A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r="386" b="11247"/>
            <a:stretch>
              <a:fillRect/>
            </a:stretch>
          </p:blipFill>
          <p:spPr>
            <a:xfrm>
              <a:off x="1195745" y="2762078"/>
              <a:ext cx="1359447" cy="1359406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821545-2B45-312D-1A03-8AB5F6BBCBFA}"/>
                </a:ext>
              </a:extLst>
            </p:cNvPr>
            <p:cNvCxnSpPr/>
            <p:nvPr/>
          </p:nvCxnSpPr>
          <p:spPr>
            <a:xfrm>
              <a:off x="2637243" y="3445175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6BB7B19-E8D9-AE0C-014F-675EF77916D9}"/>
                </a:ext>
              </a:extLst>
            </p:cNvPr>
            <p:cNvGrpSpPr/>
            <p:nvPr/>
          </p:nvGrpSpPr>
          <p:grpSpPr>
            <a:xfrm>
              <a:off x="6428925" y="2777341"/>
              <a:ext cx="457200" cy="1463647"/>
              <a:chOff x="5446986" y="3171415"/>
              <a:chExt cx="457200" cy="146364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AB25AF5-4328-9178-E5A2-26CC1C0C12EA}"/>
                  </a:ext>
                </a:extLst>
              </p:cNvPr>
              <p:cNvSpPr/>
              <p:nvPr/>
            </p:nvSpPr>
            <p:spPr>
              <a:xfrm>
                <a:off x="5446986" y="3171415"/>
                <a:ext cx="457200" cy="146364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864576A-FC49-C8C1-4A51-EC3380F3F196}"/>
                      </a:ext>
                    </a:extLst>
                  </p:cNvPr>
                  <p:cNvSpPr txBox="1"/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503943F-8BC4-9283-4EE9-11491FFBB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0455" y="3657834"/>
                    <a:ext cx="247021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000" t="-10526" r="-85000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57FFA90-B116-1F37-07C1-E27224153BAF}"/>
                </a:ext>
              </a:extLst>
            </p:cNvPr>
            <p:cNvCxnSpPr>
              <a:cxnSpLocks/>
            </p:cNvCxnSpPr>
            <p:nvPr/>
          </p:nvCxnSpPr>
          <p:spPr>
            <a:xfrm>
              <a:off x="6968176" y="3509165"/>
              <a:ext cx="403916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FC29AE6-3FD9-B5CF-52B3-97B6C488CB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808" y="2759574"/>
              <a:ext cx="1359447" cy="13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46CDE8A-20EB-A3E0-4B91-66B165D5B5CF}"/>
                </a:ext>
              </a:extLst>
            </p:cNvPr>
            <p:cNvCxnSpPr/>
            <p:nvPr/>
          </p:nvCxnSpPr>
          <p:spPr>
            <a:xfrm>
              <a:off x="9042265" y="3469449"/>
              <a:ext cx="512488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28320F1-F0FE-9DEC-F711-E779DD4F15C1}"/>
                    </a:ext>
                  </a:extLst>
                </p:cNvPr>
                <p:cNvSpPr txBox="1"/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Decoder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𝐳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E8CE54-97AA-90FB-B0AB-458CFC42F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008" y="3063401"/>
                  <a:ext cx="1470383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64" t="-2703" r="-6838" b="-8108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29784457-C92D-363C-4620-595526EBE92F}"/>
                </a:ext>
              </a:extLst>
            </p:cNvPr>
            <p:cNvSpPr/>
            <p:nvPr/>
          </p:nvSpPr>
          <p:spPr>
            <a:xfrm rot="16200000">
              <a:off x="7154863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96E7876-30FB-F4B6-5389-F84863574C8C}"/>
                </a:ext>
              </a:extLst>
            </p:cNvPr>
            <p:cNvCxnSpPr>
              <a:cxnSpLocks/>
            </p:cNvCxnSpPr>
            <p:nvPr/>
          </p:nvCxnSpPr>
          <p:spPr>
            <a:xfrm>
              <a:off x="4819904" y="3491338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8C9E249-E9CE-410A-F4BA-968ABAA82868}"/>
                </a:ext>
              </a:extLst>
            </p:cNvPr>
            <p:cNvCxnSpPr>
              <a:cxnSpLocks/>
            </p:cNvCxnSpPr>
            <p:nvPr/>
          </p:nvCxnSpPr>
          <p:spPr>
            <a:xfrm>
              <a:off x="5946873" y="3509164"/>
              <a:ext cx="400001" cy="0"/>
            </a:xfrm>
            <a:prstGeom prst="straightConnector1">
              <a:avLst/>
            </a:prstGeom>
            <a:ln w="63500" cap="flat" cmpd="sng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506691C-CD07-B3A2-7704-4E24D1B4B424}"/>
                </a:ext>
              </a:extLst>
            </p:cNvPr>
            <p:cNvGrpSpPr/>
            <p:nvPr/>
          </p:nvGrpSpPr>
          <p:grpSpPr>
            <a:xfrm>
              <a:off x="5301956" y="2965190"/>
              <a:ext cx="562866" cy="1148224"/>
              <a:chOff x="5240068" y="2965190"/>
              <a:chExt cx="562866" cy="11482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3B03AF7-9F68-B7B1-5CAD-4AA152D44C78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1EBD20A-9ED1-2785-1DE1-31A6CA6901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446" y="2973164"/>
                    <a:ext cx="309401" cy="494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00" t="-10000" r="-148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7939728-99A2-5F14-5036-0B881A7EF9A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7939728-99A2-5F14-5036-0B881A7EF9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585" y="3546867"/>
                    <a:ext cx="309401" cy="494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0769" t="-10000" r="-13846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C7C961-B3D2-EF26-9444-9D1BD72BEF77}"/>
                  </a:ext>
                </a:extLst>
              </p:cNvPr>
              <p:cNvSpPr/>
              <p:nvPr/>
            </p:nvSpPr>
            <p:spPr>
              <a:xfrm>
                <a:off x="5240068" y="2965190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2617097-31CB-84CF-F1AB-34B55E0AE425}"/>
                  </a:ext>
                </a:extLst>
              </p:cNvPr>
              <p:cNvSpPr/>
              <p:nvPr/>
            </p:nvSpPr>
            <p:spPr>
              <a:xfrm>
                <a:off x="5240068" y="3578746"/>
                <a:ext cx="562866" cy="53466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81F4303-A638-23AA-0BF7-0A44DB984386}"/>
                    </a:ext>
                  </a:extLst>
                </p:cNvPr>
                <p:cNvSpPr txBox="1"/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Reconstructed image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562E0F-7E03-33B7-F7E0-376E6940B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086" y="4144628"/>
                  <a:ext cx="240931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759" t="-6667" r="-7853" b="-2333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1D7DBB5-12CA-9699-4A28-9F8E2EF99AC8}"/>
              </a:ext>
            </a:extLst>
          </p:cNvPr>
          <p:cNvCxnSpPr>
            <a:cxnSpLocks/>
          </p:cNvCxnSpPr>
          <p:nvPr/>
        </p:nvCxnSpPr>
        <p:spPr>
          <a:xfrm>
            <a:off x="4661962" y="6004460"/>
            <a:ext cx="104491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69EAEE2-2CAA-D4F6-5AC1-4F12B75092EC}"/>
              </a:ext>
            </a:extLst>
          </p:cNvPr>
          <p:cNvSpPr txBox="1"/>
          <p:nvPr/>
        </p:nvSpPr>
        <p:spPr>
          <a:xfrm>
            <a:off x="4698262" y="6087410"/>
            <a:ext cx="99225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E2A8BF-93E7-5501-2C2E-E0DEA636675E}"/>
                  </a:ext>
                </a:extLst>
              </p:cNvPr>
              <p:cNvSpPr txBox="1"/>
              <p:nvPr/>
            </p:nvSpPr>
            <p:spPr>
              <a:xfrm>
                <a:off x="5917045" y="5737126"/>
                <a:ext cx="309401" cy="46166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𝜖</m:t>
                      </m:r>
                    </m:oMath>
                  </m:oMathPara>
                </a14:m>
                <a:endParaRPr lang="en-US" sz="2400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E2A8BF-93E7-5501-2C2E-E0DEA6366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045" y="5737126"/>
                <a:ext cx="309401" cy="461665"/>
              </a:xfrm>
              <a:prstGeom prst="rect">
                <a:avLst/>
              </a:prstGeom>
              <a:blipFill>
                <a:blip r:embed="rId11"/>
                <a:stretch>
                  <a:fillRect t="-10526" r="-56000" b="-2894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02BD06B2-A532-604B-54A7-38CDD589E9EC}"/>
              </a:ext>
            </a:extLst>
          </p:cNvPr>
          <p:cNvSpPr/>
          <p:nvPr/>
        </p:nvSpPr>
        <p:spPr>
          <a:xfrm>
            <a:off x="5788930" y="5737126"/>
            <a:ext cx="562866" cy="5346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332A4F-494D-1F5D-F4D6-78F77AA705F4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6070363" y="4160696"/>
            <a:ext cx="1383" cy="1576430"/>
          </a:xfrm>
          <a:prstGeom prst="line">
            <a:avLst/>
          </a:prstGeom>
          <a:ln w="3492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24BABB3-63E5-5CCD-6FE7-4A079DDD2FE0}"/>
              </a:ext>
            </a:extLst>
          </p:cNvPr>
          <p:cNvSpPr txBox="1"/>
          <p:nvPr/>
        </p:nvSpPr>
        <p:spPr>
          <a:xfrm>
            <a:off x="3001092" y="4997434"/>
            <a:ext cx="3007526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KR" dirty="0">
                <a:solidFill>
                  <a:schemeClr val="accent6">
                    <a:lumMod val="50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Reparametrization</a:t>
            </a:r>
          </a:p>
          <a:p>
            <a:pPr algn="r"/>
            <a:r>
              <a:rPr lang="en-KR" dirty="0">
                <a:solidFill>
                  <a:schemeClr val="accent6">
                    <a:lumMod val="50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Trick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72176ED6-D27C-0D46-76F3-57B78F4B0E90}"/>
              </a:ext>
            </a:extLst>
          </p:cNvPr>
          <p:cNvCxnSpPr>
            <a:stCxn id="9" idx="0"/>
            <a:endCxn id="14" idx="0"/>
          </p:cNvCxnSpPr>
          <p:nvPr/>
        </p:nvCxnSpPr>
        <p:spPr>
          <a:xfrm rot="5400000" flipH="1" flipV="1">
            <a:off x="6094748" y="-798867"/>
            <a:ext cx="2504" cy="8441063"/>
          </a:xfrm>
          <a:prstGeom prst="bentConnector3">
            <a:avLst>
              <a:gd name="adj1" fmla="val 47938019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68BBDA7D-424C-2FB4-F114-EE284089292B}"/>
                  </a:ext>
                </a:extLst>
              </p:cNvPr>
              <p:cNvSpPr/>
              <p:nvPr/>
            </p:nvSpPr>
            <p:spPr>
              <a:xfrm>
                <a:off x="3954472" y="1829661"/>
                <a:ext cx="4279392" cy="77906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9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KR" dirty="0" err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68BBDA7D-424C-2FB4-F114-EE2840892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472" y="1829661"/>
                <a:ext cx="4279392" cy="779065"/>
              </a:xfrm>
              <a:prstGeom prst="roundRect">
                <a:avLst/>
              </a:prstGeom>
              <a:blipFill>
                <a:blip r:embed="rId12"/>
                <a:stretch>
                  <a:fillRect b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371465F0-008D-44E9-D0A6-F125A28859B0}"/>
              </a:ext>
            </a:extLst>
          </p:cNvPr>
          <p:cNvSpPr/>
          <p:nvPr/>
        </p:nvSpPr>
        <p:spPr>
          <a:xfrm>
            <a:off x="4050791" y="1699314"/>
            <a:ext cx="2378133" cy="223420"/>
          </a:xfrm>
          <a:prstGeom prst="rect">
            <a:avLst/>
          </a:prstGeom>
          <a:solidFill>
            <a:schemeClr val="accent1">
              <a:lumMod val="60000"/>
              <a:lumOff val="40000"/>
              <a:alpha val="87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E997B1BB-B02B-8272-A464-94F591966619}"/>
                  </a:ext>
                </a:extLst>
              </p:cNvPr>
              <p:cNvSpPr/>
              <p:nvPr/>
            </p:nvSpPr>
            <p:spPr>
              <a:xfrm>
                <a:off x="7217636" y="5382961"/>
                <a:ext cx="4279392" cy="91841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9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func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</m:oMath>
                  </m:oMathPara>
                </a14:m>
                <a:endParaRPr lang="en-KR" dirty="0" err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E997B1BB-B02B-8272-A464-94F5919666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636" y="5382961"/>
                <a:ext cx="4279392" cy="918411"/>
              </a:xfrm>
              <a:prstGeom prst="roundRect">
                <a:avLst/>
              </a:prstGeom>
              <a:blipFill>
                <a:blip r:embed="rId13"/>
                <a:stretch>
                  <a:fillRect l="-1479" t="-93243" b="-1297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A177FA9E-8F25-0CD1-E000-9978E913AEDF}"/>
              </a:ext>
            </a:extLst>
          </p:cNvPr>
          <p:cNvSpPr/>
          <p:nvPr/>
        </p:nvSpPr>
        <p:spPr>
          <a:xfrm>
            <a:off x="7341127" y="5256865"/>
            <a:ext cx="2378133" cy="223420"/>
          </a:xfrm>
          <a:prstGeom prst="rect">
            <a:avLst/>
          </a:prstGeom>
          <a:solidFill>
            <a:schemeClr val="accent1">
              <a:lumMod val="60000"/>
              <a:lumOff val="40000"/>
              <a:alpha val="87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Regularization Term</a:t>
            </a:r>
          </a:p>
        </p:txBody>
      </p:sp>
      <p:sp>
        <p:nvSpPr>
          <p:cNvPr id="17" name="Title 12">
            <a:extLst>
              <a:ext uri="{FF2B5EF4-FFF2-40B4-BE49-F238E27FC236}">
                <a16:creationId xmlns:a16="http://schemas.microsoft.com/office/drawing/2014/main" id="{84984CC7-0D44-458E-1686-3E6EA8B1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Optimization – Summary 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692D7D8-2282-DA57-F2EE-B7A0564CF848}"/>
                  </a:ext>
                </a:extLst>
              </p:cNvPr>
              <p:cNvSpPr txBox="1"/>
              <p:nvPr/>
            </p:nvSpPr>
            <p:spPr>
              <a:xfrm>
                <a:off x="248970" y="5599141"/>
                <a:ext cx="60979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692D7D8-2282-DA57-F2EE-B7A0564CF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70" y="5599141"/>
                <a:ext cx="609790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 descr="Multivariate Normal Distribution | Brilliant Math &amp; Science Wiki">
            <a:extLst>
              <a:ext uri="{FF2B5EF4-FFF2-40B4-BE49-F238E27FC236}">
                <a16:creationId xmlns:a16="http://schemas.microsoft.com/office/drawing/2014/main" id="{00CD5947-8B55-64AB-5DAF-5897C687B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6667" b="90476" l="15179" r="90030">
                        <a14:foregroundMark x1="84375" y1="71230" x2="83333" y2="74405"/>
                        <a14:foregroundMark x1="83333" y1="73413" x2="84821" y2="74008"/>
                        <a14:foregroundMark x1="90030" y1="75397" x2="89732" y2="77778"/>
                        <a14:foregroundMark x1="51637" y1="90476" x2="51190" y2="890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6" t="23155" r="5545" b="5310"/>
          <a:stretch>
            <a:fillRect/>
          </a:stretch>
        </p:blipFill>
        <p:spPr bwMode="auto">
          <a:xfrm>
            <a:off x="3089542" y="5515093"/>
            <a:ext cx="1616372" cy="9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C5B998C9-00B5-4534-3CCE-3EC8518D973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062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1C1F0-884D-DFA2-9C41-8640FA38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1B2066-82A8-88C0-C7E1-75F10106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132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B5399D-50CD-9353-238C-3CF8FE7F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Generation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69D7F1-42D3-AC27-E2F1-C680A1ADC738}"/>
                  </a:ext>
                </a:extLst>
              </p:cNvPr>
              <p:cNvSpPr txBox="1"/>
              <p:nvPr/>
            </p:nvSpPr>
            <p:spPr>
              <a:xfrm>
                <a:off x="1460001" y="4805466"/>
                <a:ext cx="83093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69D7F1-42D3-AC27-E2F1-C680A1ADC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01" y="4805466"/>
                <a:ext cx="830933" cy="369332"/>
              </a:xfrm>
              <a:prstGeom prst="rect">
                <a:avLst/>
              </a:prstGeom>
              <a:blipFill>
                <a:blip r:embed="rId2"/>
                <a:stretch>
                  <a:fillRect l="-18182" t="-6667" r="-22727" b="-23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1133DA5-D7E8-3D7B-49E1-CE25FD5C878B}"/>
              </a:ext>
            </a:extLst>
          </p:cNvPr>
          <p:cNvGrpSpPr/>
          <p:nvPr/>
        </p:nvGrpSpPr>
        <p:grpSpPr>
          <a:xfrm>
            <a:off x="3231782" y="3063398"/>
            <a:ext cx="1506071" cy="2104632"/>
            <a:chOff x="3242434" y="2402560"/>
            <a:chExt cx="1506071" cy="2104632"/>
          </a:xfrm>
        </p:grpSpPr>
        <p:sp>
          <p:nvSpPr>
            <p:cNvPr id="29" name="Trapezoid 28">
              <a:extLst>
                <a:ext uri="{FF2B5EF4-FFF2-40B4-BE49-F238E27FC236}">
                  <a16:creationId xmlns:a16="http://schemas.microsoft.com/office/drawing/2014/main" id="{BEB1DDCC-9657-96AE-D2CB-4C4D7DC7A4A2}"/>
                </a:ext>
              </a:extLst>
            </p:cNvPr>
            <p:cNvSpPr/>
            <p:nvPr/>
          </p:nvSpPr>
          <p:spPr>
            <a:xfrm rot="5400000">
              <a:off x="2943154" y="2701840"/>
              <a:ext cx="2104632" cy="1506071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99EF814-3EC3-8586-6BB4-9F51546BA417}"/>
                    </a:ext>
                  </a:extLst>
                </p:cNvPr>
                <p:cNvSpPr txBox="1"/>
                <p:nvPr/>
              </p:nvSpPr>
              <p:spPr>
                <a:xfrm>
                  <a:off x="3322702" y="3017298"/>
                  <a:ext cx="1382858" cy="94808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Probabilistic</a:t>
                  </a:r>
                </a:p>
                <a:p>
                  <a:pPr algn="ctr"/>
                  <a:r>
                    <a:rPr lang="en-US" dirty="0"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rPr>
                    <a:t>Encoder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(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𝐳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|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B93C2E8-2577-85C2-0F3C-D44CAD7A0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2702" y="3017298"/>
                  <a:ext cx="1382858" cy="948080"/>
                </a:xfrm>
                <a:prstGeom prst="rect">
                  <a:avLst/>
                </a:prstGeom>
                <a:blipFill>
                  <a:blip r:embed="rId3"/>
                  <a:stretch>
                    <a:fillRect l="-6364" t="-2667" r="-1090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Picture 8" descr="A duck swimming in the water&#10;&#10;AI-generated content may be incorrect.">
            <a:extLst>
              <a:ext uri="{FF2B5EF4-FFF2-40B4-BE49-F238E27FC236}">
                <a16:creationId xmlns:a16="http://schemas.microsoft.com/office/drawing/2014/main" id="{59CA2904-14D4-0E31-70CA-CAFD71B26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5" r="386" b="11247"/>
          <a:stretch>
            <a:fillRect/>
          </a:stretch>
        </p:blipFill>
        <p:spPr>
          <a:xfrm>
            <a:off x="1195745" y="3422916"/>
            <a:ext cx="1359447" cy="135940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5967C5-06E6-479D-D1DF-8FD2FA260014}"/>
              </a:ext>
            </a:extLst>
          </p:cNvPr>
          <p:cNvCxnSpPr/>
          <p:nvPr/>
        </p:nvCxnSpPr>
        <p:spPr>
          <a:xfrm>
            <a:off x="2637243" y="4106013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2F1E12-781E-1AD2-6BA6-C8A5D9411B7A}"/>
              </a:ext>
            </a:extLst>
          </p:cNvPr>
          <p:cNvGrpSpPr/>
          <p:nvPr/>
        </p:nvGrpSpPr>
        <p:grpSpPr>
          <a:xfrm>
            <a:off x="6428925" y="3438179"/>
            <a:ext cx="457200" cy="1463647"/>
            <a:chOff x="5446986" y="3171415"/>
            <a:chExt cx="457200" cy="146364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1B82594-2D62-42DC-B672-A888E86E67EA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5574D84-ECBC-4520-DCFA-667D4505EF74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03943F-8BC4-9283-4EE9-11491FFBB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0000" t="-10526" r="-85000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9A97A0-4E7B-6070-43BC-B175A6BA6981}"/>
              </a:ext>
            </a:extLst>
          </p:cNvPr>
          <p:cNvCxnSpPr>
            <a:cxnSpLocks/>
          </p:cNvCxnSpPr>
          <p:nvPr/>
        </p:nvCxnSpPr>
        <p:spPr>
          <a:xfrm>
            <a:off x="6968176" y="4170003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F6E06549-15C1-6687-5DB0-C3D6A621A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3420412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F88067-2C52-B4A5-0010-1F0016F870AA}"/>
              </a:ext>
            </a:extLst>
          </p:cNvPr>
          <p:cNvCxnSpPr/>
          <p:nvPr/>
        </p:nvCxnSpPr>
        <p:spPr>
          <a:xfrm>
            <a:off x="9042265" y="4130287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FEF2FA-08B5-72D1-16BC-D577E5F7B132}"/>
                  </a:ext>
                </a:extLst>
              </p:cNvPr>
              <p:cNvSpPr txBox="1"/>
              <p:nvPr/>
            </p:nvSpPr>
            <p:spPr>
              <a:xfrm>
                <a:off x="7476008" y="3724239"/>
                <a:ext cx="1470383" cy="92333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Probabilistic</a:t>
                </a:r>
              </a:p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acc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𝐱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FEF2FA-08B5-72D1-16BC-D577E5F7B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008" y="3724239"/>
                <a:ext cx="1470383" cy="923330"/>
              </a:xfrm>
              <a:prstGeom prst="rect">
                <a:avLst/>
              </a:prstGeom>
              <a:blipFill>
                <a:blip r:embed="rId7"/>
                <a:stretch>
                  <a:fillRect l="-2564" t="-4110" r="-6838" b="-821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rapezoid 17">
            <a:extLst>
              <a:ext uri="{FF2B5EF4-FFF2-40B4-BE49-F238E27FC236}">
                <a16:creationId xmlns:a16="http://schemas.microsoft.com/office/drawing/2014/main" id="{EC763B42-3A73-0395-AB13-1995562B3145}"/>
              </a:ext>
            </a:extLst>
          </p:cNvPr>
          <p:cNvSpPr/>
          <p:nvPr/>
        </p:nvSpPr>
        <p:spPr>
          <a:xfrm rot="16200000">
            <a:off x="7154863" y="3362678"/>
            <a:ext cx="2104632" cy="1506071"/>
          </a:xfrm>
          <a:prstGeom prst="trapezoid">
            <a:avLst>
              <a:gd name="adj" fmla="val 2698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20AF03-640F-2E55-ACF5-4DDCED494CC8}"/>
              </a:ext>
            </a:extLst>
          </p:cNvPr>
          <p:cNvCxnSpPr>
            <a:cxnSpLocks/>
          </p:cNvCxnSpPr>
          <p:nvPr/>
        </p:nvCxnSpPr>
        <p:spPr>
          <a:xfrm>
            <a:off x="4819904" y="4152176"/>
            <a:ext cx="400001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E9F276-6387-B9FA-6F5F-C6F0340989CC}"/>
              </a:ext>
            </a:extLst>
          </p:cNvPr>
          <p:cNvCxnSpPr>
            <a:cxnSpLocks/>
          </p:cNvCxnSpPr>
          <p:nvPr/>
        </p:nvCxnSpPr>
        <p:spPr>
          <a:xfrm>
            <a:off x="5946873" y="4170002"/>
            <a:ext cx="400001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807D3CC-7481-5F68-7C23-3D63DDE8073B}"/>
              </a:ext>
            </a:extLst>
          </p:cNvPr>
          <p:cNvGrpSpPr/>
          <p:nvPr/>
        </p:nvGrpSpPr>
        <p:grpSpPr>
          <a:xfrm>
            <a:off x="5301956" y="3626028"/>
            <a:ext cx="562866" cy="1148224"/>
            <a:chOff x="5240068" y="2965190"/>
            <a:chExt cx="562866" cy="1148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27CEF86-6904-A84E-86D3-406B457A41B4}"/>
                    </a:ext>
                  </a:extLst>
                </p:cNvPr>
                <p:cNvSpPr txBox="1"/>
                <p:nvPr/>
              </p:nvSpPr>
              <p:spPr>
                <a:xfrm>
                  <a:off x="5290446" y="2973164"/>
                  <a:ext cx="309401" cy="49481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EBD20A-9ED1-2785-1DE1-31A6CA690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0446" y="2973164"/>
                  <a:ext cx="309401" cy="494815"/>
                </a:xfrm>
                <a:prstGeom prst="rect">
                  <a:avLst/>
                </a:prstGeom>
                <a:blipFill>
                  <a:blip r:embed="rId8"/>
                  <a:stretch>
                    <a:fillRect l="-32000" t="-10000" r="-148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8D6AEC0-C191-C4B1-4095-C7BD0EBA1D52}"/>
                    </a:ext>
                  </a:extLst>
                </p:cNvPr>
                <p:cNvSpPr txBox="1"/>
                <p:nvPr/>
              </p:nvSpPr>
              <p:spPr>
                <a:xfrm>
                  <a:off x="5298585" y="3546867"/>
                  <a:ext cx="309401" cy="49481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8D6AEC0-C191-C4B1-4095-C7BD0EBA1D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585" y="3546867"/>
                  <a:ext cx="309401" cy="494815"/>
                </a:xfrm>
                <a:prstGeom prst="rect">
                  <a:avLst/>
                </a:prstGeom>
                <a:blipFill>
                  <a:blip r:embed="rId9"/>
                  <a:stretch>
                    <a:fillRect l="-30769" t="-10000" r="-138462" b="-20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7C1251-3B9F-1976-24FC-F84D147DF7BB}"/>
                </a:ext>
              </a:extLst>
            </p:cNvPr>
            <p:cNvSpPr/>
            <p:nvPr/>
          </p:nvSpPr>
          <p:spPr>
            <a:xfrm>
              <a:off x="5240068" y="2965190"/>
              <a:ext cx="562866" cy="53466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0BC6092-CDAF-B36D-DD79-FDEDE77BA716}"/>
                </a:ext>
              </a:extLst>
            </p:cNvPr>
            <p:cNvSpPr/>
            <p:nvPr/>
          </p:nvSpPr>
          <p:spPr>
            <a:xfrm>
              <a:off x="5240068" y="3578746"/>
              <a:ext cx="562866" cy="53466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DE9027-3016-A8A2-E128-685D09EE2D22}"/>
                  </a:ext>
                </a:extLst>
              </p:cNvPr>
              <p:cNvSpPr txBox="1"/>
              <p:nvPr/>
            </p:nvSpPr>
            <p:spPr>
              <a:xfrm>
                <a:off x="9263086" y="4805466"/>
                <a:ext cx="2409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Reconstructed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DE9027-3016-A8A2-E128-685D09EE2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86" y="4805466"/>
                <a:ext cx="2409314" cy="369332"/>
              </a:xfrm>
              <a:prstGeom prst="rect">
                <a:avLst/>
              </a:prstGeom>
              <a:blipFill>
                <a:blip r:embed="rId10"/>
                <a:stretch>
                  <a:fillRect l="-5759" t="-6667" r="-7853" b="-23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D9AD405-941E-1114-AF8A-086770FCCD6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639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8E7DD-F717-FDC2-1E0E-583A73DF0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A9114B-286D-D288-706F-A6EC5DA0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133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5BCD048-7075-2AB3-5944-92C1D010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VAE Generation</a:t>
            </a:r>
            <a:endParaRPr lang="en-KR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0D02ED-1CA8-D95E-4DD6-C9F856E50C5A}"/>
              </a:ext>
            </a:extLst>
          </p:cNvPr>
          <p:cNvGrpSpPr/>
          <p:nvPr/>
        </p:nvGrpSpPr>
        <p:grpSpPr>
          <a:xfrm>
            <a:off x="6428925" y="3438179"/>
            <a:ext cx="457200" cy="1463647"/>
            <a:chOff x="5446986" y="3171415"/>
            <a:chExt cx="457200" cy="146364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B8D6091-8D2C-A03D-CAD5-3507C0955AF7}"/>
                </a:ext>
              </a:extLst>
            </p:cNvPr>
            <p:cNvSpPr/>
            <p:nvPr/>
          </p:nvSpPr>
          <p:spPr>
            <a:xfrm>
              <a:off x="5446986" y="3171415"/>
              <a:ext cx="457200" cy="146364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F8D9052-2216-C9E3-F1C6-5D1AF2686786}"/>
                    </a:ext>
                  </a:extLst>
                </p:cNvPr>
                <p:cNvSpPr txBox="1"/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oMath>
                    </m:oMathPara>
                  </a14:m>
                  <a:endParaRPr lang="en-US" sz="2400" i="1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03943F-8BC4-9283-4EE9-11491FFBB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455" y="3657834"/>
                  <a:ext cx="24702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0000" t="-10526" r="-85000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72C59F-6323-FBF8-1034-C2BFAA5F668B}"/>
              </a:ext>
            </a:extLst>
          </p:cNvPr>
          <p:cNvCxnSpPr>
            <a:cxnSpLocks/>
          </p:cNvCxnSpPr>
          <p:nvPr/>
        </p:nvCxnSpPr>
        <p:spPr>
          <a:xfrm>
            <a:off x="6968176" y="4170003"/>
            <a:ext cx="403916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1000E935-9406-9302-0923-5F1471432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808" y="3420412"/>
            <a:ext cx="1359447" cy="13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B7A3EA-44B7-B151-19E2-AF4068694DC9}"/>
              </a:ext>
            </a:extLst>
          </p:cNvPr>
          <p:cNvCxnSpPr/>
          <p:nvPr/>
        </p:nvCxnSpPr>
        <p:spPr>
          <a:xfrm>
            <a:off x="9042265" y="4130287"/>
            <a:ext cx="51248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23AEAC-5F17-0295-E6E8-13977D2D9D20}"/>
                  </a:ext>
                </a:extLst>
              </p:cNvPr>
              <p:cNvSpPr txBox="1"/>
              <p:nvPr/>
            </p:nvSpPr>
            <p:spPr>
              <a:xfrm>
                <a:off x="7476008" y="3724239"/>
                <a:ext cx="1470383" cy="92333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Probabilistic</a:t>
                </a:r>
              </a:p>
              <a:p>
                <a:pPr algn="ctr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acc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𝐱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|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𝐳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23AEAC-5F17-0295-E6E8-13977D2D9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008" y="3724239"/>
                <a:ext cx="1470383" cy="923330"/>
              </a:xfrm>
              <a:prstGeom prst="rect">
                <a:avLst/>
              </a:prstGeom>
              <a:blipFill>
                <a:blip r:embed="rId7"/>
                <a:stretch>
                  <a:fillRect l="-2564" t="-4110" r="-6838" b="-821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rapezoid 17">
            <a:extLst>
              <a:ext uri="{FF2B5EF4-FFF2-40B4-BE49-F238E27FC236}">
                <a16:creationId xmlns:a16="http://schemas.microsoft.com/office/drawing/2014/main" id="{8B8B52A3-84BF-3DDC-F587-68614CE2E707}"/>
              </a:ext>
            </a:extLst>
          </p:cNvPr>
          <p:cNvSpPr/>
          <p:nvPr/>
        </p:nvSpPr>
        <p:spPr>
          <a:xfrm rot="16200000">
            <a:off x="7154863" y="3362678"/>
            <a:ext cx="2104632" cy="1506071"/>
          </a:xfrm>
          <a:prstGeom prst="trapezoid">
            <a:avLst>
              <a:gd name="adj" fmla="val 2698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38A20B-46F5-0215-E368-C52DBE4E0701}"/>
              </a:ext>
            </a:extLst>
          </p:cNvPr>
          <p:cNvCxnSpPr>
            <a:cxnSpLocks/>
          </p:cNvCxnSpPr>
          <p:nvPr/>
        </p:nvCxnSpPr>
        <p:spPr>
          <a:xfrm>
            <a:off x="5946873" y="4170002"/>
            <a:ext cx="400001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EFB2D7-BB4F-5779-8F49-DF3D62B74B81}"/>
                  </a:ext>
                </a:extLst>
              </p:cNvPr>
              <p:cNvSpPr txBox="1"/>
              <p:nvPr/>
            </p:nvSpPr>
            <p:spPr>
              <a:xfrm>
                <a:off x="9298509" y="4836844"/>
                <a:ext cx="2050818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Generated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EFB2D7-BB4F-5779-8F49-DF3D62B74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509" y="4836844"/>
                <a:ext cx="2050818" cy="369332"/>
              </a:xfrm>
              <a:prstGeom prst="rect">
                <a:avLst/>
              </a:prstGeom>
              <a:blipFill>
                <a:blip r:embed="rId8"/>
                <a:stretch>
                  <a:fillRect l="-7407" t="-6667" r="-6173" b="-23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403BFE8-9E9D-75A7-3A0E-8D2C720E7196}"/>
              </a:ext>
            </a:extLst>
          </p:cNvPr>
          <p:cNvCxnSpPr>
            <a:cxnSpLocks/>
          </p:cNvCxnSpPr>
          <p:nvPr/>
        </p:nvCxnSpPr>
        <p:spPr>
          <a:xfrm>
            <a:off x="4170329" y="4163232"/>
            <a:ext cx="1044918" cy="0"/>
          </a:xfrm>
          <a:prstGeom prst="straightConnector1">
            <a:avLst/>
          </a:prstGeom>
          <a:ln w="63500" cap="flat" cmpd="sng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2199C58-9A40-B841-1B80-711F39C73506}"/>
              </a:ext>
            </a:extLst>
          </p:cNvPr>
          <p:cNvSpPr txBox="1"/>
          <p:nvPr/>
        </p:nvSpPr>
        <p:spPr>
          <a:xfrm>
            <a:off x="4113643" y="4245900"/>
            <a:ext cx="99225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8E12A3-0E06-A56E-12F2-6B7B4F3E39A7}"/>
                  </a:ext>
                </a:extLst>
              </p:cNvPr>
              <p:cNvSpPr txBox="1"/>
              <p:nvPr/>
            </p:nvSpPr>
            <p:spPr>
              <a:xfrm>
                <a:off x="5425412" y="3895898"/>
                <a:ext cx="309401" cy="46166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𝜖</m:t>
                      </m:r>
                    </m:oMath>
                  </m:oMathPara>
                </a14:m>
                <a:endParaRPr lang="en-US" sz="2400" i="1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8E12A3-0E06-A56E-12F2-6B7B4F3E3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12" y="3895898"/>
                <a:ext cx="309401" cy="461665"/>
              </a:xfrm>
              <a:prstGeom prst="rect">
                <a:avLst/>
              </a:prstGeom>
              <a:blipFill>
                <a:blip r:embed="rId9"/>
                <a:stretch>
                  <a:fillRect t="-10526" r="-60000" b="-2894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F7AB5689-7035-A7D6-79E1-53319D7D39AA}"/>
              </a:ext>
            </a:extLst>
          </p:cNvPr>
          <p:cNvSpPr/>
          <p:nvPr/>
        </p:nvSpPr>
        <p:spPr>
          <a:xfrm>
            <a:off x="5297297" y="3895898"/>
            <a:ext cx="562866" cy="5346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33" name="Picture 32" descr="Multivariate Normal Distribution | Brilliant Math &amp; Science Wiki">
            <a:extLst>
              <a:ext uri="{FF2B5EF4-FFF2-40B4-BE49-F238E27FC236}">
                <a16:creationId xmlns:a16="http://schemas.microsoft.com/office/drawing/2014/main" id="{D2114944-3929-8438-8EF7-7FF1D5B9BD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6667" b="90476" l="15179" r="90030">
                        <a14:foregroundMark x1="84375" y1="71230" x2="83333" y2="74405"/>
                        <a14:foregroundMark x1="83333" y1="73413" x2="84821" y2="74008"/>
                        <a14:foregroundMark x1="90030" y1="75397" x2="89732" y2="77778"/>
                        <a14:foregroundMark x1="51637" y1="90476" x2="51190" y2="890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6" t="23155" r="5545" b="5310"/>
          <a:stretch>
            <a:fillRect/>
          </a:stretch>
        </p:blipFill>
        <p:spPr bwMode="auto">
          <a:xfrm>
            <a:off x="549788" y="3078182"/>
            <a:ext cx="3438505" cy="209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D5746A1-DC12-E2BA-A2D8-073A1D585B0F}"/>
                  </a:ext>
                </a:extLst>
              </p:cNvPr>
              <p:cNvSpPr txBox="1"/>
              <p:nvPr/>
            </p:nvSpPr>
            <p:spPr>
              <a:xfrm>
                <a:off x="-779912" y="2749260"/>
                <a:ext cx="60979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D5746A1-DC12-E2BA-A2D8-073A1D585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9912" y="2749260"/>
                <a:ext cx="609790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D1AEE91C-9F80-8D26-78A7-F709071D3898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Deep dive into VAE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2482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BF33-931E-FF4C-9FC7-4DBA6FC0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BA2674-602D-1C30-DB69-228127BECC24}"/>
              </a:ext>
            </a:extLst>
          </p:cNvPr>
          <p:cNvSpPr txBox="1"/>
          <p:nvPr/>
        </p:nvSpPr>
        <p:spPr>
          <a:xfrm>
            <a:off x="609598" y="3013501"/>
            <a:ext cx="1772921" cy="83099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4800" b="1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DDPM</a:t>
            </a:r>
          </a:p>
        </p:txBody>
      </p:sp>
    </p:spTree>
    <p:extLst>
      <p:ext uri="{BB962C8B-B14F-4D97-AF65-F5344CB8AC3E}">
        <p14:creationId xmlns:p14="http://schemas.microsoft.com/office/powerpoint/2010/main" val="340708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F293-0492-5746-4948-0B82E78C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5E86BD-A8CA-8302-26EB-67595D23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135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DDBA6B2-0CD6-B536-3E6E-C42BFB71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CD9D81C-A37B-1875-CAA9-DAC03E3DE7F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C8AB9-D66C-D0D7-F11D-20A652D0707A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VAE: oversimplified latent prior, posterior collapse</a:t>
            </a:r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297566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D7A34-1738-A612-7EDE-D5AEB7E9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3C5172-AA3D-948A-6C2F-EB3C760C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136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DBC18F-105D-CFD6-5901-124C1EDD1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F40788D5-68DA-959C-F03A-9AD8F80D907A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B874F-FA5E-FD3A-53CF-24AA8FE337BC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VAE: oversimplified latent prior, posterior collapse</a:t>
            </a:r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103976-E33B-1D07-0133-962A6C60DFD0}"/>
                  </a:ext>
                </a:extLst>
              </p:cNvPr>
              <p:cNvSpPr txBox="1"/>
              <p:nvPr/>
            </p:nvSpPr>
            <p:spPr>
              <a:xfrm>
                <a:off x="477079" y="2520223"/>
                <a:ext cx="6818244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103976-E33B-1D07-0133-962A6C60D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79" y="2520223"/>
                <a:ext cx="6818244" cy="645048"/>
              </a:xfrm>
              <a:prstGeom prst="rect">
                <a:avLst/>
              </a:prstGeom>
              <a:blipFill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E458FB90-FB9F-4D0C-B10F-DC7A932CE11F}"/>
              </a:ext>
            </a:extLst>
          </p:cNvPr>
          <p:cNvSpPr/>
          <p:nvPr/>
        </p:nvSpPr>
        <p:spPr>
          <a:xfrm>
            <a:off x="2305878" y="2633870"/>
            <a:ext cx="1679713" cy="43351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C6AA463-AC08-A007-8A52-B77D81D599E5}"/>
                  </a:ext>
                </a:extLst>
              </p:cNvPr>
              <p:cNvSpPr txBox="1"/>
              <p:nvPr/>
            </p:nvSpPr>
            <p:spPr>
              <a:xfrm>
                <a:off x="1245791" y="3181030"/>
                <a:ext cx="379988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KR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too simple to encoding real data</a:t>
                </a:r>
                <a:endParaRPr lang="en-KR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C6AA463-AC08-A007-8A52-B77D81D5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791" y="3181030"/>
                <a:ext cx="3799886" cy="369332"/>
              </a:xfrm>
              <a:prstGeom prst="rect">
                <a:avLst/>
              </a:prstGeom>
              <a:blipFill>
                <a:blip r:embed="rId3"/>
                <a:stretch>
                  <a:fillRect l="-997" t="-6667" r="-2990" b="-23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90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5DC2-3C90-A7B6-BC2F-6916C53C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219236-E11B-49D7-A10D-E8E18DAB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137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8227F2A-0300-C217-EE81-D3C6519A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D704B416-5416-3113-A681-1D06D9E2E82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FB17D-229F-5996-C8B7-80C09B6BB7D8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VAE: oversimplified latent prior, posterior collapse</a:t>
            </a:r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B1F6EF-1F76-D17D-C261-9B02A71E9592}"/>
                  </a:ext>
                </a:extLst>
              </p:cNvPr>
              <p:cNvSpPr txBox="1"/>
              <p:nvPr/>
            </p:nvSpPr>
            <p:spPr>
              <a:xfrm>
                <a:off x="477079" y="2520223"/>
                <a:ext cx="6818244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B1F6EF-1F76-D17D-C261-9B02A71E9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79" y="2520223"/>
                <a:ext cx="6818244" cy="645048"/>
              </a:xfrm>
              <a:prstGeom prst="rect">
                <a:avLst/>
              </a:prstGeom>
              <a:blipFill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F27A49C9-2DC9-4739-AEF2-154731EB309C}"/>
              </a:ext>
            </a:extLst>
          </p:cNvPr>
          <p:cNvSpPr/>
          <p:nvPr/>
        </p:nvSpPr>
        <p:spPr>
          <a:xfrm>
            <a:off x="4283765" y="2584174"/>
            <a:ext cx="2842592" cy="57646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00C156-9F29-3607-C01B-99CA9698FCFB}"/>
              </a:ext>
            </a:extLst>
          </p:cNvPr>
          <p:cNvSpPr txBox="1"/>
          <p:nvPr/>
        </p:nvSpPr>
        <p:spPr>
          <a:xfrm>
            <a:off x="2336350" y="3351220"/>
            <a:ext cx="6532237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Powerful decoder encourages the encoder to match the prior</a:t>
            </a: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882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45B0-6462-3287-DAB1-31C15754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844238-4393-EADC-0F2E-60A27F43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138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45419F3-97EF-6589-5CA9-9866E7AF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73144C6D-A684-AD99-9992-8685373C10DB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85814-907B-55E0-AD99-1F003A0D70F6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VAE: oversimplified latent prior, posterior collapse</a:t>
            </a:r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8052DF-E690-0B1B-99B4-C100FFDAF8EA}"/>
                  </a:ext>
                </a:extLst>
              </p:cNvPr>
              <p:cNvSpPr txBox="1"/>
              <p:nvPr/>
            </p:nvSpPr>
            <p:spPr>
              <a:xfrm>
                <a:off x="477079" y="2520223"/>
                <a:ext cx="6818244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𝐿𝐵𝑂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 Variable Medium" panose="02000003000000020004" pitchFamily="2" charset="-127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8052DF-E690-0B1B-99B4-C100FFDAF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79" y="2520223"/>
                <a:ext cx="6818244" cy="645048"/>
              </a:xfrm>
              <a:prstGeom prst="rect">
                <a:avLst/>
              </a:prstGeom>
              <a:blipFill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9EE377CC-AC17-C040-8944-F88373EEA95A}"/>
              </a:ext>
            </a:extLst>
          </p:cNvPr>
          <p:cNvSpPr/>
          <p:nvPr/>
        </p:nvSpPr>
        <p:spPr>
          <a:xfrm>
            <a:off x="4283765" y="2584174"/>
            <a:ext cx="2842592" cy="57646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B7FE78-E053-01C6-1F17-3D9C53595326}"/>
              </a:ext>
            </a:extLst>
          </p:cNvPr>
          <p:cNvSpPr txBox="1"/>
          <p:nvPr/>
        </p:nvSpPr>
        <p:spPr>
          <a:xfrm>
            <a:off x="2336350" y="3351220"/>
            <a:ext cx="6532237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Powerful decoder encourages the encoder to match the prior</a:t>
            </a:r>
          </a:p>
          <a:p>
            <a:endParaRPr lang="en-US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pPr algn="ctr"/>
            <a:r>
              <a:rPr lang="en-US" u="sng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Useful resource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: </a:t>
            </a:r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VQ-VAE</a:t>
            </a:r>
            <a:endParaRPr lang="en-KR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598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FEE27-F74C-5FBC-5C90-91A29622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656FAB-0997-1F03-607E-53912B4B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139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71D0EF8-D5DE-3000-8595-4A8B37D5A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4FFDF7EA-52C2-E8E3-695A-68C4660F2E0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14E96-424C-55CD-4A6F-0304F9D43E30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iffusion models are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 variable models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358539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5E1B-BF02-C4C1-2043-E0DC5214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11361-8A7D-99CF-DB11-A5F40557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140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239F48-EE44-B9C6-DC99-A3D8448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2C6E1CC-6C21-0EA6-42B1-911E8B8A5865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D77B6-B01A-1125-CE87-2237A14AF37A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iffusion models are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 variable models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37168F2-2E48-BC53-6C77-86695FD67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53899"/>
            <a:ext cx="7772400" cy="1626968"/>
          </a:xfrm>
          <a:prstGeom prst="rect">
            <a:avLst/>
          </a:prstGeom>
        </p:spPr>
      </p:pic>
      <p:sp>
        <p:nvSpPr>
          <p:cNvPr id="32" name="Right Arrow 31">
            <a:extLst>
              <a:ext uri="{FF2B5EF4-FFF2-40B4-BE49-F238E27FC236}">
                <a16:creationId xmlns:a16="http://schemas.microsoft.com/office/drawing/2014/main" id="{B57EEE09-2FB9-F16D-3BFF-9EBEFC3AE2D9}"/>
              </a:ext>
            </a:extLst>
          </p:cNvPr>
          <p:cNvSpPr/>
          <p:nvPr/>
        </p:nvSpPr>
        <p:spPr>
          <a:xfrm>
            <a:off x="2558143" y="3990414"/>
            <a:ext cx="3733800" cy="177116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C850AC-9ED8-E4FC-97D2-68EB620A4B24}"/>
              </a:ext>
            </a:extLst>
          </p:cNvPr>
          <p:cNvSpPr txBox="1"/>
          <p:nvPr/>
        </p:nvSpPr>
        <p:spPr>
          <a:xfrm>
            <a:off x="3993033" y="4155082"/>
            <a:ext cx="88165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Forward</a:t>
            </a:r>
            <a:endParaRPr lang="en-KR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6EEA99AD-081C-C5EA-C065-3FEB27898606}"/>
              </a:ext>
            </a:extLst>
          </p:cNvPr>
          <p:cNvSpPr/>
          <p:nvPr/>
        </p:nvSpPr>
        <p:spPr>
          <a:xfrm>
            <a:off x="6291943" y="3988852"/>
            <a:ext cx="2637257" cy="177116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5BD98B-0DAD-CDFF-6F2A-8DC91A33FB7D}"/>
              </a:ext>
            </a:extLst>
          </p:cNvPr>
          <p:cNvSpPr txBox="1"/>
          <p:nvPr/>
        </p:nvSpPr>
        <p:spPr>
          <a:xfrm>
            <a:off x="7169745" y="4155082"/>
            <a:ext cx="104195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Backward</a:t>
            </a:r>
          </a:p>
        </p:txBody>
      </p:sp>
    </p:spTree>
    <p:extLst>
      <p:ext uri="{BB962C8B-B14F-4D97-AF65-F5344CB8AC3E}">
        <p14:creationId xmlns:p14="http://schemas.microsoft.com/office/powerpoint/2010/main" val="203388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327FF-83E0-043F-C91F-F037870A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980A6-5A49-53A0-BBFD-0C8C3A83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141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75C4097-923F-8B2D-3632-BB004E2EA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80E7AF32-934D-507B-89AF-FA167BF2FBCE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F4F93-31B0-FAE6-3C25-BD79B6E271A9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iffusion models are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 variable models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7159976-3EF1-BA4F-C3C2-2AA41F2D1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52665"/>
            <a:ext cx="7772400" cy="1626968"/>
          </a:xfrm>
          <a:prstGeom prst="rect">
            <a:avLst/>
          </a:prstGeom>
        </p:spPr>
      </p:pic>
      <p:sp>
        <p:nvSpPr>
          <p:cNvPr id="32" name="Right Arrow 31">
            <a:extLst>
              <a:ext uri="{FF2B5EF4-FFF2-40B4-BE49-F238E27FC236}">
                <a16:creationId xmlns:a16="http://schemas.microsoft.com/office/drawing/2014/main" id="{B58C24A0-2F09-C72F-7097-22E71374BC7F}"/>
              </a:ext>
            </a:extLst>
          </p:cNvPr>
          <p:cNvSpPr/>
          <p:nvPr/>
        </p:nvSpPr>
        <p:spPr>
          <a:xfrm>
            <a:off x="2558143" y="3989180"/>
            <a:ext cx="3733800" cy="177116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A79EA7-6DA5-AA02-3DFA-6240C95B8175}"/>
              </a:ext>
            </a:extLst>
          </p:cNvPr>
          <p:cNvSpPr txBox="1"/>
          <p:nvPr/>
        </p:nvSpPr>
        <p:spPr>
          <a:xfrm>
            <a:off x="3993033" y="4153848"/>
            <a:ext cx="88165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Forward</a:t>
            </a:r>
            <a:endParaRPr lang="en-KR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F337F83B-79D4-B8B2-E6F2-F17FED2AF05D}"/>
              </a:ext>
            </a:extLst>
          </p:cNvPr>
          <p:cNvSpPr/>
          <p:nvPr/>
        </p:nvSpPr>
        <p:spPr>
          <a:xfrm>
            <a:off x="6291943" y="3987618"/>
            <a:ext cx="2637257" cy="177116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426411-A3F6-6524-CD5C-992ECB390CB1}"/>
              </a:ext>
            </a:extLst>
          </p:cNvPr>
          <p:cNvSpPr txBox="1"/>
          <p:nvPr/>
        </p:nvSpPr>
        <p:spPr>
          <a:xfrm>
            <a:off x="7169745" y="4153848"/>
            <a:ext cx="104195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Backward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E26266F-0BBD-A40C-697D-A30E6887C8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6" t="17480" r="2173" b="15446"/>
          <a:stretch>
            <a:fillRect/>
          </a:stretch>
        </p:blipFill>
        <p:spPr bwMode="auto">
          <a:xfrm>
            <a:off x="1715911" y="4714411"/>
            <a:ext cx="8760177" cy="186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7495810-C44F-E834-9F39-48FD6559123C}"/>
              </a:ext>
            </a:extLst>
          </p:cNvPr>
          <p:cNvSpPr/>
          <p:nvPr/>
        </p:nvSpPr>
        <p:spPr>
          <a:xfrm>
            <a:off x="4629752" y="4714411"/>
            <a:ext cx="2704699" cy="2426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6725A9-FC11-AB7C-1691-2B5953688F8C}"/>
              </a:ext>
            </a:extLst>
          </p:cNvPr>
          <p:cNvSpPr/>
          <p:nvPr/>
        </p:nvSpPr>
        <p:spPr>
          <a:xfrm>
            <a:off x="4349015" y="6291118"/>
            <a:ext cx="3168316" cy="2426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CC7F-DBE2-E345-AFF8-38216BCB1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D012D7-2784-B7E6-ACC6-AA066CE8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142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7AC42ED-DA6C-F596-0FAA-B9ED210F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D87DC674-228D-BD3B-EBA0-F8B61115AC3D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CC033-F0EA-1A54-16EE-96F5CF8608DA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iffusion models are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 variable models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D76A59-FECC-9D7E-9B37-91DACF768537}"/>
                  </a:ext>
                </a:extLst>
              </p:cNvPr>
              <p:cNvSpPr txBox="1"/>
              <p:nvPr/>
            </p:nvSpPr>
            <p:spPr>
              <a:xfrm>
                <a:off x="609600" y="2476292"/>
                <a:ext cx="10666682" cy="645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VAE: Maximizes ELBO with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KR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</a:t>
                </a:r>
                <a:r>
                  <a:rPr lang="en-KR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KR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D76A59-FECC-9D7E-9B37-91DACF768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76292"/>
                <a:ext cx="10666682" cy="645433"/>
              </a:xfrm>
              <a:prstGeom prst="rect">
                <a:avLst/>
              </a:prstGeom>
              <a:blipFill>
                <a:blip r:embed="rId2"/>
                <a:stretch>
                  <a:fillRect l="-951" b="-1730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0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2EE60-1E0F-8D98-3EE3-9F518E86D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413AC2-9E29-1586-1051-B0022B16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143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73EFAC9-FE0D-2340-C52B-6F162AEB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63159DBC-9D5B-481E-4D79-2B4187540207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19489-B457-2416-4F9E-A77DA1497555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iffusion models are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 variable models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5879B6-1C04-06F6-8F2D-995B1590E2CB}"/>
                  </a:ext>
                </a:extLst>
              </p:cNvPr>
              <p:cNvSpPr txBox="1"/>
              <p:nvPr/>
            </p:nvSpPr>
            <p:spPr>
              <a:xfrm>
                <a:off x="609600" y="2476292"/>
                <a:ext cx="10666682" cy="645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VAE: Maximizes ELBO with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KR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</a:t>
                </a:r>
                <a:r>
                  <a:rPr lang="en-KR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KR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5879B6-1C04-06F6-8F2D-995B1590E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76292"/>
                <a:ext cx="10666682" cy="645433"/>
              </a:xfrm>
              <a:prstGeom prst="rect">
                <a:avLst/>
              </a:prstGeom>
              <a:blipFill>
                <a:blip r:embed="rId2"/>
                <a:stretch>
                  <a:fillRect l="-951" b="-1730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652B4-F6C9-123E-7F92-D570FA43B728}"/>
                  </a:ext>
                </a:extLst>
              </p:cNvPr>
              <p:cNvSpPr txBox="1"/>
              <p:nvPr/>
            </p:nvSpPr>
            <p:spPr>
              <a:xfrm>
                <a:off x="609600" y="3504254"/>
                <a:ext cx="10666682" cy="595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DDPM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 Maximizes ELBO with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KR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∏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KR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652B4-F6C9-123E-7F92-D570FA43B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504254"/>
                <a:ext cx="10666682" cy="595163"/>
              </a:xfrm>
              <a:prstGeom prst="rect">
                <a:avLst/>
              </a:prstGeom>
              <a:blipFill>
                <a:blip r:embed="rId3"/>
                <a:stretch>
                  <a:fillRect l="-951" t="-78723" b="-15106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81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BE0C0-AACE-3615-8C9B-213E3C85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68D2B-B098-2A5C-578D-CDA1B14C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144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93328D-1495-2C02-ACFD-056D1FFC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E05C8978-06B3-D5F9-B24E-CDAB0E991A7A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03DBD-26B9-1123-3A99-2C480C6128DB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iffusion models are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 variable models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CF0C10-6223-6502-C833-412BE169F8F6}"/>
                  </a:ext>
                </a:extLst>
              </p:cNvPr>
              <p:cNvSpPr txBox="1"/>
              <p:nvPr/>
            </p:nvSpPr>
            <p:spPr>
              <a:xfrm>
                <a:off x="609600" y="2476292"/>
                <a:ext cx="10666682" cy="645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VAE: Maximizes ELBO with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KR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</a:t>
                </a:r>
                <a:r>
                  <a:rPr lang="en-KR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KR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CF0C10-6223-6502-C833-412BE169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76292"/>
                <a:ext cx="10666682" cy="645433"/>
              </a:xfrm>
              <a:prstGeom prst="rect">
                <a:avLst/>
              </a:prstGeom>
              <a:blipFill>
                <a:blip r:embed="rId2"/>
                <a:stretch>
                  <a:fillRect l="-951" b="-1730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4429DE-4781-9E73-5FB2-2EB3ABA11049}"/>
                  </a:ext>
                </a:extLst>
              </p:cNvPr>
              <p:cNvSpPr txBox="1"/>
              <p:nvPr/>
            </p:nvSpPr>
            <p:spPr>
              <a:xfrm>
                <a:off x="609600" y="3504254"/>
                <a:ext cx="10666682" cy="595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DDPM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 Maximizes ELBO with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KR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∏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KR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4429DE-4781-9E73-5FB2-2EB3ABA11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504254"/>
                <a:ext cx="10666682" cy="595163"/>
              </a:xfrm>
              <a:prstGeom prst="rect">
                <a:avLst/>
              </a:prstGeom>
              <a:blipFill>
                <a:blip r:embed="rId3"/>
                <a:stretch>
                  <a:fillRect l="-951" t="-78723" b="-15106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>
            <a:extLst>
              <a:ext uri="{FF2B5EF4-FFF2-40B4-BE49-F238E27FC236}">
                <a16:creationId xmlns:a16="http://schemas.microsoft.com/office/drawing/2014/main" id="{C8FB0277-822B-EDB5-6145-4C97BF007466}"/>
              </a:ext>
            </a:extLst>
          </p:cNvPr>
          <p:cNvSpPr/>
          <p:nvPr/>
        </p:nvSpPr>
        <p:spPr>
          <a:xfrm rot="17746848">
            <a:off x="4852682" y="4292496"/>
            <a:ext cx="595164" cy="20900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77EEE38-DA44-68B0-1C30-6E36CCFC8D7E}"/>
              </a:ext>
            </a:extLst>
          </p:cNvPr>
          <p:cNvSpPr/>
          <p:nvPr/>
        </p:nvSpPr>
        <p:spPr>
          <a:xfrm rot="16200000">
            <a:off x="8535141" y="4292496"/>
            <a:ext cx="595164" cy="20900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C380FC-42E5-0549-B22D-A58C080469E7}"/>
              </a:ext>
            </a:extLst>
          </p:cNvPr>
          <p:cNvSpPr txBox="1"/>
          <p:nvPr/>
        </p:nvSpPr>
        <p:spPr>
          <a:xfrm>
            <a:off x="4464179" y="4714724"/>
            <a:ext cx="6860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F5534C-C5E0-52EA-2082-4A30E73388BB}"/>
              </a:ext>
            </a:extLst>
          </p:cNvPr>
          <p:cNvSpPr txBox="1"/>
          <p:nvPr/>
        </p:nvSpPr>
        <p:spPr>
          <a:xfrm>
            <a:off x="8489680" y="4709166"/>
            <a:ext cx="6860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</a:t>
            </a:r>
          </a:p>
        </p:txBody>
      </p:sp>
    </p:spTree>
    <p:extLst>
      <p:ext uri="{BB962C8B-B14F-4D97-AF65-F5344CB8AC3E}">
        <p14:creationId xmlns:p14="http://schemas.microsoft.com/office/powerpoint/2010/main" val="35259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8484F-F346-5748-58F4-D13BE386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436C8-BE2B-C95B-E6FF-5B926CF2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145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E98645F-6572-A02D-5D44-D157235F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90C7AC-A74E-9968-EBF1-644146DDA64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1DE5B-7081-BEAE-5903-61E98E5384EF}"/>
              </a:ext>
            </a:extLst>
          </p:cNvPr>
          <p:cNvSpPr txBox="1"/>
          <p:nvPr/>
        </p:nvSpPr>
        <p:spPr>
          <a:xfrm>
            <a:off x="609600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iffusion models are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latent variable models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C42D30-8019-00EF-FBB2-36D2519CF38D}"/>
                  </a:ext>
                </a:extLst>
              </p:cNvPr>
              <p:cNvSpPr txBox="1"/>
              <p:nvPr/>
            </p:nvSpPr>
            <p:spPr>
              <a:xfrm>
                <a:off x="609600" y="2476292"/>
                <a:ext cx="10666682" cy="645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VAE: Maximizes ELBO with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sz="24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KR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</a:t>
                </a:r>
                <a:r>
                  <a:rPr lang="en-KR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KR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C42D30-8019-00EF-FBB2-36D2519CF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76292"/>
                <a:ext cx="10666682" cy="645433"/>
              </a:xfrm>
              <a:prstGeom prst="rect">
                <a:avLst/>
              </a:prstGeom>
              <a:blipFill>
                <a:blip r:embed="rId2"/>
                <a:stretch>
                  <a:fillRect l="-951" b="-1730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207F6F-E239-7ABE-F192-D9C05B1B0CFF}"/>
                  </a:ext>
                </a:extLst>
              </p:cNvPr>
              <p:cNvSpPr txBox="1"/>
              <p:nvPr/>
            </p:nvSpPr>
            <p:spPr>
              <a:xfrm>
                <a:off x="609600" y="3504254"/>
                <a:ext cx="10666682" cy="595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DDPM</a:t>
                </a:r>
                <a:r>
                  <a:rPr lang="en-US" sz="240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: Maximizes ELBO with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KR" sz="24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</a:t>
                </a:r>
                <a:r>
                  <a:rPr lang="en-KR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∏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KR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207F6F-E239-7ABE-F192-D9C05B1B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504254"/>
                <a:ext cx="10666682" cy="595163"/>
              </a:xfrm>
              <a:prstGeom prst="rect">
                <a:avLst/>
              </a:prstGeom>
              <a:blipFill>
                <a:blip r:embed="rId3"/>
                <a:stretch>
                  <a:fillRect l="-951" t="-78723" b="-15106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Arrow 24">
            <a:extLst>
              <a:ext uri="{FF2B5EF4-FFF2-40B4-BE49-F238E27FC236}">
                <a16:creationId xmlns:a16="http://schemas.microsoft.com/office/drawing/2014/main" id="{8160FE09-2F1A-AC0D-E42E-CE6BC37517F3}"/>
              </a:ext>
            </a:extLst>
          </p:cNvPr>
          <p:cNvSpPr/>
          <p:nvPr/>
        </p:nvSpPr>
        <p:spPr>
          <a:xfrm rot="16200000">
            <a:off x="5388432" y="4292496"/>
            <a:ext cx="595164" cy="20900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E3D555-18A8-7900-C0FF-C714633700D8}"/>
              </a:ext>
            </a:extLst>
          </p:cNvPr>
          <p:cNvSpPr txBox="1"/>
          <p:nvPr/>
        </p:nvSpPr>
        <p:spPr>
          <a:xfrm>
            <a:off x="5003456" y="4694581"/>
            <a:ext cx="136511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Data(Image)</a:t>
            </a:r>
          </a:p>
        </p:txBody>
      </p:sp>
    </p:spTree>
    <p:extLst>
      <p:ext uri="{BB962C8B-B14F-4D97-AF65-F5344CB8AC3E}">
        <p14:creationId xmlns:p14="http://schemas.microsoft.com/office/powerpoint/2010/main" val="297965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A1B5-4761-C889-1641-4B00A2BF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F3AE7C-C6E8-381C-A8B2-56890674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146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24D364C-33CF-B9EB-7705-84D4AD3AC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E2470FE-F147-407E-725A-7690F8E63E2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31D16F-2665-36EC-31CA-207749728224}"/>
              </a:ext>
            </a:extLst>
          </p:cNvPr>
          <p:cNvGrpSpPr/>
          <p:nvPr/>
        </p:nvGrpSpPr>
        <p:grpSpPr>
          <a:xfrm>
            <a:off x="2716774" y="2489490"/>
            <a:ext cx="6758452" cy="1742933"/>
            <a:chOff x="2594115" y="2155055"/>
            <a:chExt cx="6758452" cy="17429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AA5CA6A-843D-D7F1-61BA-8EB34D38E9E7}"/>
                    </a:ext>
                  </a:extLst>
                </p:cNvPr>
                <p:cNvSpPr txBox="1"/>
                <p:nvPr/>
              </p:nvSpPr>
              <p:spPr>
                <a:xfrm>
                  <a:off x="2918948" y="3518028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AA5CA6A-843D-D7F1-61BA-8EB34D38E9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948" y="3518028"/>
                  <a:ext cx="382290" cy="276999"/>
                </a:xfrm>
                <a:prstGeom prst="rect">
                  <a:avLst/>
                </a:prstGeom>
                <a:blipFill>
                  <a:blip r:embed="rId2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9DC3F1D-DBE1-B48B-79D2-C834E902593F}"/>
                    </a:ext>
                  </a:extLst>
                </p:cNvPr>
                <p:cNvSpPr txBox="1"/>
                <p:nvPr/>
              </p:nvSpPr>
              <p:spPr>
                <a:xfrm>
                  <a:off x="3821847" y="3518027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9DC3F1D-DBE1-B48B-79D2-C834E9025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1847" y="3518027"/>
                  <a:ext cx="382290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568C120-9452-224D-D836-B13BE6D320A1}"/>
                    </a:ext>
                  </a:extLst>
                </p:cNvPr>
                <p:cNvSpPr txBox="1"/>
                <p:nvPr/>
              </p:nvSpPr>
              <p:spPr>
                <a:xfrm>
                  <a:off x="8675643" y="3532864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568C120-9452-224D-D836-B13BE6D320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643" y="3532864"/>
                  <a:ext cx="382290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0F8561C-8ECB-D829-2AD1-A58DD6584C72}"/>
                    </a:ext>
                  </a:extLst>
                </p:cNvPr>
                <p:cNvSpPr txBox="1"/>
                <p:nvPr/>
              </p:nvSpPr>
              <p:spPr>
                <a:xfrm>
                  <a:off x="7741115" y="3532864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0F8561C-8ECB-D829-2AD1-A58DD6584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1115" y="3532864"/>
                  <a:ext cx="38229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B537EF6-F3C9-C847-57ED-CF04DD40D09F}"/>
                    </a:ext>
                  </a:extLst>
                </p:cNvPr>
                <p:cNvSpPr txBox="1"/>
                <p:nvPr/>
              </p:nvSpPr>
              <p:spPr>
                <a:xfrm>
                  <a:off x="4844078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B537EF6-F3C9-C847-57ED-CF04DD40D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078" y="3532863"/>
                  <a:ext cx="382290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AE750E8-7786-B7B9-A96A-0381E4815868}"/>
                    </a:ext>
                  </a:extLst>
                </p:cNvPr>
                <p:cNvSpPr txBox="1"/>
                <p:nvPr/>
              </p:nvSpPr>
              <p:spPr>
                <a:xfrm>
                  <a:off x="5773098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AE750E8-7786-B7B9-A96A-0381E4815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3098" y="3532863"/>
                  <a:ext cx="382290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34A22C5-8526-9206-526E-6AE828D8A3D1}"/>
                    </a:ext>
                  </a:extLst>
                </p:cNvPr>
                <p:cNvSpPr txBox="1"/>
                <p:nvPr/>
              </p:nvSpPr>
              <p:spPr>
                <a:xfrm>
                  <a:off x="6757106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34A22C5-8526-9206-526E-6AE828D8A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7106" y="3532863"/>
                  <a:ext cx="382290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연결선: 구부러짐 32">
              <a:extLst>
                <a:ext uri="{FF2B5EF4-FFF2-40B4-BE49-F238E27FC236}">
                  <a16:creationId xmlns:a16="http://schemas.microsoft.com/office/drawing/2014/main" id="{F56D972B-15CD-7F97-186B-9E8D0D6A379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61542" y="3446537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연결선: 구부러짐 33">
              <a:extLst>
                <a:ext uri="{FF2B5EF4-FFF2-40B4-BE49-F238E27FC236}">
                  <a16:creationId xmlns:a16="http://schemas.microsoft.com/office/drawing/2014/main" id="{82113B7D-B8B7-3079-CBE3-287A69F6AF3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494709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연결선: 구부러짐 34">
              <a:extLst>
                <a:ext uri="{FF2B5EF4-FFF2-40B4-BE49-F238E27FC236}">
                  <a16:creationId xmlns:a16="http://schemas.microsoft.com/office/drawing/2014/main" id="{9C98757C-212D-D47E-89C3-17B78ED667C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516863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연결선: 구부러짐 35">
              <a:extLst>
                <a:ext uri="{FF2B5EF4-FFF2-40B4-BE49-F238E27FC236}">
                  <a16:creationId xmlns:a16="http://schemas.microsoft.com/office/drawing/2014/main" id="{761CCF30-C560-B017-9749-DECD26B008B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450030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연결선: 구부러짐 36">
              <a:extLst>
                <a:ext uri="{FF2B5EF4-FFF2-40B4-BE49-F238E27FC236}">
                  <a16:creationId xmlns:a16="http://schemas.microsoft.com/office/drawing/2014/main" id="{B180E448-F71C-5158-400C-A96F835727E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415338" y="3446537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연결선: 구부러짐 37">
              <a:extLst>
                <a:ext uri="{FF2B5EF4-FFF2-40B4-BE49-F238E27FC236}">
                  <a16:creationId xmlns:a16="http://schemas.microsoft.com/office/drawing/2014/main" id="{489B2D81-D99C-4D1F-F3B8-9A1A79BEDC0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84" y="3446536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847CEF57-7C74-2886-A2CE-360D346116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0" t="14888" r="9866" b="30874"/>
            <a:stretch>
              <a:fillRect/>
            </a:stretch>
          </p:blipFill>
          <p:spPr bwMode="auto">
            <a:xfrm>
              <a:off x="2594115" y="2155055"/>
              <a:ext cx="6758452" cy="13629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3B6D7C-7FA6-CA05-668F-8EF6AB4D3DDC}"/>
                  </a:ext>
                </a:extLst>
              </p:cNvPr>
              <p:cNvSpPr txBox="1"/>
              <p:nvPr/>
            </p:nvSpPr>
            <p:spPr>
              <a:xfrm>
                <a:off x="609600" y="4721388"/>
                <a:ext cx="8269187" cy="53957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 </m:t>
                      </m:r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2F3F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2F3F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rgbClr val="F2F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sz="2400" dirty="0" err="1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3B6D7C-7FA6-CA05-668F-8EF6AB4D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721388"/>
                <a:ext cx="8269187" cy="539571"/>
              </a:xfrm>
              <a:prstGeom prst="rect">
                <a:avLst/>
              </a:prstGeom>
              <a:blipFill>
                <a:blip r:embed="rId10"/>
                <a:stretch>
                  <a:fillRect l="-154" r="-768" b="-1395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F1DB1D9-9820-5ABB-223E-5B0380C500EC}"/>
              </a:ext>
            </a:extLst>
          </p:cNvPr>
          <p:cNvSpPr txBox="1"/>
          <p:nvPr/>
        </p:nvSpPr>
        <p:spPr>
          <a:xfrm>
            <a:off x="530088" y="1658493"/>
            <a:ext cx="122285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Assumes diffusion process as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Markov chain 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that gradually adds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Gaussian noise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31777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9D8C-33B1-53FE-81CC-844A250E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A3AE2F-4723-FF38-0721-8909200B8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147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8562175-FDD4-2CEC-5E81-973EDB39F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38E1C827-F6FD-D3A6-0DDB-626259848D5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2D1A5-3307-B225-714A-10EA290E7846}"/>
              </a:ext>
            </a:extLst>
          </p:cNvPr>
          <p:cNvSpPr txBox="1"/>
          <p:nvPr/>
        </p:nvSpPr>
        <p:spPr>
          <a:xfrm>
            <a:off x="530088" y="1658493"/>
            <a:ext cx="122285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Assumes diffusion process as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Markov chain 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that gradually adds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Gaussian noise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772A54-6FD2-2000-489E-5FF45C281E22}"/>
              </a:ext>
            </a:extLst>
          </p:cNvPr>
          <p:cNvGrpSpPr/>
          <p:nvPr/>
        </p:nvGrpSpPr>
        <p:grpSpPr>
          <a:xfrm>
            <a:off x="2716774" y="2489490"/>
            <a:ext cx="6758452" cy="1742933"/>
            <a:chOff x="2594115" y="2155055"/>
            <a:chExt cx="6758452" cy="17429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226ACE5-F5BC-930B-191D-B2FF4E2B140D}"/>
                    </a:ext>
                  </a:extLst>
                </p:cNvPr>
                <p:cNvSpPr txBox="1"/>
                <p:nvPr/>
              </p:nvSpPr>
              <p:spPr>
                <a:xfrm>
                  <a:off x="2918948" y="3518028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226ACE5-F5BC-930B-191D-B2FF4E2B14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948" y="3518028"/>
                  <a:ext cx="382290" cy="276999"/>
                </a:xfrm>
                <a:prstGeom prst="rect">
                  <a:avLst/>
                </a:prstGeom>
                <a:blipFill>
                  <a:blip r:embed="rId2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E1E948A-CE77-10D7-D48F-80BAA826DAAB}"/>
                    </a:ext>
                  </a:extLst>
                </p:cNvPr>
                <p:cNvSpPr txBox="1"/>
                <p:nvPr/>
              </p:nvSpPr>
              <p:spPr>
                <a:xfrm>
                  <a:off x="3821847" y="3518027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E1E948A-CE77-10D7-D48F-80BAA826DA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1847" y="3518027"/>
                  <a:ext cx="382290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8CA42E9-3710-A4AB-CB1C-9ED43CE04F43}"/>
                    </a:ext>
                  </a:extLst>
                </p:cNvPr>
                <p:cNvSpPr txBox="1"/>
                <p:nvPr/>
              </p:nvSpPr>
              <p:spPr>
                <a:xfrm>
                  <a:off x="8675643" y="3532864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8CA42E9-3710-A4AB-CB1C-9ED43CE04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643" y="3532864"/>
                  <a:ext cx="382290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B61E7A3-03F9-EF07-52EB-3BF5F7A83CE5}"/>
                    </a:ext>
                  </a:extLst>
                </p:cNvPr>
                <p:cNvSpPr txBox="1"/>
                <p:nvPr/>
              </p:nvSpPr>
              <p:spPr>
                <a:xfrm>
                  <a:off x="7741115" y="3532864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B61E7A3-03F9-EF07-52EB-3BF5F7A83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1115" y="3532864"/>
                  <a:ext cx="38229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84A3543-0872-EA45-B41C-BBEFB6978845}"/>
                    </a:ext>
                  </a:extLst>
                </p:cNvPr>
                <p:cNvSpPr txBox="1"/>
                <p:nvPr/>
              </p:nvSpPr>
              <p:spPr>
                <a:xfrm>
                  <a:off x="4844078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84A3543-0872-EA45-B41C-BBEFB69788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078" y="3532863"/>
                  <a:ext cx="382290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6E390F-862D-5205-D41E-E2AC6EBC2130}"/>
                    </a:ext>
                  </a:extLst>
                </p:cNvPr>
                <p:cNvSpPr txBox="1"/>
                <p:nvPr/>
              </p:nvSpPr>
              <p:spPr>
                <a:xfrm>
                  <a:off x="5773098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6E390F-862D-5205-D41E-E2AC6EBC21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3098" y="3532863"/>
                  <a:ext cx="382290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D380714-E936-B11B-7067-744F65BCC3FB}"/>
                    </a:ext>
                  </a:extLst>
                </p:cNvPr>
                <p:cNvSpPr txBox="1"/>
                <p:nvPr/>
              </p:nvSpPr>
              <p:spPr>
                <a:xfrm>
                  <a:off x="6757106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D380714-E936-B11B-7067-744F65BCC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7106" y="3532863"/>
                  <a:ext cx="382290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연결선: 구부러짐 32">
              <a:extLst>
                <a:ext uri="{FF2B5EF4-FFF2-40B4-BE49-F238E27FC236}">
                  <a16:creationId xmlns:a16="http://schemas.microsoft.com/office/drawing/2014/main" id="{668792DE-AFA6-DD63-95FC-EABC25ADB77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61542" y="3446537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연결선: 구부러짐 33">
              <a:extLst>
                <a:ext uri="{FF2B5EF4-FFF2-40B4-BE49-F238E27FC236}">
                  <a16:creationId xmlns:a16="http://schemas.microsoft.com/office/drawing/2014/main" id="{602764E9-86C9-E4A6-9DAD-30CECA2ED1F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494709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연결선: 구부러짐 34">
              <a:extLst>
                <a:ext uri="{FF2B5EF4-FFF2-40B4-BE49-F238E27FC236}">
                  <a16:creationId xmlns:a16="http://schemas.microsoft.com/office/drawing/2014/main" id="{189BC9FB-C246-B0FE-38F8-3A335D4B7B2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516863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연결선: 구부러짐 35">
              <a:extLst>
                <a:ext uri="{FF2B5EF4-FFF2-40B4-BE49-F238E27FC236}">
                  <a16:creationId xmlns:a16="http://schemas.microsoft.com/office/drawing/2014/main" id="{8BE41E3B-DC07-05DC-6966-62AD5558F66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450030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연결선: 구부러짐 36">
              <a:extLst>
                <a:ext uri="{FF2B5EF4-FFF2-40B4-BE49-F238E27FC236}">
                  <a16:creationId xmlns:a16="http://schemas.microsoft.com/office/drawing/2014/main" id="{94798510-7592-AC57-511F-EDF0E9014B8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415338" y="3446537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연결선: 구부러짐 37">
              <a:extLst>
                <a:ext uri="{FF2B5EF4-FFF2-40B4-BE49-F238E27FC236}">
                  <a16:creationId xmlns:a16="http://schemas.microsoft.com/office/drawing/2014/main" id="{CFD22F58-CD16-3CDD-C670-8913E3E7508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84" y="3446536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99321B76-DB8C-E023-0368-E10D2FA9B1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0" t="14888" r="9866" b="30874"/>
            <a:stretch>
              <a:fillRect/>
            </a:stretch>
          </p:blipFill>
          <p:spPr bwMode="auto">
            <a:xfrm>
              <a:off x="2594115" y="2155055"/>
              <a:ext cx="6758452" cy="13629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F3E7219-B7DD-26FE-AF9B-3A3738501F53}"/>
                  </a:ext>
                </a:extLst>
              </p:cNvPr>
              <p:cNvSpPr txBox="1"/>
              <p:nvPr/>
            </p:nvSpPr>
            <p:spPr>
              <a:xfrm>
                <a:off x="609600" y="4721388"/>
                <a:ext cx="8269187" cy="53957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sz="2400" dirty="0" err="1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F3E7219-B7DD-26FE-AF9B-3A3738501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721388"/>
                <a:ext cx="8269187" cy="539571"/>
              </a:xfrm>
              <a:prstGeom prst="rect">
                <a:avLst/>
              </a:prstGeom>
              <a:blipFill>
                <a:blip r:embed="rId10"/>
                <a:stretch>
                  <a:fillRect l="-154" r="-768" b="-1395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C8A118-F4A1-33F2-E719-B272415452F1}"/>
              </a:ext>
            </a:extLst>
          </p:cNvPr>
          <p:cNvCxnSpPr>
            <a:cxnSpLocks/>
          </p:cNvCxnSpPr>
          <p:nvPr/>
        </p:nvCxnSpPr>
        <p:spPr>
          <a:xfrm>
            <a:off x="8246064" y="5270898"/>
            <a:ext cx="251893" cy="0"/>
          </a:xfrm>
          <a:prstGeom prst="line">
            <a:avLst/>
          </a:prstGeom>
          <a:ln w="254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8692C6-79E2-9B55-11E7-05734CE258D3}"/>
              </a:ext>
            </a:extLst>
          </p:cNvPr>
          <p:cNvSpPr txBox="1"/>
          <p:nvPr/>
        </p:nvSpPr>
        <p:spPr>
          <a:xfrm>
            <a:off x="7393376" y="5380592"/>
            <a:ext cx="195726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Variance schedule</a:t>
            </a:r>
          </a:p>
        </p:txBody>
      </p:sp>
    </p:spTree>
    <p:extLst>
      <p:ext uri="{BB962C8B-B14F-4D97-AF65-F5344CB8AC3E}">
        <p14:creationId xmlns:p14="http://schemas.microsoft.com/office/powerpoint/2010/main" val="307114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3A2F-4ECE-27ED-5D73-BBDED167E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BD3268-A20E-B23C-01EC-707854E0C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148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0F79707-7AC3-785E-47CD-0B8BDB1F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8B07154E-5A22-1B85-F670-D2459CBDCE6D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896B1-B28C-1DA3-A163-79E3AD8838A6}"/>
              </a:ext>
            </a:extLst>
          </p:cNvPr>
          <p:cNvSpPr txBox="1"/>
          <p:nvPr/>
        </p:nvSpPr>
        <p:spPr>
          <a:xfrm>
            <a:off x="530088" y="1658493"/>
            <a:ext cx="122285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Assumes diffusion process as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Markov chain 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that gradually adds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Gaussian noise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93BDEE7-73F7-E97B-C97A-2EA67F55A26A}"/>
              </a:ext>
            </a:extLst>
          </p:cNvPr>
          <p:cNvGrpSpPr/>
          <p:nvPr/>
        </p:nvGrpSpPr>
        <p:grpSpPr>
          <a:xfrm>
            <a:off x="2716774" y="2489490"/>
            <a:ext cx="6758452" cy="1742933"/>
            <a:chOff x="2594115" y="2155055"/>
            <a:chExt cx="6758452" cy="17429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10E08AE-6CBF-888F-565D-33EC7D34816B}"/>
                    </a:ext>
                  </a:extLst>
                </p:cNvPr>
                <p:cNvSpPr txBox="1"/>
                <p:nvPr/>
              </p:nvSpPr>
              <p:spPr>
                <a:xfrm>
                  <a:off x="2918948" y="3518028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10E08AE-6CBF-888F-565D-33EC7D348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948" y="3518028"/>
                  <a:ext cx="382290" cy="276999"/>
                </a:xfrm>
                <a:prstGeom prst="rect">
                  <a:avLst/>
                </a:prstGeom>
                <a:blipFill>
                  <a:blip r:embed="rId2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EACA4C8-6D13-0BA0-AC25-F246C85E69E4}"/>
                    </a:ext>
                  </a:extLst>
                </p:cNvPr>
                <p:cNvSpPr txBox="1"/>
                <p:nvPr/>
              </p:nvSpPr>
              <p:spPr>
                <a:xfrm>
                  <a:off x="3821847" y="3518027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EACA4C8-6D13-0BA0-AC25-F246C85E6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1847" y="3518027"/>
                  <a:ext cx="382290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A2E8E61-F355-0ABE-CF80-6FBD5D2A569A}"/>
                    </a:ext>
                  </a:extLst>
                </p:cNvPr>
                <p:cNvSpPr txBox="1"/>
                <p:nvPr/>
              </p:nvSpPr>
              <p:spPr>
                <a:xfrm>
                  <a:off x="8675643" y="3532864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A2E8E61-F355-0ABE-CF80-6FBD5D2A5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643" y="3532864"/>
                  <a:ext cx="382290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41548F6-109C-8D96-6DF6-C14E14277DF3}"/>
                    </a:ext>
                  </a:extLst>
                </p:cNvPr>
                <p:cNvSpPr txBox="1"/>
                <p:nvPr/>
              </p:nvSpPr>
              <p:spPr>
                <a:xfrm>
                  <a:off x="7741115" y="3532864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41548F6-109C-8D96-6DF6-C14E14277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1115" y="3532864"/>
                  <a:ext cx="38229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8ACE80F-5AE5-A76D-F471-00F3334871A7}"/>
                    </a:ext>
                  </a:extLst>
                </p:cNvPr>
                <p:cNvSpPr txBox="1"/>
                <p:nvPr/>
              </p:nvSpPr>
              <p:spPr>
                <a:xfrm>
                  <a:off x="4844078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8ACE80F-5AE5-A76D-F471-00F333487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078" y="3532863"/>
                  <a:ext cx="382290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9030111-94CA-2E9C-AAAA-BA8983B1547D}"/>
                    </a:ext>
                  </a:extLst>
                </p:cNvPr>
                <p:cNvSpPr txBox="1"/>
                <p:nvPr/>
              </p:nvSpPr>
              <p:spPr>
                <a:xfrm>
                  <a:off x="5773098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9030111-94CA-2E9C-AAAA-BA8983B15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3098" y="3532863"/>
                  <a:ext cx="382290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9D7EE55-FDDC-CFF2-7E2D-66086256BB0A}"/>
                    </a:ext>
                  </a:extLst>
                </p:cNvPr>
                <p:cNvSpPr txBox="1"/>
                <p:nvPr/>
              </p:nvSpPr>
              <p:spPr>
                <a:xfrm>
                  <a:off x="6757106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9D7EE55-FDDC-CFF2-7E2D-66086256B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7106" y="3532863"/>
                  <a:ext cx="382290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연결선: 구부러짐 32">
              <a:extLst>
                <a:ext uri="{FF2B5EF4-FFF2-40B4-BE49-F238E27FC236}">
                  <a16:creationId xmlns:a16="http://schemas.microsoft.com/office/drawing/2014/main" id="{D41BD543-B7F6-2C82-83BC-2727549E009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61542" y="3446537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연결선: 구부러짐 33">
              <a:extLst>
                <a:ext uri="{FF2B5EF4-FFF2-40B4-BE49-F238E27FC236}">
                  <a16:creationId xmlns:a16="http://schemas.microsoft.com/office/drawing/2014/main" id="{109E01AA-6A57-D76A-35F3-09C8030E3F3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494709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연결선: 구부러짐 34">
              <a:extLst>
                <a:ext uri="{FF2B5EF4-FFF2-40B4-BE49-F238E27FC236}">
                  <a16:creationId xmlns:a16="http://schemas.microsoft.com/office/drawing/2014/main" id="{009CE010-AA16-78BB-1E02-EA05C5A3BD3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516863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연결선: 구부러짐 35">
              <a:extLst>
                <a:ext uri="{FF2B5EF4-FFF2-40B4-BE49-F238E27FC236}">
                  <a16:creationId xmlns:a16="http://schemas.microsoft.com/office/drawing/2014/main" id="{8653D74C-56C9-649C-BEF8-7753521857E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450030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연결선: 구부러짐 36">
              <a:extLst>
                <a:ext uri="{FF2B5EF4-FFF2-40B4-BE49-F238E27FC236}">
                  <a16:creationId xmlns:a16="http://schemas.microsoft.com/office/drawing/2014/main" id="{A8CD44C6-DA0F-AF88-D0B3-D9A341E09C6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415338" y="3446537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연결선: 구부러짐 37">
              <a:extLst>
                <a:ext uri="{FF2B5EF4-FFF2-40B4-BE49-F238E27FC236}">
                  <a16:creationId xmlns:a16="http://schemas.microsoft.com/office/drawing/2014/main" id="{BAEFAE5F-4D6D-B2D5-5305-713206F7019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84" y="3446536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C26F9F3C-45E4-3564-8640-CC3E528ECF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0" t="14888" r="9866" b="30874"/>
            <a:stretch>
              <a:fillRect/>
            </a:stretch>
          </p:blipFill>
          <p:spPr bwMode="auto">
            <a:xfrm>
              <a:off x="2594115" y="2155055"/>
              <a:ext cx="6758452" cy="13629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8ECAAA-02A6-F0D6-105A-A23F310FF993}"/>
                  </a:ext>
                </a:extLst>
              </p:cNvPr>
              <p:cNvSpPr txBox="1"/>
              <p:nvPr/>
            </p:nvSpPr>
            <p:spPr>
              <a:xfrm>
                <a:off x="609600" y="4721388"/>
                <a:ext cx="8269187" cy="53957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sz="2400" dirty="0" err="1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8ECAAA-02A6-F0D6-105A-A23F310FF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721388"/>
                <a:ext cx="8269187" cy="539571"/>
              </a:xfrm>
              <a:prstGeom prst="rect">
                <a:avLst/>
              </a:prstGeom>
              <a:blipFill>
                <a:blip r:embed="rId10"/>
                <a:stretch>
                  <a:fillRect l="-154" r="-768" b="-1395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3A8534-DE3B-27FE-87D0-BA7DC2956C22}"/>
                  </a:ext>
                </a:extLst>
              </p:cNvPr>
              <p:cNvSpPr txBox="1"/>
              <p:nvPr/>
            </p:nvSpPr>
            <p:spPr>
              <a:xfrm>
                <a:off x="615153" y="5568263"/>
                <a:ext cx="8314047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∏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nary>
                      </m:e>
                    </m:rad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∏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/>
                  <a:t> </a:t>
                </a:r>
                <a:endParaRPr lang="en-KR" sz="2400" dirty="0" err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3A8534-DE3B-27FE-87D0-BA7DC2956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53" y="5568263"/>
                <a:ext cx="8314047" cy="539571"/>
              </a:xfrm>
              <a:prstGeom prst="rect">
                <a:avLst/>
              </a:prstGeom>
              <a:blipFill>
                <a:blip r:embed="rId11"/>
                <a:stretch>
                  <a:fillRect l="-152" t="-97674" b="-16511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78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82CA9-3EAB-AE0D-055C-3CF8B817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F05B4C-802B-ADE0-886D-F3ECAEBE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149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6B823F2-E648-9E7C-D868-9CC023B8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FF653230-F738-4006-3288-2FAC3DF60110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DD62F-3BA0-F1C9-55D1-85A0826D6F82}"/>
              </a:ext>
            </a:extLst>
          </p:cNvPr>
          <p:cNvSpPr txBox="1"/>
          <p:nvPr/>
        </p:nvSpPr>
        <p:spPr>
          <a:xfrm>
            <a:off x="530088" y="1658493"/>
            <a:ext cx="122285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Assumes diffusion process as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Markov chain 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that gradually adds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Gaussian noise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0E3FAF-66B7-EBDA-275B-3ADA020E2A43}"/>
              </a:ext>
            </a:extLst>
          </p:cNvPr>
          <p:cNvGrpSpPr/>
          <p:nvPr/>
        </p:nvGrpSpPr>
        <p:grpSpPr>
          <a:xfrm>
            <a:off x="2716774" y="2489490"/>
            <a:ext cx="6758452" cy="1742933"/>
            <a:chOff x="2594115" y="2155055"/>
            <a:chExt cx="6758452" cy="17429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B578CCC-FF2C-C9E6-7F63-B84EC3FBA6B0}"/>
                    </a:ext>
                  </a:extLst>
                </p:cNvPr>
                <p:cNvSpPr txBox="1"/>
                <p:nvPr/>
              </p:nvSpPr>
              <p:spPr>
                <a:xfrm>
                  <a:off x="2918948" y="3518028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B578CCC-FF2C-C9E6-7F63-B84EC3FBA6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948" y="3518028"/>
                  <a:ext cx="382290" cy="276999"/>
                </a:xfrm>
                <a:prstGeom prst="rect">
                  <a:avLst/>
                </a:prstGeom>
                <a:blipFill>
                  <a:blip r:embed="rId2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DFEB734-5226-73AB-B1D3-4A61816316DF}"/>
                    </a:ext>
                  </a:extLst>
                </p:cNvPr>
                <p:cNvSpPr txBox="1"/>
                <p:nvPr/>
              </p:nvSpPr>
              <p:spPr>
                <a:xfrm>
                  <a:off x="3821847" y="3518027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DFEB734-5226-73AB-B1D3-4A61816316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1847" y="3518027"/>
                  <a:ext cx="382290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2C676FB-D082-0A49-72CB-6B00883B5A8B}"/>
                    </a:ext>
                  </a:extLst>
                </p:cNvPr>
                <p:cNvSpPr txBox="1"/>
                <p:nvPr/>
              </p:nvSpPr>
              <p:spPr>
                <a:xfrm>
                  <a:off x="8675643" y="3532864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2C676FB-D082-0A49-72CB-6B00883B5A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643" y="3532864"/>
                  <a:ext cx="382290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778D17C-2694-D091-80D1-095DAB083066}"/>
                    </a:ext>
                  </a:extLst>
                </p:cNvPr>
                <p:cNvSpPr txBox="1"/>
                <p:nvPr/>
              </p:nvSpPr>
              <p:spPr>
                <a:xfrm>
                  <a:off x="7741115" y="3532864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778D17C-2694-D091-80D1-095DAB0830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1115" y="3532864"/>
                  <a:ext cx="38229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C4E29F7-0A6F-621C-A8C9-12AB5DB6DFAF}"/>
                    </a:ext>
                  </a:extLst>
                </p:cNvPr>
                <p:cNvSpPr txBox="1"/>
                <p:nvPr/>
              </p:nvSpPr>
              <p:spPr>
                <a:xfrm>
                  <a:off x="4844078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C4E29F7-0A6F-621C-A8C9-12AB5DB6D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078" y="3532863"/>
                  <a:ext cx="382290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67326C8-A619-856E-12D4-44FAD2E27E43}"/>
                    </a:ext>
                  </a:extLst>
                </p:cNvPr>
                <p:cNvSpPr txBox="1"/>
                <p:nvPr/>
              </p:nvSpPr>
              <p:spPr>
                <a:xfrm>
                  <a:off x="5773098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67326C8-A619-856E-12D4-44FAD2E27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3098" y="3532863"/>
                  <a:ext cx="382290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CDD34EA-A7FF-801B-E241-1BA7AF335239}"/>
                    </a:ext>
                  </a:extLst>
                </p:cNvPr>
                <p:cNvSpPr txBox="1"/>
                <p:nvPr/>
              </p:nvSpPr>
              <p:spPr>
                <a:xfrm>
                  <a:off x="6757106" y="3532863"/>
                  <a:ext cx="38229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CDD34EA-A7FF-801B-E241-1BA7AF335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7106" y="3532863"/>
                  <a:ext cx="382290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연결선: 구부러짐 32">
              <a:extLst>
                <a:ext uri="{FF2B5EF4-FFF2-40B4-BE49-F238E27FC236}">
                  <a16:creationId xmlns:a16="http://schemas.microsoft.com/office/drawing/2014/main" id="{C4603FA7-1E7F-1153-8437-81E478FA7D6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61542" y="3446537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연결선: 구부러짐 33">
              <a:extLst>
                <a:ext uri="{FF2B5EF4-FFF2-40B4-BE49-F238E27FC236}">
                  <a16:creationId xmlns:a16="http://schemas.microsoft.com/office/drawing/2014/main" id="{B3245A7A-7FB7-CAB3-5445-E2ADFAB0C39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494709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연결선: 구부러짐 34">
              <a:extLst>
                <a:ext uri="{FF2B5EF4-FFF2-40B4-BE49-F238E27FC236}">
                  <a16:creationId xmlns:a16="http://schemas.microsoft.com/office/drawing/2014/main" id="{EDB1371F-1E60-4BF3-49C5-97F69CA413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516863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연결선: 구부러짐 35">
              <a:extLst>
                <a:ext uri="{FF2B5EF4-FFF2-40B4-BE49-F238E27FC236}">
                  <a16:creationId xmlns:a16="http://schemas.microsoft.com/office/drawing/2014/main" id="{83A0456E-A490-580C-30B1-C06C66DD8EF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450030" y="3446538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연결선: 구부러짐 36">
              <a:extLst>
                <a:ext uri="{FF2B5EF4-FFF2-40B4-BE49-F238E27FC236}">
                  <a16:creationId xmlns:a16="http://schemas.microsoft.com/office/drawing/2014/main" id="{EA1F06F9-23A8-419D-9DF6-A6483F89CA9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415338" y="3446537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연결선: 구부러짐 37">
              <a:extLst>
                <a:ext uri="{FF2B5EF4-FFF2-40B4-BE49-F238E27FC236}">
                  <a16:creationId xmlns:a16="http://schemas.microsoft.com/office/drawing/2014/main" id="{5A2E906D-A4E6-FEE4-F893-2AAF75D0A01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84" y="3446536"/>
              <a:ext cx="1" cy="90289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B0B5B908-3288-87C4-7172-AD457D4749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0" t="14888" r="9866" b="30874"/>
            <a:stretch>
              <a:fillRect/>
            </a:stretch>
          </p:blipFill>
          <p:spPr bwMode="auto">
            <a:xfrm>
              <a:off x="2594115" y="2155055"/>
              <a:ext cx="6758452" cy="13629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9505DDB-7B08-603E-50C0-4A201B8EA958}"/>
                  </a:ext>
                </a:extLst>
              </p:cNvPr>
              <p:cNvSpPr txBox="1"/>
              <p:nvPr/>
            </p:nvSpPr>
            <p:spPr>
              <a:xfrm>
                <a:off x="609600" y="4721388"/>
                <a:ext cx="8269187" cy="53957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sz="2400" dirty="0" err="1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9505DDB-7B08-603E-50C0-4A201B8EA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721388"/>
                <a:ext cx="8269187" cy="539571"/>
              </a:xfrm>
              <a:prstGeom prst="rect">
                <a:avLst/>
              </a:prstGeom>
              <a:blipFill>
                <a:blip r:embed="rId10"/>
                <a:stretch>
                  <a:fillRect l="-154" r="-768" b="-1395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A24EE9-B687-7FDE-C597-9C9CBA0C3D71}"/>
                  </a:ext>
                </a:extLst>
              </p:cNvPr>
              <p:cNvSpPr txBox="1"/>
              <p:nvPr/>
            </p:nvSpPr>
            <p:spPr>
              <a:xfrm>
                <a:off x="615153" y="5568263"/>
                <a:ext cx="8314047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∏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nary>
                      </m:e>
                    </m:rad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∏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/>
                  <a:t> </a:t>
                </a:r>
                <a:endParaRPr lang="en-KR" sz="2400" dirty="0" err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A24EE9-B687-7FDE-C597-9C9CBA0C3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53" y="5568263"/>
                <a:ext cx="8314047" cy="539571"/>
              </a:xfrm>
              <a:prstGeom prst="rect">
                <a:avLst/>
              </a:prstGeom>
              <a:blipFill>
                <a:blip r:embed="rId11"/>
                <a:stretch>
                  <a:fillRect l="-152" t="-97674" b="-16511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8FE256C-203D-F8A1-8685-466E84885B7D}"/>
              </a:ext>
            </a:extLst>
          </p:cNvPr>
          <p:cNvSpPr/>
          <p:nvPr/>
        </p:nvSpPr>
        <p:spPr>
          <a:xfrm>
            <a:off x="609600" y="5665305"/>
            <a:ext cx="1249017" cy="44253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96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CE2C-CBF8-5F5C-2C36-9F482A82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F5A445-F9EA-A5D5-2208-0CF196FE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150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12A0577-F08B-98C4-BCB7-08A2739A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501BB315-2BC1-E989-BCDF-C0547E701EEF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783BC-379B-CE2C-AA2D-E07C7A84CB61}"/>
              </a:ext>
            </a:extLst>
          </p:cNvPr>
          <p:cNvSpPr txBox="1"/>
          <p:nvPr/>
        </p:nvSpPr>
        <p:spPr>
          <a:xfrm>
            <a:off x="530088" y="1658493"/>
            <a:ext cx="1222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 forward diffusion process is Gaussian, then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reverse process is also Gaussian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370195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D1E2-A940-B5FC-9E98-02E04F35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6E1C02-85D7-F34B-7059-6A9348F2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151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9F7B117-E96B-A28B-DEC8-F598D726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81957827-9590-BC68-3645-F861B9EFDC1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32557-AA3D-9D1E-9807-4F5FB2F8AB72}"/>
              </a:ext>
            </a:extLst>
          </p:cNvPr>
          <p:cNvSpPr txBox="1"/>
          <p:nvPr/>
        </p:nvSpPr>
        <p:spPr>
          <a:xfrm>
            <a:off x="530088" y="1658493"/>
            <a:ext cx="122285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 forward diffusion process is Gaussian, then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reverse process is also Gaussian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We will revisit this in &lt;Diffusion as SDE(Wiener Process / Brownian Motion)&gt;..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4004389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BD87-736E-B373-1E8D-EE33178CF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91FB48-1C43-435A-9327-01D8C822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152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FA0C4D4-120F-2324-F3DD-B5B05114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636A73DD-167B-7AD7-487A-9518B71059D4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2C9E9-9850-E3BB-2D21-83B8750F0F6F}"/>
              </a:ext>
            </a:extLst>
          </p:cNvPr>
          <p:cNvSpPr txBox="1"/>
          <p:nvPr/>
        </p:nvSpPr>
        <p:spPr>
          <a:xfrm>
            <a:off x="530088" y="1658493"/>
            <a:ext cx="122285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 forward diffusion process is Gaussian, then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reverse process is also Gaussian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78494D-3327-F0C0-59B1-56F41484A26F}"/>
                  </a:ext>
                </a:extLst>
              </p:cNvPr>
              <p:cNvSpPr txBox="1"/>
              <p:nvPr/>
            </p:nvSpPr>
            <p:spPr>
              <a:xfrm>
                <a:off x="530088" y="2230560"/>
                <a:ext cx="6380920" cy="1130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78494D-3327-F0C0-59B1-56F41484A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8" y="2230560"/>
                <a:ext cx="6380920" cy="1130759"/>
              </a:xfrm>
              <a:prstGeom prst="rect">
                <a:avLst/>
              </a:prstGeom>
              <a:blipFill>
                <a:blip r:embed="rId2"/>
                <a:stretch>
                  <a:fillRect l="-198" t="-101111" b="-1577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30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F12C-B400-1D3C-E9BE-F21AF784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45807C-D0BA-44B4-A9E1-F122E054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153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4165D9E-1EEA-3497-4CCA-A720AC2B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42F844A-9D16-C214-3C85-F2FC150B2992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266DD-7CDE-C40A-2712-21EDFF31B2D1}"/>
              </a:ext>
            </a:extLst>
          </p:cNvPr>
          <p:cNvSpPr txBox="1"/>
          <p:nvPr/>
        </p:nvSpPr>
        <p:spPr>
          <a:xfrm>
            <a:off x="530088" y="1658493"/>
            <a:ext cx="122285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 forward diffusion process is Gaussian, then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reverse process is also Gaussian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BF79C7-1804-BA4C-7F38-50C3FAAB2480}"/>
                  </a:ext>
                </a:extLst>
              </p:cNvPr>
              <p:cNvSpPr txBox="1"/>
              <p:nvPr/>
            </p:nvSpPr>
            <p:spPr>
              <a:xfrm>
                <a:off x="530088" y="3702553"/>
                <a:ext cx="79976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KR" sz="2400" dirty="0"/>
                  <a:t> </a:t>
                </a:r>
                <a:endParaRPr lang="en-KR" sz="2400" dirty="0" err="1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BF79C7-1804-BA4C-7F38-50C3FAAB2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8" y="3702553"/>
                <a:ext cx="7997687" cy="461665"/>
              </a:xfrm>
              <a:prstGeom prst="rect">
                <a:avLst/>
              </a:prstGeom>
              <a:blipFill>
                <a:blip r:embed="rId2"/>
                <a:stretch>
                  <a:fillRect l="-158" b="-1621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598F23-DC12-B900-D106-45BCB77AAF19}"/>
                  </a:ext>
                </a:extLst>
              </p:cNvPr>
              <p:cNvSpPr txBox="1"/>
              <p:nvPr/>
            </p:nvSpPr>
            <p:spPr>
              <a:xfrm>
                <a:off x="530088" y="2230560"/>
                <a:ext cx="6380920" cy="1130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598F23-DC12-B900-D106-45BCB77AA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8" y="2230560"/>
                <a:ext cx="6380920" cy="1130759"/>
              </a:xfrm>
              <a:prstGeom prst="rect">
                <a:avLst/>
              </a:prstGeom>
              <a:blipFill>
                <a:blip r:embed="rId3"/>
                <a:stretch>
                  <a:fillRect l="-198" t="-101111" b="-1577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18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592E-EBAD-8DD1-F939-EED47D8C3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68371D-E2FD-0E4C-5EBA-2867D481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154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7DD34F0-606D-A132-0D19-632E7946B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DDPM(Denoising Diffusion Probabilistic Models)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4BEDFF8-964D-0456-CE94-5E44FF45180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E83046-CA85-3985-077E-78E43D4C2754}"/>
              </a:ext>
            </a:extLst>
          </p:cNvPr>
          <p:cNvSpPr txBox="1"/>
          <p:nvPr/>
        </p:nvSpPr>
        <p:spPr>
          <a:xfrm>
            <a:off x="530088" y="1658493"/>
            <a:ext cx="122285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If forward diffusion process is Gaussian, then </a:t>
            </a:r>
            <a:r>
              <a:rPr lang="en-KR" sz="24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reverse process is also Gaussian</a:t>
            </a: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endParaRPr lang="en-K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CD8FD7-745A-FCEC-3FEE-01EF5E80043B}"/>
                  </a:ext>
                </a:extLst>
              </p:cNvPr>
              <p:cNvSpPr txBox="1"/>
              <p:nvPr/>
            </p:nvSpPr>
            <p:spPr>
              <a:xfrm>
                <a:off x="530088" y="3702553"/>
                <a:ext cx="79976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KR" sz="2400" dirty="0"/>
                  <a:t> </a:t>
                </a:r>
                <a:endParaRPr lang="en-KR" sz="2400" dirty="0" err="1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CD8FD7-745A-FCEC-3FEE-01EF5E800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8" y="3702553"/>
                <a:ext cx="7997687" cy="461665"/>
              </a:xfrm>
              <a:prstGeom prst="rect">
                <a:avLst/>
              </a:prstGeom>
              <a:blipFill>
                <a:blip r:embed="rId2"/>
                <a:stretch>
                  <a:fillRect l="-158" b="-1621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B1B7E8F-7C8F-AD26-1EC8-11F02FAF0BEC}"/>
              </a:ext>
            </a:extLst>
          </p:cNvPr>
          <p:cNvSpPr/>
          <p:nvPr/>
        </p:nvSpPr>
        <p:spPr>
          <a:xfrm>
            <a:off x="2574237" y="3719693"/>
            <a:ext cx="3568148" cy="46166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99B18-677C-0AC0-3EE0-5074F843A886}"/>
              </a:ext>
            </a:extLst>
          </p:cNvPr>
          <p:cNvSpPr txBox="1"/>
          <p:nvPr/>
        </p:nvSpPr>
        <p:spPr>
          <a:xfrm>
            <a:off x="2926027" y="4283367"/>
            <a:ext cx="278922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can we </a:t>
            </a:r>
            <a:r>
              <a:rPr lang="en-US" altLang="ko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optimize</a:t>
            </a:r>
            <a:r>
              <a:rPr lang="en-KR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this?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AD5F71-DFC9-686E-8920-380C97A978DB}"/>
                  </a:ext>
                </a:extLst>
              </p:cNvPr>
              <p:cNvSpPr txBox="1"/>
              <p:nvPr/>
            </p:nvSpPr>
            <p:spPr>
              <a:xfrm>
                <a:off x="530088" y="2230560"/>
                <a:ext cx="6380920" cy="1130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AD5F71-DFC9-686E-8920-380C97A97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8" y="2230560"/>
                <a:ext cx="6380920" cy="1130759"/>
              </a:xfrm>
              <a:prstGeom prst="rect">
                <a:avLst/>
              </a:prstGeom>
              <a:blipFill>
                <a:blip r:embed="rId3"/>
                <a:stretch>
                  <a:fillRect l="-198" t="-101111" b="-15777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3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850D-E8DA-F1B5-4EF8-C244F816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B1DCF-3146-759F-D524-5FBC068D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155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77E9985-A7AD-1927-1530-BDB12E0D9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Next seminar(in two weeks)</a:t>
            </a:r>
            <a:endParaRPr lang="en-KR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F285145F-66EB-D600-239E-844BEFB8D654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DDPM: Denoising Diffusion probabilistic models</a:t>
            </a:r>
            <a:endParaRPr lang="en-US" b="0" i="0" dirty="0">
              <a:solidFill>
                <a:schemeClr val="tx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1C412C-332A-8CE9-4E9B-223651DA407F}"/>
              </a:ext>
            </a:extLst>
          </p:cNvPr>
          <p:cNvSpPr txBox="1"/>
          <p:nvPr/>
        </p:nvSpPr>
        <p:spPr>
          <a:xfrm>
            <a:off x="530088" y="1658493"/>
            <a:ext cx="122285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Mathematical foundations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Training objectives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Sample generation</a:t>
            </a:r>
          </a:p>
          <a:p>
            <a:pPr lvl="1"/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DDPM as an SDE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Advanced methods(DDIM, DPM-solver..)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KR" sz="24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775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64AF6-1A23-6493-9F09-864212EE8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DA8600-B359-C457-6338-F0FCFB91027D}"/>
              </a:ext>
            </a:extLst>
          </p:cNvPr>
          <p:cNvSpPr txBox="1"/>
          <p:nvPr/>
        </p:nvSpPr>
        <p:spPr>
          <a:xfrm>
            <a:off x="609598" y="3013501"/>
            <a:ext cx="3156313" cy="83099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4800" b="1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561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AWS">
      <a:majorFont>
        <a:latin typeface="Amazon Ember Display"/>
        <a:ea typeface="Noto Sans KR"/>
        <a:cs typeface=""/>
      </a:majorFont>
      <a:minorFont>
        <a:latin typeface="Amazon Ember Display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53BDB8A2-CD6C-C749-ABDC-265FF8736D9E}" vid="{EC413510-C8E7-EA4E-AA82-7C61127BDA43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8B642EF64ED0F47B920132EBB4BA1B1" ma:contentTypeVersion="19" ma:contentTypeDescription="새 문서를 만듭니다." ma:contentTypeScope="" ma:versionID="80e348e2e4ab8159d9dc33ee247191d0">
  <xsd:schema xmlns:xsd="http://www.w3.org/2001/XMLSchema" xmlns:xs="http://www.w3.org/2001/XMLSchema" xmlns:p="http://schemas.microsoft.com/office/2006/metadata/properties" xmlns:ns2="bcb2b4a5-cb44-4291-9886-2edaa9e85bdf" xmlns:ns3="e88e242b-24fc-4e0f-9d1e-ff21a8f51232" targetNamespace="http://schemas.microsoft.com/office/2006/metadata/properties" ma:root="true" ma:fieldsID="bb43ea3dc43c3bf6afd2e4364d3117d0" ns2:_="" ns3:_="">
    <xsd:import namespace="bcb2b4a5-cb44-4291-9886-2edaa9e85bdf"/>
    <xsd:import namespace="e88e242b-24fc-4e0f-9d1e-ff21a8f512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xbbf8__xb9ac__xbcf4__xae3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2b4a5-cb44-4291-9886-2edaa9e85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2641299d-3420-4534-9c49-27313639e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bbf8__xb9ac__xbcf4__xae30_" ma:index="25" nillable="true" ma:displayName="미리보기" ma:format="Thumbnail" ma:internalName="_xbbf8__xb9ac__xbcf4__xae30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e242b-24fc-4e0f-9d1e-ff21a8f5123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543c7f-4928-4de1-899e-5400b04075d5}" ma:internalName="TaxCatchAll" ma:showField="CatchAllData" ma:web="e88e242b-24fc-4e0f-9d1e-ff21a8f512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14D744-C26F-4649-A6D6-5DDDD270EE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D3ED33-DD31-4F1F-A409-9876B920A0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2b4a5-cb44-4291-9886-2edaa9e85bdf"/>
    <ds:schemaRef ds:uri="e88e242b-24fc-4e0f-9d1e-ff21a8f512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Light</Template>
  <TotalTime>12183</TotalTime>
  <Words>7100</Words>
  <Application>Microsoft Macintosh PowerPoint</Application>
  <PresentationFormat>Widescreen</PresentationFormat>
  <Paragraphs>1465</Paragraphs>
  <Slides>156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156</vt:i4>
      </vt:variant>
    </vt:vector>
  </HeadingPairs>
  <TitlesOfParts>
    <vt:vector size="169" baseType="lpstr">
      <vt:lpstr>Pretendard Variable Medium</vt:lpstr>
      <vt:lpstr>Pretendard Variable Black</vt:lpstr>
      <vt:lpstr>Pretendard SemiBold</vt:lpstr>
      <vt:lpstr>Amazon Ember</vt:lpstr>
      <vt:lpstr>Cambria Math</vt:lpstr>
      <vt:lpstr>Lucida Console</vt:lpstr>
      <vt:lpstr>Amazon Ember Display</vt:lpstr>
      <vt:lpstr>Wingdings</vt:lpstr>
      <vt:lpstr>Pretendard Variable SemiBold</vt:lpstr>
      <vt:lpstr>Pretendard Medium</vt:lpstr>
      <vt:lpstr>Arial</vt:lpstr>
      <vt:lpstr>Pretendard Variable</vt:lpstr>
      <vt:lpstr>AWS Confidential Light</vt:lpstr>
      <vt:lpstr>Generative Modeling II</vt:lpstr>
      <vt:lpstr>PowerPoint Presentation</vt:lpstr>
      <vt:lpstr>Previous Seminar - VAE</vt:lpstr>
      <vt:lpstr>Previous Seminar - VAE</vt:lpstr>
      <vt:lpstr>Previous Seminar - VAE</vt:lpstr>
      <vt:lpstr>Previous Seminar - VAE</vt:lpstr>
      <vt:lpstr>Previous Seminar - VAE</vt:lpstr>
      <vt:lpstr>Previous Seminar - VAE</vt:lpstr>
      <vt:lpstr>Today</vt:lpstr>
      <vt:lpstr>PowerPoint Presentation</vt:lpstr>
      <vt:lpstr>Likelihood</vt:lpstr>
      <vt:lpstr>Likelihood</vt:lpstr>
      <vt:lpstr>Likelihood vs. Probability</vt:lpstr>
      <vt:lpstr>Likelihood vs. Probability</vt:lpstr>
      <vt:lpstr>Likelihood vs. Probability</vt:lpstr>
      <vt:lpstr>Likelihood vs. Probability</vt:lpstr>
      <vt:lpstr>Likelihood vs. Probability</vt:lpstr>
      <vt:lpstr>Likelihood vs. Probability</vt:lpstr>
      <vt:lpstr>Likelihood vs. Probability</vt:lpstr>
      <vt:lpstr>Likelihood vs. Probability</vt:lpstr>
      <vt:lpstr>Likelihood vs. Probability</vt:lpstr>
      <vt:lpstr>Likelihood vs. Probability</vt:lpstr>
      <vt:lpstr>Maximum Likelihood Estimation(MLE)</vt:lpstr>
      <vt:lpstr>Maximum Likelihood Estimation(MLE)</vt:lpstr>
      <vt:lpstr>Maximum Likelihood Estimation(MLE)</vt:lpstr>
      <vt:lpstr>Maximum Likelihood Estimation(MLE)</vt:lpstr>
      <vt:lpstr>Maximum Likelihood Estimation(MLE)</vt:lpstr>
      <vt:lpstr>Maximum Likelihood Estimation(MLE)</vt:lpstr>
      <vt:lpstr>Maximum Likelihood Estimation(MLE)</vt:lpstr>
      <vt:lpstr>Maximum Likelihood Estimation(MLE)</vt:lpstr>
      <vt:lpstr>Maximum A Posterior(MAP)</vt:lpstr>
      <vt:lpstr>Maximum A Posterior(MAP)</vt:lpstr>
      <vt:lpstr>Maximum A Posterior(MAP)</vt:lpstr>
      <vt:lpstr>Maximum A Posterior(MAP)</vt:lpstr>
      <vt:lpstr>Maximum A Posterior(MAP)</vt:lpstr>
      <vt:lpstr>Maximum A Posterior(MAP)</vt:lpstr>
      <vt:lpstr>Relationship between MLE and MAP</vt:lpstr>
      <vt:lpstr>Relationship between MLE and MAP</vt:lpstr>
      <vt:lpstr>MLE and MAP</vt:lpstr>
      <vt:lpstr>MLE and MAP</vt:lpstr>
      <vt:lpstr>MLE and MAP</vt:lpstr>
      <vt:lpstr>Variational Inference(VI)  MAP: Maximize posterior P(θ┤|x)  argmax┬θ⁡〖P(θ┤|x)=argmax┬θ⁡〖(P(x┤|θ)P(θ))/(P(x))  〗∝argmax┬θ⁡〖P(x┤|θ)P(θ)〗 〗 </vt:lpstr>
      <vt:lpstr>Variational Inference(VI)  MAP: Maximize posterior P(θ┤|x)  argmax┬θ⁡〖P(θ┤|x)=argmax┬θ⁡〖(P(x┤|θ)P(θ))/(P(x))  〗∝argmax┬θ⁡〖P(x┤|θ)P(θ)〗 〗   VI seeks to approximate the full posterior, rather than maximizing a point.  P(θ┤|x)=(P(x┤|θ)P(θ))/(P(x))=(P(x┤|θ)P(θ))/(∫P(x│θ)P(θ)dθ) </vt:lpstr>
      <vt:lpstr>Variational Inference(VI)  MAP: Maximize posterior P(θ┤|x)  argmax┬θ⁡〖P(θ┤|x)=argmax┬θ⁡〖(P(x┤|θ)P(θ))/(P(x))  〗∝argmax┬θ⁡〖P(x┤|θ)P(θ)〗 〗   VI seeks to approximate the full posterior, rather than maximizing a point.  P(θ┤|x)=(P(x┤|θ)P(θ))/(P(x))=(P(x┤|θ)P(θ))/(∫P(x│θ)P(θ)dθ) </vt:lpstr>
      <vt:lpstr>Variational Inference(VI)  MAP: Maximize posterior P(θ┤|x)  argmax┬θ⁡〖P(θ┤|x)=argmax┬θ⁡〖(P(x┤|θ)P(θ))/(P(x))  〗∝argmax┬θ⁡〖P(x┤|θ)P(θ)〗 〗   VI seeks to approximate the full posterior, rather than maximizing a point.  P(θ┤|x)=(P(x┤|θ)P(θ))/(P(x))=(P(x┤|θ)P(θ))/(∫P(x│θ)P(θ)dθ) </vt:lpstr>
      <vt:lpstr>Variational Inference(VI)  MAP: Maximize posterior P(θ┤|x)  argmax┬θ⁡〖P(θ┤|x)=argmax┬θ⁡〖(P(x┤|θ)P(θ))/(P(x))  〗∝argmax┬θ⁡〖P(x┤|θ)P(θ)〗 〗   VI seeks to approximate the full posterior, rather than maximizing a point.  P(θ┤|x)=(P(x┤|θ)P(θ))/(P(x))=(P(x┤|θ)P(θ))/(∫P(x│θ)P(θ)dθ) </vt:lpstr>
      <vt:lpstr>Variational Inference(VI)  MAP: Maximize posterior P(θ┤|x)  argmax┬θ⁡〖P(θ┤|x)=argmax┬θ⁡〖(P(x┤|θ)P(θ))/(P(x))  〗∝argmax┬θ⁡〖P(x┤|θ)P(θ)〗 〗   VI seeks to approximate the full posterior, rather than maximizing a point.  P(θ┤|x)=(P(x┤|θ)P(θ))/(P(x))=(P(x┤|θ)P(θ))/(∫P(x│θ)P(θ)dθ)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Variational Inference(VI)    </vt:lpstr>
      <vt:lpstr>Amortized Variational Inference(AVI)    </vt:lpstr>
      <vt:lpstr>Amortized Variational Inference(AVI)    </vt:lpstr>
      <vt:lpstr>Amortized Variational Inference(AVI)    </vt:lpstr>
      <vt:lpstr>Amortized Variational Inference(AVI)    </vt:lpstr>
      <vt:lpstr>PowerPoint Presentation</vt:lpstr>
      <vt:lpstr>Variational Autoencoder(VAE) VI: log⁡P(x)=D_KL (Q(z┤|λ)  || P(z|x))+E_Q [log⁡P(x|z) ]-D_KL (Q(z┤|λ)||P(z))         </vt:lpstr>
      <vt:lpstr>Variational Autoencoder(VAE) VI: log⁡P(x)=D_KL (Q(z┤|λ)  || P(z|x))+E_Q [log⁡P(x|z) ]-D_KL (Q(z┤|λ)||P(z))         </vt:lpstr>
      <vt:lpstr>Variational Autoencoder(VAE) VI: log⁡P(x)=D_KL (Q(z┤|λ)  || P(z|x))+E_Q [log⁡P(x|z) ]-D_KL (Q(z┤|λ)||P(z))  VAE: log⁡〖p_θ (x)〗=D_KL (q_ϕ (z│x)  \|\|\ p_θ (z│x))+E_(q_ϕ ) [log⁡〖p_θ (x|z)〗 ]-D_KL (q_ϕ (z│x)\|\|p(z))         </vt:lpstr>
      <vt:lpstr>Variational Autoencoder(VAE) VI: log⁡P(x)=D_KL (Q(z┤|λ)  || P(z|x))+E_Q [log⁡P(x|z) ]-D_KL (Q(z┤|λ)||P(z))  VAE: log⁡〖p_θ (x)〗=D_KL (q_ϕ (z│x)  \|\|\ p_θ (z│x))+E_(q_ϕ ) [log⁡〖p_θ (x|z)〗 ]-D_KL (q_ϕ (z│x)\|\|p(z))         </vt:lpstr>
      <vt:lpstr>Variational Autoencoder(VAE) VI: log⁡P(x)=D_KL (Q(z┤|λ)  || P(z|x))+E_Q [log⁡P(x|z) ]-D_KL (Q(z┤|λ)||P(z))  VAE: log⁡〖p_θ (x)〗=D_KL (q_ϕ (z│x)  \|\|\ p_θ (z│x))+E_(q_ϕ ) [log⁡〖p_θ (x|z)〗 ]-D_KL (q_ϕ (z│x)\|\|p(z))         </vt:lpstr>
      <vt:lpstr>VAE Optimization</vt:lpstr>
      <vt:lpstr>VAE Optimization</vt:lpstr>
      <vt:lpstr>VAE Optimization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Reconstruction Term</vt:lpstr>
      <vt:lpstr>VAE Optimization – Regularization Term</vt:lpstr>
      <vt:lpstr>VAE Optimization – Regularization Term</vt:lpstr>
      <vt:lpstr>VAE Optimization – Regularization Term</vt:lpstr>
      <vt:lpstr>VAE Optimization – Regularization Term</vt:lpstr>
      <vt:lpstr>VAE Optimization – Regularization Term</vt:lpstr>
      <vt:lpstr>VAE Optimization – Regularization Term</vt:lpstr>
      <vt:lpstr>Variational Autoencoder(VAE)         </vt:lpstr>
      <vt:lpstr>Variational Autoencoder(VAE)         </vt:lpstr>
      <vt:lpstr>Variational Autoencoder(VAE)         </vt:lpstr>
      <vt:lpstr>Variational Autoencoder(VAE)         </vt:lpstr>
      <vt:lpstr>Variational Autoencoder(VAE)         </vt:lpstr>
      <vt:lpstr>REINFORCE: Log-derivative trick  </vt:lpstr>
      <vt:lpstr>REINFORCE: Log-derivative trick  </vt:lpstr>
      <vt:lpstr>REINFORCE: Log-derivative trick  </vt:lpstr>
      <vt:lpstr>REINFORCE: Log-derivative trick  </vt:lpstr>
      <vt:lpstr>REINFORCE: Log-derivative trick  </vt:lpstr>
      <vt:lpstr>REINFORCE: Log-derivative trick</vt:lpstr>
      <vt:lpstr>REINFORCE: Log-derivative trick</vt:lpstr>
      <vt:lpstr>REINFORCE: Log-derivative trick</vt:lpstr>
      <vt:lpstr>REINFORCE: Log-derivative trick</vt:lpstr>
      <vt:lpstr>REINFORCE: Log-derivative trick</vt:lpstr>
      <vt:lpstr>REINFORCE: Log-derivative trick</vt:lpstr>
      <vt:lpstr>REINFORCE: Log-derivative trick</vt:lpstr>
      <vt:lpstr>VAE Optimization – Reparameterization trick</vt:lpstr>
      <vt:lpstr>VAE Optimization – Reparameterization trick</vt:lpstr>
      <vt:lpstr>VAE Optimization – Reparameterization trick</vt:lpstr>
      <vt:lpstr>VAE Optimization – Reparameterization trick</vt:lpstr>
      <vt:lpstr>VAE Optimization – Summary </vt:lpstr>
      <vt:lpstr>VAE Optimization – Summary </vt:lpstr>
      <vt:lpstr>VAE Optimization – Summary </vt:lpstr>
      <vt:lpstr>VAE Optimization – Summary </vt:lpstr>
      <vt:lpstr>VAE Generation</vt:lpstr>
      <vt:lpstr>VAE Generation</vt:lpstr>
      <vt:lpstr>PowerPoint Presentation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DDPM(Denoising Diffusion Probabilistic Models)</vt:lpstr>
      <vt:lpstr>Next seminar(in two weeks)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Microsoft Office User</cp:lastModifiedBy>
  <cp:revision>91</cp:revision>
  <dcterms:created xsi:type="dcterms:W3CDTF">2023-03-29T00:28:06Z</dcterms:created>
  <dcterms:modified xsi:type="dcterms:W3CDTF">2025-07-09T00:57:15Z</dcterms:modified>
</cp:coreProperties>
</file>