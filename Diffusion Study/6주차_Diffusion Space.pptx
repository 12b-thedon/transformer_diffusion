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90"/>
  </p:notesMasterIdLst>
  <p:handoutMasterIdLst>
    <p:handoutMasterId r:id="rId91"/>
  </p:handoutMasterIdLst>
  <p:sldIdLst>
    <p:sldId id="328" r:id="rId4"/>
    <p:sldId id="741" r:id="rId5"/>
    <p:sldId id="743" r:id="rId6"/>
    <p:sldId id="780" r:id="rId7"/>
    <p:sldId id="781" r:id="rId8"/>
    <p:sldId id="783" r:id="rId9"/>
    <p:sldId id="782" r:id="rId10"/>
    <p:sldId id="745" r:id="rId11"/>
    <p:sldId id="787" r:id="rId12"/>
    <p:sldId id="786" r:id="rId13"/>
    <p:sldId id="785" r:id="rId14"/>
    <p:sldId id="784" r:id="rId15"/>
    <p:sldId id="746" r:id="rId16"/>
    <p:sldId id="747" r:id="rId17"/>
    <p:sldId id="788" r:id="rId18"/>
    <p:sldId id="830" r:id="rId19"/>
    <p:sldId id="748" r:id="rId20"/>
    <p:sldId id="772" r:id="rId21"/>
    <p:sldId id="749" r:id="rId22"/>
    <p:sldId id="831" r:id="rId23"/>
    <p:sldId id="791" r:id="rId24"/>
    <p:sldId id="790" r:id="rId25"/>
    <p:sldId id="789" r:id="rId26"/>
    <p:sldId id="752" r:id="rId27"/>
    <p:sldId id="794" r:id="rId28"/>
    <p:sldId id="793" r:id="rId29"/>
    <p:sldId id="792" r:id="rId30"/>
    <p:sldId id="753" r:id="rId31"/>
    <p:sldId id="754" r:id="rId32"/>
    <p:sldId id="755" r:id="rId33"/>
    <p:sldId id="750" r:id="rId34"/>
    <p:sldId id="796" r:id="rId35"/>
    <p:sldId id="795" r:id="rId36"/>
    <p:sldId id="762" r:id="rId37"/>
    <p:sldId id="799" r:id="rId38"/>
    <p:sldId id="798" r:id="rId39"/>
    <p:sldId id="797" r:id="rId40"/>
    <p:sldId id="759" r:id="rId41"/>
    <p:sldId id="805" r:id="rId42"/>
    <p:sldId id="804" r:id="rId43"/>
    <p:sldId id="803" r:id="rId44"/>
    <p:sldId id="802" r:id="rId45"/>
    <p:sldId id="801" r:id="rId46"/>
    <p:sldId id="832" r:id="rId47"/>
    <p:sldId id="760" r:id="rId48"/>
    <p:sldId id="811" r:id="rId49"/>
    <p:sldId id="810" r:id="rId50"/>
    <p:sldId id="809" r:id="rId51"/>
    <p:sldId id="808" r:id="rId52"/>
    <p:sldId id="807" r:id="rId53"/>
    <p:sldId id="806" r:id="rId54"/>
    <p:sldId id="761" r:id="rId55"/>
    <p:sldId id="757" r:id="rId56"/>
    <p:sldId id="774" r:id="rId57"/>
    <p:sldId id="775" r:id="rId58"/>
    <p:sldId id="763" r:id="rId59"/>
    <p:sldId id="813" r:id="rId60"/>
    <p:sldId id="812" r:id="rId61"/>
    <p:sldId id="764" r:id="rId62"/>
    <p:sldId id="814" r:id="rId63"/>
    <p:sldId id="765" r:id="rId64"/>
    <p:sldId id="766" r:id="rId65"/>
    <p:sldId id="818" r:id="rId66"/>
    <p:sldId id="817" r:id="rId67"/>
    <p:sldId id="816" r:id="rId68"/>
    <p:sldId id="815" r:id="rId69"/>
    <p:sldId id="767" r:id="rId70"/>
    <p:sldId id="768" r:id="rId71"/>
    <p:sldId id="769" r:id="rId72"/>
    <p:sldId id="822" r:id="rId73"/>
    <p:sldId id="821" r:id="rId74"/>
    <p:sldId id="820" r:id="rId75"/>
    <p:sldId id="833" r:id="rId76"/>
    <p:sldId id="751" r:id="rId77"/>
    <p:sldId id="776" r:id="rId78"/>
    <p:sldId id="824" r:id="rId79"/>
    <p:sldId id="823" r:id="rId80"/>
    <p:sldId id="827" r:id="rId81"/>
    <p:sldId id="826" r:id="rId82"/>
    <p:sldId id="825" r:id="rId83"/>
    <p:sldId id="770" r:id="rId84"/>
    <p:sldId id="829" r:id="rId85"/>
    <p:sldId id="828" r:id="rId86"/>
    <p:sldId id="771" r:id="rId87"/>
    <p:sldId id="778" r:id="rId88"/>
    <p:sldId id="779" r:id="rId89"/>
  </p:sldIdLst>
  <p:sldSz cx="12192000" cy="6858000"/>
  <p:notesSz cx="6858000" cy="9144000"/>
  <p:embeddedFontLst>
    <p:embeddedFont>
      <p:font typeface="Pretendard" panose="02000503000000020004" pitchFamily="2" charset="-127"/>
      <p:regular r:id="rId92"/>
      <p:bold r:id="rId93"/>
    </p:embeddedFont>
    <p:embeddedFont>
      <p:font typeface="Pretendard SemiBold" panose="02000703000000020004" pitchFamily="2" charset="-127"/>
      <p:regular r:id="rId94"/>
      <p:bold r:id="rId95"/>
    </p:embeddedFont>
    <p:embeddedFont>
      <p:font typeface="Pretendard Variable Black" panose="02000003000000020004" pitchFamily="2" charset="-127"/>
      <p:bold r:id="rId96"/>
    </p:embeddedFont>
    <p:embeddedFont>
      <p:font typeface="Pretendard Variable Medium" panose="02000003000000020004" pitchFamily="2" charset="-127"/>
      <p:regular r:id="rId97"/>
    </p:embeddedFont>
    <p:embeddedFont>
      <p:font typeface="Amazon Ember" panose="020B0603020204020204" pitchFamily="34" charset="0"/>
      <p:regular r:id="rId98"/>
      <p:bold r:id="rId99"/>
      <p:italic r:id="rId100"/>
      <p:boldItalic r:id="rId101"/>
    </p:embeddedFont>
    <p:embeddedFont>
      <p:font typeface="Amazon Ember Display" panose="020F0603020204020204" pitchFamily="34" charset="0"/>
      <p:regular r:id="rId102"/>
      <p:bold r:id="rId103"/>
      <p:italic r:id="rId104"/>
      <p:boldItalic r:id="rId105"/>
    </p:embeddedFont>
    <p:embeddedFont>
      <p:font typeface="Cambria Math" panose="02040503050406030204" pitchFamily="18" charset="0"/>
      <p:regular r:id="rId106"/>
    </p:embeddedFont>
    <p:embeddedFont>
      <p:font typeface="Pretendard Medium" panose="020F0502020204030204" pitchFamily="34" charset="0"/>
      <p:regular r:id="rId10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E1F978-0DB9-4540-9F5F-C631925DCAB2}">
          <p14:sldIdLst>
            <p14:sldId id="328"/>
          </p14:sldIdLst>
        </p14:section>
        <p14:section name="Latent Space" id="{561A30B2-7A51-AC46-9EA1-F3E7418843B3}">
          <p14:sldIdLst>
            <p14:sldId id="741"/>
            <p14:sldId id="743"/>
            <p14:sldId id="780"/>
            <p14:sldId id="781"/>
            <p14:sldId id="783"/>
            <p14:sldId id="782"/>
            <p14:sldId id="745"/>
            <p14:sldId id="787"/>
            <p14:sldId id="786"/>
            <p14:sldId id="785"/>
            <p14:sldId id="784"/>
            <p14:sldId id="746"/>
            <p14:sldId id="747"/>
            <p14:sldId id="788"/>
            <p14:sldId id="830"/>
            <p14:sldId id="748"/>
            <p14:sldId id="772"/>
            <p14:sldId id="749"/>
            <p14:sldId id="831"/>
            <p14:sldId id="791"/>
            <p14:sldId id="790"/>
            <p14:sldId id="789"/>
            <p14:sldId id="752"/>
            <p14:sldId id="794"/>
            <p14:sldId id="793"/>
            <p14:sldId id="792"/>
            <p14:sldId id="753"/>
            <p14:sldId id="754"/>
            <p14:sldId id="755"/>
            <p14:sldId id="750"/>
            <p14:sldId id="796"/>
            <p14:sldId id="795"/>
            <p14:sldId id="762"/>
            <p14:sldId id="799"/>
            <p14:sldId id="798"/>
            <p14:sldId id="797"/>
            <p14:sldId id="759"/>
            <p14:sldId id="805"/>
            <p14:sldId id="804"/>
            <p14:sldId id="803"/>
            <p14:sldId id="802"/>
            <p14:sldId id="801"/>
            <p14:sldId id="832"/>
            <p14:sldId id="760"/>
            <p14:sldId id="811"/>
            <p14:sldId id="810"/>
            <p14:sldId id="809"/>
            <p14:sldId id="808"/>
            <p14:sldId id="807"/>
            <p14:sldId id="806"/>
            <p14:sldId id="761"/>
            <p14:sldId id="757"/>
            <p14:sldId id="774"/>
          </p14:sldIdLst>
        </p14:section>
        <p14:section name="Discrete Diffusion Models" id="{68E76E05-22CC-4148-923B-A532E8DADA2E}">
          <p14:sldIdLst>
            <p14:sldId id="775"/>
            <p14:sldId id="763"/>
            <p14:sldId id="813"/>
            <p14:sldId id="812"/>
            <p14:sldId id="764"/>
            <p14:sldId id="814"/>
            <p14:sldId id="765"/>
            <p14:sldId id="766"/>
            <p14:sldId id="818"/>
            <p14:sldId id="817"/>
            <p14:sldId id="816"/>
            <p14:sldId id="815"/>
            <p14:sldId id="767"/>
            <p14:sldId id="768"/>
            <p14:sldId id="769"/>
            <p14:sldId id="822"/>
            <p14:sldId id="821"/>
            <p14:sldId id="820"/>
            <p14:sldId id="833"/>
            <p14:sldId id="751"/>
            <p14:sldId id="776"/>
            <p14:sldId id="824"/>
            <p14:sldId id="823"/>
            <p14:sldId id="827"/>
            <p14:sldId id="826"/>
            <p14:sldId id="825"/>
            <p14:sldId id="770"/>
            <p14:sldId id="829"/>
            <p14:sldId id="828"/>
            <p14:sldId id="771"/>
            <p14:sldId id="778"/>
          </p14:sldIdLst>
        </p14:section>
        <p14:section name="Thank you" id="{C1F1B2B3-7B2C-C64E-ABD3-1FB8953930DB}">
          <p14:sldIdLst>
            <p14:sldId id="7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F3E"/>
    <a:srgbClr val="FFFFFF"/>
    <a:srgbClr val="1F2F3F"/>
    <a:srgbClr val="1FA682"/>
    <a:srgbClr val="FFEDCF"/>
    <a:srgbClr val="FF9900"/>
    <a:srgbClr val="7CE8F4"/>
    <a:srgbClr val="31B0C9"/>
    <a:srgbClr val="FFBBC6"/>
    <a:srgbClr val="FED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B945A4-B991-4E73-B58D-0653ECECD744}" v="11" dt="2025-03-11T09:11:30.656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15" autoAdjust="0"/>
    <p:restoredTop sz="69252" autoAdjust="0"/>
  </p:normalViewPr>
  <p:slideViewPr>
    <p:cSldViewPr snapToGrid="0">
      <p:cViewPr varScale="1">
        <p:scale>
          <a:sx n="86" d="100"/>
          <a:sy n="86" d="100"/>
        </p:scale>
        <p:origin x="2576" y="20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microsoft.com/office/2015/10/relationships/revisionInfo" Target="revisionInfo.xml"/><Relationship Id="rId16" Type="http://schemas.openxmlformats.org/officeDocument/2006/relationships/slide" Target="slides/slide13.xml"/><Relationship Id="rId107" Type="http://schemas.openxmlformats.org/officeDocument/2006/relationships/font" Target="fonts/font16.fntdata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font" Target="fonts/font11.fntdata"/><Relationship Id="rId5" Type="http://schemas.openxmlformats.org/officeDocument/2006/relationships/slide" Target="slides/slide2.xml"/><Relationship Id="rId90" Type="http://schemas.openxmlformats.org/officeDocument/2006/relationships/notesMaster" Target="notesMasters/notesMaster1.xml"/><Relationship Id="rId95" Type="http://schemas.openxmlformats.org/officeDocument/2006/relationships/font" Target="fonts/font4.fntdata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font" Target="fonts/font12.fntdata"/><Relationship Id="rId108" Type="http://schemas.openxmlformats.org/officeDocument/2006/relationships/presProps" Target="presProps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handoutMaster" Target="handoutMasters/handoutMaster1.xml"/><Relationship Id="rId96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font" Target="fonts/font15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font" Target="fonts/font3.fntdata"/><Relationship Id="rId99" Type="http://schemas.openxmlformats.org/officeDocument/2006/relationships/font" Target="fonts/font8.fntdata"/><Relationship Id="rId101" Type="http://schemas.openxmlformats.org/officeDocument/2006/relationships/font" Target="fonts/font10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viewProps" Target="viewProps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font" Target="fonts/font6.fntdata"/><Relationship Id="rId104" Type="http://schemas.openxmlformats.org/officeDocument/2006/relationships/font" Target="fonts/font13.fntdata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font" Target="fonts/font1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theme" Target="theme/theme1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font" Target="fonts/font9.fntdata"/><Relationship Id="rId105" Type="http://schemas.openxmlformats.org/officeDocument/2006/relationships/font" Target="fonts/font14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font" Target="fonts/font2.fntdata"/><Relationship Id="rId98" Type="http://schemas.openxmlformats.org/officeDocument/2006/relationships/font" Target="fonts/font7.fntdata"/><Relationship Id="rId3" Type="http://schemas.openxmlformats.org/officeDocument/2006/relationships/slideMaster" Target="slideMasters/slideMaster1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4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110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24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510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71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48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85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8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3355C-01DF-69F3-EDAD-9ECC3A8BA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9BEE1-7C0C-399B-849E-2B9C2BB83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B9A68-6DB1-4237-3EA1-B08000C6B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8BD7D-A62E-942A-E02E-238C3FE99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84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58260-41D8-43E8-07D1-C2F3F2076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5AD33-4423-F075-C9F0-CE6426D30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240E8-A99D-2658-44E0-B34EF2F1F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83CF3-737E-65E0-A1D3-A54F49789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94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89819-43FE-23D5-0EE1-59A987B24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FFBDF-CF45-9706-4D09-8ACB26E09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B2BB35-5A1B-D2EC-ED15-C5817340A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4F501-BC1C-61D6-A2F1-DC607A167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90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B7914-BD19-00E2-BFA3-A0303EC8B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FB453-3BD9-305A-8CD3-AF0CA2B37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91532-1682-04EA-A019-F7D9E6CAE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51477-8638-821D-8707-A1F7E6AF6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26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810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03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491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C9B15-A47B-6080-132E-8EA025526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13311-5EBE-4261-B25C-EBE7473D29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8ACF7-1998-5DE3-24B7-EF8145492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C73DC-9820-38E4-1CC6-5D1F6C156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608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769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0757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644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FA114-644A-3E5F-72BA-44D5DC69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AED88D-DB7A-039A-5D62-5D49CAA47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F2935-8E67-72FB-E7E4-39023FEBC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B5ED7-E961-61E4-6906-415B47EBC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509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1E80D-4CD9-5FAC-CC88-6D2ED573B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E39D1-634E-08EF-56EC-7AD0C01F9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12445B-6BC5-3D1B-FB54-1ADB3CC8A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858EE-7654-5559-A59F-9F96155B7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970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345AD-0360-37B6-553C-BA0256E1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63D52-7C9D-37DF-5D06-B0A0E417D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08BB5A-390E-80C5-CAB6-A629583E3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2FE83-3D8A-4D93-6366-3A00E6EFA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448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A0E39-805A-DAA4-AF92-E96E70B1D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49394-2691-C38D-F445-E21AB6992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DAD80-3A81-82A5-4676-8DE0FA46C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3C18B-1DFB-B1D7-42C8-96B9BE63F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58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77464-B190-6ADA-9DE6-7E149AF78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18F7C-457E-8ABB-6D02-4AE017D67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B9B6D9-8CF7-6B95-C2F5-60DAA6192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93E27-54F3-00C0-6981-8DC4CFA03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9405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A7152-39C0-E68D-77B8-C15F493B6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EC8A3-E27C-F33A-FA75-BE68A8213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0EA3C-09C2-BE64-A5E4-F9F1401B3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AE05D-5745-A371-06FD-8EFEDFA52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9381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4254E-4CC4-1271-69FB-7AAEFEE71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072F7-0651-3E53-1DEC-8C93EE930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7779E0-2AEC-3CBC-04EB-9EB6E893C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1E860-8A69-40BC-F1B4-09D9C60D0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803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ECD2E-817A-51A5-0BDA-0503BA96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097FC-E286-7230-E291-526EC9C08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09497-9A59-A8BA-EE9E-C6D814723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27A08-60D6-1707-E20C-B02DA1D5D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014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28425-4718-79A2-B7B5-5D0BAC8A7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63265-D3FA-55F2-C248-9F4EF0BFB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28E2C-6BB5-0533-3112-449617B7F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E3387-D0DA-670B-AA69-07A08894E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11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434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808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762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13F43-D9CA-1788-064B-A082A373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6AA33-DB2C-4910-C453-256D0C7C9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2955D-39BD-52DF-1FF6-2C124DAFF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714E9-CDBD-A352-444F-A6280605C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659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4315-48B1-1669-9E80-DD1E6CDA1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2FEBF-7E20-74E3-2E60-B3F89ED80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9C28E-A72C-7633-FD4E-7095AF693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81CEF-D888-B84B-CC51-D2F06539C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903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41436-3EF9-09F2-758D-D1F77806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C73FE-F5D4-A148-70D8-EEB549994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262CDCD-0129-4EEA-B561-ADDDFABB34E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262CDCD-0129-4EEA-B561-ADDDFABB34E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1. We can rewrite the objective in this form.</a:t>
                </a:r>
              </a:p>
              <a:p>
                <a:r>
                  <a:rPr lang="en-US" dirty="0"/>
                  <a:t>2.</a:t>
                </a:r>
                <a:r>
                  <a:rPr lang="en-US" baseline="0" dirty="0"/>
                  <a:t> </a:t>
                </a:r>
                <a:r>
                  <a:rPr lang="en-US" dirty="0"/>
                  <a:t>Then, we convert the function to operate in the latent space rather than the pixel space. As you can see, the only difference between the two objectives is simply replacing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𝑥</a:t>
                </a:r>
                <a:r>
                  <a:rPr lang="en-US" dirty="0"/>
                  <a:t>with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𝑧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3. However, unlike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𝑥</a:t>
                </a:r>
                <a:r>
                  <a:rPr lang="en-US" dirty="0"/>
                  <a:t>, the latent variable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𝑧</a:t>
                </a:r>
                <a:r>
                  <a:rPr lang="en-US" dirty="0"/>
                  <a:t>follows an unknown distribution, so the marginal score with respect to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𝑧_𝑡</a:t>
                </a:r>
                <a:r>
                  <a:rPr lang="en-US" dirty="0"/>
                  <a:t>is </a:t>
                </a:r>
                <a:r>
                  <a:rPr lang="en-US" b="1" dirty="0"/>
                  <a:t>not Gaussian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4. As a result, the gradient cannot be computed in closed-form.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B1229-6958-13E0-1750-B58A93BBC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557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055F6-C4BF-58CF-722B-DFE5F7A1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CCC97-5294-25CF-9A73-51AB5A315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5988B-6D37-F59B-1F60-1E187849E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039F3-2F51-0AAE-CEAE-298F13AAA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443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49D14-A2FF-501E-9DBD-AB135A13E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6C2BE6-F2A8-E829-287C-0D17CFE38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89C3A-4F46-3636-0F37-84BDCC970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37E2B-D300-BD12-E0A0-FDC09AA86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118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A640D-3C61-B79E-A70E-C3285172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405D6-14EF-54B3-B9A0-6B517893F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2901079-DDDB-3B01-46AA-5B99ACD68D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2901079-DDDB-3B01-46AA-5B99ACD68D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1. We can rewrite the objective in this form.</a:t>
                </a:r>
              </a:p>
              <a:p>
                <a:r>
                  <a:rPr lang="en-US" dirty="0"/>
                  <a:t>2.</a:t>
                </a:r>
                <a:r>
                  <a:rPr lang="en-US" baseline="0" dirty="0"/>
                  <a:t> </a:t>
                </a:r>
                <a:r>
                  <a:rPr lang="en-US" dirty="0"/>
                  <a:t>Then, we convert the function to operate in the latent space rather than the pixel space. As you can see, the only difference between the two objectives is simply replacing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/>
                  <a:t>with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3. However, unlike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/>
                  <a:t>, the latent variable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en-US" dirty="0"/>
                  <a:t>follows an unknown distribution, so the marginal score with respect to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𝑧_𝑡</a:t>
                </a:r>
                <a:r>
                  <a:rPr lang="en-US" dirty="0"/>
                  <a:t>is </a:t>
                </a:r>
                <a:r>
                  <a:rPr lang="en-US" b="1" dirty="0"/>
                  <a:t>not Gaussian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4. As a result, the gradient cannot be computed in closed-form.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9387A-58BE-3464-B273-A36E3D994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135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490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E5D30-8081-932E-4751-31F685976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90C56-03DD-D831-BDA8-E2DFF3FA6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DF04228-E406-3A60-F807-0CDD62DE5DE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DF04228-E406-3A60-F807-0CDD62DE5DE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In the Latent Score-based Generative Model paper, authors propose a new </a:t>
                </a:r>
                <a:r>
                  <a:rPr lang="en-US" dirty="0" err="1"/>
                  <a:t>lsgm</a:t>
                </a:r>
                <a:r>
                  <a:rPr lang="en-US" dirty="0"/>
                  <a:t> loss to bypass this problem.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Our goal is to use score function of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𝑝_𝜃 (𝑧_𝑡 )</a:t>
                </a:r>
                <a:r>
                  <a:rPr lang="en-US" dirty="0"/>
                  <a:t>at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𝑧_𝑡</a:t>
                </a:r>
                <a:r>
                  <a:rPr lang="en-US" dirty="0"/>
                  <a:t> to sample the</a:t>
                </a:r>
                <a:r>
                  <a:rPr lang="en-US" baseline="0" dirty="0"/>
                  <a:t> latent vector without noise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To do this, we apply the exactly same principle, which is optimizing </a:t>
                </a:r>
                <a:r>
                  <a:rPr lang="en-US" dirty="0" err="1"/>
                  <a:t>p_θ</a:t>
                </a:r>
                <a:r>
                  <a:rPr lang="en-US" dirty="0"/>
                  <a:t>(x)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As you may recall, log p of x can be decomposed into three terms,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And according to the variational lower bound term, we have three components to know, which are encoder distribution , decoder distribution ,and latent representation prior distribution 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598FB-3946-C3CF-30A7-D5519975F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722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5E03B-CB82-65CF-C0D2-DDD0B0E84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8CCC9-011D-5522-DC01-F18446B2D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FAF42E5-E327-9DDC-D3D7-0B5F831E365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FAF42E5-E327-9DDC-D3D7-0B5F831E365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In the Latent Score-based Generative Model paper, authors propose a new </a:t>
                </a:r>
                <a:r>
                  <a:rPr lang="en-US" dirty="0" err="1"/>
                  <a:t>lsgm</a:t>
                </a:r>
                <a:r>
                  <a:rPr lang="en-US" dirty="0"/>
                  <a:t> loss to bypass this problem.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Our goal is to use score function of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𝑝_𝜃 (𝑧_𝑡 )</a:t>
                </a:r>
                <a:r>
                  <a:rPr lang="en-US" dirty="0"/>
                  <a:t>at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𝑧_𝑡</a:t>
                </a:r>
                <a:r>
                  <a:rPr lang="en-US" dirty="0"/>
                  <a:t> to sample the</a:t>
                </a:r>
                <a:r>
                  <a:rPr lang="en-US" baseline="0" dirty="0"/>
                  <a:t> latent vector without noise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To do this, we apply the exactly same principle, which is optimizing </a:t>
                </a:r>
                <a:r>
                  <a:rPr lang="en-US" dirty="0" err="1"/>
                  <a:t>p_θ</a:t>
                </a:r>
                <a:r>
                  <a:rPr lang="en-US" dirty="0"/>
                  <a:t>(x)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As you may recall, log p of x can be decomposed into three terms,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And according to the variational lower bound term, we have three components to know, which are encoder distribution , decoder distribution ,and latent representation prior distribution 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9681A-748D-8968-F6EF-8E081C780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0283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7F698-9A27-1899-4389-E2793E97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03A384-B7CA-EC16-4444-7ED1CE955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01794FA-2065-0F20-1184-190E12B4744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01794FA-2065-0F20-1184-190E12B4744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In the Latent Score-based Generative Model paper, authors propose a new </a:t>
                </a:r>
                <a:r>
                  <a:rPr lang="en-US" dirty="0" err="1"/>
                  <a:t>lsgm</a:t>
                </a:r>
                <a:r>
                  <a:rPr lang="en-US" dirty="0"/>
                  <a:t> loss to bypass this problem.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Our goal is to use score function of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𝑝_𝜃 (𝑧_𝑡 )</a:t>
                </a:r>
                <a:r>
                  <a:rPr lang="en-US" dirty="0"/>
                  <a:t>at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𝑧_𝑡</a:t>
                </a:r>
                <a:r>
                  <a:rPr lang="en-US" dirty="0"/>
                  <a:t> to sample the</a:t>
                </a:r>
                <a:r>
                  <a:rPr lang="en-US" baseline="0" dirty="0"/>
                  <a:t> latent vector without noise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To do this, we apply the exactly same principle, which is optimizing </a:t>
                </a:r>
                <a:r>
                  <a:rPr lang="en-US" dirty="0" err="1"/>
                  <a:t>p_θ</a:t>
                </a:r>
                <a:r>
                  <a:rPr lang="en-US" dirty="0"/>
                  <a:t>(x)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As you may recall, log p of x can be decomposed into three terms,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And according to the variational lower bound term, we have three components to know, which are encoder distribution , decoder distribution ,and latent representation prior distribution 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E1C1D-784B-1A81-0A2B-8558BB829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564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161AB-9739-FDFE-8397-67AC48BEE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6445E-9A32-C7C1-EA15-7CA3F7F7D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36BB177-24DC-23A5-BC5A-9D2A0804D0D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36BB177-24DC-23A5-BC5A-9D2A0804D0D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In the Latent Score-based Generative Model paper, authors propose a new </a:t>
                </a:r>
                <a:r>
                  <a:rPr lang="en-US" dirty="0" err="1"/>
                  <a:t>lsgm</a:t>
                </a:r>
                <a:r>
                  <a:rPr lang="en-US" dirty="0"/>
                  <a:t> loss to bypass this problem.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Our goal is to use score function of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𝑝_𝜃 (𝑧_𝑡 )</a:t>
                </a:r>
                <a:r>
                  <a:rPr lang="en-US" dirty="0"/>
                  <a:t>at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𝑧_𝑡</a:t>
                </a:r>
                <a:r>
                  <a:rPr lang="en-US" dirty="0"/>
                  <a:t> to sample the</a:t>
                </a:r>
                <a:r>
                  <a:rPr lang="en-US" baseline="0" dirty="0"/>
                  <a:t> latent vector without noise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To do this, we apply the exactly same principle, which is optimizing </a:t>
                </a:r>
                <a:r>
                  <a:rPr lang="en-US" dirty="0" err="1"/>
                  <a:t>p_θ</a:t>
                </a:r>
                <a:r>
                  <a:rPr lang="en-US" dirty="0"/>
                  <a:t>(x)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In the Latent Score-based Generative Model paper, authors propose a new </a:t>
                </a:r>
                <a:r>
                  <a:rPr lang="en-US" dirty="0" err="1"/>
                  <a:t>lsgm</a:t>
                </a:r>
                <a:r>
                  <a:rPr lang="en-US" dirty="0"/>
                  <a:t> loss to bypass this problem.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Our goal is to use score function of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𝑝_𝜃 (𝑧_𝑡 )</a:t>
                </a:r>
                <a:r>
                  <a:rPr lang="en-US" dirty="0"/>
                  <a:t>at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𝑧_𝑡</a:t>
                </a:r>
                <a:r>
                  <a:rPr lang="en-US" dirty="0"/>
                  <a:t> to sample the</a:t>
                </a:r>
                <a:r>
                  <a:rPr lang="en-US" baseline="0" dirty="0"/>
                  <a:t> latent vector without noise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To do this, we apply the exactly same principle, which is optimizing </a:t>
                </a:r>
                <a:r>
                  <a:rPr lang="en-US" dirty="0" err="1"/>
                  <a:t>p_θ</a:t>
                </a:r>
                <a:r>
                  <a:rPr lang="en-US" dirty="0"/>
                  <a:t>(x)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As you may recall, log p of x can be decomposed into three terms,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And according to the variational lower bound term, we have three components to know, which are encoder distribution , decoder distribution ,and latent representation prior distribution 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As you may recall, log p of x can be decomposed into three terms,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And according to the variational lower bound term, we have three components to know, which are encoder distribution , decoder distribution ,and latent representation prior distribution 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A50D5-D61F-803F-21AF-71913BBEDB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760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84E83-F9F7-75C4-041A-D89C30424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A9FE3B-B6BC-58DC-18E7-C9A62493F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F86886A-493B-29AC-391E-3AFC2014D15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F86886A-493B-29AC-391E-3AFC2014D15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In the Latent Score-based Generative Model paper, authors propose a new </a:t>
                </a:r>
                <a:r>
                  <a:rPr lang="en-US" dirty="0" err="1"/>
                  <a:t>lsgm</a:t>
                </a:r>
                <a:r>
                  <a:rPr lang="en-US" dirty="0"/>
                  <a:t> loss to bypass this problem.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Our goal is to use score function of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𝑝_𝜃 (𝑧_𝑡 )</a:t>
                </a:r>
                <a:r>
                  <a:rPr lang="en-US" dirty="0"/>
                  <a:t>at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𝑧_𝑡</a:t>
                </a:r>
                <a:r>
                  <a:rPr lang="en-US" dirty="0"/>
                  <a:t> to sample the</a:t>
                </a:r>
                <a:r>
                  <a:rPr lang="en-US" baseline="0" dirty="0"/>
                  <a:t> latent vector without noise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To do this, we apply the exactly same principle, which is optimizing </a:t>
                </a:r>
                <a:r>
                  <a:rPr lang="en-US" dirty="0" err="1"/>
                  <a:t>p_θ</a:t>
                </a:r>
                <a:r>
                  <a:rPr lang="en-US" dirty="0"/>
                  <a:t>(x)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As you may recall, log p of x can be decomposed into three terms,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And according to the variational lower bound term, we have three components to know, which are encoder distribution , decoder distribution ,and latent representation prior distribution 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CEB61-7B83-7EDC-C00D-4CF887DD8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143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587B8-134C-AC43-E304-006B8CD0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67CAA-048A-D01B-4727-A8D24744C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A077140-FCA7-026D-5029-EB94F4F2696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A077140-FCA7-026D-5029-EB94F4F2696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In the Latent Score-based Generative Model paper, authors propose a new </a:t>
                </a:r>
                <a:r>
                  <a:rPr lang="en-US" dirty="0" err="1"/>
                  <a:t>lsgm</a:t>
                </a:r>
                <a:r>
                  <a:rPr lang="en-US" dirty="0"/>
                  <a:t> loss to bypass this problem.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Our goal is to use score function of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𝑝_𝜃 (𝑧_𝑡 )</a:t>
                </a:r>
                <a:r>
                  <a:rPr lang="en-US" dirty="0"/>
                  <a:t>at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𝑧_𝑡</a:t>
                </a:r>
                <a:r>
                  <a:rPr lang="en-US" dirty="0"/>
                  <a:t> to sample the</a:t>
                </a:r>
                <a:r>
                  <a:rPr lang="en-US" baseline="0" dirty="0"/>
                  <a:t> latent vector without noise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To do this, we apply the exactly same principle, which is optimizing </a:t>
                </a:r>
                <a:r>
                  <a:rPr lang="en-US" dirty="0" err="1"/>
                  <a:t>p_θ</a:t>
                </a:r>
                <a:r>
                  <a:rPr lang="en-US" dirty="0"/>
                  <a:t>(x)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As you may recall, log p of x can be decomposed into three terms,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And according to the variational lower bound term, we have three components to know, which are encoder distribution , decoder distribution ,and latent representation prior distribution 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3F53A-A8AE-FC8C-273C-C1FCB4BD4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650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2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612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1454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99153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1589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48545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74384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3419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76712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2878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3257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1183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9869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923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marginalize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𝑞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(𝑥_𝑡∣𝑥_0 )</a:t>
                </a:r>
                <a:r>
                  <a:rPr lang="en-US" dirty="0"/>
                  <a:t>at time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𝑡</a:t>
                </a:r>
                <a:r>
                  <a:rPr lang="en-US" dirty="0"/>
                  <a:t>using the transition matrices.</a:t>
                </a:r>
              </a:p>
              <a:p>
                <a:endParaRPr lang="en-US" dirty="0"/>
              </a:p>
              <a:p>
                <a:r>
                  <a:rPr lang="en-US" dirty="0"/>
                  <a:t>Let Q bar sub t equals Q one times Q two up to Q t.</a:t>
                </a:r>
              </a:p>
              <a:p>
                <a:endParaRPr lang="ar-AE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2476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15C34-7593-0A0E-B42F-1979F80E3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05022-E080-F5D4-E13A-C8E76E5B6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623453C-18B7-645F-FD51-1302FC138DD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623453C-18B7-645F-FD51-1302FC138DD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marginalize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(𝑥_𝑡∣𝑥_0 )</a:t>
                </a:r>
                <a:r>
                  <a:rPr lang="en-US" dirty="0"/>
                  <a:t>at time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en-US" dirty="0"/>
                  <a:t>using the transition matrices.</a:t>
                </a:r>
              </a:p>
              <a:p>
                <a:endParaRPr lang="en-US" dirty="0"/>
              </a:p>
              <a:p>
                <a:r>
                  <a:rPr lang="en-US" dirty="0"/>
                  <a:t>Let Q bar sub t equals Q one times Q two up to Q t.</a:t>
                </a:r>
              </a:p>
              <a:p>
                <a:endParaRPr lang="ar-AE" dirty="0"/>
              </a:p>
              <a:p>
                <a:r>
                  <a:rPr lang="en-US" dirty="0"/>
                  <a:t>Then, the probability of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𝑥_(𝑡−1)</a:t>
                </a:r>
                <a:r>
                  <a:rPr lang="en-US" dirty="0"/>
                  <a:t>given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𝑥_𝑡</a:t>
                </a:r>
                <a:r>
                  <a:rPr lang="en-US" dirty="0"/>
                  <a:t>and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𝑥_0</a:t>
                </a:r>
                <a:r>
                  <a:rPr lang="en-US" dirty="0"/>
                  <a:t>follows a categorical distribution.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836D8-9D55-74A7-4E8D-A3E88167BF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31363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318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1513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57030-90F3-CC78-995E-47758513C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BC369-C8DE-6D87-53F1-6A03FA211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08C78-4579-E4C6-EEA6-B331020C1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CDB9B-20E4-F39B-5FA4-06306F312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1720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857A7-A1C2-9DC9-1567-59D54FE14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64095-C899-CBCE-6099-999D1B0DB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F7FD5-1036-E545-46C6-73E6D0CD3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3F994-DD82-1D94-9BB6-90778BF88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488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CB70D-1EB2-56AA-8F29-A85F20B51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A4AE2-936E-39FF-DC8A-8BD6AB893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CE8B7A7-BC0D-6A7A-1400-21AF5B69E3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CE8B7A7-BC0D-6A7A-1400-21AF5B69E3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Secondly, </a:t>
                </a:r>
                <a:r>
                  <a:rPr lang="en-US" b="1" dirty="0"/>
                  <a:t>autoregressive models</a:t>
                </a:r>
                <a:r>
                  <a:rPr lang="en-US" dirty="0"/>
                  <a:t> can also be interpreted as diffusion models. If we unmask only one token at each step in a left-to-right manner, the D3PM model reduces to an autoregressive model. Formally, this is equivalent to setting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𝑞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(𝑥_(𝑡−1)ⓜ,∣𝑥_𝑡 𝑥_0 )</a:t>
                </a:r>
                <a:r>
                  <a:rPr lang="en-US" dirty="0"/>
                  <a:t>as a Dirac delta function at the identity token class.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9653B-4264-FA2F-A9F1-0E36E9030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1525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A8D18-01A9-F18D-FC03-FE0F187E7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19AA9-E6F9-0391-810C-D475106E6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CDCDD-A6FC-D2D4-557B-ABFDB76D1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CAEBC-9777-B9EA-7E8E-10B337F34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3551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This is a visualization of D3PM language generation.</a:t>
                </a:r>
              </a:p>
              <a:p>
                <a:r>
                  <a:rPr lang="en-US" dirty="0"/>
                  <a:t>If you look at the right column, at time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𝑡=0</a:t>
                </a:r>
                <a:r>
                  <a:rPr lang="en-US" dirty="0"/>
                  <a:t>, we start with the original sentence before the noising process.</a:t>
                </a:r>
              </a:p>
              <a:p>
                <a:r>
                  <a:rPr lang="en-US" dirty="0"/>
                  <a:t>As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en-US" dirty="0"/>
                  <a:t>increases to 128, all the tokens become masked with a [MASK] token.</a:t>
                </a:r>
              </a:p>
              <a:p>
                <a:r>
                  <a:rPr lang="en-US" dirty="0"/>
                  <a:t>We train the diffusion model by predicting the original tokens for these masked positions.</a:t>
                </a:r>
              </a:p>
              <a:p>
                <a:endParaRPr lang="en-US" dirty="0"/>
              </a:p>
              <a:p>
                <a:r>
                  <a:rPr lang="en-US" dirty="0"/>
                  <a:t>And as the figure on the right shows, across different masking schemes, the perplexity improves as the number of inference steps increases.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8948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66241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8936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B6BB4-347B-01F9-1F34-55AD530A6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C3BD10-07A6-B29E-80BF-06163FB40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00B77-80C0-1803-4694-280A359E7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D5C84-259C-E6C8-2AEF-3AA2718F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4935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BAED4-8847-AA30-0B2D-23000DC6A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3F635-C252-9806-00EB-66E3D89A8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D33300-35AA-697F-2F3B-3A341A127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75835-E3BD-FC9C-DD37-8DF4413FA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0337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5AFFB-6D6C-89F5-A897-897B50391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597CB-9D80-BC11-04AD-C93723851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9CB99-D9D0-3CE8-FAEF-CF2E0D3A3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7F625-BF51-DD56-D6AE-59CE75424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1604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63F2D-BC9D-32E8-E2EA-EF4390DFB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502B0A-D6FA-0075-DF96-E4E5A2C0A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DED3F-0B14-0A84-868B-68B5F569E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4100F-FFB2-9FE7-F643-861AB9C98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6478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12591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7758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1548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6556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0418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7347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4734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8922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72248-F2C0-1AE5-AFAC-A90DAEF5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40A7E-6CBE-E8C8-396A-41763B832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73623-8202-E283-E4C1-534211E57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A1711-9383-56FB-34D8-0DA4CEBD3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2251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4BB35-5315-ABCD-0F97-3BDF80056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8A888A-C796-534C-12AE-58E95E51C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43C95-AEF8-97F7-E309-C086B955D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7B510-9101-00D3-DF80-7B1F006D1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5279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3140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0390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6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19D5990-0C54-831D-96A4-1627FE9FCB07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 b="1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7" name="Picture 6" descr="정장 - 대학상징 - 대학소개 - 서울대학교">
            <a:extLst>
              <a:ext uri="{FF2B5EF4-FFF2-40B4-BE49-F238E27FC236}">
                <a16:creationId xmlns:a16="http://schemas.microsoft.com/office/drawing/2014/main" id="{1CEEA42D-03E6-42C5-DB73-A8862FA337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088" y="5858852"/>
            <a:ext cx="617768" cy="64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95E115-D62C-AE0C-429A-CF37FB8895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51" y="5901343"/>
            <a:ext cx="949740" cy="55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14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5406E2F2-8AA5-3982-5D4F-A13EB9512525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 b="1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1AE1-7907-F24D-8677-0B8F5F67234B}" type="datetime1">
              <a:rPr lang="en-US" smtClean="0"/>
              <a:t>10/10/25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92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BBD02A2E-F04D-C9AF-9F9A-C610B110494F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4412-B7A6-5248-9101-6EE6DBC2D916}" type="datetime1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120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24E4CF3D-D908-926B-E2E0-16DC23B9AD70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41519F39-6580-C4C2-BB47-492DBFE4A8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19A95A1-B9DA-4AAF-6327-04E6E02C33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BFCCCA-452D-9DA7-013E-E3237E8C1941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i="0" dirty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9671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6736434-7E81-994B-854B-1BF33F160A0D}" type="datetime1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0D62F-E191-C046-B6EA-E79BE99AA24A}" type="datetime1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9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0" i="0" cap="all" spc="300" baseline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1D3B374-854B-EF47-9B56-0018B9F83111}" type="datetime1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26E32-37D5-A446-8A01-9B6BBEB5E690}" type="datetime1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009781"/>
          </a:xfrm>
        </p:spPr>
        <p:txBody>
          <a:bodyPr/>
          <a:lstStyle>
            <a:lvl1pPr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78D1-9721-044C-B65C-A6FC97994CEC}" type="datetime1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9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2500-AAFD-4464-92DE-45442731C6F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4422CFE-CB70-E144-AF43-F0FCE393742F}" type="datetime1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7C935-E20D-482F-89A5-4255E88216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2203680"/>
          </a:xfrm>
        </p:spPr>
        <p:txBody>
          <a:bodyPr/>
          <a:lstStyle>
            <a:lvl1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4FC2D43-256D-6645-BCF9-A844B8D70195}" type="datetime1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7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2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5334000" cy="978729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412694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B2582F-3FE9-42AC-8572-5C27E1A8E5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8400" y="0"/>
            <a:ext cx="5943600" cy="6858000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(or paste) to insert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C0C526-AA41-9246-8D2F-123642CF358A}" type="datetime1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1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C29B-2875-A847-90DD-93F5B9D216F5}" type="datetime1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7C09E-9944-944E-A974-7D6AA4E02B83}" type="datetime1">
              <a:rPr lang="en-US" smtClean="0"/>
              <a:t>10/10/25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F02E835-1245-C748-8E9F-651FE6B45587}" type="datetime1">
              <a:rPr lang="en-US" smtClean="0"/>
              <a:t>10/10/25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96E8718-D810-5D42-BBA7-DBDBA7B074E9}" type="datetime1">
              <a:rPr lang="en-US" smtClean="0"/>
              <a:t>10/10/25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54642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958DF5-F549-8B46-95E0-C2CB36033BB5}" type="datetime1">
              <a:rPr lang="en-US" smtClean="0"/>
              <a:t>10/10/25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6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 anchor="t" anchorCtr="0"/>
          <a:lstStyle>
            <a:lvl1pPr>
              <a:defRPr sz="32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1"/>
            <a:ext cx="5372100" cy="4495798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1397-8FE7-FB4B-82EE-58C288712F6D}" type="datetime1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8789C-A0D1-A74F-A15D-501FE221905E}" type="datetime1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9628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975199"/>
            <a:ext cx="8067261" cy="1920526"/>
          </a:xfrm>
        </p:spPr>
        <p:txBody>
          <a:bodyPr anchor="b" anchorCtr="0"/>
          <a:lstStyle>
            <a:lvl1pPr>
              <a:defRPr sz="44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AB32ED6-534B-4417-86C2-7D43CBC5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6" y="1981200"/>
            <a:ext cx="309563" cy="309563"/>
          </a:xfrm>
          <a:blipFill>
            <a:blip r:embed="rId2">
              <a:duotone>
                <a:prstClr val="black"/>
                <a:srgbClr val="19191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8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2DE8EBE-FC95-451D-BADD-B5580296FA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64150" y="3274218"/>
            <a:ext cx="309563" cy="309563"/>
          </a:xfr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8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1"/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" y="4496832"/>
            <a:ext cx="8067261" cy="31393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2BEA218-CD6F-B44E-B26C-C64BF244E0F0}" type="datetime1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 - Color set 2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A9C9AE-8A1E-810A-DF26-752087DAD2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674"/>
            <a:ext cx="12216384" cy="6871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C79AD1E-BD19-F31A-84F5-2BAC50F4A65A}"/>
              </a:ext>
            </a:extLst>
          </p:cNvPr>
          <p:cNvSpPr txBox="1">
            <a:spLocks/>
          </p:cNvSpPr>
          <p:nvPr userDrawn="1"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313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84D14-2EC8-4252-96DA-F75A75EAF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EF3D5-2436-9240-B6D0-2048A71FFF33}" type="datetime1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18F2-2506-4A8B-983C-1A77A245E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4C325-5F0B-02BC-AE40-AB30A9729B59}"/>
              </a:ext>
            </a:extLst>
          </p:cNvPr>
          <p:cNvSpPr txBox="1"/>
          <p:nvPr userDrawn="1"/>
        </p:nvSpPr>
        <p:spPr>
          <a:xfrm>
            <a:off x="609600" y="311291"/>
            <a:ext cx="1097280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1000" b="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Various Diffusion Space</a:t>
            </a:r>
            <a:endParaRPr lang="en-US" sz="1000" b="0" i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114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40" r:id="rId2"/>
    <p:sldLayoutId id="2147483741" r:id="rId3"/>
    <p:sldLayoutId id="2147483676" r:id="rId4"/>
    <p:sldLayoutId id="2147483661" r:id="rId5"/>
    <p:sldLayoutId id="2147483654" r:id="rId6"/>
    <p:sldLayoutId id="2147483663" r:id="rId7"/>
    <p:sldLayoutId id="2147483650" r:id="rId8"/>
    <p:sldLayoutId id="2147483664" r:id="rId9"/>
    <p:sldLayoutId id="2147483666" r:id="rId10"/>
    <p:sldLayoutId id="2147483667" r:id="rId11"/>
    <p:sldLayoutId id="2147483665" r:id="rId12"/>
    <p:sldLayoutId id="2147483668" r:id="rId13"/>
    <p:sldLayoutId id="2147483653" r:id="rId14"/>
    <p:sldLayoutId id="2147483689" r:id="rId15"/>
    <p:sldLayoutId id="2147483691" r:id="rId16"/>
    <p:sldLayoutId id="2147483690" r:id="rId17"/>
    <p:sldLayoutId id="2147483657" r:id="rId18"/>
    <p:sldLayoutId id="2147483693" r:id="rId19"/>
    <p:sldLayoutId id="2147483673" r:id="rId20"/>
    <p:sldLayoutId id="2147483745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Pretendard Variable Black" panose="02000003000000020004" pitchFamily="2" charset="-127"/>
          <a:ea typeface="Pretendard Variable Black" panose="02000003000000020004" pitchFamily="2" charset="-127"/>
          <a:cs typeface="Pretendard Variable Black" panose="02000003000000020004" pitchFamily="2" charset="-12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3pPr>
      <a:lvl4pPr marL="103028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4pPr>
      <a:lvl5pPr marL="120173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emf"/><Relationship Id="rId5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emf"/><Relationship Id="rId5" Type="http://schemas.openxmlformats.org/officeDocument/2006/relationships/image" Target="../media/image91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3" Type="http://schemas.openxmlformats.org/officeDocument/2006/relationships/image" Target="../media/image8.jp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g"/><Relationship Id="rId11" Type="http://schemas.openxmlformats.org/officeDocument/2006/relationships/image" Target="../media/image16.png"/><Relationship Id="rId5" Type="http://schemas.openxmlformats.org/officeDocument/2006/relationships/image" Target="../media/image10.jpg"/><Relationship Id="rId10" Type="http://schemas.openxmlformats.org/officeDocument/2006/relationships/image" Target="../media/image15.png"/><Relationship Id="rId4" Type="http://schemas.openxmlformats.org/officeDocument/2006/relationships/image" Target="../media/image9.jp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3" Type="http://schemas.openxmlformats.org/officeDocument/2006/relationships/image" Target="../media/image8.jp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g"/><Relationship Id="rId11" Type="http://schemas.openxmlformats.org/officeDocument/2006/relationships/image" Target="../media/image16.png"/><Relationship Id="rId5" Type="http://schemas.openxmlformats.org/officeDocument/2006/relationships/image" Target="../media/image10.jpg"/><Relationship Id="rId10" Type="http://schemas.openxmlformats.org/officeDocument/2006/relationships/image" Target="../media/image15.png"/><Relationship Id="rId4" Type="http://schemas.openxmlformats.org/officeDocument/2006/relationships/image" Target="../media/image9.jp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3" Type="http://schemas.openxmlformats.org/officeDocument/2006/relationships/image" Target="../media/image8.jp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g"/><Relationship Id="rId11" Type="http://schemas.openxmlformats.org/officeDocument/2006/relationships/image" Target="../media/image16.png"/><Relationship Id="rId5" Type="http://schemas.openxmlformats.org/officeDocument/2006/relationships/image" Target="../media/image10.jp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jp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9.jp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jp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9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png"/><Relationship Id="rId10" Type="http://schemas.openxmlformats.org/officeDocument/2006/relationships/image" Target="../media/image33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9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10" Type="http://schemas.openxmlformats.org/officeDocument/2006/relationships/image" Target="../media/image33.png"/><Relationship Id="rId9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9.jpg"/><Relationship Id="rId7" Type="http://schemas.openxmlformats.org/officeDocument/2006/relationships/image" Target="../media/image31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png"/><Relationship Id="rId11" Type="http://schemas.openxmlformats.org/officeDocument/2006/relationships/image" Target="../media/image220.png"/><Relationship Id="rId10" Type="http://schemas.openxmlformats.org/officeDocument/2006/relationships/image" Target="../media/image33.png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9.jp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10" Type="http://schemas.openxmlformats.org/officeDocument/2006/relationships/image" Target="../media/image42.png"/><Relationship Id="rId9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6.emf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9.png"/><Relationship Id="rId5" Type="http://schemas.openxmlformats.org/officeDocument/2006/relationships/image" Target="../media/image5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4.png"/><Relationship Id="rId5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png"/><Relationship Id="rId5" Type="http://schemas.openxmlformats.org/officeDocument/2006/relationships/image" Target="../media/image6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/Relationships>
</file>

<file path=ppt/slides/_rels/slide48.xml.rels><?xml version="1.0" encoding="UTF-8" standalone="yes"?>
<Relationships xmlns="http://schemas.openxmlformats.org/package/2006/relationships"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8.png"/><Relationship Id="rId5" Type="http://schemas.openxmlformats.org/officeDocument/2006/relationships/image" Target="../media/image69.png"/></Relationships>
</file>

<file path=ppt/slides/_rels/slide49.xml.rels><?xml version="1.0" encoding="UTF-8" standalone="yes"?>
<Relationships xmlns="http://schemas.openxmlformats.org/package/2006/relationships"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8.png"/><Relationship Id="rId5" Type="http://schemas.openxmlformats.org/officeDocument/2006/relationships/image" Target="../media/image69.png"/></Relationships>
</file>

<file path=ppt/slides/_rels/slide50.xml.rels><?xml version="1.0" encoding="UTF-8" standalone="yes"?>
<Relationships xmlns="http://schemas.openxmlformats.org/package/2006/relationships"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8.png"/><Relationship Id="rId5" Type="http://schemas.openxmlformats.org/officeDocument/2006/relationships/image" Target="../media/image69.png"/></Relationships>
</file>

<file path=ppt/slides/_rels/slide5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8.png"/><Relationship Id="rId5" Type="http://schemas.openxmlformats.org/officeDocument/2006/relationships/image" Target="../media/image6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3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8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9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0.png"/><Relationship Id="rId5" Type="http://schemas.openxmlformats.org/officeDocument/2006/relationships/image" Target="../media/image85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0.png"/><Relationship Id="rId5" Type="http://schemas.openxmlformats.org/officeDocument/2006/relationships/image" Target="../media/image86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0.png"/><Relationship Id="rId5" Type="http://schemas.openxmlformats.org/officeDocument/2006/relationships/image" Target="../media/image87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1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9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9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9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8DDD679A-5DC1-14B2-A08C-2D75E1140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7" y="2126159"/>
            <a:ext cx="9688645" cy="757130"/>
          </a:xfrm>
        </p:spPr>
        <p:txBody>
          <a:bodyPr/>
          <a:lstStyle/>
          <a:p>
            <a:r>
              <a:rPr lang="en-US" altLang="ko-KR" b="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Week 6 – Various Diffusion Space</a:t>
            </a:r>
            <a:endParaRPr lang="ko-KR" altLang="en-US" b="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79986BE-08F0-DED1-9883-73080EA3B6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Jihwan Hong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C0A28C4B-C2F7-AFDA-6EB2-ECA35FEB74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8" y="4762500"/>
            <a:ext cx="3797302" cy="834074"/>
          </a:xfrm>
        </p:spPr>
        <p:txBody>
          <a:bodyPr/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AIDAS Lab</a:t>
            </a:r>
          </a:p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Seoul National University</a:t>
            </a:r>
          </a:p>
          <a:p>
            <a:r>
              <a:rPr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csjihwanh@snu.ac.kr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E1DC52-6E3D-42F7-42AC-02936D6505FB}"/>
              </a:ext>
            </a:extLst>
          </p:cNvPr>
          <p:cNvSpPr txBox="1"/>
          <p:nvPr/>
        </p:nvSpPr>
        <p:spPr>
          <a:xfrm>
            <a:off x="609598" y="1713314"/>
            <a:ext cx="209672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Mastering Diffusion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2196A-9107-DB63-43A1-F17A50A7725C}"/>
              </a:ext>
            </a:extLst>
          </p:cNvPr>
          <p:cNvSpPr txBox="1"/>
          <p:nvPr/>
        </p:nvSpPr>
        <p:spPr>
          <a:xfrm>
            <a:off x="611552" y="2926802"/>
            <a:ext cx="8407751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Latent Diffusion Models and Discrete Space Diffusion Models </a:t>
            </a:r>
          </a:p>
        </p:txBody>
      </p:sp>
    </p:spTree>
    <p:extLst>
      <p:ext uri="{BB962C8B-B14F-4D97-AF65-F5344CB8AC3E}">
        <p14:creationId xmlns:p14="http://schemas.microsoft.com/office/powerpoint/2010/main" val="110913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30C56-89EB-1A9C-0F26-F03E69F9A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50435"/>
            <a:ext cx="8575040" cy="757130"/>
          </a:xfrm>
        </p:spPr>
        <p:txBody>
          <a:bodyPr/>
          <a:lstStyle/>
          <a:p>
            <a:r>
              <a:rPr lang="en-US" dirty="0"/>
              <a:t>Latent Space Diffusion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AD686B-EB0F-584E-F9B8-752131B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59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D8BE0-9E31-DA1A-3926-8168C1271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Diffusion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9666B8-979D-4128-4C30-9701BE95CC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2972096"/>
              </a:xfrm>
            </p:spPr>
            <p:txBody>
              <a:bodyPr/>
              <a:lstStyle/>
              <a:p>
                <a:r>
                  <a:rPr lang="en-US" dirty="0"/>
                  <a:t>DDPM trains with forward and backward process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 </m:t>
                      </m:r>
                      <m:nary>
                        <m:naryPr>
                          <m:chr m:val="∏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KR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KR" dirty="0" err="1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9666B8-979D-4128-4C30-9701BE95CC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2972096"/>
              </a:xfrm>
              <a:blipFill>
                <a:blip r:embed="rId5"/>
                <a:stretch>
                  <a:fillRect l="-1387" t="-25000" b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13F43-3659-D44C-BFDE-D146A502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9F5DB1-8534-30D1-5954-DFF95B4407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995" y="4564566"/>
            <a:ext cx="10433405" cy="1518640"/>
          </a:xfrm>
          <a:prstGeom prst="rect">
            <a:avLst/>
          </a:prstGeom>
        </p:spPr>
      </p:pic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641F914-2D0E-4CA7-7FFB-CA52E9606661}"/>
              </a:ext>
            </a:extLst>
          </p:cNvPr>
          <p:cNvSpPr txBox="1">
            <a:spLocks/>
          </p:cNvSpPr>
          <p:nvPr/>
        </p:nvSpPr>
        <p:spPr>
          <a:xfrm>
            <a:off x="4436827" y="2746535"/>
            <a:ext cx="3613427" cy="9534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KR" sz="18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1E2C5-8AFF-E981-8C63-49226BAAFF77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 et al., “Denoising Diffusion Probabilistic Models”,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2020.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64792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7E38C-181D-9594-60A4-EF10AD895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F9A9-B018-FF53-D188-3C2C66D1C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Diffusion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AECFCA-E027-A8A1-F3F0-26FBF76095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574312"/>
              </a:xfrm>
            </p:spPr>
            <p:txBody>
              <a:bodyPr/>
              <a:lstStyle/>
              <a:p>
                <a:r>
                  <a:rPr lang="en-US" dirty="0"/>
                  <a:t>DDPM trains with forward and backward process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 </m:t>
                      </m:r>
                      <m:nary>
                        <m:naryPr>
                          <m:chr m:val="∏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0: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)≔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∏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KR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KR" dirty="0" err="1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AECFCA-E027-A8A1-F3F0-26FBF76095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574312"/>
              </a:xfrm>
              <a:blipFill>
                <a:blip r:embed="rId5"/>
                <a:stretch>
                  <a:fillRect l="-1387" t="-20848" b="-23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DD524-79BC-C5C7-BF90-A7E9253F3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62CD2E-4DE9-1302-9DF7-A54D2910E9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995" y="4564566"/>
            <a:ext cx="10433405" cy="1518640"/>
          </a:xfrm>
          <a:prstGeom prst="rect">
            <a:avLst/>
          </a:prstGeom>
        </p:spPr>
      </p:pic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3830D27-12BB-989A-B767-F724B34F8F87}"/>
              </a:ext>
            </a:extLst>
          </p:cNvPr>
          <p:cNvSpPr txBox="1">
            <a:spLocks/>
          </p:cNvSpPr>
          <p:nvPr/>
        </p:nvSpPr>
        <p:spPr>
          <a:xfrm>
            <a:off x="4436827" y="2746535"/>
            <a:ext cx="3613427" cy="9534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KR" sz="18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CFD855-1D7E-DD02-D6C9-B5BA3EF904E2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 et al., “Denoising Diffusion Probabilistic Models”,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2020.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72313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CD518-6733-9AD8-7576-75411846F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A close-up of a television screen&#10;&#10;AI-generated content may be incorrect.">
            <a:extLst>
              <a:ext uri="{FF2B5EF4-FFF2-40B4-BE49-F238E27FC236}">
                <a16:creationId xmlns:a16="http://schemas.microsoft.com/office/drawing/2014/main" id="{A843A14F-6529-930A-890A-40F48771E6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970" y="2564130"/>
            <a:ext cx="1358900" cy="1358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DA5759-D0B6-9D20-15E2-9C539225F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DDPM Implementation</a:t>
            </a:r>
          </a:p>
        </p:txBody>
      </p:sp>
      <p:pic>
        <p:nvPicPr>
          <p:cNvPr id="6" name="Content Placeholder 5" descr="A duck swimming in water&#10;&#10;AI-generated content may be incorrect.">
            <a:extLst>
              <a:ext uri="{FF2B5EF4-FFF2-40B4-BE49-F238E27FC236}">
                <a16:creationId xmlns:a16="http://schemas.microsoft.com/office/drawing/2014/main" id="{8E056B29-3E35-FFA0-AF93-2EF8136C62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550" y="2564130"/>
            <a:ext cx="1358900" cy="1358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17B3A-D036-299C-C856-A4A20243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Picture 7" descr="A duck swimming in water&#10;&#10;AI-generated content may be incorrect.">
            <a:extLst>
              <a:ext uri="{FF2B5EF4-FFF2-40B4-BE49-F238E27FC236}">
                <a16:creationId xmlns:a16="http://schemas.microsoft.com/office/drawing/2014/main" id="{E1C57514-1AEA-27C5-AF6A-B0758AF29A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470" y="2564130"/>
            <a:ext cx="1358900" cy="13589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75A269-BA88-6963-0A23-D112FD85509D}"/>
              </a:ext>
            </a:extLst>
          </p:cNvPr>
          <p:cNvCxnSpPr>
            <a:cxnSpLocks/>
          </p:cNvCxnSpPr>
          <p:nvPr/>
        </p:nvCxnSpPr>
        <p:spPr>
          <a:xfrm>
            <a:off x="2633810" y="3064510"/>
            <a:ext cx="1638300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38F02CC-77B9-6BB8-9156-0C430FA48316}"/>
              </a:ext>
            </a:extLst>
          </p:cNvPr>
          <p:cNvCxnSpPr>
            <a:cxnSpLocks/>
          </p:cNvCxnSpPr>
          <p:nvPr/>
        </p:nvCxnSpPr>
        <p:spPr>
          <a:xfrm>
            <a:off x="2633810" y="3422650"/>
            <a:ext cx="1638300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ird flying in the sky&#10;&#10;AI-generated content may be incorrect.">
            <a:extLst>
              <a:ext uri="{FF2B5EF4-FFF2-40B4-BE49-F238E27FC236}">
                <a16:creationId xmlns:a16="http://schemas.microsoft.com/office/drawing/2014/main" id="{314DD380-1E47-8681-C1B3-B73762ED5B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764" y="2564130"/>
            <a:ext cx="1358900" cy="1358900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669D85E8-C3DB-76F5-4953-AA0D47C71877}"/>
              </a:ext>
            </a:extLst>
          </p:cNvPr>
          <p:cNvGrpSpPr/>
          <p:nvPr/>
        </p:nvGrpSpPr>
        <p:grpSpPr>
          <a:xfrm>
            <a:off x="7888667" y="3064510"/>
            <a:ext cx="1638300" cy="358140"/>
            <a:chOff x="7881047" y="2561590"/>
            <a:chExt cx="1638300" cy="358140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B4D5530-A110-5AAC-2637-A133A1FED9C9}"/>
                </a:ext>
              </a:extLst>
            </p:cNvPr>
            <p:cNvCxnSpPr>
              <a:cxnSpLocks/>
            </p:cNvCxnSpPr>
            <p:nvPr/>
          </p:nvCxnSpPr>
          <p:spPr>
            <a:xfrm>
              <a:off x="7881047" y="2561590"/>
              <a:ext cx="1638300" cy="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63CEFD7-3702-4836-8854-7AC0421C73E7}"/>
                </a:ext>
              </a:extLst>
            </p:cNvPr>
            <p:cNvCxnSpPr>
              <a:cxnSpLocks/>
            </p:cNvCxnSpPr>
            <p:nvPr/>
          </p:nvCxnSpPr>
          <p:spPr>
            <a:xfrm>
              <a:off x="7881047" y="2919730"/>
              <a:ext cx="1638300" cy="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round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C58EC1-FC01-76B3-801E-BFF8678018A2}"/>
                  </a:ext>
                </a:extLst>
              </p:cNvPr>
              <p:cNvSpPr txBox="1"/>
              <p:nvPr/>
            </p:nvSpPr>
            <p:spPr>
              <a:xfrm>
                <a:off x="1720605" y="3873738"/>
                <a:ext cx="284629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C58EC1-FC01-76B3-801E-BFF867801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605" y="3873738"/>
                <a:ext cx="284629" cy="369332"/>
              </a:xfrm>
              <a:prstGeom prst="rect">
                <a:avLst/>
              </a:prstGeom>
              <a:blipFill>
                <a:blip r:embed="rId9"/>
                <a:stretch>
                  <a:fillRect l="-13043" t="-6452" r="-60870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93F887E-6689-AC25-FC75-359714BF51C0}"/>
                  </a:ext>
                </a:extLst>
              </p:cNvPr>
              <p:cNvSpPr txBox="1"/>
              <p:nvPr/>
            </p:nvSpPr>
            <p:spPr>
              <a:xfrm>
                <a:off x="4910463" y="3873738"/>
                <a:ext cx="48468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93F887E-6689-AC25-FC75-359714BF5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463" y="3873738"/>
                <a:ext cx="484684" cy="369332"/>
              </a:xfrm>
              <a:prstGeom prst="rect">
                <a:avLst/>
              </a:prstGeom>
              <a:blipFill>
                <a:blip r:embed="rId10"/>
                <a:stretch>
                  <a:fillRect l="-5128" t="-6452" r="-3589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2A89CD3-36E8-3DE0-91C4-07F1772DA6AA}"/>
                  </a:ext>
                </a:extLst>
              </p:cNvPr>
              <p:cNvSpPr txBox="1"/>
              <p:nvPr/>
            </p:nvSpPr>
            <p:spPr>
              <a:xfrm>
                <a:off x="6948352" y="3873738"/>
                <a:ext cx="26507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2A89CD3-36E8-3DE0-91C4-07F1772DA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352" y="3873738"/>
                <a:ext cx="265073" cy="369332"/>
              </a:xfrm>
              <a:prstGeom prst="rect">
                <a:avLst/>
              </a:prstGeom>
              <a:blipFill>
                <a:blip r:embed="rId11"/>
                <a:stretch>
                  <a:fillRect l="-14286" t="-6452" r="-6666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337465B-BD8C-ACE3-392C-9CFA570B9964}"/>
                  </a:ext>
                </a:extLst>
              </p:cNvPr>
              <p:cNvSpPr txBox="1"/>
              <p:nvPr/>
            </p:nvSpPr>
            <p:spPr>
              <a:xfrm>
                <a:off x="10156263" y="3873738"/>
                <a:ext cx="3043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337465B-BD8C-ACE3-392C-9CFA570B9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6263" y="3873738"/>
                <a:ext cx="304314" cy="369332"/>
              </a:xfrm>
              <a:prstGeom prst="rect">
                <a:avLst/>
              </a:prstGeom>
              <a:blipFill>
                <a:blip r:embed="rId12"/>
                <a:stretch>
                  <a:fillRect l="-8000" t="-6452" r="-56000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295700-1274-24F4-A994-D4C33F134AD8}"/>
                  </a:ext>
                </a:extLst>
              </p:cNvPr>
              <p:cNvSpPr txBox="1"/>
              <p:nvPr/>
            </p:nvSpPr>
            <p:spPr>
              <a:xfrm>
                <a:off x="2481625" y="1572175"/>
                <a:ext cx="6256072" cy="465064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b="0" i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Forward Process: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ad>
                      <m:radPr>
                        <m:degHide m:val="on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KR" sz="20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295700-1274-24F4-A994-D4C33F134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625" y="1572175"/>
                <a:ext cx="6256072" cy="465064"/>
              </a:xfrm>
              <a:prstGeom prst="rect">
                <a:avLst/>
              </a:prstGeom>
              <a:blipFill>
                <a:blip r:embed="rId13"/>
                <a:stretch>
                  <a:fillRect l="-2434" r="-1014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ight Arrow 43">
            <a:extLst>
              <a:ext uri="{FF2B5EF4-FFF2-40B4-BE49-F238E27FC236}">
                <a16:creationId xmlns:a16="http://schemas.microsoft.com/office/drawing/2014/main" id="{3939933E-BD90-68CE-7025-7824F4B2895D}"/>
              </a:ext>
            </a:extLst>
          </p:cNvPr>
          <p:cNvSpPr/>
          <p:nvPr/>
        </p:nvSpPr>
        <p:spPr>
          <a:xfrm>
            <a:off x="4732020" y="2094389"/>
            <a:ext cx="2727960" cy="205740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8BD407A-99B1-37EC-D235-F4962A3D2241}"/>
              </a:ext>
            </a:extLst>
          </p:cNvPr>
          <p:cNvGrpSpPr/>
          <p:nvPr/>
        </p:nvGrpSpPr>
        <p:grpSpPr>
          <a:xfrm>
            <a:off x="5865533" y="3077210"/>
            <a:ext cx="419148" cy="358140"/>
            <a:chOff x="7881047" y="2561590"/>
            <a:chExt cx="1638300" cy="358140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6A0782E4-1B8F-FC02-8506-E8D3350634AD}"/>
                </a:ext>
              </a:extLst>
            </p:cNvPr>
            <p:cNvCxnSpPr>
              <a:cxnSpLocks/>
            </p:cNvCxnSpPr>
            <p:nvPr/>
          </p:nvCxnSpPr>
          <p:spPr>
            <a:xfrm>
              <a:off x="7881047" y="2561590"/>
              <a:ext cx="1638300" cy="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D2BED63C-D7DB-FD18-2531-8B6D25E97909}"/>
                </a:ext>
              </a:extLst>
            </p:cNvPr>
            <p:cNvCxnSpPr>
              <a:cxnSpLocks/>
            </p:cNvCxnSpPr>
            <p:nvPr/>
          </p:nvCxnSpPr>
          <p:spPr>
            <a:xfrm>
              <a:off x="7881047" y="2919730"/>
              <a:ext cx="1638300" cy="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round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5881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DA7E8-24DC-13A6-A333-DFC887B5F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A close-up of a television screen&#10;&#10;AI-generated content may be incorrect.">
            <a:extLst>
              <a:ext uri="{FF2B5EF4-FFF2-40B4-BE49-F238E27FC236}">
                <a16:creationId xmlns:a16="http://schemas.microsoft.com/office/drawing/2014/main" id="{38A89ADE-D79E-01D8-8335-D6603F22C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970" y="2564130"/>
            <a:ext cx="1358900" cy="1358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B04E68-3E15-9254-ABEC-0BBABB1F5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DDPM Implementation</a:t>
            </a:r>
          </a:p>
        </p:txBody>
      </p:sp>
      <p:pic>
        <p:nvPicPr>
          <p:cNvPr id="6" name="Content Placeholder 5" descr="A duck swimming in water&#10;&#10;AI-generated content may be incorrect.">
            <a:extLst>
              <a:ext uri="{FF2B5EF4-FFF2-40B4-BE49-F238E27FC236}">
                <a16:creationId xmlns:a16="http://schemas.microsoft.com/office/drawing/2014/main" id="{35FE8F4B-7A4B-D05A-932B-4AC8F208A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550" y="2564130"/>
            <a:ext cx="1358900" cy="1358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4292E-E106-3727-E752-4D56678A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7" descr="A duck swimming in water&#10;&#10;AI-generated content may be incorrect.">
            <a:extLst>
              <a:ext uri="{FF2B5EF4-FFF2-40B4-BE49-F238E27FC236}">
                <a16:creationId xmlns:a16="http://schemas.microsoft.com/office/drawing/2014/main" id="{D42F4609-DE7F-DE9C-9A84-CA5B4896F8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470" y="2564130"/>
            <a:ext cx="1358900" cy="13589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0F06DB-005B-A7E8-88AA-BD9E3C494270}"/>
              </a:ext>
            </a:extLst>
          </p:cNvPr>
          <p:cNvCxnSpPr>
            <a:cxnSpLocks/>
          </p:cNvCxnSpPr>
          <p:nvPr/>
        </p:nvCxnSpPr>
        <p:spPr>
          <a:xfrm>
            <a:off x="2633810" y="3064510"/>
            <a:ext cx="1638300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C18636F-B2EA-2365-D6D7-119EFB5C956B}"/>
              </a:ext>
            </a:extLst>
          </p:cNvPr>
          <p:cNvCxnSpPr>
            <a:cxnSpLocks/>
          </p:cNvCxnSpPr>
          <p:nvPr/>
        </p:nvCxnSpPr>
        <p:spPr>
          <a:xfrm>
            <a:off x="2633810" y="3422650"/>
            <a:ext cx="1638300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ird flying in the sky&#10;&#10;AI-generated content may be incorrect.">
            <a:extLst>
              <a:ext uri="{FF2B5EF4-FFF2-40B4-BE49-F238E27FC236}">
                <a16:creationId xmlns:a16="http://schemas.microsoft.com/office/drawing/2014/main" id="{8AFD9151-157F-9553-8C12-8AD9DBF5EB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764" y="2564130"/>
            <a:ext cx="1358900" cy="1358900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A6037945-BAC5-D76C-E175-0F8C816B7708}"/>
              </a:ext>
            </a:extLst>
          </p:cNvPr>
          <p:cNvGrpSpPr/>
          <p:nvPr/>
        </p:nvGrpSpPr>
        <p:grpSpPr>
          <a:xfrm>
            <a:off x="7888667" y="3064510"/>
            <a:ext cx="1638300" cy="358140"/>
            <a:chOff x="7881047" y="2561590"/>
            <a:chExt cx="1638300" cy="358140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358152B-788F-0380-7624-0D9364639809}"/>
                </a:ext>
              </a:extLst>
            </p:cNvPr>
            <p:cNvCxnSpPr>
              <a:cxnSpLocks/>
            </p:cNvCxnSpPr>
            <p:nvPr/>
          </p:nvCxnSpPr>
          <p:spPr>
            <a:xfrm>
              <a:off x="7881047" y="2561590"/>
              <a:ext cx="1638300" cy="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075545B-206D-6E68-5D3C-D5D532DB21C5}"/>
                </a:ext>
              </a:extLst>
            </p:cNvPr>
            <p:cNvCxnSpPr>
              <a:cxnSpLocks/>
            </p:cNvCxnSpPr>
            <p:nvPr/>
          </p:nvCxnSpPr>
          <p:spPr>
            <a:xfrm>
              <a:off x="7881047" y="2919730"/>
              <a:ext cx="1638300" cy="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round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18EB2E8-CF52-6BCD-2BA5-0E752B2F6059}"/>
                  </a:ext>
                </a:extLst>
              </p:cNvPr>
              <p:cNvSpPr txBox="1"/>
              <p:nvPr/>
            </p:nvSpPr>
            <p:spPr>
              <a:xfrm>
                <a:off x="1720605" y="3873738"/>
                <a:ext cx="284629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18EB2E8-CF52-6BCD-2BA5-0E752B2F6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605" y="3873738"/>
                <a:ext cx="284629" cy="369332"/>
              </a:xfrm>
              <a:prstGeom prst="rect">
                <a:avLst/>
              </a:prstGeom>
              <a:blipFill>
                <a:blip r:embed="rId9"/>
                <a:stretch>
                  <a:fillRect l="-13043" t="-6452" r="-60870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B4DCDA3-6E1F-C1FE-8272-913FE4E56325}"/>
                  </a:ext>
                </a:extLst>
              </p:cNvPr>
              <p:cNvSpPr txBox="1"/>
              <p:nvPr/>
            </p:nvSpPr>
            <p:spPr>
              <a:xfrm>
                <a:off x="4910463" y="3873738"/>
                <a:ext cx="48468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B4DCDA3-6E1F-C1FE-8272-913FE4E56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463" y="3873738"/>
                <a:ext cx="484684" cy="369332"/>
              </a:xfrm>
              <a:prstGeom prst="rect">
                <a:avLst/>
              </a:prstGeom>
              <a:blipFill>
                <a:blip r:embed="rId10"/>
                <a:stretch>
                  <a:fillRect l="-5128" t="-6452" r="-3589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83DD74-D664-4B75-66CE-36998E7F81E5}"/>
                  </a:ext>
                </a:extLst>
              </p:cNvPr>
              <p:cNvSpPr txBox="1"/>
              <p:nvPr/>
            </p:nvSpPr>
            <p:spPr>
              <a:xfrm>
                <a:off x="6948352" y="3873738"/>
                <a:ext cx="26507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83DD74-D664-4B75-66CE-36998E7F8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352" y="3873738"/>
                <a:ext cx="265073" cy="369332"/>
              </a:xfrm>
              <a:prstGeom prst="rect">
                <a:avLst/>
              </a:prstGeom>
              <a:blipFill>
                <a:blip r:embed="rId11"/>
                <a:stretch>
                  <a:fillRect l="-14286" t="-6452" r="-6666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E4F170E-F93A-4716-9D6F-143CB26ECAA1}"/>
                  </a:ext>
                </a:extLst>
              </p:cNvPr>
              <p:cNvSpPr txBox="1"/>
              <p:nvPr/>
            </p:nvSpPr>
            <p:spPr>
              <a:xfrm>
                <a:off x="10156263" y="3873738"/>
                <a:ext cx="3043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E4F170E-F93A-4716-9D6F-143CB26EC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6263" y="3873738"/>
                <a:ext cx="304314" cy="369332"/>
              </a:xfrm>
              <a:prstGeom prst="rect">
                <a:avLst/>
              </a:prstGeom>
              <a:blipFill>
                <a:blip r:embed="rId12"/>
                <a:stretch>
                  <a:fillRect l="-8000" t="-6452" r="-56000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A19E124-E9C0-A810-B49E-5DFE7CD2A909}"/>
                  </a:ext>
                </a:extLst>
              </p:cNvPr>
              <p:cNvSpPr txBox="1"/>
              <p:nvPr/>
            </p:nvSpPr>
            <p:spPr>
              <a:xfrm>
                <a:off x="2481625" y="1572175"/>
                <a:ext cx="6256072" cy="465064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b="0" i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Forward Process: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ad>
                      <m:radPr>
                        <m:degHide m:val="on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KR" sz="20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A19E124-E9C0-A810-B49E-5DFE7CD2A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625" y="1572175"/>
                <a:ext cx="6256072" cy="465064"/>
              </a:xfrm>
              <a:prstGeom prst="rect">
                <a:avLst/>
              </a:prstGeom>
              <a:blipFill>
                <a:blip r:embed="rId13"/>
                <a:stretch>
                  <a:fillRect l="-2434" r="-1014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ight Arrow 43">
            <a:extLst>
              <a:ext uri="{FF2B5EF4-FFF2-40B4-BE49-F238E27FC236}">
                <a16:creationId xmlns:a16="http://schemas.microsoft.com/office/drawing/2014/main" id="{9BE873B0-FD3F-AC74-5CFF-370CF0910116}"/>
              </a:ext>
            </a:extLst>
          </p:cNvPr>
          <p:cNvSpPr/>
          <p:nvPr/>
        </p:nvSpPr>
        <p:spPr>
          <a:xfrm>
            <a:off x="4732020" y="2094389"/>
            <a:ext cx="2727960" cy="205740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7E834995-611C-B253-491D-BF10F8CEAEB1}"/>
              </a:ext>
            </a:extLst>
          </p:cNvPr>
          <p:cNvSpPr/>
          <p:nvPr/>
        </p:nvSpPr>
        <p:spPr>
          <a:xfrm rot="10800000">
            <a:off x="4625340" y="4557872"/>
            <a:ext cx="2727960" cy="205740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4194E49-9DA2-3FD7-A6F1-11E9851DCB71}"/>
                  </a:ext>
                </a:extLst>
              </p:cNvPr>
              <p:cNvSpPr txBox="1"/>
              <p:nvPr/>
            </p:nvSpPr>
            <p:spPr>
              <a:xfrm>
                <a:off x="2181673" y="4820762"/>
                <a:ext cx="7081554" cy="40011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Backward</a:t>
                </a:r>
                <a:r>
                  <a:rPr lang="en-US" sz="2000" b="0" i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Process: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KR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4194E49-9DA2-3FD7-A6F1-11E9851DC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673" y="4820762"/>
                <a:ext cx="7081554" cy="400110"/>
              </a:xfrm>
              <a:prstGeom prst="rect">
                <a:avLst/>
              </a:prstGeom>
              <a:blipFill>
                <a:blip r:embed="rId14"/>
                <a:stretch>
                  <a:fillRect l="-2147" t="-9375" r="-716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073C228D-7E8B-F807-A151-9A4BFAFD03EC}"/>
              </a:ext>
            </a:extLst>
          </p:cNvPr>
          <p:cNvGrpSpPr/>
          <p:nvPr/>
        </p:nvGrpSpPr>
        <p:grpSpPr>
          <a:xfrm>
            <a:off x="5865533" y="3077210"/>
            <a:ext cx="419148" cy="358140"/>
            <a:chOff x="7881047" y="2561590"/>
            <a:chExt cx="1638300" cy="358140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EE0E603-8300-7705-FE8E-AD2D868D2E82}"/>
                </a:ext>
              </a:extLst>
            </p:cNvPr>
            <p:cNvCxnSpPr>
              <a:cxnSpLocks/>
            </p:cNvCxnSpPr>
            <p:nvPr/>
          </p:nvCxnSpPr>
          <p:spPr>
            <a:xfrm>
              <a:off x="7881047" y="2561590"/>
              <a:ext cx="1638300" cy="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3D5019D9-3942-E578-3326-D63527CBF902}"/>
                </a:ext>
              </a:extLst>
            </p:cNvPr>
            <p:cNvCxnSpPr>
              <a:cxnSpLocks/>
            </p:cNvCxnSpPr>
            <p:nvPr/>
          </p:nvCxnSpPr>
          <p:spPr>
            <a:xfrm>
              <a:off x="7881047" y="2919730"/>
              <a:ext cx="1638300" cy="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round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6050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F2B73-EBB6-E7AD-E582-675B6190B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A close-up of a television screen&#10;&#10;AI-generated content may be incorrect.">
            <a:extLst>
              <a:ext uri="{FF2B5EF4-FFF2-40B4-BE49-F238E27FC236}">
                <a16:creationId xmlns:a16="http://schemas.microsoft.com/office/drawing/2014/main" id="{9F0B2DF1-0550-6887-8FD4-8E2E747425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970" y="2564130"/>
            <a:ext cx="1358900" cy="1358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B418B7-4980-A91A-B45B-BFE463241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DDPM Implementation</a:t>
            </a:r>
          </a:p>
        </p:txBody>
      </p:sp>
      <p:pic>
        <p:nvPicPr>
          <p:cNvPr id="6" name="Content Placeholder 5" descr="A duck swimming in water&#10;&#10;AI-generated content may be incorrect.">
            <a:extLst>
              <a:ext uri="{FF2B5EF4-FFF2-40B4-BE49-F238E27FC236}">
                <a16:creationId xmlns:a16="http://schemas.microsoft.com/office/drawing/2014/main" id="{B2A95BA5-68C8-C6FC-E5BB-D9EF5B019F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550" y="2564130"/>
            <a:ext cx="1358900" cy="1358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83734-05B9-ACEF-BD63-35A084D7E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 descr="A duck swimming in water&#10;&#10;AI-generated content may be incorrect.">
            <a:extLst>
              <a:ext uri="{FF2B5EF4-FFF2-40B4-BE49-F238E27FC236}">
                <a16:creationId xmlns:a16="http://schemas.microsoft.com/office/drawing/2014/main" id="{A16288C4-BD1E-47F3-783D-2D1E01D16A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470" y="2564130"/>
            <a:ext cx="1358900" cy="13589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BF7AA5-3DAD-3293-0FFC-E6C68325DEA8}"/>
              </a:ext>
            </a:extLst>
          </p:cNvPr>
          <p:cNvCxnSpPr>
            <a:cxnSpLocks/>
          </p:cNvCxnSpPr>
          <p:nvPr/>
        </p:nvCxnSpPr>
        <p:spPr>
          <a:xfrm>
            <a:off x="2633810" y="3064510"/>
            <a:ext cx="1638300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A275E27-51C7-B196-5972-26968D5C2EBD}"/>
              </a:ext>
            </a:extLst>
          </p:cNvPr>
          <p:cNvCxnSpPr>
            <a:cxnSpLocks/>
          </p:cNvCxnSpPr>
          <p:nvPr/>
        </p:nvCxnSpPr>
        <p:spPr>
          <a:xfrm>
            <a:off x="2633810" y="3422650"/>
            <a:ext cx="1638300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ird flying in the sky&#10;&#10;AI-generated content may be incorrect.">
            <a:extLst>
              <a:ext uri="{FF2B5EF4-FFF2-40B4-BE49-F238E27FC236}">
                <a16:creationId xmlns:a16="http://schemas.microsoft.com/office/drawing/2014/main" id="{E997949C-87EA-4A87-DE68-83DA8A919E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764" y="2564130"/>
            <a:ext cx="1358900" cy="1358900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EA6D83B3-46C9-6938-E3AE-432784E0463B}"/>
              </a:ext>
            </a:extLst>
          </p:cNvPr>
          <p:cNvGrpSpPr/>
          <p:nvPr/>
        </p:nvGrpSpPr>
        <p:grpSpPr>
          <a:xfrm>
            <a:off x="7888667" y="3064510"/>
            <a:ext cx="1638300" cy="358140"/>
            <a:chOff x="7881047" y="2561590"/>
            <a:chExt cx="1638300" cy="358140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EFA0760-5CF9-DBB7-8E62-60389F082C34}"/>
                </a:ext>
              </a:extLst>
            </p:cNvPr>
            <p:cNvCxnSpPr>
              <a:cxnSpLocks/>
            </p:cNvCxnSpPr>
            <p:nvPr/>
          </p:nvCxnSpPr>
          <p:spPr>
            <a:xfrm>
              <a:off x="7881047" y="2561590"/>
              <a:ext cx="1638300" cy="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9B2AEA7-592F-7767-1F45-9C9C24D5EF20}"/>
                </a:ext>
              </a:extLst>
            </p:cNvPr>
            <p:cNvCxnSpPr>
              <a:cxnSpLocks/>
            </p:cNvCxnSpPr>
            <p:nvPr/>
          </p:nvCxnSpPr>
          <p:spPr>
            <a:xfrm>
              <a:off x="7881047" y="2919730"/>
              <a:ext cx="1638300" cy="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round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72CB7B1-EC8D-5A7B-D51B-4102DA56BB31}"/>
                  </a:ext>
                </a:extLst>
              </p:cNvPr>
              <p:cNvSpPr txBox="1"/>
              <p:nvPr/>
            </p:nvSpPr>
            <p:spPr>
              <a:xfrm>
                <a:off x="1720605" y="3873738"/>
                <a:ext cx="284629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72CB7B1-EC8D-5A7B-D51B-4102DA56B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605" y="3873738"/>
                <a:ext cx="284629" cy="369332"/>
              </a:xfrm>
              <a:prstGeom prst="rect">
                <a:avLst/>
              </a:prstGeom>
              <a:blipFill>
                <a:blip r:embed="rId9"/>
                <a:stretch>
                  <a:fillRect l="-13043" t="-6452" r="-60870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A804F2-6C32-2EC8-5589-C2460C6B30E7}"/>
                  </a:ext>
                </a:extLst>
              </p:cNvPr>
              <p:cNvSpPr txBox="1"/>
              <p:nvPr/>
            </p:nvSpPr>
            <p:spPr>
              <a:xfrm>
                <a:off x="4910463" y="3873738"/>
                <a:ext cx="48468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A804F2-6C32-2EC8-5589-C2460C6B3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463" y="3873738"/>
                <a:ext cx="484684" cy="369332"/>
              </a:xfrm>
              <a:prstGeom prst="rect">
                <a:avLst/>
              </a:prstGeom>
              <a:blipFill>
                <a:blip r:embed="rId10"/>
                <a:stretch>
                  <a:fillRect l="-5128" t="-6452" r="-3589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73ADBC-C141-5F25-8B1F-64DA3B42A758}"/>
                  </a:ext>
                </a:extLst>
              </p:cNvPr>
              <p:cNvSpPr txBox="1"/>
              <p:nvPr/>
            </p:nvSpPr>
            <p:spPr>
              <a:xfrm>
                <a:off x="6948352" y="3873738"/>
                <a:ext cx="26507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73ADBC-C141-5F25-8B1F-64DA3B42A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352" y="3873738"/>
                <a:ext cx="265073" cy="369332"/>
              </a:xfrm>
              <a:prstGeom prst="rect">
                <a:avLst/>
              </a:prstGeom>
              <a:blipFill>
                <a:blip r:embed="rId11"/>
                <a:stretch>
                  <a:fillRect l="-14286" t="-6452" r="-6666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2F8A45-5505-B6A3-55D2-8F7E0DA7889F}"/>
                  </a:ext>
                </a:extLst>
              </p:cNvPr>
              <p:cNvSpPr txBox="1"/>
              <p:nvPr/>
            </p:nvSpPr>
            <p:spPr>
              <a:xfrm>
                <a:off x="10156263" y="3873738"/>
                <a:ext cx="304314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2F8A45-5505-B6A3-55D2-8F7E0DA78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6263" y="3873738"/>
                <a:ext cx="304314" cy="369332"/>
              </a:xfrm>
              <a:prstGeom prst="rect">
                <a:avLst/>
              </a:prstGeom>
              <a:blipFill>
                <a:blip r:embed="rId12"/>
                <a:stretch>
                  <a:fillRect l="-8000" t="-6452" r="-56000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1B40AB1-4BD2-5EF7-CBD8-173AE4C78565}"/>
                  </a:ext>
                </a:extLst>
              </p:cNvPr>
              <p:cNvSpPr txBox="1"/>
              <p:nvPr/>
            </p:nvSpPr>
            <p:spPr>
              <a:xfrm>
                <a:off x="2481625" y="1572175"/>
                <a:ext cx="6256072" cy="465064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b="0" i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Forward Process: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ad>
                      <m:radPr>
                        <m:degHide m:val="on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KR" sz="20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1B40AB1-4BD2-5EF7-CBD8-173AE4C78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625" y="1572175"/>
                <a:ext cx="6256072" cy="465064"/>
              </a:xfrm>
              <a:prstGeom prst="rect">
                <a:avLst/>
              </a:prstGeom>
              <a:blipFill>
                <a:blip r:embed="rId13"/>
                <a:stretch>
                  <a:fillRect l="-2434" r="-1014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ight Arrow 43">
            <a:extLst>
              <a:ext uri="{FF2B5EF4-FFF2-40B4-BE49-F238E27FC236}">
                <a16:creationId xmlns:a16="http://schemas.microsoft.com/office/drawing/2014/main" id="{41782D47-9EE4-DF20-BB67-4EE987F2B7CF}"/>
              </a:ext>
            </a:extLst>
          </p:cNvPr>
          <p:cNvSpPr/>
          <p:nvPr/>
        </p:nvSpPr>
        <p:spPr>
          <a:xfrm>
            <a:off x="4732020" y="2094389"/>
            <a:ext cx="2727960" cy="205740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8EAD64E3-C90C-403D-9893-CD3362364EB8}"/>
              </a:ext>
            </a:extLst>
          </p:cNvPr>
          <p:cNvSpPr/>
          <p:nvPr/>
        </p:nvSpPr>
        <p:spPr>
          <a:xfrm rot="10800000">
            <a:off x="4625340" y="4557872"/>
            <a:ext cx="2727960" cy="205740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53AAA48-779C-5CC8-79A5-7B2B81AD7D7A}"/>
                  </a:ext>
                </a:extLst>
              </p:cNvPr>
              <p:cNvSpPr txBox="1"/>
              <p:nvPr/>
            </p:nvSpPr>
            <p:spPr>
              <a:xfrm>
                <a:off x="2181673" y="4820762"/>
                <a:ext cx="7081554" cy="40011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Backward</a:t>
                </a:r>
                <a:r>
                  <a:rPr lang="en-US" sz="2000" b="0" i="0" dirty="0">
                    <a:solidFill>
                      <a:schemeClr val="tx1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Process: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KR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53AAA48-779C-5CC8-79A5-7B2B81AD7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673" y="4820762"/>
                <a:ext cx="7081554" cy="400110"/>
              </a:xfrm>
              <a:prstGeom prst="rect">
                <a:avLst/>
              </a:prstGeom>
              <a:blipFill>
                <a:blip r:embed="rId14"/>
                <a:stretch>
                  <a:fillRect l="-2147" t="-9375" r="-716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74255FEA-2F9B-FB1C-E23E-AE3DE99CB7B0}"/>
              </a:ext>
            </a:extLst>
          </p:cNvPr>
          <p:cNvSpPr txBox="1"/>
          <p:nvPr/>
        </p:nvSpPr>
        <p:spPr>
          <a:xfrm>
            <a:off x="1551100" y="5278021"/>
            <a:ext cx="756617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b="0" i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Recall</a:t>
            </a: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  <a:sym typeface="Wingdings" pitchFamily="2" charset="2"/>
              </a:rPr>
              <a:t> (Week 4): The only thing the model needs to predict is the epsilon</a:t>
            </a:r>
            <a:endParaRPr lang="en-US" b="0" i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F22F9CB-A0A3-1C46-B0A8-E3D15C8280F7}"/>
                  </a:ext>
                </a:extLst>
              </p:cNvPr>
              <p:cNvSpPr txBox="1"/>
              <p:nvPr/>
            </p:nvSpPr>
            <p:spPr>
              <a:xfrm>
                <a:off x="3048000" y="5641181"/>
                <a:ext cx="6096000" cy="7587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F22F9CB-A0A3-1C46-B0A8-E3D15C828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641181"/>
                <a:ext cx="6096000" cy="7587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B20479E0-6322-34BA-CAE9-247530B8AB46}"/>
              </a:ext>
            </a:extLst>
          </p:cNvPr>
          <p:cNvGrpSpPr/>
          <p:nvPr/>
        </p:nvGrpSpPr>
        <p:grpSpPr>
          <a:xfrm>
            <a:off x="5865533" y="3077210"/>
            <a:ext cx="419148" cy="358140"/>
            <a:chOff x="7881047" y="2561590"/>
            <a:chExt cx="1638300" cy="358140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FD6C635-D8D2-18A0-B001-9B7FEC174557}"/>
                </a:ext>
              </a:extLst>
            </p:cNvPr>
            <p:cNvCxnSpPr>
              <a:cxnSpLocks/>
            </p:cNvCxnSpPr>
            <p:nvPr/>
          </p:nvCxnSpPr>
          <p:spPr>
            <a:xfrm>
              <a:off x="7881047" y="2561590"/>
              <a:ext cx="1638300" cy="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24BF4380-F35A-4F6F-AD03-6452FD5D3371}"/>
                </a:ext>
              </a:extLst>
            </p:cNvPr>
            <p:cNvCxnSpPr>
              <a:cxnSpLocks/>
            </p:cNvCxnSpPr>
            <p:nvPr/>
          </p:nvCxnSpPr>
          <p:spPr>
            <a:xfrm>
              <a:off x="7881047" y="2919730"/>
              <a:ext cx="1638300" cy="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round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9546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00B5F-CBC2-DC81-A003-AD130BE61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CCE39-58DF-337A-EC30-36986FC21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DDPM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15D7D-3109-3028-D2A3-104E142FF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963F1FB-FD8F-A94B-7252-6E6507C897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259354"/>
              </a:xfrm>
            </p:spPr>
            <p:txBody>
              <a:bodyPr/>
              <a:lstStyle/>
              <a:p>
                <a:r>
                  <a:rPr lang="en-US" dirty="0"/>
                  <a:t>To predict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Diffusion models often use the U-Net architecture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2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963F1FB-FD8F-A94B-7252-6E6507C897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259354"/>
              </a:xfrm>
              <a:blipFill>
                <a:blip r:embed="rId5"/>
                <a:stretch>
                  <a:fillRect l="-1387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7AEE3D4-D77D-B77D-1882-4930C5C930DF}"/>
              </a:ext>
            </a:extLst>
          </p:cNvPr>
          <p:cNvSpPr txBox="1"/>
          <p:nvPr/>
        </p:nvSpPr>
        <p:spPr>
          <a:xfrm>
            <a:off x="762000" y="5318760"/>
            <a:ext cx="62518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endParaRPr lang="en-US" sz="2000" b="0" i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566388B8-3F91-3DC4-FC27-E95AEF5039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52056" y="2235200"/>
            <a:ext cx="6287887" cy="208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102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7D5C6-4584-CDF5-17A7-8459395D7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6AAC8-A715-A110-D2B9-F6ABBA380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DDPM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C9020-0595-79A9-3E7C-3CFA2D7A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DE14E24-D79B-8FD1-5FA7-B7FF37BA4A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745641"/>
              </a:xfrm>
            </p:spPr>
            <p:txBody>
              <a:bodyPr/>
              <a:lstStyle/>
              <a:p>
                <a:r>
                  <a:rPr lang="en-US" dirty="0"/>
                  <a:t>To predict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Diffusion models often use the U-Net architecture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This can be understood as performing the diffusion process in </a:t>
                </a:r>
                <a:r>
                  <a:rPr lang="en-US" dirty="0">
                    <a:solidFill>
                      <a:srgbClr val="C00000"/>
                    </a:solidFill>
                  </a:rPr>
                  <a:t>pixel space</a:t>
                </a:r>
              </a:p>
              <a:p>
                <a:pPr lvl="2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DE14E24-D79B-8FD1-5FA7-B7FF37BA4A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745641"/>
              </a:xfrm>
              <a:blipFill>
                <a:blip r:embed="rId5"/>
                <a:stretch>
                  <a:fillRect l="-1387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F70AFE9-ACAC-7AB5-FFC3-1EC0E9E27AA5}"/>
              </a:ext>
            </a:extLst>
          </p:cNvPr>
          <p:cNvSpPr txBox="1"/>
          <p:nvPr/>
        </p:nvSpPr>
        <p:spPr>
          <a:xfrm>
            <a:off x="762000" y="5318760"/>
            <a:ext cx="62518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endParaRPr lang="en-US" sz="2000" b="0" i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0D0C5A8F-85E9-2804-8A88-73C2316539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52056" y="2235200"/>
            <a:ext cx="6287887" cy="208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93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9D233-A0FF-927E-2E1B-A0127DC75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8A07D-2B39-47C2-4970-EFABC3DB1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DDPM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03DB1-1A49-D7FB-B7A8-4A12B8DA8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1115AFA-73B2-846B-9A8A-F1CF3F81A4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176528"/>
              </a:xfrm>
            </p:spPr>
            <p:txBody>
              <a:bodyPr/>
              <a:lstStyle/>
              <a:p>
                <a:r>
                  <a:rPr lang="en-US" dirty="0"/>
                  <a:t>To predict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Diffusion models often use the U-Net architecture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This can be understood as performing the diffusion process in </a:t>
                </a:r>
                <a:r>
                  <a:rPr lang="en-US" dirty="0">
                    <a:solidFill>
                      <a:srgbClr val="C00000"/>
                    </a:solidFill>
                  </a:rPr>
                  <a:t>pixel space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However, pixel space is high-dimensional and expensive to learn  </a:t>
                </a:r>
              </a:p>
              <a:p>
                <a:pPr lvl="2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1115AFA-73B2-846B-9A8A-F1CF3F81A4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176528"/>
              </a:xfrm>
              <a:blipFill>
                <a:blip r:embed="rId5"/>
                <a:stretch>
                  <a:fillRect l="-1387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9023A09-E4FE-D175-ACA9-CC1D7FAAF0FA}"/>
              </a:ext>
            </a:extLst>
          </p:cNvPr>
          <p:cNvSpPr txBox="1"/>
          <p:nvPr/>
        </p:nvSpPr>
        <p:spPr>
          <a:xfrm>
            <a:off x="762000" y="5318760"/>
            <a:ext cx="62518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endParaRPr lang="en-US" sz="2000" b="0" i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3CA14D48-1898-C72F-D931-A8411D4D58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52056" y="2235200"/>
            <a:ext cx="6287887" cy="208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10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900AA-D4CD-8859-1F4C-71CDFC3C1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6203-FB9C-6CBD-C368-BF71D2A3E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DDPM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F008B-CDE5-2577-046C-FBE68F8D7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3322699-BD7A-F36B-1C07-29F8F3227C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607415"/>
              </a:xfrm>
            </p:spPr>
            <p:txBody>
              <a:bodyPr/>
              <a:lstStyle/>
              <a:p>
                <a:r>
                  <a:rPr lang="en-US" dirty="0"/>
                  <a:t>To predict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Diffusion models often use the U-Net architecture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This can be understood as performing the diffusion process in </a:t>
                </a:r>
                <a:r>
                  <a:rPr lang="en-US" dirty="0">
                    <a:solidFill>
                      <a:srgbClr val="C00000"/>
                    </a:solidFill>
                  </a:rPr>
                  <a:t>pixel space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However, pixel space is high-dimensional and expensive to learn  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High-quality diffusion models typically use hundreds of GPU hours </a:t>
                </a:r>
              </a:p>
              <a:p>
                <a:pPr lvl="2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3322699-BD7A-F36B-1C07-29F8F3227C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607415"/>
              </a:xfrm>
              <a:blipFill>
                <a:blip r:embed="rId5"/>
                <a:stretch>
                  <a:fillRect l="-1387" t="-1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1E8FC03-1D7E-3CDB-5154-470A2A7EE7DC}"/>
              </a:ext>
            </a:extLst>
          </p:cNvPr>
          <p:cNvSpPr txBox="1"/>
          <p:nvPr/>
        </p:nvSpPr>
        <p:spPr>
          <a:xfrm>
            <a:off x="762000" y="5318760"/>
            <a:ext cx="62518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endParaRPr lang="en-US" sz="2000" b="0" i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ADDA51-17DB-51AF-65FB-1B263A79FB5C}"/>
              </a:ext>
            </a:extLst>
          </p:cNvPr>
          <p:cNvSpPr txBox="1"/>
          <p:nvPr/>
        </p:nvSpPr>
        <p:spPr>
          <a:xfrm>
            <a:off x="609600" y="5906294"/>
            <a:ext cx="65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sz="2000" b="0" i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8051CC8-3170-09E9-2867-1306FFB611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52056" y="2235200"/>
            <a:ext cx="6287887" cy="208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75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241B7-8ECC-1F28-77F6-086072204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89FCC-AEB7-8A7F-E8C0-556D4AAB7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DDPM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93A66-0F00-2EB7-2417-7F476557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911564E-FA4C-4296-B4E5-139D814FF5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607415"/>
              </a:xfrm>
            </p:spPr>
            <p:txBody>
              <a:bodyPr/>
              <a:lstStyle/>
              <a:p>
                <a:r>
                  <a:rPr lang="en-US" dirty="0"/>
                  <a:t>To predict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Diffusion models often use the U-Net architecture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This can be understood as performing the diffusion process in </a:t>
                </a:r>
                <a:r>
                  <a:rPr lang="en-US" dirty="0">
                    <a:solidFill>
                      <a:srgbClr val="C00000"/>
                    </a:solidFill>
                  </a:rPr>
                  <a:t>pixel space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However, pixel space is high-dimensional and expensive to learn  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High-quality diffusion models typically use hundreds of GPU hours </a:t>
                </a:r>
              </a:p>
              <a:p>
                <a:pPr lvl="2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911564E-FA4C-4296-B4E5-139D814FF5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607415"/>
              </a:xfrm>
              <a:blipFill>
                <a:blip r:embed="rId5"/>
                <a:stretch>
                  <a:fillRect l="-1387" t="-1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11AA978-EA46-2208-4C02-0653301D3F6F}"/>
              </a:ext>
            </a:extLst>
          </p:cNvPr>
          <p:cNvSpPr txBox="1"/>
          <p:nvPr/>
        </p:nvSpPr>
        <p:spPr>
          <a:xfrm>
            <a:off x="762000" y="5318760"/>
            <a:ext cx="62518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endParaRPr lang="en-US" sz="2000" b="0" i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C2994B-13F2-33E5-336D-E2487674341E}"/>
              </a:ext>
            </a:extLst>
          </p:cNvPr>
          <p:cNvSpPr txBox="1"/>
          <p:nvPr/>
        </p:nvSpPr>
        <p:spPr>
          <a:xfrm>
            <a:off x="609600" y="5906294"/>
            <a:ext cx="6783908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2000" b="0" i="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-&gt; Reduce the dimension by predicting p(x) in latent space</a:t>
            </a: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B264C6B-9791-B5F1-42C2-92756C4100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52056" y="2235200"/>
            <a:ext cx="6287887" cy="208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507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848E6-B89F-A744-F795-E96BA8730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Diffusion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DC219-C649-F15C-AA3C-B5807D865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9213285-8529-F425-7BB6-0B9BC5908BFE}"/>
              </a:ext>
            </a:extLst>
          </p:cNvPr>
          <p:cNvGrpSpPr/>
          <p:nvPr/>
        </p:nvGrpSpPr>
        <p:grpSpPr>
          <a:xfrm>
            <a:off x="1848874" y="2245195"/>
            <a:ext cx="8987737" cy="2933668"/>
            <a:chOff x="1337187" y="2069716"/>
            <a:chExt cx="8987737" cy="2933668"/>
          </a:xfrm>
        </p:grpSpPr>
        <p:pic>
          <p:nvPicPr>
            <p:cNvPr id="7" name="Content Placeholder 5" descr="A duck swimming in water&#10;&#10;AI-generated content may be incorrect.">
              <a:extLst>
                <a:ext uri="{FF2B5EF4-FFF2-40B4-BE49-F238E27FC236}">
                  <a16:creationId xmlns:a16="http://schemas.microsoft.com/office/drawing/2014/main" id="{2AE8630C-CEC4-6BD2-812D-0CC51BEAC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7187" y="2477738"/>
              <a:ext cx="983951" cy="983951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84FC309-637E-690F-7D1A-56D13DD310D8}"/>
                </a:ext>
              </a:extLst>
            </p:cNvPr>
            <p:cNvGrpSpPr/>
            <p:nvPr/>
          </p:nvGrpSpPr>
          <p:grpSpPr>
            <a:xfrm>
              <a:off x="4183719" y="2069716"/>
              <a:ext cx="2767371" cy="1800000"/>
              <a:chOff x="2979759" y="2148026"/>
              <a:chExt cx="2767371" cy="180000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AA26243-5B81-9B7F-E1F2-9E810ECB5340}"/>
                  </a:ext>
                </a:extLst>
              </p:cNvPr>
              <p:cNvGrpSpPr/>
              <p:nvPr/>
            </p:nvGrpSpPr>
            <p:grpSpPr>
              <a:xfrm>
                <a:off x="2979759" y="2148026"/>
                <a:ext cx="1342770" cy="1800000"/>
                <a:chOff x="2979759" y="2148026"/>
                <a:chExt cx="1342770" cy="1800000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EE61B651-490D-10F4-F2E4-2C307E63AC7F}"/>
                    </a:ext>
                  </a:extLst>
                </p:cNvPr>
                <p:cNvSpPr/>
                <p:nvPr/>
              </p:nvSpPr>
              <p:spPr>
                <a:xfrm>
                  <a:off x="2979759" y="2148026"/>
                  <a:ext cx="274320" cy="180000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rtlCol="0" anchor="ctr"/>
                <a:lstStyle/>
                <a:p>
                  <a:pPr algn="ctr"/>
                  <a:endParaRPr lang="en-US" dirty="0" err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9CE562C6-4562-A776-9602-1148172102B2}"/>
                    </a:ext>
                  </a:extLst>
                </p:cNvPr>
                <p:cNvSpPr/>
                <p:nvPr/>
              </p:nvSpPr>
              <p:spPr>
                <a:xfrm>
                  <a:off x="3335910" y="2418026"/>
                  <a:ext cx="274319" cy="126000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rtlCol="0" anchor="ctr"/>
                <a:lstStyle/>
                <a:p>
                  <a:pPr algn="ctr"/>
                  <a:endParaRPr lang="en-US" dirty="0" err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8B8CB9FA-1316-B6E7-0E23-B46DD2B273E9}"/>
                    </a:ext>
                  </a:extLst>
                </p:cNvPr>
                <p:cNvSpPr/>
                <p:nvPr/>
              </p:nvSpPr>
              <p:spPr>
                <a:xfrm>
                  <a:off x="3692060" y="2688026"/>
                  <a:ext cx="274319" cy="72000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rtlCol="0" anchor="ctr"/>
                <a:lstStyle/>
                <a:p>
                  <a:pPr algn="ctr"/>
                  <a:endParaRPr lang="en-US" dirty="0" err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1FFFBD62-E725-5671-8994-41E3FC92AC67}"/>
                    </a:ext>
                  </a:extLst>
                </p:cNvPr>
                <p:cNvSpPr/>
                <p:nvPr/>
              </p:nvSpPr>
              <p:spPr>
                <a:xfrm>
                  <a:off x="4048210" y="2868026"/>
                  <a:ext cx="274319" cy="36000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rtlCol="0" anchor="ctr"/>
                <a:lstStyle/>
                <a:p>
                  <a:pPr algn="ctr"/>
                  <a:endParaRPr lang="en-US" dirty="0" err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CFC468C0-A904-0C48-CE61-00211FA79442}"/>
                  </a:ext>
                </a:extLst>
              </p:cNvPr>
              <p:cNvGrpSpPr/>
              <p:nvPr/>
            </p:nvGrpSpPr>
            <p:grpSpPr>
              <a:xfrm rot="10800000">
                <a:off x="4404360" y="2148026"/>
                <a:ext cx="1342770" cy="1800000"/>
                <a:chOff x="2979759" y="2148026"/>
                <a:chExt cx="1342770" cy="1800000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C181CB9-6692-EA77-3F1C-F2B022AED561}"/>
                    </a:ext>
                  </a:extLst>
                </p:cNvPr>
                <p:cNvSpPr/>
                <p:nvPr/>
              </p:nvSpPr>
              <p:spPr>
                <a:xfrm>
                  <a:off x="2979759" y="2148026"/>
                  <a:ext cx="274320" cy="180000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rtlCol="0" anchor="ctr"/>
                <a:lstStyle/>
                <a:p>
                  <a:pPr algn="ctr"/>
                  <a:endParaRPr lang="en-US" dirty="0" err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B5DE88B7-2810-499E-C89D-1136D7A753F2}"/>
                    </a:ext>
                  </a:extLst>
                </p:cNvPr>
                <p:cNvSpPr/>
                <p:nvPr/>
              </p:nvSpPr>
              <p:spPr>
                <a:xfrm>
                  <a:off x="3335910" y="2418026"/>
                  <a:ext cx="274319" cy="126000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rtlCol="0" anchor="ctr"/>
                <a:lstStyle/>
                <a:p>
                  <a:pPr algn="ctr"/>
                  <a:endParaRPr lang="en-US" dirty="0" err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08445CD9-D711-ED8E-BC32-4630461DA7B9}"/>
                    </a:ext>
                  </a:extLst>
                </p:cNvPr>
                <p:cNvSpPr/>
                <p:nvPr/>
              </p:nvSpPr>
              <p:spPr>
                <a:xfrm>
                  <a:off x="3692060" y="2688026"/>
                  <a:ext cx="274319" cy="72000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rtlCol="0" anchor="ctr"/>
                <a:lstStyle/>
                <a:p>
                  <a:pPr algn="ctr"/>
                  <a:endParaRPr lang="en-US" dirty="0" err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572B6F1-2D0C-0041-F19E-9FFBCDDC8292}"/>
                    </a:ext>
                  </a:extLst>
                </p:cNvPr>
                <p:cNvSpPr/>
                <p:nvPr/>
              </p:nvSpPr>
              <p:spPr>
                <a:xfrm>
                  <a:off x="4048210" y="2868026"/>
                  <a:ext cx="274319" cy="36000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rtlCol="0" anchor="ctr"/>
                <a:lstStyle/>
                <a:p>
                  <a:pPr algn="ctr"/>
                  <a:endParaRPr lang="en-US" dirty="0" err="1">
                    <a:solidFill>
                      <a:schemeClr val="bg1"/>
                    </a:solidFill>
                  </a:endParaRPr>
                </a:p>
              </p:txBody>
            </p:sp>
          </p:grpSp>
        </p:grpSp>
        <p:pic>
          <p:nvPicPr>
            <p:cNvPr id="22" name="Picture 21" descr="A close-up of a television screen&#10;&#10;AI-generated content may be incorrect.">
              <a:extLst>
                <a:ext uri="{FF2B5EF4-FFF2-40B4-BE49-F238E27FC236}">
                  <a16:creationId xmlns:a16="http://schemas.microsoft.com/office/drawing/2014/main" id="{7015D785-E3A3-45B5-5B6E-9A35C8BAE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40972" y="2445048"/>
              <a:ext cx="983952" cy="983952"/>
            </a:xfrm>
            <a:prstGeom prst="rect">
              <a:avLst/>
            </a:prstGeom>
          </p:spPr>
        </p:pic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EE85015-E582-E23C-338A-21A2D632E73B}"/>
                </a:ext>
              </a:extLst>
            </p:cNvPr>
            <p:cNvCxnSpPr>
              <a:cxnSpLocks/>
            </p:cNvCxnSpPr>
            <p:nvPr/>
          </p:nvCxnSpPr>
          <p:spPr>
            <a:xfrm>
              <a:off x="3047028" y="2969715"/>
              <a:ext cx="983951" cy="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54CF415-C84A-C3DD-9D10-2025CF51039F}"/>
                </a:ext>
              </a:extLst>
            </p:cNvPr>
            <p:cNvCxnSpPr>
              <a:cxnSpLocks/>
            </p:cNvCxnSpPr>
            <p:nvPr/>
          </p:nvCxnSpPr>
          <p:spPr>
            <a:xfrm>
              <a:off x="7078008" y="2969715"/>
              <a:ext cx="983951" cy="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1B59EF2-E8BC-412E-4ABE-1B3C6BFE3FAD}"/>
                    </a:ext>
                  </a:extLst>
                </p:cNvPr>
                <p:cNvSpPr txBox="1"/>
                <p:nvPr/>
              </p:nvSpPr>
              <p:spPr>
                <a:xfrm>
                  <a:off x="2566519" y="2815826"/>
                  <a:ext cx="30271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2000" b="1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𝐱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2000" b="0" i="0" dirty="0" err="1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1B59EF2-E8BC-412E-4ABE-1B3C6BFE3F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6519" y="2815826"/>
                  <a:ext cx="302712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12000" t="-24000" r="-56000" b="-4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61F68E8-430A-5A8A-19BD-DCCC421147F0}"/>
                    </a:ext>
                  </a:extLst>
                </p:cNvPr>
                <p:cNvSpPr txBox="1"/>
                <p:nvPr/>
              </p:nvSpPr>
              <p:spPr>
                <a:xfrm>
                  <a:off x="8218545" y="2802869"/>
                  <a:ext cx="98155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2000" b="1" i="0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US" sz="2000" b="0" i="0" dirty="0" err="1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61F68E8-430A-5A8A-19BD-DCCC421147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8545" y="2802869"/>
                  <a:ext cx="981551" cy="307777"/>
                </a:xfrm>
                <a:prstGeom prst="rect">
                  <a:avLst/>
                </a:prstGeom>
                <a:blipFill>
                  <a:blip r:embed="rId8"/>
                  <a:stretch>
                    <a:fillRect l="-3846" t="-24000" r="-19231" b="-4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E863C9D-1F16-6338-2DDF-EF258B94017E}"/>
                    </a:ext>
                  </a:extLst>
                </p:cNvPr>
                <p:cNvSpPr txBox="1"/>
                <p:nvPr/>
              </p:nvSpPr>
              <p:spPr>
                <a:xfrm>
                  <a:off x="2632178" y="4489496"/>
                  <a:ext cx="17139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𝑡</m:t>
                        </m:r>
                      </m:oMath>
                    </m:oMathPara>
                  </a14:m>
                  <a:endParaRPr lang="en-US" sz="2000" i="1" dirty="0" err="1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E863C9D-1F16-6338-2DDF-EF258B940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2178" y="4489496"/>
                  <a:ext cx="171394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26667" t="-28000" r="-93333" b="-4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091D67B-2C01-43A4-FC1A-5755D47D4C4D}"/>
                </a:ext>
              </a:extLst>
            </p:cNvPr>
            <p:cNvSpPr/>
            <p:nvPr/>
          </p:nvSpPr>
          <p:spPr>
            <a:xfrm>
              <a:off x="3593000" y="4283384"/>
              <a:ext cx="274319" cy="72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bg1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5E3F0F7-A3C4-6E29-CD12-4CE6B1125E18}"/>
                </a:ext>
              </a:extLst>
            </p:cNvPr>
            <p:cNvCxnSpPr>
              <a:cxnSpLocks/>
            </p:cNvCxnSpPr>
            <p:nvPr/>
          </p:nvCxnSpPr>
          <p:spPr>
            <a:xfrm>
              <a:off x="3108644" y="4643385"/>
              <a:ext cx="377019" cy="0"/>
            </a:xfrm>
            <a:prstGeom prst="straightConnector1">
              <a:avLst/>
            </a:prstGeom>
            <a:ln w="3810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A574553-56F5-670B-876F-E476EA6FF20D}"/>
                </a:ext>
              </a:extLst>
            </p:cNvPr>
            <p:cNvCxnSpPr>
              <a:cxnSpLocks/>
            </p:cNvCxnSpPr>
            <p:nvPr/>
          </p:nvCxnSpPr>
          <p:spPr>
            <a:xfrm>
              <a:off x="4030979" y="4643385"/>
              <a:ext cx="2796541" cy="0"/>
            </a:xfrm>
            <a:prstGeom prst="line">
              <a:avLst/>
            </a:prstGeom>
            <a:ln w="25400" cap="flat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DB2068A-0086-EE31-BB5E-770CBE7C93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160" y="3954832"/>
              <a:ext cx="0" cy="705002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41A5CDF-E0E9-D7D6-048B-8A1C565976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6035" y="3667125"/>
              <a:ext cx="0" cy="992709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BFAB11E-54D7-EF23-0A90-CAE43E990B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9960" y="3414275"/>
              <a:ext cx="0" cy="122911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B1D059DA-EACD-D34B-90EF-A453C92770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48485" y="3216275"/>
              <a:ext cx="0" cy="142711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321813A-4816-C168-4785-F491D5EFA1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3360" y="3216275"/>
              <a:ext cx="0" cy="142711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DD1CF5C-2A92-8BCB-789D-F7E4FD5A21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4110" y="3429000"/>
              <a:ext cx="0" cy="1229110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0B02F9FE-2843-DF4E-2B3C-93FFDA679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4860" y="3667125"/>
              <a:ext cx="0" cy="992709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34B0F30D-38F8-23A4-A718-EE72993E72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6085" y="3954832"/>
              <a:ext cx="0" cy="705002"/>
            </a:xfrm>
            <a:prstGeom prst="straightConnector1">
              <a:avLst/>
            </a:prstGeom>
            <a:ln w="25400" cap="flat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1989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A9B84-C517-938D-6793-E14410B71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EE83C-D91F-957E-B3C4-2CDE7B79E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Diffusion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6E50B-8434-0925-ECCA-C74A7685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Content Placeholder 5" descr="A duck swimming in water&#10;&#10;AI-generated content may be incorrect.">
            <a:extLst>
              <a:ext uri="{FF2B5EF4-FFF2-40B4-BE49-F238E27FC236}">
                <a16:creationId xmlns:a16="http://schemas.microsoft.com/office/drawing/2014/main" id="{FE54DDE3-E74B-5217-B718-5BC9D7545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73" y="2620527"/>
            <a:ext cx="983951" cy="98395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15E8D2D-A80A-AB03-B12C-97AECE1D2499}"/>
              </a:ext>
            </a:extLst>
          </p:cNvPr>
          <p:cNvGrpSpPr/>
          <p:nvPr/>
        </p:nvGrpSpPr>
        <p:grpSpPr>
          <a:xfrm>
            <a:off x="4695406" y="2245195"/>
            <a:ext cx="2767371" cy="1800000"/>
            <a:chOff x="2979759" y="2148026"/>
            <a:chExt cx="2767371" cy="1800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2811819-63B7-4FA2-B5D9-9315623C6713}"/>
                </a:ext>
              </a:extLst>
            </p:cNvPr>
            <p:cNvGrpSpPr/>
            <p:nvPr/>
          </p:nvGrpSpPr>
          <p:grpSpPr>
            <a:xfrm>
              <a:off x="2979759" y="2148026"/>
              <a:ext cx="1342770" cy="1800000"/>
              <a:chOff x="2979759" y="2148026"/>
              <a:chExt cx="1342770" cy="18000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FFF4BD0-9C3D-76A4-1FD3-FA6EB5BE2625}"/>
                  </a:ext>
                </a:extLst>
              </p:cNvPr>
              <p:cNvSpPr/>
              <p:nvPr/>
            </p:nvSpPr>
            <p:spPr>
              <a:xfrm>
                <a:off x="2979759" y="2148026"/>
                <a:ext cx="274320" cy="180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8F77B96-FE50-1F1B-9163-DFCA0CC51A71}"/>
                  </a:ext>
                </a:extLst>
              </p:cNvPr>
              <p:cNvSpPr/>
              <p:nvPr/>
            </p:nvSpPr>
            <p:spPr>
              <a:xfrm>
                <a:off x="3335910" y="2418026"/>
                <a:ext cx="274319" cy="126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88EE1B6-8FA0-DE3F-79BB-73834EC12702}"/>
                  </a:ext>
                </a:extLst>
              </p:cNvPr>
              <p:cNvSpPr/>
              <p:nvPr/>
            </p:nvSpPr>
            <p:spPr>
              <a:xfrm>
                <a:off x="3692060" y="2688026"/>
                <a:ext cx="274319" cy="72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05F68FB-1B05-90A4-F9A9-C609859D9FD5}"/>
                  </a:ext>
                </a:extLst>
              </p:cNvPr>
              <p:cNvSpPr/>
              <p:nvPr/>
            </p:nvSpPr>
            <p:spPr>
              <a:xfrm>
                <a:off x="4048210" y="2868026"/>
                <a:ext cx="274319" cy="36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517318F-B9EC-9C04-EAFD-374BC4061D92}"/>
                </a:ext>
              </a:extLst>
            </p:cNvPr>
            <p:cNvGrpSpPr/>
            <p:nvPr/>
          </p:nvGrpSpPr>
          <p:grpSpPr>
            <a:xfrm rot="10800000">
              <a:off x="4404360" y="2148026"/>
              <a:ext cx="1342770" cy="1800000"/>
              <a:chOff x="2979759" y="2148026"/>
              <a:chExt cx="1342770" cy="180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A0085AC-1205-26E9-0A5B-D6AFF8823D8B}"/>
                  </a:ext>
                </a:extLst>
              </p:cNvPr>
              <p:cNvSpPr/>
              <p:nvPr/>
            </p:nvSpPr>
            <p:spPr>
              <a:xfrm>
                <a:off x="2979759" y="2148026"/>
                <a:ext cx="274320" cy="180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8AC670C-537E-74AA-989D-D30949E24CC6}"/>
                  </a:ext>
                </a:extLst>
              </p:cNvPr>
              <p:cNvSpPr/>
              <p:nvPr/>
            </p:nvSpPr>
            <p:spPr>
              <a:xfrm>
                <a:off x="3335910" y="2418026"/>
                <a:ext cx="274319" cy="126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AFC083C-2BA3-870E-652A-2B2E3A30F1DA}"/>
                  </a:ext>
                </a:extLst>
              </p:cNvPr>
              <p:cNvSpPr/>
              <p:nvPr/>
            </p:nvSpPr>
            <p:spPr>
              <a:xfrm>
                <a:off x="3692060" y="2688026"/>
                <a:ext cx="274319" cy="72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CCDC283-BD5B-F83F-3CCD-9EA56926A116}"/>
                  </a:ext>
                </a:extLst>
              </p:cNvPr>
              <p:cNvSpPr/>
              <p:nvPr/>
            </p:nvSpPr>
            <p:spPr>
              <a:xfrm>
                <a:off x="4048210" y="2868026"/>
                <a:ext cx="274319" cy="36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</p:grp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13479D4-C8B9-95EA-CFAD-B4065F40B891}"/>
              </a:ext>
            </a:extLst>
          </p:cNvPr>
          <p:cNvCxnSpPr>
            <a:cxnSpLocks/>
          </p:cNvCxnSpPr>
          <p:nvPr/>
        </p:nvCxnSpPr>
        <p:spPr>
          <a:xfrm>
            <a:off x="7589695" y="3145194"/>
            <a:ext cx="983951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17350A-F38D-5236-2E84-A9113517527F}"/>
                  </a:ext>
                </a:extLst>
              </p:cNvPr>
              <p:cNvSpPr txBox="1"/>
              <p:nvPr/>
            </p:nvSpPr>
            <p:spPr>
              <a:xfrm>
                <a:off x="1608139" y="3621306"/>
                <a:ext cx="3027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17350A-F38D-5236-2E84-A91135175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139" y="3621306"/>
                <a:ext cx="302712" cy="307777"/>
              </a:xfrm>
              <a:prstGeom prst="rect">
                <a:avLst/>
              </a:prstGeom>
              <a:blipFill>
                <a:blip r:embed="rId6"/>
                <a:stretch>
                  <a:fillRect l="-12000" t="-28000" r="-60000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B8792C-3DCA-6CA2-29E5-E5A334B4318B}"/>
                  </a:ext>
                </a:extLst>
              </p:cNvPr>
              <p:cNvSpPr txBox="1"/>
              <p:nvPr/>
            </p:nvSpPr>
            <p:spPr>
              <a:xfrm>
                <a:off x="8348206" y="3626922"/>
                <a:ext cx="9559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000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B8792C-3DCA-6CA2-29E5-E5A334B43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8206" y="3626922"/>
                <a:ext cx="955903" cy="307777"/>
              </a:xfrm>
              <a:prstGeom prst="rect">
                <a:avLst/>
              </a:prstGeom>
              <a:blipFill>
                <a:blip r:embed="rId7"/>
                <a:stretch>
                  <a:fillRect l="-3947" t="-24000" r="-18421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9AA9A9-40F2-752D-7AAC-111D2B506954}"/>
                  </a:ext>
                </a:extLst>
              </p:cNvPr>
              <p:cNvSpPr txBox="1"/>
              <p:nvPr/>
            </p:nvSpPr>
            <p:spPr>
              <a:xfrm>
                <a:off x="3143865" y="4664975"/>
                <a:ext cx="1713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𝑡</m:t>
                      </m:r>
                    </m:oMath>
                  </m:oMathPara>
                </a14:m>
                <a:endParaRPr lang="en-US" sz="2000" i="1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9AA9A9-40F2-752D-7AAC-111D2B506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865" y="4664975"/>
                <a:ext cx="171394" cy="307777"/>
              </a:xfrm>
              <a:prstGeom prst="rect">
                <a:avLst/>
              </a:prstGeom>
              <a:blipFill>
                <a:blip r:embed="rId8"/>
                <a:stretch>
                  <a:fillRect l="-26667" t="-28000" r="-93333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DDB0F1EC-D00F-1483-7255-C66B965C30AB}"/>
              </a:ext>
            </a:extLst>
          </p:cNvPr>
          <p:cNvSpPr/>
          <p:nvPr/>
        </p:nvSpPr>
        <p:spPr>
          <a:xfrm>
            <a:off x="4104687" y="4458863"/>
            <a:ext cx="274319" cy="720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B1A7494-D6BE-18E1-F8C7-F8D9B4369CEF}"/>
              </a:ext>
            </a:extLst>
          </p:cNvPr>
          <p:cNvCxnSpPr>
            <a:cxnSpLocks/>
          </p:cNvCxnSpPr>
          <p:nvPr/>
        </p:nvCxnSpPr>
        <p:spPr>
          <a:xfrm>
            <a:off x="3620331" y="4818864"/>
            <a:ext cx="377019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58F866A-0AD2-8985-2981-D6F0B80C4088}"/>
              </a:ext>
            </a:extLst>
          </p:cNvPr>
          <p:cNvCxnSpPr>
            <a:cxnSpLocks/>
          </p:cNvCxnSpPr>
          <p:nvPr/>
        </p:nvCxnSpPr>
        <p:spPr>
          <a:xfrm>
            <a:off x="4542666" y="4818864"/>
            <a:ext cx="2796541" cy="0"/>
          </a:xfrm>
          <a:prstGeom prst="line">
            <a:avLst/>
          </a:prstGeom>
          <a:ln w="25400" cap="flat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5650F07-1170-8269-28CC-DF7FF9972A10}"/>
              </a:ext>
            </a:extLst>
          </p:cNvPr>
          <p:cNvCxnSpPr>
            <a:cxnSpLocks/>
          </p:cNvCxnSpPr>
          <p:nvPr/>
        </p:nvCxnSpPr>
        <p:spPr>
          <a:xfrm flipV="1">
            <a:off x="7342847" y="4130311"/>
            <a:ext cx="0" cy="705002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B53E9A8-B003-823C-2048-5F2D4EDED19A}"/>
              </a:ext>
            </a:extLst>
          </p:cNvPr>
          <p:cNvCxnSpPr>
            <a:cxnSpLocks/>
          </p:cNvCxnSpPr>
          <p:nvPr/>
        </p:nvCxnSpPr>
        <p:spPr>
          <a:xfrm flipV="1">
            <a:off x="6977722" y="3842604"/>
            <a:ext cx="0" cy="992709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39286FC-F724-74E5-A046-2D68DFE95C97}"/>
              </a:ext>
            </a:extLst>
          </p:cNvPr>
          <p:cNvCxnSpPr>
            <a:cxnSpLocks/>
          </p:cNvCxnSpPr>
          <p:nvPr/>
        </p:nvCxnSpPr>
        <p:spPr>
          <a:xfrm flipV="1">
            <a:off x="6631647" y="3589754"/>
            <a:ext cx="0" cy="1229110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61EFE2B-9E2F-5F5C-4D3F-C58342CCFBD8}"/>
              </a:ext>
            </a:extLst>
          </p:cNvPr>
          <p:cNvCxnSpPr>
            <a:cxnSpLocks/>
          </p:cNvCxnSpPr>
          <p:nvPr/>
        </p:nvCxnSpPr>
        <p:spPr>
          <a:xfrm flipV="1">
            <a:off x="6260172" y="3391754"/>
            <a:ext cx="0" cy="1427110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54827A4-F67E-7397-E348-D9F2A060DCF4}"/>
              </a:ext>
            </a:extLst>
          </p:cNvPr>
          <p:cNvCxnSpPr>
            <a:cxnSpLocks/>
          </p:cNvCxnSpPr>
          <p:nvPr/>
        </p:nvCxnSpPr>
        <p:spPr>
          <a:xfrm flipV="1">
            <a:off x="5895047" y="3391754"/>
            <a:ext cx="0" cy="1427110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302B2A7-E3A3-8EFF-3A57-DEA18926DD28}"/>
              </a:ext>
            </a:extLst>
          </p:cNvPr>
          <p:cNvCxnSpPr>
            <a:cxnSpLocks/>
          </p:cNvCxnSpPr>
          <p:nvPr/>
        </p:nvCxnSpPr>
        <p:spPr>
          <a:xfrm flipV="1">
            <a:off x="5545797" y="3604479"/>
            <a:ext cx="0" cy="1229110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5E647B2-B99F-113E-B7F1-150EC29B0A93}"/>
              </a:ext>
            </a:extLst>
          </p:cNvPr>
          <p:cNvCxnSpPr>
            <a:cxnSpLocks/>
          </p:cNvCxnSpPr>
          <p:nvPr/>
        </p:nvCxnSpPr>
        <p:spPr>
          <a:xfrm flipV="1">
            <a:off x="5196547" y="3842604"/>
            <a:ext cx="0" cy="992709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89D15E4-59AE-F6B0-5F06-9D64F8FF8C25}"/>
              </a:ext>
            </a:extLst>
          </p:cNvPr>
          <p:cNvCxnSpPr>
            <a:cxnSpLocks/>
          </p:cNvCxnSpPr>
          <p:nvPr/>
        </p:nvCxnSpPr>
        <p:spPr>
          <a:xfrm flipV="1">
            <a:off x="4837772" y="4130311"/>
            <a:ext cx="0" cy="705002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2D0EEC1-D5A8-5EDA-01DB-06F3C9F2CD32}"/>
              </a:ext>
            </a:extLst>
          </p:cNvPr>
          <p:cNvGrpSpPr/>
          <p:nvPr/>
        </p:nvGrpSpPr>
        <p:grpSpPr>
          <a:xfrm>
            <a:off x="2807198" y="2460825"/>
            <a:ext cx="651887" cy="1382477"/>
            <a:chOff x="2180938" y="2444941"/>
            <a:chExt cx="651887" cy="1382477"/>
          </a:xfrm>
        </p:grpSpPr>
        <p:sp>
          <p:nvSpPr>
            <p:cNvPr id="3" name="Trapezoid 2">
              <a:extLst>
                <a:ext uri="{FF2B5EF4-FFF2-40B4-BE49-F238E27FC236}">
                  <a16:creationId xmlns:a16="http://schemas.microsoft.com/office/drawing/2014/main" id="{C1F12A94-22E2-1217-22AB-C3498CF83C92}"/>
                </a:ext>
              </a:extLst>
            </p:cNvPr>
            <p:cNvSpPr/>
            <p:nvPr/>
          </p:nvSpPr>
          <p:spPr>
            <a:xfrm rot="5400000">
              <a:off x="1815643" y="2810236"/>
              <a:ext cx="1382477" cy="651887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19AAEA7-3721-FB81-2658-FBDD39BC18AC}"/>
                    </a:ext>
                  </a:extLst>
                </p:cNvPr>
                <p:cNvSpPr txBox="1"/>
                <p:nvPr/>
              </p:nvSpPr>
              <p:spPr>
                <a:xfrm>
                  <a:off x="2377781" y="2914361"/>
                  <a:ext cx="262123" cy="461665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ℰ</m:t>
                        </m:r>
                      </m:oMath>
                    </m:oMathPara>
                  </a14:m>
                  <a:endParaRPr lang="en-US" sz="2400" b="0" dirty="0" err="1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19AAEA7-3721-FB81-2658-FBDD39BC18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7781" y="2914361"/>
                  <a:ext cx="262123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22727" t="-8108" r="-77273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81253D2-8F4E-1654-DA0E-6AE15BA0FEF6}"/>
              </a:ext>
            </a:extLst>
          </p:cNvPr>
          <p:cNvCxnSpPr>
            <a:cxnSpLocks/>
          </p:cNvCxnSpPr>
          <p:nvPr/>
        </p:nvCxnSpPr>
        <p:spPr>
          <a:xfrm>
            <a:off x="2350331" y="3168455"/>
            <a:ext cx="377019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EB4B869-291B-E278-252D-3A9C62E11EE2}"/>
              </a:ext>
            </a:extLst>
          </p:cNvPr>
          <p:cNvSpPr/>
          <p:nvPr/>
        </p:nvSpPr>
        <p:spPr>
          <a:xfrm>
            <a:off x="3940086" y="2823891"/>
            <a:ext cx="274319" cy="720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0032B23-ECB6-3B98-CCF7-79C633D2F197}"/>
              </a:ext>
            </a:extLst>
          </p:cNvPr>
          <p:cNvCxnSpPr>
            <a:cxnSpLocks/>
          </p:cNvCxnSpPr>
          <p:nvPr/>
        </p:nvCxnSpPr>
        <p:spPr>
          <a:xfrm>
            <a:off x="3563067" y="3172796"/>
            <a:ext cx="290476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F291E2E-3765-E56A-8F5A-A74BDE9756BF}"/>
              </a:ext>
            </a:extLst>
          </p:cNvPr>
          <p:cNvCxnSpPr>
            <a:cxnSpLocks/>
          </p:cNvCxnSpPr>
          <p:nvPr/>
        </p:nvCxnSpPr>
        <p:spPr>
          <a:xfrm>
            <a:off x="4291730" y="3177137"/>
            <a:ext cx="290476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4771A6-2DFA-13A3-BDCC-1E1CFE08C3BA}"/>
                  </a:ext>
                </a:extLst>
              </p:cNvPr>
              <p:cNvSpPr txBox="1"/>
              <p:nvPr/>
            </p:nvSpPr>
            <p:spPr>
              <a:xfrm>
                <a:off x="3961848" y="2983789"/>
                <a:ext cx="25045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4771A6-2DFA-13A3-BDCC-1E1CFE08C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848" y="2983789"/>
                <a:ext cx="250453" cy="369332"/>
              </a:xfrm>
              <a:prstGeom prst="rect">
                <a:avLst/>
              </a:prstGeom>
              <a:blipFill>
                <a:blip r:embed="rId10"/>
                <a:stretch>
                  <a:fillRect l="-10000" t="-6667" r="-7000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00070C36-3169-2E59-00B0-34E7002202BA}"/>
              </a:ext>
            </a:extLst>
          </p:cNvPr>
          <p:cNvSpPr/>
          <p:nvPr/>
        </p:nvSpPr>
        <p:spPr>
          <a:xfrm>
            <a:off x="8688999" y="2785194"/>
            <a:ext cx="274319" cy="720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3585CF-D611-23FB-1643-FE6C322BCE9B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R. Rombach et al., “High-Resolution Image Synthesis with Latent Diffusion Models”, CVPR 2022.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27353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CC902-ED6C-C678-6A1A-8C29C9089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E56DE-4B30-B13A-E1D6-640986E0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Diffusion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5ABE0-BAA3-40A7-008E-D2FC204A9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Content Placeholder 5" descr="A duck swimming in water&#10;&#10;AI-generated content may be incorrect.">
            <a:extLst>
              <a:ext uri="{FF2B5EF4-FFF2-40B4-BE49-F238E27FC236}">
                <a16:creationId xmlns:a16="http://schemas.microsoft.com/office/drawing/2014/main" id="{39877DA5-8FDB-4CED-F47F-2D495FFBC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73" y="2620527"/>
            <a:ext cx="983951" cy="98395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99734E2-D025-AD9A-B0EF-BAD5B1C40145}"/>
              </a:ext>
            </a:extLst>
          </p:cNvPr>
          <p:cNvGrpSpPr/>
          <p:nvPr/>
        </p:nvGrpSpPr>
        <p:grpSpPr>
          <a:xfrm>
            <a:off x="4695406" y="2245195"/>
            <a:ext cx="2767371" cy="1800000"/>
            <a:chOff x="2979759" y="2148026"/>
            <a:chExt cx="2767371" cy="1800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DFDD64C-15A2-5C84-1EAD-FEF2D03E1D8B}"/>
                </a:ext>
              </a:extLst>
            </p:cNvPr>
            <p:cNvGrpSpPr/>
            <p:nvPr/>
          </p:nvGrpSpPr>
          <p:grpSpPr>
            <a:xfrm>
              <a:off x="2979759" y="2148026"/>
              <a:ext cx="1342770" cy="1800000"/>
              <a:chOff x="2979759" y="2148026"/>
              <a:chExt cx="1342770" cy="18000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F6B2BE1-415D-59E3-2F79-A4CB14BFC460}"/>
                  </a:ext>
                </a:extLst>
              </p:cNvPr>
              <p:cNvSpPr/>
              <p:nvPr/>
            </p:nvSpPr>
            <p:spPr>
              <a:xfrm>
                <a:off x="2979759" y="2148026"/>
                <a:ext cx="274320" cy="180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65DCBF3-F094-9878-1562-C87873A1CF56}"/>
                  </a:ext>
                </a:extLst>
              </p:cNvPr>
              <p:cNvSpPr/>
              <p:nvPr/>
            </p:nvSpPr>
            <p:spPr>
              <a:xfrm>
                <a:off x="3335910" y="2418026"/>
                <a:ext cx="274319" cy="126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92AB9FB-D762-6D18-44B8-99EC526222E1}"/>
                  </a:ext>
                </a:extLst>
              </p:cNvPr>
              <p:cNvSpPr/>
              <p:nvPr/>
            </p:nvSpPr>
            <p:spPr>
              <a:xfrm>
                <a:off x="3692060" y="2688026"/>
                <a:ext cx="274319" cy="72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B47467F-0249-3025-A086-FC7A8451F998}"/>
                  </a:ext>
                </a:extLst>
              </p:cNvPr>
              <p:cNvSpPr/>
              <p:nvPr/>
            </p:nvSpPr>
            <p:spPr>
              <a:xfrm>
                <a:off x="4048210" y="2868026"/>
                <a:ext cx="274319" cy="36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A8F1437-E0D7-F461-C07E-FE4C5284FC13}"/>
                </a:ext>
              </a:extLst>
            </p:cNvPr>
            <p:cNvGrpSpPr/>
            <p:nvPr/>
          </p:nvGrpSpPr>
          <p:grpSpPr>
            <a:xfrm rot="10800000">
              <a:off x="4404360" y="2148026"/>
              <a:ext cx="1342770" cy="1800000"/>
              <a:chOff x="2979759" y="2148026"/>
              <a:chExt cx="1342770" cy="180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513B5C6-F8D2-4AD5-26D9-471FA44C3C7E}"/>
                  </a:ext>
                </a:extLst>
              </p:cNvPr>
              <p:cNvSpPr/>
              <p:nvPr/>
            </p:nvSpPr>
            <p:spPr>
              <a:xfrm>
                <a:off x="2979759" y="2148026"/>
                <a:ext cx="274320" cy="180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A48293A-0B8D-3710-BA9D-C46F85620CA7}"/>
                  </a:ext>
                </a:extLst>
              </p:cNvPr>
              <p:cNvSpPr/>
              <p:nvPr/>
            </p:nvSpPr>
            <p:spPr>
              <a:xfrm>
                <a:off x="3335910" y="2418026"/>
                <a:ext cx="274319" cy="126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09BD0D2-267A-3BC6-7CF6-039F31C931C8}"/>
                  </a:ext>
                </a:extLst>
              </p:cNvPr>
              <p:cNvSpPr/>
              <p:nvPr/>
            </p:nvSpPr>
            <p:spPr>
              <a:xfrm>
                <a:off x="3692060" y="2688026"/>
                <a:ext cx="274319" cy="72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4F4A05B-7A4B-CA6A-CEDF-1301068CA409}"/>
                  </a:ext>
                </a:extLst>
              </p:cNvPr>
              <p:cNvSpPr/>
              <p:nvPr/>
            </p:nvSpPr>
            <p:spPr>
              <a:xfrm>
                <a:off x="4048210" y="2868026"/>
                <a:ext cx="274319" cy="36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</p:grp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64B70A-5D5A-EF9C-96A7-309A112E7F49}"/>
              </a:ext>
            </a:extLst>
          </p:cNvPr>
          <p:cNvCxnSpPr>
            <a:cxnSpLocks/>
          </p:cNvCxnSpPr>
          <p:nvPr/>
        </p:nvCxnSpPr>
        <p:spPr>
          <a:xfrm>
            <a:off x="7589695" y="3145194"/>
            <a:ext cx="983951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B26F921-1D37-EF70-D91A-A4E89EA6782D}"/>
                  </a:ext>
                </a:extLst>
              </p:cNvPr>
              <p:cNvSpPr txBox="1"/>
              <p:nvPr/>
            </p:nvSpPr>
            <p:spPr>
              <a:xfrm>
                <a:off x="1608139" y="3621306"/>
                <a:ext cx="3027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B26F921-1D37-EF70-D91A-A4E89EA67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139" y="3621306"/>
                <a:ext cx="302712" cy="307777"/>
              </a:xfrm>
              <a:prstGeom prst="rect">
                <a:avLst/>
              </a:prstGeom>
              <a:blipFill>
                <a:blip r:embed="rId6"/>
                <a:stretch>
                  <a:fillRect l="-12000" t="-28000" r="-60000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AAB9D2-6F9A-3D9F-3144-6A2A673EFEF3}"/>
                  </a:ext>
                </a:extLst>
              </p:cNvPr>
              <p:cNvSpPr txBox="1"/>
              <p:nvPr/>
            </p:nvSpPr>
            <p:spPr>
              <a:xfrm>
                <a:off x="8348206" y="3626922"/>
                <a:ext cx="9559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000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AAB9D2-6F9A-3D9F-3144-6A2A673EF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8206" y="3626922"/>
                <a:ext cx="955903" cy="307777"/>
              </a:xfrm>
              <a:prstGeom prst="rect">
                <a:avLst/>
              </a:prstGeom>
              <a:blipFill>
                <a:blip r:embed="rId7"/>
                <a:stretch>
                  <a:fillRect l="-3947" t="-24000" r="-18421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87CD73A-49EF-BD79-2E7A-F571558FEC30}"/>
                  </a:ext>
                </a:extLst>
              </p:cNvPr>
              <p:cNvSpPr txBox="1"/>
              <p:nvPr/>
            </p:nvSpPr>
            <p:spPr>
              <a:xfrm>
                <a:off x="3143865" y="4664975"/>
                <a:ext cx="1713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𝑡</m:t>
                      </m:r>
                    </m:oMath>
                  </m:oMathPara>
                </a14:m>
                <a:endParaRPr lang="en-US" sz="2000" i="1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87CD73A-49EF-BD79-2E7A-F571558FE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865" y="4664975"/>
                <a:ext cx="171394" cy="307777"/>
              </a:xfrm>
              <a:prstGeom prst="rect">
                <a:avLst/>
              </a:prstGeom>
              <a:blipFill>
                <a:blip r:embed="rId8"/>
                <a:stretch>
                  <a:fillRect l="-26667" t="-28000" r="-93333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A2A15F61-0E59-9311-8D64-20AC50F5FF46}"/>
              </a:ext>
            </a:extLst>
          </p:cNvPr>
          <p:cNvSpPr/>
          <p:nvPr/>
        </p:nvSpPr>
        <p:spPr>
          <a:xfrm>
            <a:off x="4104687" y="4458863"/>
            <a:ext cx="274319" cy="720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B5A7AD3-0E8C-77FF-D0DF-595BB1E89AFC}"/>
              </a:ext>
            </a:extLst>
          </p:cNvPr>
          <p:cNvCxnSpPr>
            <a:cxnSpLocks/>
          </p:cNvCxnSpPr>
          <p:nvPr/>
        </p:nvCxnSpPr>
        <p:spPr>
          <a:xfrm>
            <a:off x="3620331" y="4818864"/>
            <a:ext cx="377019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9B47312-CFD1-1617-FBA0-18B2AAD50330}"/>
              </a:ext>
            </a:extLst>
          </p:cNvPr>
          <p:cNvCxnSpPr>
            <a:cxnSpLocks/>
          </p:cNvCxnSpPr>
          <p:nvPr/>
        </p:nvCxnSpPr>
        <p:spPr>
          <a:xfrm>
            <a:off x="4542666" y="4818864"/>
            <a:ext cx="2796541" cy="0"/>
          </a:xfrm>
          <a:prstGeom prst="line">
            <a:avLst/>
          </a:prstGeom>
          <a:ln w="25400" cap="flat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AF2E864-C28C-DB69-54A3-5E92EB6B336B}"/>
              </a:ext>
            </a:extLst>
          </p:cNvPr>
          <p:cNvCxnSpPr>
            <a:cxnSpLocks/>
          </p:cNvCxnSpPr>
          <p:nvPr/>
        </p:nvCxnSpPr>
        <p:spPr>
          <a:xfrm flipV="1">
            <a:off x="7342847" y="4130311"/>
            <a:ext cx="0" cy="705002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4325E4F-D145-A823-042B-2784E674E3E8}"/>
              </a:ext>
            </a:extLst>
          </p:cNvPr>
          <p:cNvCxnSpPr>
            <a:cxnSpLocks/>
          </p:cNvCxnSpPr>
          <p:nvPr/>
        </p:nvCxnSpPr>
        <p:spPr>
          <a:xfrm flipV="1">
            <a:off x="6977722" y="3842604"/>
            <a:ext cx="0" cy="992709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6A1C9E4-C1DB-E1AF-F855-13737ABB4D07}"/>
              </a:ext>
            </a:extLst>
          </p:cNvPr>
          <p:cNvCxnSpPr>
            <a:cxnSpLocks/>
          </p:cNvCxnSpPr>
          <p:nvPr/>
        </p:nvCxnSpPr>
        <p:spPr>
          <a:xfrm flipV="1">
            <a:off x="6631647" y="3589754"/>
            <a:ext cx="0" cy="1229110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4FAADD9-8E29-ADF5-1935-1A27230692EA}"/>
              </a:ext>
            </a:extLst>
          </p:cNvPr>
          <p:cNvCxnSpPr>
            <a:cxnSpLocks/>
          </p:cNvCxnSpPr>
          <p:nvPr/>
        </p:nvCxnSpPr>
        <p:spPr>
          <a:xfrm flipV="1">
            <a:off x="6260172" y="3391754"/>
            <a:ext cx="0" cy="1427110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A64C629-5AED-6B53-42A0-33E62DACC72E}"/>
              </a:ext>
            </a:extLst>
          </p:cNvPr>
          <p:cNvCxnSpPr>
            <a:cxnSpLocks/>
          </p:cNvCxnSpPr>
          <p:nvPr/>
        </p:nvCxnSpPr>
        <p:spPr>
          <a:xfrm flipV="1">
            <a:off x="5895047" y="3391754"/>
            <a:ext cx="0" cy="1427110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B932E5E-B378-F069-0E01-8D2A54C5B20C}"/>
              </a:ext>
            </a:extLst>
          </p:cNvPr>
          <p:cNvCxnSpPr>
            <a:cxnSpLocks/>
          </p:cNvCxnSpPr>
          <p:nvPr/>
        </p:nvCxnSpPr>
        <p:spPr>
          <a:xfrm flipV="1">
            <a:off x="5545797" y="3604479"/>
            <a:ext cx="0" cy="1229110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0ADC70B-285C-3C2C-03A7-66718259C8CD}"/>
              </a:ext>
            </a:extLst>
          </p:cNvPr>
          <p:cNvCxnSpPr>
            <a:cxnSpLocks/>
          </p:cNvCxnSpPr>
          <p:nvPr/>
        </p:nvCxnSpPr>
        <p:spPr>
          <a:xfrm flipV="1">
            <a:off x="5196547" y="3842604"/>
            <a:ext cx="0" cy="992709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17784D6-C3D4-FDC0-1801-B1EEBF17E6D3}"/>
              </a:ext>
            </a:extLst>
          </p:cNvPr>
          <p:cNvCxnSpPr>
            <a:cxnSpLocks/>
          </p:cNvCxnSpPr>
          <p:nvPr/>
        </p:nvCxnSpPr>
        <p:spPr>
          <a:xfrm flipV="1">
            <a:off x="4837772" y="4130311"/>
            <a:ext cx="0" cy="705002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85EE06-BA11-9804-869F-D5D922585B32}"/>
              </a:ext>
            </a:extLst>
          </p:cNvPr>
          <p:cNvGrpSpPr/>
          <p:nvPr/>
        </p:nvGrpSpPr>
        <p:grpSpPr>
          <a:xfrm>
            <a:off x="2807198" y="2460825"/>
            <a:ext cx="651887" cy="1382477"/>
            <a:chOff x="2180938" y="2444941"/>
            <a:chExt cx="651887" cy="1382477"/>
          </a:xfrm>
        </p:grpSpPr>
        <p:sp>
          <p:nvSpPr>
            <p:cNvPr id="3" name="Trapezoid 2">
              <a:extLst>
                <a:ext uri="{FF2B5EF4-FFF2-40B4-BE49-F238E27FC236}">
                  <a16:creationId xmlns:a16="http://schemas.microsoft.com/office/drawing/2014/main" id="{FC128A8B-4550-0E68-7A7E-ECAC8CA7B684}"/>
                </a:ext>
              </a:extLst>
            </p:cNvPr>
            <p:cNvSpPr/>
            <p:nvPr/>
          </p:nvSpPr>
          <p:spPr>
            <a:xfrm rot="5400000">
              <a:off x="1815643" y="2810236"/>
              <a:ext cx="1382477" cy="651887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68CA614-4AEC-8BA7-B2C6-2952F4F5F653}"/>
                    </a:ext>
                  </a:extLst>
                </p:cNvPr>
                <p:cNvSpPr txBox="1"/>
                <p:nvPr/>
              </p:nvSpPr>
              <p:spPr>
                <a:xfrm>
                  <a:off x="2377781" y="2914361"/>
                  <a:ext cx="262123" cy="461665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ℰ</m:t>
                        </m:r>
                      </m:oMath>
                    </m:oMathPara>
                  </a14:m>
                  <a:endParaRPr lang="en-US" sz="2400" b="0" dirty="0" err="1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68CA614-4AEC-8BA7-B2C6-2952F4F5F6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7781" y="2914361"/>
                  <a:ext cx="262123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22727" t="-8108" r="-77273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C8DBC8-3AE8-E78B-9BB3-CC4090039283}"/>
              </a:ext>
            </a:extLst>
          </p:cNvPr>
          <p:cNvCxnSpPr>
            <a:cxnSpLocks/>
          </p:cNvCxnSpPr>
          <p:nvPr/>
        </p:nvCxnSpPr>
        <p:spPr>
          <a:xfrm>
            <a:off x="2350331" y="3168455"/>
            <a:ext cx="377019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BCB946F-0250-4338-B03A-90C2BCFCDB2F}"/>
              </a:ext>
            </a:extLst>
          </p:cNvPr>
          <p:cNvSpPr/>
          <p:nvPr/>
        </p:nvSpPr>
        <p:spPr>
          <a:xfrm>
            <a:off x="3940086" y="2823891"/>
            <a:ext cx="274319" cy="720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797263C-2FDF-7B70-7F62-50213B340C73}"/>
              </a:ext>
            </a:extLst>
          </p:cNvPr>
          <p:cNvCxnSpPr>
            <a:cxnSpLocks/>
          </p:cNvCxnSpPr>
          <p:nvPr/>
        </p:nvCxnSpPr>
        <p:spPr>
          <a:xfrm>
            <a:off x="3563067" y="3172796"/>
            <a:ext cx="290476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A504293-0C06-9C61-8EE9-09D8B9639937}"/>
              </a:ext>
            </a:extLst>
          </p:cNvPr>
          <p:cNvCxnSpPr>
            <a:cxnSpLocks/>
          </p:cNvCxnSpPr>
          <p:nvPr/>
        </p:nvCxnSpPr>
        <p:spPr>
          <a:xfrm>
            <a:off x="4291730" y="3177137"/>
            <a:ext cx="290476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186CCEB-AD92-FBE5-B585-0F29E4EBCD2D}"/>
                  </a:ext>
                </a:extLst>
              </p:cNvPr>
              <p:cNvSpPr txBox="1"/>
              <p:nvPr/>
            </p:nvSpPr>
            <p:spPr>
              <a:xfrm>
                <a:off x="3961848" y="2983789"/>
                <a:ext cx="25045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186CCEB-AD92-FBE5-B585-0F29E4EBC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848" y="2983789"/>
                <a:ext cx="250453" cy="369332"/>
              </a:xfrm>
              <a:prstGeom prst="rect">
                <a:avLst/>
              </a:prstGeom>
              <a:blipFill>
                <a:blip r:embed="rId10"/>
                <a:stretch>
                  <a:fillRect l="-10000" t="-6667" r="-7000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677008EC-CC5A-AC85-C5D9-09D46FD09243}"/>
              </a:ext>
            </a:extLst>
          </p:cNvPr>
          <p:cNvSpPr/>
          <p:nvPr/>
        </p:nvSpPr>
        <p:spPr>
          <a:xfrm>
            <a:off x="8688999" y="2785194"/>
            <a:ext cx="274319" cy="720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B7B54BE-87AE-FEE0-9F77-3C9DFBE2C86D}"/>
                  </a:ext>
                </a:extLst>
              </p:cNvPr>
              <p:cNvSpPr txBox="1"/>
              <p:nvPr/>
            </p:nvSpPr>
            <p:spPr>
              <a:xfrm>
                <a:off x="3363822" y="5516161"/>
                <a:ext cx="5348708" cy="4084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ℒ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𝐿𝐷𝑀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≔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ℰ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,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𝜖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~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𝒩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0,1</m:t>
                              </m:r>
                            </m:e>
                          </m:d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,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𝜀</m:t>
                                  </m:r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,</m:t>
                                      </m:r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B7B54BE-87AE-FEE0-9F77-3C9DFBE2C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822" y="5516161"/>
                <a:ext cx="5348708" cy="408445"/>
              </a:xfrm>
              <a:prstGeom prst="rect">
                <a:avLst/>
              </a:prstGeom>
              <a:blipFill>
                <a:blip r:embed="rId11"/>
                <a:stretch>
                  <a:fillRect l="-711" t="-21212" r="-3791" b="-39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AF55DB18-A512-E795-0D35-54883D20C78E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R. Rombach et al., “High-Resolution Image Synthesis with Latent Diffusion Models”, CVPR 2022.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01292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FA8EA-88BD-0DF1-7CA9-A6B681C5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2A0A8-4F0A-C1E5-DC71-6EB54A707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Diffusion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014F1-BCEC-9098-1D38-132C82A07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Content Placeholder 5" descr="A duck swimming in water&#10;&#10;AI-generated content may be incorrect.">
            <a:extLst>
              <a:ext uri="{FF2B5EF4-FFF2-40B4-BE49-F238E27FC236}">
                <a16:creationId xmlns:a16="http://schemas.microsoft.com/office/drawing/2014/main" id="{AB970B08-1028-2F3C-5885-31231A9A0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73" y="2620527"/>
            <a:ext cx="983951" cy="98395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5B0F2E0-B49F-F01B-9534-5261AAC5242B}"/>
              </a:ext>
            </a:extLst>
          </p:cNvPr>
          <p:cNvGrpSpPr/>
          <p:nvPr/>
        </p:nvGrpSpPr>
        <p:grpSpPr>
          <a:xfrm>
            <a:off x="4695406" y="2245195"/>
            <a:ext cx="2767371" cy="1800000"/>
            <a:chOff x="2979759" y="2148026"/>
            <a:chExt cx="2767371" cy="1800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BA5EA6D-6B5F-BD5B-4433-58D53316B751}"/>
                </a:ext>
              </a:extLst>
            </p:cNvPr>
            <p:cNvGrpSpPr/>
            <p:nvPr/>
          </p:nvGrpSpPr>
          <p:grpSpPr>
            <a:xfrm>
              <a:off x="2979759" y="2148026"/>
              <a:ext cx="1342770" cy="1800000"/>
              <a:chOff x="2979759" y="2148026"/>
              <a:chExt cx="1342770" cy="18000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C035926-7A4A-572D-796B-D72FA9E76809}"/>
                  </a:ext>
                </a:extLst>
              </p:cNvPr>
              <p:cNvSpPr/>
              <p:nvPr/>
            </p:nvSpPr>
            <p:spPr>
              <a:xfrm>
                <a:off x="2979759" y="2148026"/>
                <a:ext cx="274320" cy="180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2AD62D8-0B8E-D5DC-9E4D-F0750E1DD940}"/>
                  </a:ext>
                </a:extLst>
              </p:cNvPr>
              <p:cNvSpPr/>
              <p:nvPr/>
            </p:nvSpPr>
            <p:spPr>
              <a:xfrm>
                <a:off x="3335910" y="2418026"/>
                <a:ext cx="274319" cy="126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6A381EA-DE13-A55D-3D22-F7BE7BB7554E}"/>
                  </a:ext>
                </a:extLst>
              </p:cNvPr>
              <p:cNvSpPr/>
              <p:nvPr/>
            </p:nvSpPr>
            <p:spPr>
              <a:xfrm>
                <a:off x="3692060" y="2688026"/>
                <a:ext cx="274319" cy="72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EA8212E-2105-CFC8-A4CE-BE2AB18C87DC}"/>
                  </a:ext>
                </a:extLst>
              </p:cNvPr>
              <p:cNvSpPr/>
              <p:nvPr/>
            </p:nvSpPr>
            <p:spPr>
              <a:xfrm>
                <a:off x="4048210" y="2868026"/>
                <a:ext cx="274319" cy="36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1F76E94-30CB-67B5-481D-E624FEDF3885}"/>
                </a:ext>
              </a:extLst>
            </p:cNvPr>
            <p:cNvGrpSpPr/>
            <p:nvPr/>
          </p:nvGrpSpPr>
          <p:grpSpPr>
            <a:xfrm rot="10800000">
              <a:off x="4404360" y="2148026"/>
              <a:ext cx="1342770" cy="1800000"/>
              <a:chOff x="2979759" y="2148026"/>
              <a:chExt cx="1342770" cy="180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724CED8-A28D-6283-33BA-B3E38B211832}"/>
                  </a:ext>
                </a:extLst>
              </p:cNvPr>
              <p:cNvSpPr/>
              <p:nvPr/>
            </p:nvSpPr>
            <p:spPr>
              <a:xfrm>
                <a:off x="2979759" y="2148026"/>
                <a:ext cx="274320" cy="180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502D33-172B-1F15-B0E7-1870794CC61C}"/>
                  </a:ext>
                </a:extLst>
              </p:cNvPr>
              <p:cNvSpPr/>
              <p:nvPr/>
            </p:nvSpPr>
            <p:spPr>
              <a:xfrm>
                <a:off x="3335910" y="2418026"/>
                <a:ext cx="274319" cy="126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F523A8C-6300-5379-89E2-EFA02958FBB7}"/>
                  </a:ext>
                </a:extLst>
              </p:cNvPr>
              <p:cNvSpPr/>
              <p:nvPr/>
            </p:nvSpPr>
            <p:spPr>
              <a:xfrm>
                <a:off x="3692060" y="2688026"/>
                <a:ext cx="274319" cy="72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60D2447-83DC-483B-E069-F579E3F80CC4}"/>
                  </a:ext>
                </a:extLst>
              </p:cNvPr>
              <p:cNvSpPr/>
              <p:nvPr/>
            </p:nvSpPr>
            <p:spPr>
              <a:xfrm>
                <a:off x="4048210" y="2868026"/>
                <a:ext cx="274319" cy="360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en-US" dirty="0" err="1">
                  <a:solidFill>
                    <a:schemeClr val="bg1"/>
                  </a:solidFill>
                </a:endParaRPr>
              </a:p>
            </p:txBody>
          </p:sp>
        </p:grp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07FB5C0-9190-D36A-8C71-19D4C6BA5F70}"/>
              </a:ext>
            </a:extLst>
          </p:cNvPr>
          <p:cNvCxnSpPr>
            <a:cxnSpLocks/>
          </p:cNvCxnSpPr>
          <p:nvPr/>
        </p:nvCxnSpPr>
        <p:spPr>
          <a:xfrm>
            <a:off x="7589695" y="3145194"/>
            <a:ext cx="983951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D475105-77F9-5312-A516-0C52E56103FA}"/>
                  </a:ext>
                </a:extLst>
              </p:cNvPr>
              <p:cNvSpPr txBox="1"/>
              <p:nvPr/>
            </p:nvSpPr>
            <p:spPr>
              <a:xfrm>
                <a:off x="1608139" y="3621306"/>
                <a:ext cx="3027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B26F921-1D37-EF70-D91A-A4E89EA67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139" y="3621306"/>
                <a:ext cx="302712" cy="307777"/>
              </a:xfrm>
              <a:prstGeom prst="rect">
                <a:avLst/>
              </a:prstGeom>
              <a:blipFill>
                <a:blip r:embed="rId6"/>
                <a:stretch>
                  <a:fillRect l="-12000" t="-28000" r="-60000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2A6E509-909F-03AD-D0FC-87A305EC2B01}"/>
                  </a:ext>
                </a:extLst>
              </p:cNvPr>
              <p:cNvSpPr txBox="1"/>
              <p:nvPr/>
            </p:nvSpPr>
            <p:spPr>
              <a:xfrm>
                <a:off x="8348206" y="3626922"/>
                <a:ext cx="9559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000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AAB9D2-6F9A-3D9F-3144-6A2A673EF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8206" y="3626922"/>
                <a:ext cx="955903" cy="307777"/>
              </a:xfrm>
              <a:prstGeom prst="rect">
                <a:avLst/>
              </a:prstGeom>
              <a:blipFill>
                <a:blip r:embed="rId7"/>
                <a:stretch>
                  <a:fillRect l="-3947" t="-24000" r="-18421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C6E1FF3-52C3-CA48-1835-FD7CA00009EF}"/>
                  </a:ext>
                </a:extLst>
              </p:cNvPr>
              <p:cNvSpPr txBox="1"/>
              <p:nvPr/>
            </p:nvSpPr>
            <p:spPr>
              <a:xfrm>
                <a:off x="3143865" y="4664975"/>
                <a:ext cx="1713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𝑡</m:t>
                      </m:r>
                    </m:oMath>
                  </m:oMathPara>
                </a14:m>
                <a:endParaRPr lang="en-US" sz="2000" i="1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87CD73A-49EF-BD79-2E7A-F571558FE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865" y="4664975"/>
                <a:ext cx="171394" cy="307777"/>
              </a:xfrm>
              <a:prstGeom prst="rect">
                <a:avLst/>
              </a:prstGeom>
              <a:blipFill>
                <a:blip r:embed="rId8"/>
                <a:stretch>
                  <a:fillRect l="-26667" t="-28000" r="-93333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C6CD06C7-62B5-42AC-6A08-ADD4A340CA30}"/>
              </a:ext>
            </a:extLst>
          </p:cNvPr>
          <p:cNvSpPr/>
          <p:nvPr/>
        </p:nvSpPr>
        <p:spPr>
          <a:xfrm>
            <a:off x="4104687" y="4458863"/>
            <a:ext cx="274319" cy="720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31635C5-C60D-0673-51DA-2F5571C457C7}"/>
              </a:ext>
            </a:extLst>
          </p:cNvPr>
          <p:cNvCxnSpPr>
            <a:cxnSpLocks/>
          </p:cNvCxnSpPr>
          <p:nvPr/>
        </p:nvCxnSpPr>
        <p:spPr>
          <a:xfrm>
            <a:off x="3620331" y="4818864"/>
            <a:ext cx="377019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A25A753-DDE3-AC60-BF6D-CF5C0B0FEEA0}"/>
              </a:ext>
            </a:extLst>
          </p:cNvPr>
          <p:cNvCxnSpPr>
            <a:cxnSpLocks/>
          </p:cNvCxnSpPr>
          <p:nvPr/>
        </p:nvCxnSpPr>
        <p:spPr>
          <a:xfrm>
            <a:off x="4542666" y="4818864"/>
            <a:ext cx="2796541" cy="0"/>
          </a:xfrm>
          <a:prstGeom prst="line">
            <a:avLst/>
          </a:prstGeom>
          <a:ln w="25400" cap="flat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AC18AAA-8904-7797-C5AD-F19EBD4462F7}"/>
              </a:ext>
            </a:extLst>
          </p:cNvPr>
          <p:cNvCxnSpPr>
            <a:cxnSpLocks/>
          </p:cNvCxnSpPr>
          <p:nvPr/>
        </p:nvCxnSpPr>
        <p:spPr>
          <a:xfrm flipV="1">
            <a:off x="7342847" y="4130311"/>
            <a:ext cx="0" cy="705002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965460A-927E-7F1B-7713-38B13D4A6E7A}"/>
              </a:ext>
            </a:extLst>
          </p:cNvPr>
          <p:cNvCxnSpPr>
            <a:cxnSpLocks/>
          </p:cNvCxnSpPr>
          <p:nvPr/>
        </p:nvCxnSpPr>
        <p:spPr>
          <a:xfrm flipV="1">
            <a:off x="6977722" y="3842604"/>
            <a:ext cx="0" cy="992709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6624A8F-EFF3-5D48-C550-751E592B874F}"/>
              </a:ext>
            </a:extLst>
          </p:cNvPr>
          <p:cNvCxnSpPr>
            <a:cxnSpLocks/>
          </p:cNvCxnSpPr>
          <p:nvPr/>
        </p:nvCxnSpPr>
        <p:spPr>
          <a:xfrm flipV="1">
            <a:off x="6631647" y="3589754"/>
            <a:ext cx="0" cy="1229110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7469D61-251E-525F-D544-E40DB9739542}"/>
              </a:ext>
            </a:extLst>
          </p:cNvPr>
          <p:cNvCxnSpPr>
            <a:cxnSpLocks/>
          </p:cNvCxnSpPr>
          <p:nvPr/>
        </p:nvCxnSpPr>
        <p:spPr>
          <a:xfrm flipV="1">
            <a:off x="6260172" y="3391754"/>
            <a:ext cx="0" cy="1427110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465D88E-6DA2-87FC-CA46-AF49ADB4A35D}"/>
              </a:ext>
            </a:extLst>
          </p:cNvPr>
          <p:cNvCxnSpPr>
            <a:cxnSpLocks/>
          </p:cNvCxnSpPr>
          <p:nvPr/>
        </p:nvCxnSpPr>
        <p:spPr>
          <a:xfrm flipV="1">
            <a:off x="5895047" y="3391754"/>
            <a:ext cx="0" cy="1427110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74446B9-AB5C-948E-57C8-D15C82F2CB7A}"/>
              </a:ext>
            </a:extLst>
          </p:cNvPr>
          <p:cNvCxnSpPr>
            <a:cxnSpLocks/>
          </p:cNvCxnSpPr>
          <p:nvPr/>
        </p:nvCxnSpPr>
        <p:spPr>
          <a:xfrm flipV="1">
            <a:off x="5545797" y="3604479"/>
            <a:ext cx="0" cy="1229110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F503290-3EDD-960A-776B-036A3A5DEF60}"/>
              </a:ext>
            </a:extLst>
          </p:cNvPr>
          <p:cNvCxnSpPr>
            <a:cxnSpLocks/>
          </p:cNvCxnSpPr>
          <p:nvPr/>
        </p:nvCxnSpPr>
        <p:spPr>
          <a:xfrm flipV="1">
            <a:off x="5196547" y="3842604"/>
            <a:ext cx="0" cy="992709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01328F9-4A5D-D3CD-9BE1-DF8262C59E31}"/>
              </a:ext>
            </a:extLst>
          </p:cNvPr>
          <p:cNvCxnSpPr>
            <a:cxnSpLocks/>
          </p:cNvCxnSpPr>
          <p:nvPr/>
        </p:nvCxnSpPr>
        <p:spPr>
          <a:xfrm flipV="1">
            <a:off x="4837772" y="4130311"/>
            <a:ext cx="0" cy="705002"/>
          </a:xfrm>
          <a:prstGeom prst="straightConnector1">
            <a:avLst/>
          </a:prstGeom>
          <a:ln w="25400" cap="flat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B3E088-E2BB-D073-651E-ECEFE4E8E1DF}"/>
              </a:ext>
            </a:extLst>
          </p:cNvPr>
          <p:cNvGrpSpPr/>
          <p:nvPr/>
        </p:nvGrpSpPr>
        <p:grpSpPr>
          <a:xfrm>
            <a:off x="2807198" y="2460825"/>
            <a:ext cx="651887" cy="1382477"/>
            <a:chOff x="2180938" y="2444941"/>
            <a:chExt cx="651887" cy="1382477"/>
          </a:xfrm>
        </p:grpSpPr>
        <p:sp>
          <p:nvSpPr>
            <p:cNvPr id="3" name="Trapezoid 2">
              <a:extLst>
                <a:ext uri="{FF2B5EF4-FFF2-40B4-BE49-F238E27FC236}">
                  <a16:creationId xmlns:a16="http://schemas.microsoft.com/office/drawing/2014/main" id="{B6CCC755-AB10-0413-B8DB-22DEDD84ECF4}"/>
                </a:ext>
              </a:extLst>
            </p:cNvPr>
            <p:cNvSpPr/>
            <p:nvPr/>
          </p:nvSpPr>
          <p:spPr>
            <a:xfrm rot="5400000">
              <a:off x="1815643" y="2810236"/>
              <a:ext cx="1382477" cy="651887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24C7AA7-5DA0-6438-B170-147C86998819}"/>
                    </a:ext>
                  </a:extLst>
                </p:cNvPr>
                <p:cNvSpPr txBox="1"/>
                <p:nvPr/>
              </p:nvSpPr>
              <p:spPr>
                <a:xfrm>
                  <a:off x="2377781" y="2914361"/>
                  <a:ext cx="262123" cy="461665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ℰ</m:t>
                        </m:r>
                      </m:oMath>
                    </m:oMathPara>
                  </a14:m>
                  <a:endParaRPr lang="en-US" sz="2400" b="0" dirty="0" err="1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68CA614-4AEC-8BA7-B2C6-2952F4F5F6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7781" y="2914361"/>
                  <a:ext cx="262123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22727" t="-8108" r="-77273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47EAB7-5BA3-1C35-12E1-B0AC368BD6BC}"/>
              </a:ext>
            </a:extLst>
          </p:cNvPr>
          <p:cNvCxnSpPr>
            <a:cxnSpLocks/>
          </p:cNvCxnSpPr>
          <p:nvPr/>
        </p:nvCxnSpPr>
        <p:spPr>
          <a:xfrm>
            <a:off x="2350331" y="3168455"/>
            <a:ext cx="377019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E02E0FD-87AB-5FCB-B7BF-8AF83D5D3EDC}"/>
              </a:ext>
            </a:extLst>
          </p:cNvPr>
          <p:cNvSpPr/>
          <p:nvPr/>
        </p:nvSpPr>
        <p:spPr>
          <a:xfrm>
            <a:off x="3940086" y="2823891"/>
            <a:ext cx="274319" cy="720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84F143F-8598-06CF-A65A-4DC23738F192}"/>
              </a:ext>
            </a:extLst>
          </p:cNvPr>
          <p:cNvCxnSpPr>
            <a:cxnSpLocks/>
          </p:cNvCxnSpPr>
          <p:nvPr/>
        </p:nvCxnSpPr>
        <p:spPr>
          <a:xfrm>
            <a:off x="3563067" y="3172796"/>
            <a:ext cx="290476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244C2CD-AF3F-C0F6-A5D8-6D5F618F0C9F}"/>
              </a:ext>
            </a:extLst>
          </p:cNvPr>
          <p:cNvCxnSpPr>
            <a:cxnSpLocks/>
          </p:cNvCxnSpPr>
          <p:nvPr/>
        </p:nvCxnSpPr>
        <p:spPr>
          <a:xfrm>
            <a:off x="4291730" y="3177137"/>
            <a:ext cx="290476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D1E0FEF-DE3D-94BC-C3FC-6FE3708C9610}"/>
                  </a:ext>
                </a:extLst>
              </p:cNvPr>
              <p:cNvSpPr txBox="1"/>
              <p:nvPr/>
            </p:nvSpPr>
            <p:spPr>
              <a:xfrm>
                <a:off x="3961848" y="2983789"/>
                <a:ext cx="25045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186CCEB-AD92-FBE5-B585-0F29E4EBC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848" y="2983789"/>
                <a:ext cx="250453" cy="369332"/>
              </a:xfrm>
              <a:prstGeom prst="rect">
                <a:avLst/>
              </a:prstGeom>
              <a:blipFill>
                <a:blip r:embed="rId10"/>
                <a:stretch>
                  <a:fillRect l="-10000" t="-6667" r="-7000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82C70BC5-FB0D-3562-78C1-A447B5DCB7C7}"/>
              </a:ext>
            </a:extLst>
          </p:cNvPr>
          <p:cNvSpPr/>
          <p:nvPr/>
        </p:nvSpPr>
        <p:spPr>
          <a:xfrm>
            <a:off x="8688999" y="2785194"/>
            <a:ext cx="274319" cy="720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467BB8C-2F80-F527-BC37-2135BE23E9C2}"/>
                  </a:ext>
                </a:extLst>
              </p:cNvPr>
              <p:cNvSpPr txBox="1"/>
              <p:nvPr/>
            </p:nvSpPr>
            <p:spPr>
              <a:xfrm>
                <a:off x="3326754" y="5516161"/>
                <a:ext cx="5416034" cy="4084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ℒ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𝐿𝐷𝑀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≔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ℰ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,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𝜖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~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𝒩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0,1</m:t>
                              </m:r>
                            </m:e>
                          </m:d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,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𝜀</m:t>
                                  </m:r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  <a:ea typeface="Pretendard Variable Medium" panose="02000003000000020004" pitchFamily="2" charset="-127"/>
                                              <a:cs typeface="Pretendard Variable Medium" panose="02000003000000020004" pitchFamily="2" charset="-127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,</m:t>
                                      </m:r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  <a:ea typeface="Pretendard Variable Medium" panose="02000003000000020004" pitchFamily="2" charset="-127"/>
                                          <a:cs typeface="Pretendard Variable Medium" panose="02000003000000020004" pitchFamily="2" charset="-127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467BB8C-2F80-F527-BC37-2135BE23E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754" y="5516161"/>
                <a:ext cx="5416034" cy="408445"/>
              </a:xfrm>
              <a:prstGeom prst="rect">
                <a:avLst/>
              </a:prstGeom>
              <a:blipFill>
                <a:blip r:embed="rId11"/>
                <a:stretch>
                  <a:fillRect l="-234" t="-21212" r="-3044" b="-39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6022F556-30E5-D6C2-E937-9E6988EC1B53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R. Rombach et al., “High-Resolution Image Synthesis with Latent Diffusion Models”, CVPR 2022.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536296-11EA-2EFF-312A-246147FE3874}"/>
                  </a:ext>
                </a:extLst>
              </p:cNvPr>
              <p:cNvSpPr txBox="1"/>
              <p:nvPr/>
            </p:nvSpPr>
            <p:spPr>
              <a:xfrm>
                <a:off x="7339207" y="6073298"/>
                <a:ext cx="6094970" cy="3987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ko-KR" dirty="0"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c</a:t>
                </a:r>
                <a:r>
                  <a:rPr lang="en-US" altLang="ko-KR" sz="1800" b="0" dirty="0"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f.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ℒ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𝐷𝐷𝑃𝑀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≔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𝔼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𝜖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~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𝒩</m:t>
                        </m:r>
                        <m:d>
                          <m:d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0,1</m:t>
                            </m:r>
                          </m:e>
                        </m:d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,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𝑡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𝜀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Pretendard Variable Medium" panose="02000003000000020004" pitchFamily="2" charset="-127"/>
                                            <a:cs typeface="Pretendard Variable Medium" panose="02000003000000020004" pitchFamily="2" charset="-127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,</m:t>
                                    </m:r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Pretendard Variable Medium" panose="02000003000000020004" pitchFamily="2" charset="-127"/>
                                        <a:cs typeface="Pretendard Variable Medium" panose="02000003000000020004" pitchFamily="2" charset="-127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sz="1800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536296-11EA-2EFF-312A-246147FE3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207" y="6073298"/>
                <a:ext cx="6094970" cy="398764"/>
              </a:xfrm>
              <a:prstGeom prst="rect">
                <a:avLst/>
              </a:prstGeom>
              <a:blipFill>
                <a:blip r:embed="rId12"/>
                <a:stretch>
                  <a:fillRect l="-624" t="-3125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171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F4850-BD81-5CAB-C0A7-D37D3B898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7F0AA-2EC6-B9D6-D5D8-8CF380F8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Diffusion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66434-E736-C8D4-8DD2-5662B9631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" name="Picture 5" descr="A diagram of a diagram showing different types of functions&#10;&#10;AI-generated content may be incorrect.">
            <a:extLst>
              <a:ext uri="{FF2B5EF4-FFF2-40B4-BE49-F238E27FC236}">
                <a16:creationId xmlns:a16="http://schemas.microsoft.com/office/drawing/2014/main" id="{DEA49030-B40C-AC19-F5BC-5C9CCAF51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074" y="1863769"/>
            <a:ext cx="5231640" cy="407983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4320DE0-AD4F-07A4-8153-7ACA976CF362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R. Rombach et al., “High-Resolution Image Synthesis with Latent Diffusion Models”, CVPR 2022.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48278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5FD3D-47B6-52B5-C463-FA5520F29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A collage of a group of people&#10;&#10;AI-generated content may be incorrect.">
            <a:extLst>
              <a:ext uri="{FF2B5EF4-FFF2-40B4-BE49-F238E27FC236}">
                <a16:creationId xmlns:a16="http://schemas.microsoft.com/office/drawing/2014/main" id="{F40C5471-7D42-75B3-1977-764995F4EE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877" y="203375"/>
            <a:ext cx="5129323" cy="641041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A1C0F-D3D2-7D72-CC2E-2AA93F71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55D1BB-B4C3-4693-C7D9-28C26A16E639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R. Rombach et al., “High-Resolution Image Synthesis with Latent Diffusion Models”, CVPR 2022.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71922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9DE3D-1C76-2EDD-CAF8-E38FCF8E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Transformer (</a:t>
            </a:r>
            <a:r>
              <a:rPr lang="en-US" dirty="0" err="1"/>
              <a:t>DiT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AE791-2F73-AA81-3C39-0F0C75EE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46DF3-12E3-B5F9-A2D1-16FCEE3592F5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W. Peebles et al., “Scalable Diffusion Models with Transformers”, ICCV 2023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49649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5E97D-6889-1FF8-83BE-0BF94B4DA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F99D1-ABE4-B010-6B19-87776514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Transformer (</a:t>
            </a:r>
            <a:r>
              <a:rPr lang="en-US" dirty="0" err="1"/>
              <a:t>DiT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87E1B-0AD8-B968-7370-B3ED29962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424732"/>
          </a:xfrm>
        </p:spPr>
        <p:txBody>
          <a:bodyPr/>
          <a:lstStyle/>
          <a:p>
            <a:r>
              <a:rPr lang="en-US" dirty="0"/>
              <a:t>LDM diffusion space is </a:t>
            </a:r>
            <a:r>
              <a:rPr lang="en-US" dirty="0">
                <a:solidFill>
                  <a:srgbClr val="C00000"/>
                </a:solidFill>
              </a:rPr>
              <a:t>not in pixel space anymore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5A152-C9CE-1865-7EF0-C986A7F0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FB42EA-D143-C11A-4D98-592F29423E8A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W. Peebles et al., “Scalable Diffusion Models with Transformers”, ICCV 2023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13652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65924-7BA2-C9F7-2930-1BC982E7B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33F4E-1BE3-0BE6-6BC5-55B47267F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Transformer (</a:t>
            </a:r>
            <a:r>
              <a:rPr lang="en-US" dirty="0" err="1"/>
              <a:t>DiT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9C1B6-C246-9AEE-5BB6-196F3FA6D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911019"/>
          </a:xfrm>
        </p:spPr>
        <p:txBody>
          <a:bodyPr/>
          <a:lstStyle/>
          <a:p>
            <a:r>
              <a:rPr lang="en-US" dirty="0"/>
              <a:t>LDM diffusion space is </a:t>
            </a:r>
            <a:r>
              <a:rPr lang="en-US" dirty="0">
                <a:solidFill>
                  <a:srgbClr val="C00000"/>
                </a:solidFill>
              </a:rPr>
              <a:t>not in pixel space anymore</a:t>
            </a:r>
          </a:p>
          <a:p>
            <a:r>
              <a:rPr lang="en-US" dirty="0"/>
              <a:t>Thus, U-Net inductive bias is not crucial for diffusion models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69EAF-F53F-BC37-D489-9460FB279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06D2E-748A-FE77-1FEE-0CA9225B09DC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W. Peebles et al., “Scalable Diffusion Models with Transformers”, ICCV 2023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48822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83581-A9A7-965B-5A98-B36C5DD72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7C3D-872D-C38C-D836-C44EE582C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Transformer (</a:t>
            </a:r>
            <a:r>
              <a:rPr lang="en-US" dirty="0" err="1"/>
              <a:t>DiT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E5471-384E-EE82-716A-B1823263B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97306"/>
          </a:xfrm>
        </p:spPr>
        <p:txBody>
          <a:bodyPr/>
          <a:lstStyle/>
          <a:p>
            <a:r>
              <a:rPr lang="en-US" dirty="0"/>
              <a:t>LDM diffusion space is </a:t>
            </a:r>
            <a:r>
              <a:rPr lang="en-US" dirty="0">
                <a:solidFill>
                  <a:srgbClr val="C00000"/>
                </a:solidFill>
              </a:rPr>
              <a:t>not in pixel space anymore</a:t>
            </a:r>
          </a:p>
          <a:p>
            <a:r>
              <a:rPr lang="en-US" dirty="0"/>
              <a:t>Thus, U-Net inductive bias is not crucial for diffusion models </a:t>
            </a:r>
          </a:p>
          <a:p>
            <a:r>
              <a:rPr lang="en-US" dirty="0"/>
              <a:t>Transformer architecture can be utilized for LDM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95B0F-3F62-A23A-C85B-8DE7A964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15A1C-9EB8-2A25-6219-D57C2BBD1921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W. Peebles et al., “Scalable Diffusion Models with Transformers”, ICCV 2023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96829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2653C-BA82-1B2B-6E8E-C3377B2C3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7CD7-C305-8541-D765-4BC0FF322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 Transformer (</a:t>
            </a:r>
            <a:r>
              <a:rPr lang="en-US" dirty="0" err="1"/>
              <a:t>DiT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0815E-6235-AA9B-0D1A-924677434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97306"/>
          </a:xfrm>
        </p:spPr>
        <p:txBody>
          <a:bodyPr/>
          <a:lstStyle/>
          <a:p>
            <a:r>
              <a:rPr lang="en-US" dirty="0"/>
              <a:t>LDM diffusion space is not in </a:t>
            </a:r>
            <a:r>
              <a:rPr lang="en-US" dirty="0">
                <a:solidFill>
                  <a:srgbClr val="C00000"/>
                </a:solidFill>
              </a:rPr>
              <a:t>pixel space anymore</a:t>
            </a:r>
          </a:p>
          <a:p>
            <a:r>
              <a:rPr lang="en-US" dirty="0"/>
              <a:t>Thus, U-Net inductive bias is not crucial for diffusion models </a:t>
            </a:r>
          </a:p>
          <a:p>
            <a:r>
              <a:rPr lang="en-US" dirty="0"/>
              <a:t>Transformer architecture can be utilized for LDM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AEE48-59AF-1A90-FE66-49D9493E8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B003B7-6523-9F51-45C0-B151BC1908A6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W. Peebles et al., “Scalable Diffusion Models with Transformers”, ICCV 2023 Oral.</a:t>
            </a:r>
            <a:endParaRPr lang="en-US" sz="1000" dirty="0"/>
          </a:p>
        </p:txBody>
      </p:sp>
      <p:pic>
        <p:nvPicPr>
          <p:cNvPr id="8" name="Content Placeholder 5" descr="A duck swimming in water&#10;&#10;AI-generated content may be incorrect.">
            <a:extLst>
              <a:ext uri="{FF2B5EF4-FFF2-40B4-BE49-F238E27FC236}">
                <a16:creationId xmlns:a16="http://schemas.microsoft.com/office/drawing/2014/main" id="{A5E88CA0-84D3-B908-B86B-793A02044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487" y="3804332"/>
            <a:ext cx="983951" cy="983951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1EF7C4-FE2A-B700-DF34-E2F17E981E4F}"/>
              </a:ext>
            </a:extLst>
          </p:cNvPr>
          <p:cNvCxnSpPr>
            <a:cxnSpLocks/>
          </p:cNvCxnSpPr>
          <p:nvPr/>
        </p:nvCxnSpPr>
        <p:spPr>
          <a:xfrm>
            <a:off x="8213809" y="4328999"/>
            <a:ext cx="983951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82D532D-AA88-576C-BD19-2F1DBBB29B45}"/>
                  </a:ext>
                </a:extLst>
              </p:cNvPr>
              <p:cNvSpPr txBox="1"/>
              <p:nvPr/>
            </p:nvSpPr>
            <p:spPr>
              <a:xfrm>
                <a:off x="2232253" y="4805111"/>
                <a:ext cx="3027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𝐱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82D532D-AA88-576C-BD19-2F1DBBB29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2253" y="4805111"/>
                <a:ext cx="302712" cy="307777"/>
              </a:xfrm>
              <a:prstGeom prst="rect">
                <a:avLst/>
              </a:prstGeom>
              <a:blipFill>
                <a:blip r:embed="rId6"/>
                <a:stretch>
                  <a:fillRect l="-12000" t="-24000" r="-60000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1085FA0-604D-AAA9-7632-C9998F5A8666}"/>
                  </a:ext>
                </a:extLst>
              </p:cNvPr>
              <p:cNvSpPr txBox="1"/>
              <p:nvPr/>
            </p:nvSpPr>
            <p:spPr>
              <a:xfrm>
                <a:off x="9357875" y="4144333"/>
                <a:ext cx="11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1085FA0-604D-AAA9-7632-C9998F5A8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875" y="4144333"/>
                <a:ext cx="1149610" cy="369332"/>
              </a:xfrm>
              <a:prstGeom prst="rect">
                <a:avLst/>
              </a:prstGeom>
              <a:blipFill>
                <a:blip r:embed="rId7"/>
                <a:stretch>
                  <a:fillRect l="-3261" t="-26667" r="-18478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07B23B8-7882-09C3-8FAF-A27C48E1C84F}"/>
                  </a:ext>
                </a:extLst>
              </p:cNvPr>
              <p:cNvSpPr txBox="1"/>
              <p:nvPr/>
            </p:nvSpPr>
            <p:spPr>
              <a:xfrm>
                <a:off x="3470966" y="5546143"/>
                <a:ext cx="1713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𝑡</m:t>
                      </m:r>
                    </m:oMath>
                  </m:oMathPara>
                </a14:m>
                <a:endParaRPr lang="en-US" sz="2000" i="1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07B23B8-7882-09C3-8FAF-A27C48E1C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966" y="5546143"/>
                <a:ext cx="171394" cy="307777"/>
              </a:xfrm>
              <a:prstGeom prst="rect">
                <a:avLst/>
              </a:prstGeom>
              <a:blipFill>
                <a:blip r:embed="rId8"/>
                <a:stretch>
                  <a:fillRect l="-26667" t="-24000" r="-93333" b="-4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740EB9DA-0CA5-C838-F8F7-21B14143474B}"/>
              </a:ext>
            </a:extLst>
          </p:cNvPr>
          <p:cNvSpPr/>
          <p:nvPr/>
        </p:nvSpPr>
        <p:spPr>
          <a:xfrm>
            <a:off x="4562096" y="5321129"/>
            <a:ext cx="274319" cy="720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bg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3E693F6-CE1A-8337-29C6-7B624F41088A}"/>
              </a:ext>
            </a:extLst>
          </p:cNvPr>
          <p:cNvGrpSpPr/>
          <p:nvPr/>
        </p:nvGrpSpPr>
        <p:grpSpPr>
          <a:xfrm>
            <a:off x="3431312" y="3644630"/>
            <a:ext cx="651887" cy="1382477"/>
            <a:chOff x="2180938" y="2444941"/>
            <a:chExt cx="651887" cy="1382477"/>
          </a:xfrm>
        </p:grpSpPr>
        <p:sp>
          <p:nvSpPr>
            <p:cNvPr id="36" name="Trapezoid 35">
              <a:extLst>
                <a:ext uri="{FF2B5EF4-FFF2-40B4-BE49-F238E27FC236}">
                  <a16:creationId xmlns:a16="http://schemas.microsoft.com/office/drawing/2014/main" id="{E4BCCAF1-2902-6FBC-4CCD-517368CC4EB3}"/>
                </a:ext>
              </a:extLst>
            </p:cNvPr>
            <p:cNvSpPr/>
            <p:nvPr/>
          </p:nvSpPr>
          <p:spPr>
            <a:xfrm rot="5400000">
              <a:off x="1815643" y="2810236"/>
              <a:ext cx="1382477" cy="651887"/>
            </a:xfrm>
            <a:prstGeom prst="trapezoid">
              <a:avLst>
                <a:gd name="adj" fmla="val 26989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C5F76E6-B72E-CC85-FA51-D346B1870EED}"/>
                    </a:ext>
                  </a:extLst>
                </p:cNvPr>
                <p:cNvSpPr txBox="1"/>
                <p:nvPr/>
              </p:nvSpPr>
              <p:spPr>
                <a:xfrm>
                  <a:off x="2377781" y="2914361"/>
                  <a:ext cx="262123" cy="461665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ℰ</m:t>
                        </m:r>
                      </m:oMath>
                    </m:oMathPara>
                  </a14:m>
                  <a:endParaRPr lang="en-US" sz="2400" b="0" dirty="0" err="1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C5F76E6-B72E-CC85-FA51-D346B1870E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7781" y="2914361"/>
                  <a:ext cx="262123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22727" t="-10811" r="-77273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363C39F-4207-53F1-94D4-145F6054974A}"/>
              </a:ext>
            </a:extLst>
          </p:cNvPr>
          <p:cNvCxnSpPr>
            <a:cxnSpLocks/>
          </p:cNvCxnSpPr>
          <p:nvPr/>
        </p:nvCxnSpPr>
        <p:spPr>
          <a:xfrm>
            <a:off x="2974445" y="4352260"/>
            <a:ext cx="377019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D7B4307-43F9-BF35-4CD4-997D09B40FA0}"/>
              </a:ext>
            </a:extLst>
          </p:cNvPr>
          <p:cNvSpPr/>
          <p:nvPr/>
        </p:nvSpPr>
        <p:spPr>
          <a:xfrm>
            <a:off x="4564200" y="4007696"/>
            <a:ext cx="274319" cy="720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6666956-84D0-17E3-4043-C193F53F4B6F}"/>
              </a:ext>
            </a:extLst>
          </p:cNvPr>
          <p:cNvCxnSpPr>
            <a:cxnSpLocks/>
          </p:cNvCxnSpPr>
          <p:nvPr/>
        </p:nvCxnSpPr>
        <p:spPr>
          <a:xfrm>
            <a:off x="4187181" y="4356601"/>
            <a:ext cx="290476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E1BB796-6DA8-43BE-693A-AB0939240000}"/>
              </a:ext>
            </a:extLst>
          </p:cNvPr>
          <p:cNvCxnSpPr>
            <a:cxnSpLocks/>
          </p:cNvCxnSpPr>
          <p:nvPr/>
        </p:nvCxnSpPr>
        <p:spPr>
          <a:xfrm>
            <a:off x="4915844" y="4360942"/>
            <a:ext cx="831813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4C74886-EAA3-9E16-AB18-D75D17F5A7E4}"/>
                  </a:ext>
                </a:extLst>
              </p:cNvPr>
              <p:cNvSpPr txBox="1"/>
              <p:nvPr/>
            </p:nvSpPr>
            <p:spPr>
              <a:xfrm>
                <a:off x="4585962" y="4167594"/>
                <a:ext cx="250453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4C74886-EAA3-9E16-AB18-D75D17F5A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962" y="4167594"/>
                <a:ext cx="250453" cy="369332"/>
              </a:xfrm>
              <a:prstGeom prst="rect">
                <a:avLst/>
              </a:prstGeom>
              <a:blipFill>
                <a:blip r:embed="rId10"/>
                <a:stretch>
                  <a:fillRect l="-4762" t="-10000" r="-6666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D4A3C0D-3B76-D80F-5A97-EA1C44B888A9}"/>
              </a:ext>
            </a:extLst>
          </p:cNvPr>
          <p:cNvCxnSpPr>
            <a:cxnSpLocks/>
          </p:cNvCxnSpPr>
          <p:nvPr/>
        </p:nvCxnSpPr>
        <p:spPr>
          <a:xfrm>
            <a:off x="3757256" y="5713687"/>
            <a:ext cx="720401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F61769F-0B78-77AC-D52F-2446F6028B0E}"/>
              </a:ext>
            </a:extLst>
          </p:cNvPr>
          <p:cNvCxnSpPr>
            <a:cxnSpLocks/>
          </p:cNvCxnSpPr>
          <p:nvPr/>
        </p:nvCxnSpPr>
        <p:spPr>
          <a:xfrm>
            <a:off x="4915844" y="5705216"/>
            <a:ext cx="831813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F9BA5FD-A99A-0AF1-1FF9-1F2FCF05C9C8}"/>
              </a:ext>
            </a:extLst>
          </p:cNvPr>
          <p:cNvSpPr txBox="1"/>
          <p:nvPr/>
        </p:nvSpPr>
        <p:spPr>
          <a:xfrm>
            <a:off x="3807866" y="5771309"/>
            <a:ext cx="570669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400" b="0" i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Embed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C5FF8D5-B804-19EF-022C-BDED6CB0B6B6}"/>
              </a:ext>
            </a:extLst>
          </p:cNvPr>
          <p:cNvSpPr/>
          <p:nvPr/>
        </p:nvSpPr>
        <p:spPr>
          <a:xfrm>
            <a:off x="6331794" y="3644630"/>
            <a:ext cx="1721900" cy="247061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Transformer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329FF5-4B79-0524-D992-82E1A8DC5A6E}"/>
              </a:ext>
            </a:extLst>
          </p:cNvPr>
          <p:cNvSpPr/>
          <p:nvPr/>
        </p:nvSpPr>
        <p:spPr>
          <a:xfrm>
            <a:off x="5912708" y="3660332"/>
            <a:ext cx="288000" cy="28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B688DF4-56CD-B665-9303-0A930DF654C2}"/>
              </a:ext>
            </a:extLst>
          </p:cNvPr>
          <p:cNvSpPr/>
          <p:nvPr/>
        </p:nvSpPr>
        <p:spPr>
          <a:xfrm>
            <a:off x="5914491" y="4023594"/>
            <a:ext cx="288000" cy="28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8582484-AEDD-83CB-4419-4B8360D05B87}"/>
              </a:ext>
            </a:extLst>
          </p:cNvPr>
          <p:cNvSpPr/>
          <p:nvPr/>
        </p:nvSpPr>
        <p:spPr>
          <a:xfrm>
            <a:off x="5912708" y="4388074"/>
            <a:ext cx="288000" cy="28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B890010-633C-DD2A-CA8E-A8CA395DE322}"/>
              </a:ext>
            </a:extLst>
          </p:cNvPr>
          <p:cNvSpPr/>
          <p:nvPr/>
        </p:nvSpPr>
        <p:spPr>
          <a:xfrm>
            <a:off x="5912708" y="4751336"/>
            <a:ext cx="288000" cy="28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1395393-437F-7AE5-B119-D4BE5446A9EA}"/>
              </a:ext>
            </a:extLst>
          </p:cNvPr>
          <p:cNvSpPr/>
          <p:nvPr/>
        </p:nvSpPr>
        <p:spPr>
          <a:xfrm>
            <a:off x="5912708" y="5112888"/>
            <a:ext cx="288000" cy="28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4B1E81D-B268-F664-48D3-9C7ACE86FE8C}"/>
              </a:ext>
            </a:extLst>
          </p:cNvPr>
          <p:cNvSpPr/>
          <p:nvPr/>
        </p:nvSpPr>
        <p:spPr>
          <a:xfrm>
            <a:off x="5912708" y="5474440"/>
            <a:ext cx="288000" cy="288000"/>
          </a:xfrm>
          <a:prstGeom prst="rect">
            <a:avLst/>
          </a:prstGeom>
          <a:solidFill>
            <a:schemeClr val="accent6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4144579-FE19-DC73-16F8-4C3FC3DB93D4}"/>
              </a:ext>
            </a:extLst>
          </p:cNvPr>
          <p:cNvSpPr/>
          <p:nvPr/>
        </p:nvSpPr>
        <p:spPr>
          <a:xfrm>
            <a:off x="5912708" y="5832415"/>
            <a:ext cx="288000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02C48EB-96D7-5362-7977-27B730B10D33}"/>
              </a:ext>
            </a:extLst>
          </p:cNvPr>
          <p:cNvCxnSpPr>
            <a:cxnSpLocks/>
          </p:cNvCxnSpPr>
          <p:nvPr/>
        </p:nvCxnSpPr>
        <p:spPr>
          <a:xfrm>
            <a:off x="8213809" y="5432445"/>
            <a:ext cx="983951" cy="0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52D4353-B53B-DB64-2ED7-72045B75666D}"/>
                  </a:ext>
                </a:extLst>
              </p:cNvPr>
              <p:cNvSpPr txBox="1"/>
              <p:nvPr/>
            </p:nvSpPr>
            <p:spPr>
              <a:xfrm>
                <a:off x="9357875" y="5247779"/>
                <a:ext cx="3942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θ</m:t>
                          </m:r>
                        </m:sub>
                      </m:sSub>
                    </m:oMath>
                  </m:oMathPara>
                </a14:m>
                <a:endParaRPr lang="en-US" sz="2400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52D4353-B53B-DB64-2ED7-72045B756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875" y="5247779"/>
                <a:ext cx="394275" cy="369332"/>
              </a:xfrm>
              <a:prstGeom prst="rect">
                <a:avLst/>
              </a:prstGeom>
              <a:blipFill>
                <a:blip r:embed="rId11"/>
                <a:stretch>
                  <a:fillRect l="-15625" t="-26667" r="-56250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180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9810B-92D9-6DB9-0ED7-85C45240A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23241-B6E3-5E37-33C3-5B578E8B8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Patchification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70AEB-3E87-5212-3713-20302479F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964F66-928F-6794-1104-6E20F2BA31FD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W. Peebles et al., “Scalable Diffusion Models with Transformers”, ICCV 2023 Oral.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F14997-A8EE-90F1-2948-FDDBA8417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801" y="1449932"/>
            <a:ext cx="6120652" cy="51005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D0F2C7-0669-66F4-7E95-7D8C90B68F3B}"/>
                  </a:ext>
                </a:extLst>
              </p:cNvPr>
              <p:cNvSpPr txBox="1"/>
              <p:nvPr/>
            </p:nvSpPr>
            <p:spPr>
              <a:xfrm>
                <a:off x="7830457" y="4100285"/>
                <a:ext cx="3879973" cy="65287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Input latent representation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I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I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C</m:t>
                        </m:r>
                      </m:sup>
                    </m:sSup>
                  </m:oMath>
                </a14:m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D0F2C7-0669-66F4-7E95-7D8C90B68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0457" y="4100285"/>
                <a:ext cx="3879973" cy="652871"/>
              </a:xfrm>
              <a:prstGeom prst="rect">
                <a:avLst/>
              </a:prstGeom>
              <a:blipFill>
                <a:blip r:embed="rId6"/>
                <a:stretch>
                  <a:fillRect l="-3583" t="-3846" r="-3909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1082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63664-D286-D048-7AD8-C81A3F4F9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1BB80-7F80-0832-A02D-7B3004D24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Patchification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0CEA2-773D-B3D8-0172-7567065A6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C8854E-7092-D651-EB6F-EA4ED699E504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W. Peebles et al., “Scalable Diffusion Models with Transformers”, ICCV 2023 Oral.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C1C9AC-4641-F960-D399-63F9A35F7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801" y="1449932"/>
            <a:ext cx="6120652" cy="51005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CC9568-1366-0904-A237-372B985D94F8}"/>
                  </a:ext>
                </a:extLst>
              </p:cNvPr>
              <p:cNvSpPr txBox="1"/>
              <p:nvPr/>
            </p:nvSpPr>
            <p:spPr>
              <a:xfrm>
                <a:off x="7830457" y="4100285"/>
                <a:ext cx="4011932" cy="1763944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Input latent representation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I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I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C</m:t>
                        </m:r>
                      </m:sup>
                    </m:sSup>
                  </m:oMath>
                </a14:m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For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256×256×3</m:t>
                        </m:r>
                      </m:sup>
                    </m:sSup>
                  </m:oMath>
                </a14:m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32×32×4</m:t>
                        </m:r>
                      </m:sup>
                    </m:sSup>
                  </m:oMath>
                </a14:m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r>
                  <a:rPr lang="en-US" b="0" i="0" dirty="0" err="1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Patchify</a:t>
                </a:r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them with patch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𝑝</m:t>
                    </m:r>
                  </m:oMath>
                </a14:m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CC9568-1366-0904-A237-372B985D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0457" y="4100285"/>
                <a:ext cx="4011932" cy="1763944"/>
              </a:xfrm>
              <a:prstGeom prst="rect">
                <a:avLst/>
              </a:prstGeom>
              <a:blipFill>
                <a:blip r:embed="rId6"/>
                <a:stretch>
                  <a:fillRect l="-3470" t="-1439" r="-4101" b="-4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9576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9564D-D469-AE59-DC4B-23077B489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957E-F3B4-D839-F039-B138B798E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Patchification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73C35-B771-6497-F67E-05B93FC37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F3135-DB57-DE51-4213-9AD7573417C0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W. Peebles et al., “Scalable Diffusion Models with Transformers”, ICCV 2023 Oral.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FEBD61-F0B1-2D70-489F-FFCE0222F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801" y="1449932"/>
            <a:ext cx="6120652" cy="51005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113E35-9039-0786-0258-08FBC68A976E}"/>
                  </a:ext>
                </a:extLst>
              </p:cNvPr>
              <p:cNvSpPr txBox="1"/>
              <p:nvPr/>
            </p:nvSpPr>
            <p:spPr>
              <a:xfrm>
                <a:off x="7830457" y="4100285"/>
                <a:ext cx="4011932" cy="1763944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Input latent representation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I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I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C</m:t>
                        </m:r>
                      </m:sup>
                    </m:sSup>
                  </m:oMath>
                </a14:m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For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256×256×3</m:t>
                        </m:r>
                      </m:sup>
                    </m:sSup>
                  </m:oMath>
                </a14:m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32×32×4</m:t>
                        </m:r>
                      </m:sup>
                    </m:sSup>
                  </m:oMath>
                </a14:m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r>
                  <a:rPr lang="en-US" b="0" i="0" dirty="0" err="1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Patchify</a:t>
                </a:r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them with patch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𝑝</m:t>
                    </m:r>
                  </m:oMath>
                </a14:m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113E35-9039-0786-0258-08FBC68A9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0457" y="4100285"/>
                <a:ext cx="4011932" cy="1763944"/>
              </a:xfrm>
              <a:prstGeom prst="rect">
                <a:avLst/>
              </a:prstGeom>
              <a:blipFill>
                <a:blip r:embed="rId6"/>
                <a:stretch>
                  <a:fillRect l="-3470" t="-1439" r="-4101" b="-4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53ADCE-955B-41E6-939B-89C41B754CB2}"/>
                  </a:ext>
                </a:extLst>
              </p:cNvPr>
              <p:cNvSpPr txBox="1"/>
              <p:nvPr/>
            </p:nvSpPr>
            <p:spPr>
              <a:xfrm>
                <a:off x="9313501" y="2737617"/>
                <a:ext cx="2987356" cy="862159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The result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tokens </a:t>
                </a:r>
              </a:p>
              <a:p>
                <a:pPr algn="l"/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With each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𝑑</m:t>
                    </m:r>
                  </m:oMath>
                </a14:m>
                <a:endParaRPr lang="en-US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53ADCE-955B-41E6-939B-89C41B754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501" y="2737617"/>
                <a:ext cx="2987356" cy="862159"/>
              </a:xfrm>
              <a:prstGeom prst="rect">
                <a:avLst/>
              </a:prstGeom>
              <a:blipFill>
                <a:blip r:embed="rId7"/>
                <a:stretch>
                  <a:fillRect l="-5085" r="-5932"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405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D288C-AF7D-8B3E-DC3F-F1800862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C3A5E-31E1-A5DB-A793-9B89C9A4E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Patchification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1CB32-1FF5-CA45-04AB-3F8ECDFC9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FC6D4E-DDCD-B0D8-7423-655CF8B81109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W. Peebles et al., “Scalable Diffusion Models with Transformers”, ICCV 2023 Oral.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09FC4C-50DD-0A85-3B3E-6B9CF7BA2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801" y="1449932"/>
            <a:ext cx="6120652" cy="51005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E13B1A-4338-64EA-3868-B3D63DD3650C}"/>
                  </a:ext>
                </a:extLst>
              </p:cNvPr>
              <p:cNvSpPr txBox="1"/>
              <p:nvPr/>
            </p:nvSpPr>
            <p:spPr>
              <a:xfrm>
                <a:off x="7830457" y="4100285"/>
                <a:ext cx="4011932" cy="1763944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Input latent representation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I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I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C</m:t>
                        </m:r>
                      </m:sup>
                    </m:sSup>
                  </m:oMath>
                </a14:m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For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256×256×3</m:t>
                        </m:r>
                      </m:sup>
                    </m:sSup>
                  </m:oMath>
                </a14:m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32×32×4</m:t>
                        </m:r>
                      </m:sup>
                    </m:sSup>
                  </m:oMath>
                </a14:m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r>
                  <a:rPr lang="en-US" b="0" i="0" dirty="0" err="1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Patchify</a:t>
                </a:r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them with patch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𝑝</m:t>
                    </m:r>
                  </m:oMath>
                </a14:m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E13B1A-4338-64EA-3868-B3D63DD36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0457" y="4100285"/>
                <a:ext cx="4011932" cy="1763944"/>
              </a:xfrm>
              <a:prstGeom prst="rect">
                <a:avLst/>
              </a:prstGeom>
              <a:blipFill>
                <a:blip r:embed="rId6"/>
                <a:stretch>
                  <a:fillRect l="-3470" t="-1439" r="-4101" b="-4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33DD2D-158A-1458-0576-98D8720C1295}"/>
                  </a:ext>
                </a:extLst>
              </p:cNvPr>
              <p:cNvSpPr txBox="1"/>
              <p:nvPr/>
            </p:nvSpPr>
            <p:spPr>
              <a:xfrm>
                <a:off x="9313501" y="2737617"/>
                <a:ext cx="2987356" cy="862159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The result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𝐼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Pretendard Variable Medium" panose="02000003000000020004" pitchFamily="2" charset="-127"/>
                                    <a:cs typeface="Pretendard Variable Medium" panose="02000003000000020004" pitchFamily="2" charset="-127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tokens </a:t>
                </a:r>
              </a:p>
              <a:p>
                <a:pPr algn="l"/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With each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𝑑</m:t>
                    </m:r>
                  </m:oMath>
                </a14:m>
                <a:endParaRPr lang="en-US" b="0" i="0" dirty="0" err="1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33DD2D-158A-1458-0576-98D8720C1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501" y="2737617"/>
                <a:ext cx="2987356" cy="862159"/>
              </a:xfrm>
              <a:prstGeom prst="rect">
                <a:avLst/>
              </a:prstGeom>
              <a:blipFill>
                <a:blip r:embed="rId7"/>
                <a:stretch>
                  <a:fillRect l="-5085" r="-5932"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81D011-C494-D8CA-1FCA-D3F2F7AACDDE}"/>
                  </a:ext>
                </a:extLst>
              </p:cNvPr>
              <p:cNvSpPr txBox="1"/>
              <p:nvPr/>
            </p:nvSpPr>
            <p:spPr>
              <a:xfrm>
                <a:off x="7279868" y="1470475"/>
                <a:ext cx="4844403" cy="64633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Before feed into the </a:t>
                </a:r>
                <a:r>
                  <a:rPr lang="en-US" dirty="0" err="1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DiT</a:t>
                </a: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block, </a:t>
                </a:r>
                <a:b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time embedding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𝑡</m:t>
                    </m:r>
                  </m:oMath>
                </a14:m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or condition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𝑐</m:t>
                    </m:r>
                  </m:oMath>
                </a14:m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are appended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81D011-C494-D8CA-1FCA-D3F2F7AAC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868" y="1470475"/>
                <a:ext cx="4844403" cy="646331"/>
              </a:xfrm>
              <a:prstGeom prst="rect">
                <a:avLst/>
              </a:prstGeom>
              <a:blipFill>
                <a:blip r:embed="rId8"/>
                <a:stretch>
                  <a:fillRect l="-2880" t="-3846" r="-3141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574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FF608-210D-7590-3DE7-36D66A424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F6B63-979F-A116-DCE3-3B3A7FDE1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Detail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1E9A8-E2A8-E1AF-65DE-FA13CE781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942D0-9DD6-E358-7934-269D2754A8F3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W. Peebles et al., “Scalable Diffusion Models with Transformers”, ICCV 2023 Oral.</a:t>
            </a:r>
            <a:endParaRPr lang="en-US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C70834-5263-F540-C2DD-C52DB26B12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413"/>
          <a:stretch>
            <a:fillRect/>
          </a:stretch>
        </p:blipFill>
        <p:spPr>
          <a:xfrm>
            <a:off x="3845378" y="1726421"/>
            <a:ext cx="5502729" cy="440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487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87001-CFE9-7CBC-1EEC-874233170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DiT</a:t>
            </a:r>
            <a:r>
              <a:rPr lang="en-US" dirty="0"/>
              <a:t> Scalability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7DC415F-6949-A19E-C553-9D524E0D75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68965" y="2425699"/>
            <a:ext cx="9381067" cy="3517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C74B7-3A3E-5C1B-D512-D468CD20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4E2B4-B5AA-EEF7-C444-9A2B9600A796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W. Peebles et al., “Scalable Diffusion Models with Transformers”, ICCV 2023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2514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37F4-32E8-7844-F5E9-245C4B14A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DiT</a:t>
            </a:r>
            <a:r>
              <a:rPr lang="en-US" dirty="0"/>
              <a:t>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508797A-6133-2994-1085-71F5E1F7E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" r="-146" b="58497"/>
          <a:stretch>
            <a:fillRect/>
          </a:stretch>
        </p:blipFill>
        <p:spPr>
          <a:xfrm>
            <a:off x="1367900" y="1584158"/>
            <a:ext cx="9456200" cy="488790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2CE81-2898-43AD-BBDE-A483B989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E050D-1C10-A5E5-0F53-D06B6F6513F0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W. Peebles et al., “Scalable Diffusion Models with Transformers”, ICCV 2023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02577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66865-F976-866F-1FA4-B0DCFB269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Score-based Diffusion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A3733C-9D27-31B0-1A8D-53E051E814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1687257"/>
              </a:xfrm>
            </p:spPr>
            <p:txBody>
              <a:bodyPr/>
              <a:lstStyle/>
              <a:p>
                <a:r>
                  <a:rPr lang="en-US" dirty="0"/>
                  <a:t>Recall </a:t>
                </a:r>
                <a:r>
                  <a:rPr lang="en-US" sz="1600" dirty="0"/>
                  <a:t>(week 5)</a:t>
                </a:r>
                <a:r>
                  <a:rPr lang="en-US" dirty="0"/>
                  <a:t>: diffusion process as SDE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)= 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ra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A3733C-9D27-31B0-1A8D-53E051E814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1687257"/>
              </a:xfrm>
              <a:blipFill>
                <a:blip r:embed="rId5"/>
                <a:stretch>
                  <a:fillRect l="-1387" t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D89F1-A13B-926B-57F8-2FF6FA83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FE36B3-C200-74C0-DA1D-A6C95D29D161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94141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DBA3F-2289-0CE0-1578-DC96D92DF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8A09E-33E1-4263-B8ED-7E594BE52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Score-based Diffusion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96C0AF-4C9C-0BB0-A5B3-74F83E10E1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436069"/>
              </a:xfrm>
            </p:spPr>
            <p:txBody>
              <a:bodyPr/>
              <a:lstStyle/>
              <a:p>
                <a:r>
                  <a:rPr lang="en-US" dirty="0"/>
                  <a:t>Recall </a:t>
                </a:r>
                <a:r>
                  <a:rPr lang="en-US" sz="1600" dirty="0"/>
                  <a:t>(week 5)</a:t>
                </a:r>
                <a:r>
                  <a:rPr lang="en-US" dirty="0"/>
                  <a:t>: diffusion process as SDE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)= 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ra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 err="1"/>
              </a:p>
              <a:p>
                <a:r>
                  <a:rPr lang="en-US" dirty="0"/>
                  <a:t>Reverse-time SDE to backward process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𝑑𝑥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=[−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ra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̅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96C0AF-4C9C-0BB0-A5B3-74F83E10E1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436069"/>
              </a:xfrm>
              <a:blipFill>
                <a:blip r:embed="rId5"/>
                <a:stretch>
                  <a:fillRect l="-1387" t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F25F8-5521-CD06-3A5C-765041C8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63CF29-6423-7A3E-676E-600ABB92174B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22594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6A8EC-043D-98FA-0335-C5544267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5FE4D-962D-9E7D-20CE-158A32BEF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Score-based Diffusion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375044-D9EF-B036-9AC1-6201A3B56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5154103"/>
              </a:xfrm>
            </p:spPr>
            <p:txBody>
              <a:bodyPr/>
              <a:lstStyle/>
              <a:p>
                <a:r>
                  <a:rPr lang="en-US" dirty="0"/>
                  <a:t>Recall </a:t>
                </a:r>
                <a:r>
                  <a:rPr lang="en-US" sz="1600" dirty="0"/>
                  <a:t>(week 5)</a:t>
                </a:r>
                <a:r>
                  <a:rPr lang="en-US" dirty="0"/>
                  <a:t>: diffusion process as SDE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)= 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ra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 err="1"/>
              </a:p>
              <a:p>
                <a:r>
                  <a:rPr lang="en-US" dirty="0"/>
                  <a:t>Reverse-time SDE to backward process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𝑑𝑥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=[−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ra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̅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Score matching objective is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[0,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lit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∇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fNam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m:rPr>
                                                      <m:lit/>
                                                    </m:r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|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func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375044-D9EF-B036-9AC1-6201A3B56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5154103"/>
              </a:xfrm>
              <a:blipFill>
                <a:blip r:embed="rId5"/>
                <a:stretch>
                  <a:fillRect l="-1387" t="-1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9AE31-D90C-AB3F-F3AD-6BCA9C9B2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506F6-FC34-9C72-16D3-F7F197772E10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58232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75B73-337B-1AC6-A35C-E8F8C574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A6166-7671-EA7D-787A-2281DF26F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Score-based Diffusion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80E241-E2A9-21ED-D805-89BC8A3C40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2142766"/>
              </a:xfrm>
            </p:spPr>
            <p:txBody>
              <a:bodyPr/>
              <a:lstStyle/>
              <a:p>
                <a:r>
                  <a:rPr lang="en-US" dirty="0"/>
                  <a:t>Diffusion Objective is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[0,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lit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∇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fNam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m:rPr>
                                                      <m:lit/>
                                                    </m:r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|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func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80E241-E2A9-21ED-D805-89BC8A3C4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2142766"/>
              </a:xfrm>
              <a:blipFill>
                <a:blip r:embed="rId5"/>
                <a:stretch>
                  <a:fillRect l="-1387" t="-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A4E94-DBDD-3316-A7E8-CFDC4788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9E2A6B-9F82-D0CA-D8CA-C7273B47724E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23128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16DEC-600B-8083-CB2E-245A9B3FE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2D21-E7F6-78D3-C4EB-EFD04DA52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Score-based Diffusion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98B9F7-4947-7FF3-6F22-E560260A9D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374514"/>
              </a:xfrm>
            </p:spPr>
            <p:txBody>
              <a:bodyPr/>
              <a:lstStyle/>
              <a:p>
                <a:r>
                  <a:rPr lang="en-US" dirty="0"/>
                  <a:t>Diffusion Objective is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[0,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lit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∇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fNam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m:rPr>
                                                      <m:lit/>
                                                    </m:r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|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func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latent space: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[0,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lit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∇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i="1" smtClean="0">
                                                      <a:solidFill>
                                                        <a:srgbClr val="C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rgbClr val="C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solidFill>
                                                        <a:srgbClr val="C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fNam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 smtClean="0">
                                                          <a:solidFill>
                                                            <a:srgbClr val="C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rgbClr val="C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𝑧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solidFill>
                                                            <a:srgbClr val="C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m:rPr>
                                                      <m:lit/>
                                                    </m:r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|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i="1" smtClean="0">
                                                          <a:solidFill>
                                                            <a:srgbClr val="C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rgbClr val="C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𝑧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solidFill>
                                                            <a:srgbClr val="C00000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func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98B9F7-4947-7FF3-6F22-E560260A9D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374514"/>
              </a:xfrm>
              <a:blipFill>
                <a:blip r:embed="rId5"/>
                <a:stretch>
                  <a:fillRect l="-1387" t="-2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2B147-6876-AA48-8C99-1EB8A758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E75FDE-E706-51A0-4A0F-A5449FB5BFF4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87741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371E8-8DD2-5D82-B16D-41D49DD3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093E0-855B-1D65-CD80-F7065975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Score-based Diffusion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DA67D-E376-1F43-DA08-3A11F323BC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374514"/>
              </a:xfrm>
            </p:spPr>
            <p:txBody>
              <a:bodyPr/>
              <a:lstStyle/>
              <a:p>
                <a:r>
                  <a:rPr lang="en-US" dirty="0"/>
                  <a:t>Diffusion Objective is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[0,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lit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∇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fNam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m:rPr>
                                                      <m:lit/>
                                                    </m:r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|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func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latent space: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[0,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lit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∇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fNam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𝑧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m:rPr>
                                                      <m:lit/>
                                                    </m:r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|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𝑧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func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DA67D-E376-1F43-DA08-3A11F323BC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374514"/>
              </a:xfrm>
              <a:blipFill>
                <a:blip r:embed="rId5"/>
                <a:stretch>
                  <a:fillRect l="-1387" t="-2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D1AF1-D440-6D03-E5F7-EAC1E8C20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EEEC7A-5D67-042A-176D-AAC799669C6D}"/>
                  </a:ext>
                </a:extLst>
              </p:cNvPr>
              <p:cNvSpPr txBox="1"/>
              <p:nvPr/>
            </p:nvSpPr>
            <p:spPr>
              <a:xfrm>
                <a:off x="1219201" y="4325258"/>
                <a:ext cx="6567504" cy="73590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However, using this objective is not possible; </a:t>
                </a:r>
              </a:p>
              <a:p>
                <a:r>
                  <a:rPr lang="en-US" sz="2000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marginal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000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is non-normal distribution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EEEC7A-5D67-042A-176D-AAC799669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1" y="4325258"/>
                <a:ext cx="6567504" cy="735907"/>
              </a:xfrm>
              <a:prstGeom prst="rect">
                <a:avLst/>
              </a:prstGeom>
              <a:blipFill>
                <a:blip r:embed="rId6"/>
                <a:stretch>
                  <a:fillRect l="-2321" t="-5085" r="-2515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17CC68E-4B09-50DE-C71B-F0A0616E7AC8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12029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5D5AD-FDD8-A4FA-0CF9-B6D9E101D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B87BF-62E1-51C1-E4D1-6C4B5533C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Score-based Diffusion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1FCA54-DE01-3DC7-9CB4-325B535B50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374514"/>
              </a:xfrm>
            </p:spPr>
            <p:txBody>
              <a:bodyPr/>
              <a:lstStyle/>
              <a:p>
                <a:r>
                  <a:rPr lang="en-US" dirty="0"/>
                  <a:t>Diffusion Objective is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[0,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lit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∇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fNam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m:rPr>
                                                      <m:lit/>
                                                    </m:r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|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func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latent space: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[0,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lit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∇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fNam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𝑧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m:rPr>
                                                      <m:lit/>
                                                    </m:r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|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𝑧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func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1FCA54-DE01-3DC7-9CB4-325B535B50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374514"/>
              </a:xfrm>
              <a:blipFill>
                <a:blip r:embed="rId5"/>
                <a:stretch>
                  <a:fillRect l="-1387" t="-2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6A82B-82E8-B79B-525B-B94328FCC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A9468C-07F2-5054-D96F-8465FEBDF085}"/>
                  </a:ext>
                </a:extLst>
              </p:cNvPr>
              <p:cNvSpPr txBox="1"/>
              <p:nvPr/>
            </p:nvSpPr>
            <p:spPr>
              <a:xfrm>
                <a:off x="1219201" y="4325258"/>
                <a:ext cx="6567504" cy="1043684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2000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However, using this objective is not possible; </a:t>
                </a:r>
              </a:p>
              <a:p>
                <a:r>
                  <a:rPr lang="en-US" sz="2000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marginal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000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is non-normal distribution</a:t>
                </a:r>
              </a:p>
              <a:p>
                <a:r>
                  <a:rPr lang="en-US" sz="2000" b="0" i="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-&gt; </a:t>
                </a:r>
                <a:r>
                  <a:rPr lang="en-US" sz="2000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Not able to analytically compute the value </a:t>
                </a:r>
                <a:endParaRPr lang="en-US" sz="2000" b="0" i="0" dirty="0">
                  <a:solidFill>
                    <a:srgbClr val="C00000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A9468C-07F2-5054-D96F-8465FEBDF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1" y="4325258"/>
                <a:ext cx="6567504" cy="1043684"/>
              </a:xfrm>
              <a:prstGeom prst="rect">
                <a:avLst/>
              </a:prstGeom>
              <a:blipFill>
                <a:blip r:embed="rId6"/>
                <a:stretch>
                  <a:fillRect l="-2321" t="-3614" r="-2515" b="-9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6FAEE46-5C2E-F82A-077C-ECE593FB58A5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42173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D4FF6-4CAC-D2C8-800F-AE652E21C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LSGM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142F36-8128-AED3-487A-EC8430C999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1913922"/>
              </a:xfrm>
            </p:spPr>
            <p:txBody>
              <a:bodyPr/>
              <a:lstStyle/>
              <a:p>
                <a:r>
                  <a:rPr lang="en-US" dirty="0"/>
                  <a:t>Goal: Use the score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142F36-8128-AED3-487A-EC8430C999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1913922"/>
              </a:xfrm>
              <a:blipFill>
                <a:blip r:embed="rId5"/>
                <a:stretch>
                  <a:fillRect l="-1387" t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EDA30-A03C-7369-3379-C070BBC3E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55F977-8ED0-F145-B6EF-B6F398A27295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53535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76F68-896D-FD73-68C3-BCD263451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CADD8-7555-05BF-367E-93276047E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LSGM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246BC0-50FA-79D4-E4E0-BE36EC0265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233706"/>
              </a:xfrm>
            </p:spPr>
            <p:txBody>
              <a:bodyPr/>
              <a:lstStyle/>
              <a:p>
                <a:r>
                  <a:rPr lang="en-US" dirty="0"/>
                  <a:t>Goal: Use the score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Solution: optimize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246BC0-50FA-79D4-E4E0-BE36EC0265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233706"/>
              </a:xfrm>
              <a:blipFill>
                <a:blip r:embed="rId5"/>
                <a:stretch>
                  <a:fillRect l="-1387" t="-19141" b="-23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46A7A-3DFC-61E1-7B1F-CEFA1568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15D522-6A0E-D1B3-BB48-F689CF9C985F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27887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DF3C5-0F77-CDEA-5172-45690A3C4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2CE4E-A497-32A0-2BAE-45922CC78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LSGM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A3C3F-09DD-BA5D-9830-3AC62FC957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371325"/>
              </a:xfrm>
            </p:spPr>
            <p:txBody>
              <a:bodyPr/>
              <a:lstStyle/>
              <a:p>
                <a:r>
                  <a:rPr lang="en-US" dirty="0"/>
                  <a:t>Goal: Use the score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Solution: optimize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Recall </a:t>
                </a:r>
                <a:r>
                  <a:rPr lang="en-US" sz="1600" dirty="0"/>
                  <a:t>(week 2)</a:t>
                </a:r>
                <a:r>
                  <a:rPr lang="en-US" dirty="0"/>
                  <a:t>: Variational Lower Bound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A3C3F-09DD-BA5D-9830-3AC62FC957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371325"/>
              </a:xfrm>
              <a:blipFill>
                <a:blip r:embed="rId5"/>
                <a:stretch>
                  <a:fillRect l="-1734" t="-14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2219F-17F4-8C6B-10EA-94CD7A7A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74A1D-699C-22C7-1E65-D1E6F2CD6BED}"/>
              </a:ext>
            </a:extLst>
          </p:cNvPr>
          <p:cNvSpPr txBox="1"/>
          <p:nvPr/>
        </p:nvSpPr>
        <p:spPr>
          <a:xfrm>
            <a:off x="2046514" y="4528458"/>
            <a:ext cx="214161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b="0" i="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Reconstruction term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C91270-35D5-94B0-252A-BDBDA178FD90}"/>
              </a:ext>
            </a:extLst>
          </p:cNvPr>
          <p:cNvSpPr txBox="1"/>
          <p:nvPr/>
        </p:nvSpPr>
        <p:spPr>
          <a:xfrm>
            <a:off x="4527461" y="4528458"/>
            <a:ext cx="313707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Prior / Encoder KL Divergence</a:t>
            </a:r>
            <a:endParaRPr lang="en-US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12D3B-94B4-E89C-0EEB-7FFB8BF820C3}"/>
              </a:ext>
            </a:extLst>
          </p:cNvPr>
          <p:cNvSpPr txBox="1"/>
          <p:nvPr/>
        </p:nvSpPr>
        <p:spPr>
          <a:xfrm>
            <a:off x="8545755" y="4528458"/>
            <a:ext cx="112851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Intractable</a:t>
            </a:r>
            <a:endParaRPr lang="en-US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70F278-638D-CA50-7A22-3CA3F2640A92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27887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3CE1A-D1A6-8B47-D63F-31545D819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FBC5E-0069-4193-1752-74791E58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LSGM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511B06-7C02-2551-811F-0231DBDFDA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371325"/>
              </a:xfrm>
            </p:spPr>
            <p:txBody>
              <a:bodyPr/>
              <a:lstStyle/>
              <a:p>
                <a:r>
                  <a:rPr lang="en-US" dirty="0"/>
                  <a:t>Goal: Use the score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Solution: optimize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Recall </a:t>
                </a:r>
                <a:r>
                  <a:rPr lang="en-US" sz="1600" dirty="0"/>
                  <a:t>(week 2)</a:t>
                </a:r>
                <a:r>
                  <a:rPr lang="en-US" dirty="0"/>
                  <a:t>: Variational Lower Bound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511B06-7C02-2551-811F-0231DBDFDA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371325"/>
              </a:xfrm>
              <a:blipFill>
                <a:blip r:embed="rId5"/>
                <a:stretch>
                  <a:fillRect l="-1734" t="-14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3ED9A-2B15-DA3A-D9F0-0D3B687C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674001-3D0F-FEBF-4B33-E37802678A2C}"/>
              </a:ext>
            </a:extLst>
          </p:cNvPr>
          <p:cNvSpPr txBox="1"/>
          <p:nvPr/>
        </p:nvSpPr>
        <p:spPr>
          <a:xfrm>
            <a:off x="2046514" y="4528458"/>
            <a:ext cx="214161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b="0" i="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Reconstruction term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670FC-20F6-0118-557F-B26F6083C09C}"/>
              </a:ext>
            </a:extLst>
          </p:cNvPr>
          <p:cNvSpPr txBox="1"/>
          <p:nvPr/>
        </p:nvSpPr>
        <p:spPr>
          <a:xfrm>
            <a:off x="4527461" y="4528458"/>
            <a:ext cx="313707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Prior / Encoder KL Divergence</a:t>
            </a:r>
            <a:endParaRPr lang="en-US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DB7BA-69ED-7CAF-1030-8D75DFD8DFB1}"/>
              </a:ext>
            </a:extLst>
          </p:cNvPr>
          <p:cNvSpPr txBox="1"/>
          <p:nvPr/>
        </p:nvSpPr>
        <p:spPr>
          <a:xfrm>
            <a:off x="8545755" y="4528458"/>
            <a:ext cx="112851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Intractable</a:t>
            </a:r>
            <a:endParaRPr lang="en-US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2B4EE9-7D86-BD4B-DBF3-6C03B950A328}"/>
              </a:ext>
            </a:extLst>
          </p:cNvPr>
          <p:cNvSpPr txBox="1"/>
          <p:nvPr/>
        </p:nvSpPr>
        <p:spPr>
          <a:xfrm>
            <a:off x="2268493" y="4945234"/>
            <a:ext cx="2991203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b="0" i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We </a:t>
            </a:r>
            <a:r>
              <a:rPr lang="en-US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have </a:t>
            </a:r>
            <a:r>
              <a:rPr lang="en-US" b="0" i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three components: </a:t>
            </a:r>
          </a:p>
          <a:p>
            <a:pPr algn="l"/>
            <a:endParaRPr lang="en-US" b="0" i="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C7FF75-4D11-EBAD-5BBC-416910B30664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61639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EEED2-CBEB-9BAB-DF30-195808E82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98153-203A-D374-6635-57C004550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LSGM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51B413-21AB-0FB6-1F5C-5397B47B4F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371325"/>
              </a:xfrm>
            </p:spPr>
            <p:txBody>
              <a:bodyPr/>
              <a:lstStyle/>
              <a:p>
                <a:r>
                  <a:rPr lang="en-US" dirty="0"/>
                  <a:t>Goal: Use the score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Solution: optimize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Recall </a:t>
                </a:r>
                <a:r>
                  <a:rPr lang="en-US" sz="1600" dirty="0"/>
                  <a:t>(week 2)</a:t>
                </a:r>
                <a:r>
                  <a:rPr lang="en-US" dirty="0"/>
                  <a:t>: Variational Lower Bound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51B413-21AB-0FB6-1F5C-5397B47B4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371325"/>
              </a:xfrm>
              <a:blipFill>
                <a:blip r:embed="rId5"/>
                <a:stretch>
                  <a:fillRect l="-1734" t="-14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29742-A819-E46C-8BD8-ECDD2ADC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E5B103-F0C6-DB42-0036-A880C2290AEE}"/>
              </a:ext>
            </a:extLst>
          </p:cNvPr>
          <p:cNvSpPr txBox="1"/>
          <p:nvPr/>
        </p:nvSpPr>
        <p:spPr>
          <a:xfrm>
            <a:off x="2046514" y="4528458"/>
            <a:ext cx="214161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b="0" i="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Reconstruction term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B11CF5-0390-53B4-3B36-A41BE30C3031}"/>
              </a:ext>
            </a:extLst>
          </p:cNvPr>
          <p:cNvSpPr txBox="1"/>
          <p:nvPr/>
        </p:nvSpPr>
        <p:spPr>
          <a:xfrm>
            <a:off x="4527461" y="4528458"/>
            <a:ext cx="313707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Prior / Encoder KL Divergence</a:t>
            </a:r>
            <a:endParaRPr lang="en-US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91BC3B-1F6C-4450-26FC-2631FE8355FE}"/>
              </a:ext>
            </a:extLst>
          </p:cNvPr>
          <p:cNvSpPr txBox="1"/>
          <p:nvPr/>
        </p:nvSpPr>
        <p:spPr>
          <a:xfrm>
            <a:off x="8545755" y="4528458"/>
            <a:ext cx="112851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Intractable</a:t>
            </a:r>
            <a:endParaRPr lang="en-US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4A585C-46AB-AB92-8BC2-D17C866E6798}"/>
                  </a:ext>
                </a:extLst>
              </p:cNvPr>
              <p:cNvSpPr txBox="1"/>
              <p:nvPr/>
            </p:nvSpPr>
            <p:spPr>
              <a:xfrm>
                <a:off x="2268493" y="4945234"/>
                <a:ext cx="2991203" cy="948080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We </a:t>
                </a: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have </a:t>
                </a:r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three components: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Encoder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l"/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4A585C-46AB-AB92-8BC2-D17C866E6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493" y="4945234"/>
                <a:ext cx="2991203" cy="948080"/>
              </a:xfrm>
              <a:prstGeom prst="rect">
                <a:avLst/>
              </a:prstGeom>
              <a:blipFill>
                <a:blip r:embed="rId6"/>
                <a:stretch>
                  <a:fillRect l="-4641" t="-2632" r="-5485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40B91F3-DB67-3C81-7301-D0FDF782C9F6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10303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7C505-1580-CEEB-2ABA-118787065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BD848-A621-1D34-6B2E-81B3AB549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LSGM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2CF80A-FFC1-8FF2-ADB7-8BBCBB6F06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371325"/>
              </a:xfrm>
            </p:spPr>
            <p:txBody>
              <a:bodyPr/>
              <a:lstStyle/>
              <a:p>
                <a:r>
                  <a:rPr lang="en-US" dirty="0"/>
                  <a:t>Goal: Use the score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Solution: optimize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Recall </a:t>
                </a:r>
                <a:r>
                  <a:rPr lang="en-US" sz="1600" dirty="0"/>
                  <a:t>(week 2)</a:t>
                </a:r>
                <a:r>
                  <a:rPr lang="en-US" dirty="0"/>
                  <a:t>: Variational Lower Bound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2CF80A-FFC1-8FF2-ADB7-8BBCBB6F06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371325"/>
              </a:xfrm>
              <a:blipFill>
                <a:blip r:embed="rId5"/>
                <a:stretch>
                  <a:fillRect l="-1734" t="-14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04FCF-B8D7-FF5D-35BE-193C9F99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63D9E-5855-67DE-EBC2-064AE01E2548}"/>
              </a:ext>
            </a:extLst>
          </p:cNvPr>
          <p:cNvSpPr txBox="1"/>
          <p:nvPr/>
        </p:nvSpPr>
        <p:spPr>
          <a:xfrm>
            <a:off x="2046514" y="4528458"/>
            <a:ext cx="214161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b="0" i="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Reconstruction term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07D394-1801-A018-331B-F1727F841971}"/>
              </a:ext>
            </a:extLst>
          </p:cNvPr>
          <p:cNvSpPr txBox="1"/>
          <p:nvPr/>
        </p:nvSpPr>
        <p:spPr>
          <a:xfrm>
            <a:off x="4527461" y="4528458"/>
            <a:ext cx="313707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Prior / Encoder KL Divergence</a:t>
            </a:r>
            <a:endParaRPr lang="en-US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CEA1DC-F837-3DB7-068D-68B1EB4EEF7C}"/>
              </a:ext>
            </a:extLst>
          </p:cNvPr>
          <p:cNvSpPr txBox="1"/>
          <p:nvPr/>
        </p:nvSpPr>
        <p:spPr>
          <a:xfrm>
            <a:off x="8545755" y="4528458"/>
            <a:ext cx="112851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Intractable</a:t>
            </a:r>
            <a:endParaRPr lang="en-US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414CC5-BE69-5C17-5E76-BBBCDC67609C}"/>
                  </a:ext>
                </a:extLst>
              </p:cNvPr>
              <p:cNvSpPr txBox="1"/>
              <p:nvPr/>
            </p:nvSpPr>
            <p:spPr>
              <a:xfrm>
                <a:off x="2268493" y="4945234"/>
                <a:ext cx="2991203" cy="1249829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We </a:t>
                </a: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have </a:t>
                </a:r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three components: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Encoder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Decoder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𝜓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414CC5-BE69-5C17-5E76-BBBCDC676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493" y="4945234"/>
                <a:ext cx="2991203" cy="1249829"/>
              </a:xfrm>
              <a:prstGeom prst="rect">
                <a:avLst/>
              </a:prstGeom>
              <a:blipFill>
                <a:blip r:embed="rId6"/>
                <a:stretch>
                  <a:fillRect l="-4641" t="-2020" r="-5485" b="-7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B6EBE8C-AD04-7BE6-9D3E-2FB3887CA41F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82495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DA24D-BE32-F7F7-8413-E41BA909D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9A4DF-D293-2499-DDA8-730CD3B6F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LSGM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C40A0C-D42C-67F6-AEB8-D62FFC0069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371325"/>
              </a:xfrm>
            </p:spPr>
            <p:txBody>
              <a:bodyPr/>
              <a:lstStyle/>
              <a:p>
                <a:r>
                  <a:rPr lang="en-US" dirty="0"/>
                  <a:t>Goal: Use the score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Solution: optimize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Recall </a:t>
                </a:r>
                <a:r>
                  <a:rPr lang="en-US" sz="1600" dirty="0"/>
                  <a:t>(week 2)</a:t>
                </a:r>
                <a:r>
                  <a:rPr lang="en-US" dirty="0"/>
                  <a:t>: Variational Lower Bound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2CF80A-FFC1-8FF2-ADB7-8BBCBB6F06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371325"/>
              </a:xfrm>
              <a:blipFill>
                <a:blip r:embed="rId5"/>
                <a:stretch>
                  <a:fillRect l="-1734" t="-14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AB375-8164-B6A5-F4B1-1767ADDF8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51D51-5C6A-4DCE-2C4B-193A06CC5E95}"/>
              </a:ext>
            </a:extLst>
          </p:cNvPr>
          <p:cNvSpPr txBox="1"/>
          <p:nvPr/>
        </p:nvSpPr>
        <p:spPr>
          <a:xfrm>
            <a:off x="2046514" y="4528458"/>
            <a:ext cx="214161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b="0" i="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Reconstruction term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D21D5A-CAA6-9898-9047-5BB8378683BD}"/>
              </a:ext>
            </a:extLst>
          </p:cNvPr>
          <p:cNvSpPr txBox="1"/>
          <p:nvPr/>
        </p:nvSpPr>
        <p:spPr>
          <a:xfrm>
            <a:off x="4527461" y="4528458"/>
            <a:ext cx="313707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Prior / Encoder KL Divergence</a:t>
            </a:r>
            <a:endParaRPr lang="en-US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75C849-A4CB-00AB-E4E7-30C6D52A172A}"/>
              </a:ext>
            </a:extLst>
          </p:cNvPr>
          <p:cNvSpPr txBox="1"/>
          <p:nvPr/>
        </p:nvSpPr>
        <p:spPr>
          <a:xfrm>
            <a:off x="8545755" y="4528458"/>
            <a:ext cx="112851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Intractable</a:t>
            </a:r>
            <a:endParaRPr lang="en-US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431CD2-82C4-D9C8-C41A-911B8ABC6F47}"/>
                  </a:ext>
                </a:extLst>
              </p:cNvPr>
              <p:cNvSpPr txBox="1"/>
              <p:nvPr/>
            </p:nvSpPr>
            <p:spPr>
              <a:xfrm>
                <a:off x="2268493" y="4945234"/>
                <a:ext cx="2991203" cy="152682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We </a:t>
                </a: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have </a:t>
                </a:r>
                <a:r>
                  <a:rPr lang="en-US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three components: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Encoder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Decoder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𝜓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SGM prior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algn="l"/>
                <a:endParaRPr lang="en-US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431CD2-82C4-D9C8-C41A-911B8ABC6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493" y="4945234"/>
                <a:ext cx="2991203" cy="1526828"/>
              </a:xfrm>
              <a:prstGeom prst="rect">
                <a:avLst/>
              </a:prstGeom>
              <a:blipFill>
                <a:blip r:embed="rId6"/>
                <a:stretch>
                  <a:fillRect l="-4641" t="-1653" r="-5485" b="-4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89FE307-0DDC-83E6-4288-9EC94CEFA5E1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70170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81297-2C95-AC11-9F21-04DDA699C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15CC9-240A-E379-E50E-621E277C8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LSGM Loss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BFB317-EECD-DE22-83A8-4D564DFDE0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2678234"/>
              </a:xfrm>
            </p:spPr>
            <p:txBody>
              <a:bodyPr/>
              <a:lstStyle/>
              <a:p>
                <a:r>
                  <a:rPr lang="en-US" dirty="0"/>
                  <a:t>Goal: Use the score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>
                          <a:latin typeface="Cambria Math" panose="02040503050406030204" pitchFamily="18" charset="0"/>
                        </a:rPr>
                        <m:t>                         </m:t>
                      </m:r>
                      <m:r>
                        <a:rPr lang="en-US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BFB317-EECD-DE22-83A8-4D564DFDE0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2678234"/>
              </a:xfrm>
              <a:blipFill>
                <a:blip r:embed="rId5"/>
                <a:stretch>
                  <a:fillRect l="-1387" t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B4A07-B4A9-742D-E9B9-F614ACFA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6403A5-2D8C-B56C-5194-8A661A805836}"/>
                  </a:ext>
                </a:extLst>
              </p:cNvPr>
              <p:cNvSpPr txBox="1"/>
              <p:nvPr/>
            </p:nvSpPr>
            <p:spPr>
              <a:xfrm>
                <a:off x="8062686" y="564123"/>
                <a:ext cx="6096000" cy="972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Encoder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Decoder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𝜓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SGM prior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6403A5-2D8C-B56C-5194-8A661A805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686" y="564123"/>
                <a:ext cx="6096000" cy="972830"/>
              </a:xfrm>
              <a:prstGeom prst="rect">
                <a:avLst/>
              </a:prstGeom>
              <a:blipFill>
                <a:blip r:embed="rId6"/>
                <a:stretch>
                  <a:fillRect t="-2597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7608653-9A8F-CD4B-9A89-CEC53C51D427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274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47AB7-23A4-81A8-B18F-8F266D53E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11314-92EE-051E-E263-8978AE504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LSGM Loss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5F7993-D2E5-E372-C21A-61720EF7CB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508076"/>
              </a:xfrm>
            </p:spPr>
            <p:txBody>
              <a:bodyPr/>
              <a:lstStyle/>
              <a:p>
                <a:r>
                  <a:rPr lang="en-US" dirty="0"/>
                  <a:t>Goal: Use the score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dirty="0">
                          <a:latin typeface="Cambria Math" panose="02040503050406030204" pitchFamily="18" charset="0"/>
                        </a:rPr>
                        <m:t>                         </m:t>
                      </m:r>
                      <m:r>
                        <a:rPr lang="en-US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5F7993-D2E5-E372-C21A-61720EF7C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508076"/>
              </a:xfrm>
              <a:blipFill>
                <a:blip r:embed="rId5"/>
                <a:stretch>
                  <a:fillRect l="-1387" t="-2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D2370-5AA5-44AF-4B9D-F18CBDAE3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B0154A-F631-CA97-74C5-093932E3C898}"/>
                  </a:ext>
                </a:extLst>
              </p:cNvPr>
              <p:cNvSpPr txBox="1"/>
              <p:nvPr/>
            </p:nvSpPr>
            <p:spPr>
              <a:xfrm>
                <a:off x="8062686" y="564123"/>
                <a:ext cx="6096000" cy="972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Encoder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Decoder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𝜓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SGM prior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B0154A-F631-CA97-74C5-093932E3C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686" y="564123"/>
                <a:ext cx="6096000" cy="972830"/>
              </a:xfrm>
              <a:prstGeom prst="rect">
                <a:avLst/>
              </a:prstGeom>
              <a:blipFill>
                <a:blip r:embed="rId6"/>
                <a:stretch>
                  <a:fillRect t="-2597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0D8C580-6375-418F-88C1-19D1743FD668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45372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769F3-3D0F-1C85-8085-21C36424D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F0491-BA6A-62E4-9B67-D8B6ABCD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LSGM Loss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8A9510-B550-9D0E-6BC2-64328F3FF5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508076"/>
              </a:xfrm>
            </p:spPr>
            <p:txBody>
              <a:bodyPr/>
              <a:lstStyle/>
              <a:p>
                <a:r>
                  <a:rPr lang="en-US" dirty="0"/>
                  <a:t>Goal: Use the score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dirty="0">
                          <a:latin typeface="Cambria Math" panose="02040503050406030204" pitchFamily="18" charset="0"/>
                        </a:rPr>
                        <m:t>                         </m:t>
                      </m:r>
                      <m:r>
                        <a:rPr lang="en-US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8A9510-B550-9D0E-6BC2-64328F3FF5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508076"/>
              </a:xfrm>
              <a:blipFill>
                <a:blip r:embed="rId5"/>
                <a:stretch>
                  <a:fillRect l="-1387" t="-2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68639-C8A4-7392-CFE5-3F842DB7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1F389A-C549-168C-DE98-9CAB9A9A59D0}"/>
                  </a:ext>
                </a:extLst>
              </p:cNvPr>
              <p:cNvSpPr txBox="1"/>
              <p:nvPr/>
            </p:nvSpPr>
            <p:spPr>
              <a:xfrm>
                <a:off x="8396514" y="2213429"/>
                <a:ext cx="2552686" cy="142083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sz="1400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Recall KL divergence: </a:t>
                </a:r>
                <a:br>
                  <a:rPr lang="en-US" sz="1400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</m:func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</m:func>
                        </m:e>
                      </m:nary>
                    </m:oMath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</m:oMath>
                  </m:oMathPara>
                </a14:m>
                <a:endParaRPr lang="en-US" sz="1400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1F389A-C549-168C-DE98-9CAB9A9A5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514" y="2213429"/>
                <a:ext cx="2552686" cy="1420838"/>
              </a:xfrm>
              <a:prstGeom prst="rect">
                <a:avLst/>
              </a:prstGeom>
              <a:blipFill>
                <a:blip r:embed="rId6"/>
                <a:stretch>
                  <a:fillRect l="-4926" t="-46903" b="-70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056CE9-43EF-FF68-2E0A-0C880228EC94}"/>
                  </a:ext>
                </a:extLst>
              </p:cNvPr>
              <p:cNvSpPr txBox="1"/>
              <p:nvPr/>
            </p:nvSpPr>
            <p:spPr>
              <a:xfrm>
                <a:off x="8062686" y="564123"/>
                <a:ext cx="6096000" cy="972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Encoder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Decoder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𝜓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SGM prior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056CE9-43EF-FF68-2E0A-0C880228E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686" y="564123"/>
                <a:ext cx="6096000" cy="972830"/>
              </a:xfrm>
              <a:prstGeom prst="rect">
                <a:avLst/>
              </a:prstGeom>
              <a:blipFill>
                <a:blip r:embed="rId7"/>
                <a:stretch>
                  <a:fillRect t="-2597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6B37C8D-6D70-9471-28E1-15D7DE74BE87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53666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783A1-B6FF-5787-F12B-C5414DFC2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5569F-0E4E-F760-80D7-016638E21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LSGM Loss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B3C1F-31EB-4E5F-A03C-DE3ED2B3DC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508076"/>
              </a:xfrm>
            </p:spPr>
            <p:txBody>
              <a:bodyPr/>
              <a:lstStyle/>
              <a:p>
                <a:r>
                  <a:rPr lang="en-US" dirty="0"/>
                  <a:t>Goal: Use the score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dirty="0">
                          <a:latin typeface="Cambria Math" panose="02040503050406030204" pitchFamily="18" charset="0"/>
                        </a:rPr>
                        <m:t>                        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B3C1F-31EB-4E5F-A03C-DE3ED2B3DC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508076"/>
              </a:xfrm>
              <a:blipFill>
                <a:blip r:embed="rId5"/>
                <a:stretch>
                  <a:fillRect l="-1387" t="-2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FFDA0-50BC-DBDE-E632-BE4F91EA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A02796-01BF-A56B-7FE7-60A0B0EF41CB}"/>
                  </a:ext>
                </a:extLst>
              </p:cNvPr>
              <p:cNvSpPr txBox="1"/>
              <p:nvPr/>
            </p:nvSpPr>
            <p:spPr>
              <a:xfrm>
                <a:off x="8396514" y="2213429"/>
                <a:ext cx="2552686" cy="142083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sz="1400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Recall KL divergence: </a:t>
                </a:r>
                <a:br>
                  <a:rPr lang="en-US" sz="1400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</m:func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</m:func>
                        </m:e>
                      </m:nary>
                    </m:oMath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</m:oMath>
                  </m:oMathPara>
                </a14:m>
                <a:endParaRPr lang="en-US" sz="1400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A02796-01BF-A56B-7FE7-60A0B0EF4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514" y="2213429"/>
                <a:ext cx="2552686" cy="1420838"/>
              </a:xfrm>
              <a:prstGeom prst="rect">
                <a:avLst/>
              </a:prstGeom>
              <a:blipFill>
                <a:blip r:embed="rId6"/>
                <a:stretch>
                  <a:fillRect l="-4926" t="-46903" b="-70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FCD167-8615-83F4-0F22-8FE5F94719A7}"/>
                  </a:ext>
                </a:extLst>
              </p:cNvPr>
              <p:cNvSpPr txBox="1"/>
              <p:nvPr/>
            </p:nvSpPr>
            <p:spPr>
              <a:xfrm>
                <a:off x="8062686" y="564123"/>
                <a:ext cx="6096000" cy="972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Encoder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Decoder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𝜓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SGM prior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FCD167-8615-83F4-0F22-8FE5F9471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686" y="564123"/>
                <a:ext cx="6096000" cy="972830"/>
              </a:xfrm>
              <a:prstGeom prst="rect">
                <a:avLst/>
              </a:prstGeom>
              <a:blipFill>
                <a:blip r:embed="rId7"/>
                <a:stretch>
                  <a:fillRect t="-2597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ABF531F-627A-3837-1CCD-E14E40AE4D8E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97183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5F949-EA8C-55F3-D206-40592FD0D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6259B-C605-CA56-D2DA-D089A9132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LSGM Loss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653363-261C-61DE-D6CA-B835F4BC64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508076"/>
              </a:xfrm>
            </p:spPr>
            <p:txBody>
              <a:bodyPr/>
              <a:lstStyle/>
              <a:p>
                <a:r>
                  <a:rPr lang="en-US" dirty="0"/>
                  <a:t>Goal: Use the score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dirty="0">
                          <a:latin typeface="Cambria Math" panose="02040503050406030204" pitchFamily="18" charset="0"/>
                        </a:rPr>
                        <m:t>                        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653363-261C-61DE-D6CA-B835F4BC64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508076"/>
              </a:xfrm>
              <a:blipFill>
                <a:blip r:embed="rId5"/>
                <a:stretch>
                  <a:fillRect l="-1387" t="-2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7AFC7-EE8A-CE4B-F5D6-2ABE2DA1F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6BDB05-F661-868C-9153-AF14306144D4}"/>
                  </a:ext>
                </a:extLst>
              </p:cNvPr>
              <p:cNvSpPr txBox="1"/>
              <p:nvPr/>
            </p:nvSpPr>
            <p:spPr>
              <a:xfrm>
                <a:off x="8396514" y="2213429"/>
                <a:ext cx="2552686" cy="142083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sz="1400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Recall KL divergence: </a:t>
                </a:r>
                <a:br>
                  <a:rPr lang="en-US" sz="1400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</m:func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</m:func>
                        </m:e>
                      </m:nary>
                    </m:oMath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</m:oMath>
                  </m:oMathPara>
                </a14:m>
                <a:endParaRPr lang="en-US" sz="1400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6BDB05-F661-868C-9153-AF1430614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514" y="2213429"/>
                <a:ext cx="2552686" cy="1420838"/>
              </a:xfrm>
              <a:prstGeom prst="rect">
                <a:avLst/>
              </a:prstGeom>
              <a:blipFill>
                <a:blip r:embed="rId6"/>
                <a:stretch>
                  <a:fillRect l="-4926" t="-46903" b="-70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8EABE89-F1A0-8197-BA27-252984B6BFB1}"/>
              </a:ext>
            </a:extLst>
          </p:cNvPr>
          <p:cNvSpPr txBox="1"/>
          <p:nvPr/>
        </p:nvSpPr>
        <p:spPr>
          <a:xfrm>
            <a:off x="1850572" y="4310743"/>
            <a:ext cx="1958870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6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Reconstruction term </a:t>
            </a:r>
            <a:endParaRPr lang="en-US" sz="1600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5FBA8-B57B-CD40-8B38-52CEEC0163DF}"/>
              </a:ext>
            </a:extLst>
          </p:cNvPr>
          <p:cNvSpPr txBox="1"/>
          <p:nvPr/>
        </p:nvSpPr>
        <p:spPr>
          <a:xfrm>
            <a:off x="5239319" y="4310743"/>
            <a:ext cx="2430152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6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Negative encoder entropy</a:t>
            </a:r>
            <a:endParaRPr lang="en-US" sz="1600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92A9A8-D947-C8C5-EF16-989E10BB121B}"/>
              </a:ext>
            </a:extLst>
          </p:cNvPr>
          <p:cNvSpPr txBox="1"/>
          <p:nvPr/>
        </p:nvSpPr>
        <p:spPr>
          <a:xfrm>
            <a:off x="8969505" y="4310743"/>
            <a:ext cx="1312860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6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Cross entropy</a:t>
            </a:r>
            <a:endParaRPr lang="en-US" sz="1600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60323C-2A58-D36B-934C-64D7F1546F8C}"/>
                  </a:ext>
                </a:extLst>
              </p:cNvPr>
              <p:cNvSpPr txBox="1"/>
              <p:nvPr/>
            </p:nvSpPr>
            <p:spPr>
              <a:xfrm>
                <a:off x="8062686" y="564123"/>
                <a:ext cx="6096000" cy="972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Encoder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Decoder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𝜓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SGM prior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60323C-2A58-D36B-934C-64D7F1546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686" y="564123"/>
                <a:ext cx="6096000" cy="972830"/>
              </a:xfrm>
              <a:prstGeom prst="rect">
                <a:avLst/>
              </a:prstGeom>
              <a:blipFill>
                <a:blip r:embed="rId7"/>
                <a:stretch>
                  <a:fillRect t="-2597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FB7F6EC-E32D-B7FE-DA05-E623823FFB91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96128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6BC4E-C6F5-81DF-08EF-E97E9383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8839-A090-07A2-8EFB-40FCF715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LSGM Loss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FC888F-FC83-2C80-E5F7-7F6FA956E5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508076"/>
              </a:xfrm>
            </p:spPr>
            <p:txBody>
              <a:bodyPr/>
              <a:lstStyle/>
              <a:p>
                <a:r>
                  <a:rPr lang="en-US" dirty="0"/>
                  <a:t>Goal: Use the score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dirty="0">
                          <a:latin typeface="Cambria Math" panose="02040503050406030204" pitchFamily="18" charset="0"/>
                        </a:rPr>
                        <m:t>                        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FC888F-FC83-2C80-E5F7-7F6FA956E5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508076"/>
              </a:xfrm>
              <a:blipFill>
                <a:blip r:embed="rId5"/>
                <a:stretch>
                  <a:fillRect l="-1387" t="-2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17C0E-C234-621B-4315-7E06DC601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A0A6A3-BEC6-47E6-41CC-8D43D43C477F}"/>
                  </a:ext>
                </a:extLst>
              </p:cNvPr>
              <p:cNvSpPr txBox="1"/>
              <p:nvPr/>
            </p:nvSpPr>
            <p:spPr>
              <a:xfrm>
                <a:off x="8396514" y="2213429"/>
                <a:ext cx="2552686" cy="142083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sz="1400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Recall KL divergence: </a:t>
                </a:r>
                <a:br>
                  <a:rPr lang="en-US" sz="1400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</m:func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</m:func>
                        </m:e>
                      </m:nary>
                    </m:oMath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</m:oMath>
                  </m:oMathPara>
                </a14:m>
                <a:endParaRPr lang="en-US" sz="1400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A0A6A3-BEC6-47E6-41CC-8D43D43C4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514" y="2213429"/>
                <a:ext cx="2552686" cy="1420838"/>
              </a:xfrm>
              <a:prstGeom prst="rect">
                <a:avLst/>
              </a:prstGeom>
              <a:blipFill>
                <a:blip r:embed="rId6"/>
                <a:stretch>
                  <a:fillRect l="-4926" t="-46903" b="-70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F3B618E-7C08-2A3B-FB71-8DA43E38D7B7}"/>
              </a:ext>
            </a:extLst>
          </p:cNvPr>
          <p:cNvSpPr txBox="1"/>
          <p:nvPr/>
        </p:nvSpPr>
        <p:spPr>
          <a:xfrm>
            <a:off x="1850572" y="4310743"/>
            <a:ext cx="1958870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6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Reconstruction term </a:t>
            </a:r>
            <a:endParaRPr lang="en-US" sz="1600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8313C4-403A-A9C9-5838-037DFA14C9EE}"/>
              </a:ext>
            </a:extLst>
          </p:cNvPr>
          <p:cNvSpPr txBox="1"/>
          <p:nvPr/>
        </p:nvSpPr>
        <p:spPr>
          <a:xfrm>
            <a:off x="5239319" y="4310743"/>
            <a:ext cx="2430152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6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Negative encoder entropy</a:t>
            </a:r>
            <a:endParaRPr lang="en-US" sz="1600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1046BB-8470-0A34-83B0-157F8DE32A45}"/>
              </a:ext>
            </a:extLst>
          </p:cNvPr>
          <p:cNvSpPr txBox="1"/>
          <p:nvPr/>
        </p:nvSpPr>
        <p:spPr>
          <a:xfrm>
            <a:off x="8969505" y="4310743"/>
            <a:ext cx="1312860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6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Cross entropy</a:t>
            </a:r>
            <a:endParaRPr lang="en-US" sz="1600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216F8D-D41E-2ACC-E6CF-652C839E85A0}"/>
              </a:ext>
            </a:extLst>
          </p:cNvPr>
          <p:cNvSpPr txBox="1"/>
          <p:nvPr/>
        </p:nvSpPr>
        <p:spPr>
          <a:xfrm>
            <a:off x="2830007" y="4955217"/>
            <a:ext cx="383278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b="0" i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Estimated by encoder and decoder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265AE6-2C0B-B4EC-7BBA-DF312D7067EB}"/>
                  </a:ext>
                </a:extLst>
              </p:cNvPr>
              <p:cNvSpPr txBox="1"/>
              <p:nvPr/>
            </p:nvSpPr>
            <p:spPr>
              <a:xfrm>
                <a:off x="8062686" y="564123"/>
                <a:ext cx="6096000" cy="972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Encoder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Decoder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𝜓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SGM prior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265AE6-2C0B-B4EC-7BBA-DF312D706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686" y="564123"/>
                <a:ext cx="6096000" cy="972830"/>
              </a:xfrm>
              <a:prstGeom prst="rect">
                <a:avLst/>
              </a:prstGeom>
              <a:blipFill>
                <a:blip r:embed="rId7"/>
                <a:stretch>
                  <a:fillRect t="-2597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eft Bracket 13">
            <a:extLst>
              <a:ext uri="{FF2B5EF4-FFF2-40B4-BE49-F238E27FC236}">
                <a16:creationId xmlns:a16="http://schemas.microsoft.com/office/drawing/2014/main" id="{2A459934-836F-FEFE-CB2B-0BE41FF530A0}"/>
              </a:ext>
            </a:extLst>
          </p:cNvPr>
          <p:cNvSpPr/>
          <p:nvPr/>
        </p:nvSpPr>
        <p:spPr>
          <a:xfrm rot="16200000">
            <a:off x="4542972" y="3522608"/>
            <a:ext cx="268514" cy="2558143"/>
          </a:xfrm>
          <a:prstGeom prst="leftBracket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5215B8-0963-F90A-A75E-F9BA364C2E85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18308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78F34-D091-6927-9A8A-7A65DB2C8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EAF9B-B150-1B08-52FC-2A86B2EDF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LSGM Loss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C209E7-47D6-C81D-E4BF-4F1D321725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508076"/>
              </a:xfrm>
            </p:spPr>
            <p:txBody>
              <a:bodyPr/>
              <a:lstStyle/>
              <a:p>
                <a:r>
                  <a:rPr lang="en-US" dirty="0"/>
                  <a:t>Goal: Use the score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to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dirty="0">
                          <a:latin typeface="Cambria Math" panose="02040503050406030204" pitchFamily="18" charset="0"/>
                        </a:rPr>
                        <m:t>                        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C209E7-47D6-C81D-E4BF-4F1D321725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508076"/>
              </a:xfrm>
              <a:blipFill>
                <a:blip r:embed="rId5"/>
                <a:stretch>
                  <a:fillRect l="-1387" t="-2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F43E8-FDD1-4BA6-CFA3-7A4BB32A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DA778A-43DB-4A43-3B1D-6DC2EFAE4952}"/>
                  </a:ext>
                </a:extLst>
              </p:cNvPr>
              <p:cNvSpPr txBox="1"/>
              <p:nvPr/>
            </p:nvSpPr>
            <p:spPr>
              <a:xfrm>
                <a:off x="8396514" y="2213429"/>
                <a:ext cx="2552686" cy="142083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sz="1400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Recall KL divergence: </a:t>
                </a:r>
                <a:br>
                  <a:rPr lang="en-US" sz="1400" b="0" i="0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𝑝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𝑞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Pretendard Variable Medium" panose="02000003000000020004" pitchFamily="2" charset="-127"/>
                                      <a:cs typeface="Pretendard Variable Medium" panose="02000003000000020004" pitchFamily="2" charset="-127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𝑞</m:t>
                              </m:r>
                            </m:e>
                          </m:func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Pretendard Variable Medium" panose="02000003000000020004" pitchFamily="2" charset="-127"/>
                                  <a:cs typeface="Pretendard Variable Medium" panose="02000003000000020004" pitchFamily="2" charset="-127"/>
                                </a:rPr>
                                <m:t>𝑝</m:t>
                              </m:r>
                            </m:e>
                          </m:func>
                        </m:e>
                      </m:nary>
                    </m:oMath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𝔼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Pretendard Variable Medium" panose="02000003000000020004" pitchFamily="2" charset="-127"/>
                              <a:cs typeface="Pretendard Variable Medium" panose="02000003000000020004" pitchFamily="2" charset="-127"/>
                            </a:rPr>
                            <m:t>𝑞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Pretendard Variable Medium" panose="02000003000000020004" pitchFamily="2" charset="-127"/>
                          <a:cs typeface="Pretendard Variable Medium" panose="02000003000000020004" pitchFamily="2" charset="-127"/>
                        </a:rPr>
                        <m:t>𝑝</m:t>
                      </m:r>
                    </m:oMath>
                  </m:oMathPara>
                </a14:m>
                <a:endParaRPr lang="en-US" sz="1400" b="0" i="0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DA778A-43DB-4A43-3B1D-6DC2EFAE4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514" y="2213429"/>
                <a:ext cx="2552686" cy="1420838"/>
              </a:xfrm>
              <a:prstGeom prst="rect">
                <a:avLst/>
              </a:prstGeom>
              <a:blipFill>
                <a:blip r:embed="rId6"/>
                <a:stretch>
                  <a:fillRect l="-4926" t="-46903" b="-70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A6F2A2F-8D54-690F-BA30-431C41E95059}"/>
              </a:ext>
            </a:extLst>
          </p:cNvPr>
          <p:cNvSpPr txBox="1"/>
          <p:nvPr/>
        </p:nvSpPr>
        <p:spPr>
          <a:xfrm>
            <a:off x="1850572" y="4310743"/>
            <a:ext cx="1958870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6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Reconstruction term </a:t>
            </a:r>
            <a:endParaRPr lang="en-US" sz="1600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65B038-400F-A434-4065-0EB7CFFDC411}"/>
              </a:ext>
            </a:extLst>
          </p:cNvPr>
          <p:cNvSpPr txBox="1"/>
          <p:nvPr/>
        </p:nvSpPr>
        <p:spPr>
          <a:xfrm>
            <a:off x="5239319" y="4310743"/>
            <a:ext cx="2430152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6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Negative encoder entropy</a:t>
            </a:r>
            <a:endParaRPr lang="en-US" sz="1600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E95D5-82CA-0A12-8914-BEA1DD7E1CF6}"/>
              </a:ext>
            </a:extLst>
          </p:cNvPr>
          <p:cNvSpPr txBox="1"/>
          <p:nvPr/>
        </p:nvSpPr>
        <p:spPr>
          <a:xfrm>
            <a:off x="8969505" y="4310743"/>
            <a:ext cx="1312860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600" dirty="0">
                <a:solidFill>
                  <a:srgbClr val="C00000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Cross entropy</a:t>
            </a:r>
            <a:endParaRPr lang="en-US" sz="1600" b="0" i="0" dirty="0">
              <a:solidFill>
                <a:srgbClr val="C00000"/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58D623-BF4D-1300-F4AE-D7F8C29DA228}"/>
              </a:ext>
            </a:extLst>
          </p:cNvPr>
          <p:cNvSpPr txBox="1"/>
          <p:nvPr/>
        </p:nvSpPr>
        <p:spPr>
          <a:xfrm>
            <a:off x="2830007" y="4955217"/>
            <a:ext cx="383278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b="0" i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Estimated by encoder and decoder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95104E-DF95-DFB1-673E-C624F1FC4453}"/>
                  </a:ext>
                </a:extLst>
              </p:cNvPr>
              <p:cNvSpPr txBox="1"/>
              <p:nvPr/>
            </p:nvSpPr>
            <p:spPr>
              <a:xfrm>
                <a:off x="8062686" y="564123"/>
                <a:ext cx="6096000" cy="972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Encoder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Pretendard Variable Medium" panose="02000003000000020004" pitchFamily="2" charset="-127"/>
                        <a:cs typeface="Pretendard Variable Medium" panose="02000003000000020004" pitchFamily="2" charset="-127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Decoder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𝜓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𝑥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SGM prior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Pretendard Variable Medium" panose="02000003000000020004" pitchFamily="2" charset="-127"/>
                            <a:cs typeface="Pretendard Variable Medium" panose="02000003000000020004" pitchFamily="2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Pretendard Variable Medium" panose="02000003000000020004" pitchFamily="2" charset="-127"/>
                                <a:cs typeface="Pretendard Variable Medium" panose="02000003000000020004" pitchFamily="2" charset="-127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95104E-DF95-DFB1-673E-C624F1FC4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686" y="564123"/>
                <a:ext cx="6096000" cy="972830"/>
              </a:xfrm>
              <a:prstGeom prst="rect">
                <a:avLst/>
              </a:prstGeom>
              <a:blipFill>
                <a:blip r:embed="rId7"/>
                <a:stretch>
                  <a:fillRect t="-2597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eft Bracket 13">
            <a:extLst>
              <a:ext uri="{FF2B5EF4-FFF2-40B4-BE49-F238E27FC236}">
                <a16:creationId xmlns:a16="http://schemas.microsoft.com/office/drawing/2014/main" id="{CC2ACC7F-B83E-B024-6321-601C47888084}"/>
              </a:ext>
            </a:extLst>
          </p:cNvPr>
          <p:cNvSpPr/>
          <p:nvPr/>
        </p:nvSpPr>
        <p:spPr>
          <a:xfrm rot="16200000">
            <a:off x="4542972" y="3522608"/>
            <a:ext cx="268514" cy="2558143"/>
          </a:xfrm>
          <a:prstGeom prst="leftBracket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CECB1A-7399-48AE-DC57-339B17347810}"/>
              </a:ext>
            </a:extLst>
          </p:cNvPr>
          <p:cNvSpPr txBox="1"/>
          <p:nvPr/>
        </p:nvSpPr>
        <p:spPr>
          <a:xfrm>
            <a:off x="8305495" y="4853244"/>
            <a:ext cx="273472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b="0" i="0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How do we optimize this?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AA5F37-8B40-7D80-3CA1-6C3E995F820C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90368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C7BD6-C0C4-930A-2387-010AD9377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LSGM Loss: The Cross Entropy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1DB415-3757-B9E8-72C6-F8D7BDE501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2634567"/>
              </a:xfrm>
            </p:spPr>
            <p:txBody>
              <a:bodyPr/>
              <a:lstStyle/>
              <a:p>
                <a:r>
                  <a:rPr lang="en-US" dirty="0"/>
                  <a:t>The cross-entropy term is equivalent to: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[0,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∇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func>
                                            <m:func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fNam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𝑧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m:rPr>
                                                      <m:lit/>
                                                    </m:r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|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𝑧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func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1DB415-3757-B9E8-72C6-F8D7BDE501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2634567"/>
              </a:xfrm>
              <a:blipFill>
                <a:blip r:embed="rId5"/>
                <a:stretch>
                  <a:fillRect l="-1387" t="-2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20608-69FA-5E63-B50C-AAB20D0E4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FCECF-9AE0-9BCD-480B-317D8C604F9A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69528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B7682-17B6-6382-0384-BE7AA19E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Score-based Generation in Latent Space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C95D4-84DA-0E66-FE81-0DECAB17B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8" name="Picture 7" descr="A diagram of a waveform&#10;&#10;AI-generated content may be incorrect.">
            <a:extLst>
              <a:ext uri="{FF2B5EF4-FFF2-40B4-BE49-F238E27FC236}">
                <a16:creationId xmlns:a16="http://schemas.microsoft.com/office/drawing/2014/main" id="{ED69ED52-8453-3134-EC4D-1AFF3A7A59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943" y="2471560"/>
            <a:ext cx="9768114" cy="25017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53C5D2-35DA-A508-1956-1C282A7087DA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14861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2788D-5AC7-4FA5-347A-0C72EEB92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LSGM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897D9-4249-FB30-5D51-6EA9C5316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A3FDE-8730-9DBE-C70A-BF22670B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9084D6-CC3F-A993-FF07-843A05957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076983"/>
            <a:ext cx="7772400" cy="27040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12BB31-6DB9-DE0E-D478-CDA6F14C1E0F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Vahdat et al., “Score-based Generative Modeling in Latent Space”,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33027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147B7E-5C61-42BD-0C07-85FE3EF4F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50435"/>
            <a:ext cx="7823200" cy="757130"/>
          </a:xfrm>
        </p:spPr>
        <p:txBody>
          <a:bodyPr/>
          <a:lstStyle/>
          <a:p>
            <a:r>
              <a:rPr lang="en-US" dirty="0"/>
              <a:t>Discrete Diffusion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4F4E8-4014-C4D1-51C8-62D38DA7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10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40064-B79B-3E61-3AAA-2CEEBCB72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Space Transition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0DDE3-4D0C-E323-C36A-1A96ABE0F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243417"/>
          </a:xfrm>
        </p:spPr>
        <p:txBody>
          <a:bodyPr/>
          <a:lstStyle/>
          <a:p>
            <a:r>
              <a:rPr lang="en-US" altLang="ko-KR" dirty="0"/>
              <a:t>When the output space is discrete, forward pass can be interpreted as transition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A9E44-2793-9294-4B48-83759BD42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32E42-58D1-C1DC-F627-048DFFAB6223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J. Austin et al., “Structured Denoising Diffusion Models in Discrete State-Spaces”,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94321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C1A2E-3874-989D-993E-0B2ACA09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E38B1-BC69-B104-A23C-EE9F1994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Space Transition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4B3DA9-1A36-B61C-401B-FDDD4C37BE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1424108"/>
              </a:xfrm>
            </p:spPr>
            <p:txBody>
              <a:bodyPr/>
              <a:lstStyle/>
              <a:p>
                <a:r>
                  <a:rPr lang="en-US" altLang="ko-KR" dirty="0"/>
                  <a:t>When the output space is discrete, forward pass can be interpreted as transition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lit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4B3DA9-1A36-B61C-401B-FDDD4C37BE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1424108"/>
              </a:xfrm>
              <a:blipFill>
                <a:blip r:embed="rId5"/>
                <a:stretch>
                  <a:fillRect l="-1387" t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E47F7-ABBB-A3EC-6597-83B31A8E2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BE61D-9519-E093-5912-9036CED9AF00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J. Austin et al., “Structured Denoising Diffusion Models in Discrete State-Spaces”,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01494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1BB95-FC71-9F65-7E5F-857CEB4B2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8C1EC-6CFA-1919-3E40-A4B1B379E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Space Transition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742056-1DBB-D4F6-8D99-B4206B9171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2396682"/>
              </a:xfrm>
            </p:spPr>
            <p:txBody>
              <a:bodyPr/>
              <a:lstStyle/>
              <a:p>
                <a:r>
                  <a:rPr lang="en-US" altLang="ko-KR" dirty="0"/>
                  <a:t>When the output space is discrete, forward pass can be interpreted as transition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lit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q is a one-hot vector, then it can be written as follows: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Categorical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742056-1DBB-D4F6-8D99-B4206B9171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2396682"/>
              </a:xfrm>
              <a:blipFill>
                <a:blip r:embed="rId5"/>
                <a:stretch>
                  <a:fillRect l="-1734" t="-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F5073-6781-646B-D27A-ABE856CC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71E2F-B808-DD27-CC8C-58BCC8D58BFD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J. Austin et al., “Structured Denoising Diffusion Models in Discrete State-Spaces”,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84836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3109E-A229-6BF1-B9E6-92BBEEB4E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8151F-4A7B-567E-F0CC-297DFA1F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Space Transition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A8FB99-AB17-631B-C8CB-E52C75197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1576522"/>
              </a:xfrm>
            </p:spPr>
            <p:txBody>
              <a:bodyPr/>
              <a:lstStyle/>
              <a:p>
                <a:r>
                  <a:rPr lang="en-US" dirty="0"/>
                  <a:t>T step marginal and posterior at time t-1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Categorical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A8FB99-AB17-631B-C8CB-E52C75197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1576522"/>
              </a:xfrm>
              <a:blipFill>
                <a:blip r:embed="rId5"/>
                <a:stretch>
                  <a:fillRect l="-1387" t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FCAB1-F7F2-48BF-3ACD-F24CE1B9E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1D18E1-50ED-F8E1-FDE0-D02DF664BB31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J. Austin et al., “Structured Denoising Diffusion Models in Discrete State-Spaces”,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32226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15BA7-0F46-AC8B-19B0-DD3ADBBDD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EE28B-CB40-DBA4-BB63-268FE2884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Space Transition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2195D3-6930-38C6-1EC4-3E561E946F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674339"/>
              </a:xfrm>
            </p:spPr>
            <p:txBody>
              <a:bodyPr/>
              <a:lstStyle/>
              <a:p>
                <a:r>
                  <a:rPr lang="en-US" dirty="0"/>
                  <a:t>T step marginal and posterior at time t-1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Categorical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Categorical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⊙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acc>
                              <m:sSubSup>
                                <m:sSub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b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2195D3-6930-38C6-1EC4-3E561E946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674339"/>
              </a:xfrm>
              <a:blipFill>
                <a:blip r:embed="rId5"/>
                <a:stretch>
                  <a:fillRect l="-1387" t="-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A1C6D-DFC6-CB20-D19B-418574566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4850FC-D9B4-2F9F-48FE-6139BD46CF25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J. Austin et al., “Structured Denoising Diffusion Models in Discrete State-Spaces”,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91362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FF6B1-347A-8204-0B31-0314C31B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Matrices</a:t>
            </a:r>
          </a:p>
        </p:txBody>
      </p:sp>
      <p:pic>
        <p:nvPicPr>
          <p:cNvPr id="6" name="Content Placeholder 5" descr="A diagram of a spiral&#10;&#10;AI-generated content may be incorrect.">
            <a:extLst>
              <a:ext uri="{FF2B5EF4-FFF2-40B4-BE49-F238E27FC236}">
                <a16:creationId xmlns:a16="http://schemas.microsoft.com/office/drawing/2014/main" id="{DD6EEE29-6CA9-8CD2-067F-613ADA2A33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723" y="1917700"/>
            <a:ext cx="9066554" cy="393155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66E92-5C6E-479A-3AB7-807003E73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8D2AC-43F5-7A48-DE9C-6EC975D15422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J. Austin et al., “Structured Denoising Diffusion Models in Discrete State-Spaces”,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72932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E8582-7562-7A44-A7B3-05A8638C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Everything is a Diffusion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37711-66FE-DF76-CB20-936FB8F8D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4A3D7-8C95-05CF-7F15-26D523D99509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J. Austin et al., “Structured Denoising Diffusion Models in Discrete State-Spaces”,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42AD41-6993-A6DE-3B97-B5D727666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579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24AC4-F693-AAC0-FA9C-EB24675E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42EC7-92F8-2D5E-855B-051D95F6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Everything is a Diffusion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7FD9A-BFA8-5409-95CD-DD06FCB38E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1798121"/>
              </a:xfrm>
            </p:spPr>
            <p:txBody>
              <a:bodyPr/>
              <a:lstStyle/>
              <a:p>
                <a:r>
                  <a:rPr lang="en-US" b="1" dirty="0"/>
                  <a:t>BERT is a one-step diffusion model</a:t>
                </a:r>
              </a:p>
              <a:p>
                <a:pPr lvl="1"/>
                <a:r>
                  <a:rPr lang="en-US" dirty="0"/>
                  <a:t>If D3PM uses a uniform transition matrix and an absorbing state at the [MASK] token</a:t>
                </a:r>
              </a:p>
              <a:p>
                <a:pPr lvl="1"/>
                <a:r>
                  <a:rPr lang="en-US" dirty="0"/>
                  <a:t>BERT denoising objective: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𝐵𝐸𝑅𝑇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7FD9A-BFA8-5409-95CD-DD06FCB38E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1798121"/>
              </a:xfrm>
              <a:blipFill>
                <a:blip r:embed="rId5"/>
                <a:stretch>
                  <a:fillRect l="-1387" t="-41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DFFD3-5D1B-7FBF-2E33-79E8FEF98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E43168-EB2B-199C-57EC-BFED0C15FED2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J. Austin et al., “Structured Denoising Diffusion Models in Discrete State-Spaces”,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16416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4B19D-592A-2AFC-D7CE-CD86512DA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69A12-E063-4331-740A-F72F4DED9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Everything is a Diffusion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AA896B-1CC3-2820-E4EE-E857A3EAA9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2992294"/>
              </a:xfrm>
            </p:spPr>
            <p:txBody>
              <a:bodyPr/>
              <a:lstStyle/>
              <a:p>
                <a:r>
                  <a:rPr lang="en-US" b="1" dirty="0"/>
                  <a:t>BERT is a one-step diffusion model</a:t>
                </a:r>
              </a:p>
              <a:p>
                <a:pPr lvl="1"/>
                <a:r>
                  <a:rPr lang="en-US" dirty="0"/>
                  <a:t>If D3PM uses a uniform transition matrix and an absorbing state at the [MASK] token</a:t>
                </a:r>
              </a:p>
              <a:p>
                <a:pPr lvl="1"/>
                <a:r>
                  <a:rPr lang="en-US" dirty="0"/>
                  <a:t>BERT denoising objective: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𝐵𝐸𝑅𝑇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b="1" dirty="0"/>
                  <a:t>Autoregressive models are diffusion models </a:t>
                </a:r>
              </a:p>
              <a:p>
                <a:pPr lvl="1"/>
                <a:r>
                  <a:rPr lang="en-US" dirty="0"/>
                  <a:t>If masks are deterministically selected with </a:t>
                </a:r>
                <a:br>
                  <a:rPr lang="en-US" dirty="0"/>
                </a:br>
                <a:r>
                  <a:rPr lang="en-US" dirty="0"/>
                  <a:t>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else [MASK]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AA896B-1CC3-2820-E4EE-E857A3EAA9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2992294"/>
              </a:xfrm>
              <a:blipFill>
                <a:blip r:embed="rId5"/>
                <a:stretch>
                  <a:fillRect l="-1387" t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BEDD8-BFB6-0C69-ACEB-830EFC838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2CE6A-1C85-0B0D-A9DB-1E049AF737E8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J. Austin et al., “Structured Denoising Diffusion Models in Discrete State-Spaces”,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38269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D445-4F39-AD7D-3516-F8329E95C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CEC2D-4882-687C-5590-A6ED4E7AB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Everything is a Diffusion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08D5BD-A6B6-E23A-4638-93D8B34F30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450047"/>
              </a:xfrm>
            </p:spPr>
            <p:txBody>
              <a:bodyPr/>
              <a:lstStyle/>
              <a:p>
                <a:r>
                  <a:rPr lang="en-US" b="1" dirty="0"/>
                  <a:t>BERT is a one-step diffusion model</a:t>
                </a:r>
              </a:p>
              <a:p>
                <a:pPr lvl="1"/>
                <a:r>
                  <a:rPr lang="en-US" dirty="0"/>
                  <a:t>If D3PM uses a uniform transition matrix and an absorbing state at the [MASK] token</a:t>
                </a:r>
              </a:p>
              <a:p>
                <a:pPr lvl="1"/>
                <a:r>
                  <a:rPr lang="en-US" dirty="0"/>
                  <a:t>BERT denoising objective: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𝐵𝐸𝑅𝑇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b="1" dirty="0"/>
                  <a:t>Autoregressive models are diffusion models </a:t>
                </a:r>
              </a:p>
              <a:p>
                <a:pPr lvl="1"/>
                <a:r>
                  <a:rPr lang="en-US" dirty="0"/>
                  <a:t>If masks are deterministically selected with </a:t>
                </a:r>
                <a:br>
                  <a:rPr lang="en-US" dirty="0"/>
                </a:br>
                <a:r>
                  <a:rPr lang="en-US" dirty="0"/>
                  <a:t>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else [MASK]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Dirac delta function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𝑒𝑙𝑠𝑒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08D5BD-A6B6-E23A-4638-93D8B34F30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450047"/>
              </a:xfrm>
              <a:blipFill>
                <a:blip r:embed="rId5"/>
                <a:stretch>
                  <a:fillRect l="-1387" t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36B79-B667-003D-2345-24047459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8D2F4F-0AB9-141F-A488-0A8900FCD2C0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J. Austin et al., “Structured Denoising Diffusion Models in Discrete State-Spaces”,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23086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25379-BB1C-F8CB-F3BC-6393ACE0E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F1F66-F5A4-3870-A083-8AE0B646B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Everything is a Diffusion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E52CFF-B6D0-6FCA-B3EE-669415CA03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3936334"/>
              </a:xfrm>
            </p:spPr>
            <p:txBody>
              <a:bodyPr/>
              <a:lstStyle/>
              <a:p>
                <a:r>
                  <a:rPr lang="en-US" b="1" dirty="0"/>
                  <a:t>BERT is a one-step diffusion model</a:t>
                </a:r>
              </a:p>
              <a:p>
                <a:pPr lvl="1"/>
                <a:r>
                  <a:rPr lang="en-US" dirty="0"/>
                  <a:t>If D3PM uses a uniform transition matrix and an absorbing state at the [MASK] token</a:t>
                </a:r>
              </a:p>
              <a:p>
                <a:pPr lvl="1"/>
                <a:r>
                  <a:rPr lang="en-US" dirty="0"/>
                  <a:t>BERT denoising objective: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𝐵𝐸𝑅𝑇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b="1" dirty="0"/>
                  <a:t>Autoregressive models are diffusion models </a:t>
                </a:r>
              </a:p>
              <a:p>
                <a:pPr lvl="1"/>
                <a:r>
                  <a:rPr lang="en-US" dirty="0"/>
                  <a:t>If masks are deterministically selected with </a:t>
                </a:r>
                <a:br>
                  <a:rPr lang="en-US" dirty="0"/>
                </a:br>
                <a:r>
                  <a:rPr lang="en-US" dirty="0"/>
                  <a:t>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else [MASK]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Dirac delta function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𝑒𝑙𝑠𝑒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  <a:p>
                <a:r>
                  <a:rPr lang="en-US" b="1" dirty="0"/>
                  <a:t>Masked Language-Models are diffusion models </a:t>
                </a:r>
              </a:p>
              <a:p>
                <a:pPr lvl="1"/>
                <a:r>
                  <a:rPr lang="en-US" dirty="0"/>
                  <a:t>D3PM with an absorbing state is equivalent to the MLM objective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E52CFF-B6D0-6FCA-B3EE-669415CA03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3936334"/>
              </a:xfrm>
              <a:blipFill>
                <a:blip r:embed="rId5"/>
                <a:stretch>
                  <a:fillRect l="-1387" t="-1929" b="-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7503C-2209-5AAF-F073-D56710D73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AE5E4D-3C7E-BA71-9D02-3965F49D1DE3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J. Austin et al., “Structured Denoising Diffusion Models in Discrete State-Spaces”,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60637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5E88-2382-465F-6B46-6F4CB5857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D3PM Language Generation 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933808-95B2-9D81-CC7D-B2292F6A66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905" y="2612570"/>
            <a:ext cx="9676190" cy="290285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23BC4-5996-8B6C-8B0A-4DC5246C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EDD66F-74C7-FFD7-C2C4-9482B0569BE0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J. Austin et al., “Structured Denoising Diffusion Models in Discrete State-Spaces”,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48621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AE7E6-A8CA-52D8-B31F-CB2736985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D3PM Image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1AB7E-8DD7-6732-0EBB-75B62388A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44EFC-85AA-DEB8-601C-9BD988DE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C88786-FC8E-559A-0B3B-856087EB5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243" y="1959576"/>
            <a:ext cx="9285514" cy="3820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441364-CB8D-3D6A-073F-984DDC591310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J. Austin et al., “Structured Denoising Diffusion Models in Discrete State-Spaces”, </a:t>
            </a:r>
            <a:r>
              <a:rPr lang="en-US" altLang="ko-KR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92640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6F42-0977-8CE5-E8F8-81307DA2F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VQ-Diffusion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056E3-B386-0F1C-72DA-EA2FEE102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424732"/>
          </a:xfrm>
        </p:spPr>
        <p:txBody>
          <a:bodyPr/>
          <a:lstStyle/>
          <a:p>
            <a:r>
              <a:rPr lang="en-US" dirty="0"/>
              <a:t>Goal: Generate image using discrete diffusion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A97AD-EE46-95EC-3DF3-1F8A697C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2BF8E1-26C6-6926-BFB6-B9F369345C3C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S. Gu et al., “Vector Quantized Diffusion Model for Text-to-Image Synthesis”, CVPR 2022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87650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DB4FF-B109-4D1B-C536-EA87F901D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CE81-1698-5780-D0F6-6A840EF9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VQ-Diffusion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F73D0-0C12-528F-A7F1-9219BAC91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911019"/>
          </a:xfrm>
        </p:spPr>
        <p:txBody>
          <a:bodyPr/>
          <a:lstStyle/>
          <a:p>
            <a:r>
              <a:rPr lang="en-US" dirty="0"/>
              <a:t>Goal: Generate image using discrete diffusion model</a:t>
            </a:r>
          </a:p>
          <a:p>
            <a:r>
              <a:rPr lang="en-US" dirty="0"/>
              <a:t>AR models assume conditional independence in images, which may not be true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73826-B610-8F98-CFBA-D2D4958D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24EBEA-5150-2547-7C66-4E0C225AEBDC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S. Gu et al., “Vector Quantized Diffusion Model for Text-to-Image Synthesis”, CVPR 2022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80418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2E9A0-2881-DB9A-8195-7166EDB24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16B28-B340-3013-D7F4-D977D84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VQ-Diffusion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21260-3FA3-A69D-2D64-6CB01F2BF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397306"/>
          </a:xfrm>
        </p:spPr>
        <p:txBody>
          <a:bodyPr/>
          <a:lstStyle/>
          <a:p>
            <a:r>
              <a:rPr lang="en-US" dirty="0"/>
              <a:t>Goal: Generate image using discrete diffusion model</a:t>
            </a:r>
          </a:p>
          <a:p>
            <a:r>
              <a:rPr lang="en-US" dirty="0"/>
              <a:t>AR models assume conditional independence in images, which may not be true</a:t>
            </a:r>
          </a:p>
          <a:p>
            <a:r>
              <a:rPr lang="en-US" dirty="0"/>
              <a:t>Plus, use a latent space for the diffusion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CAF9F-1009-CD49-EE18-B0819F12D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4D0A9-DB2C-4B7D-497F-0C8090CCB679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S. Gu et al., “Vector Quantized Diffusion Model for Text-to-Image Synthesis”, CVPR 2022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03800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74649-01D6-53F8-5E0F-142C2D682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B8E58-84C3-7507-0533-CF2624725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VQ-Diffusion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DC25B-460E-17F3-C5F4-39B015EE1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883593"/>
          </a:xfrm>
        </p:spPr>
        <p:txBody>
          <a:bodyPr/>
          <a:lstStyle/>
          <a:p>
            <a:r>
              <a:rPr lang="en-US" dirty="0"/>
              <a:t>Goal: Generate image using discrete diffusion model</a:t>
            </a:r>
          </a:p>
          <a:p>
            <a:r>
              <a:rPr lang="en-US" dirty="0"/>
              <a:t>AR models assume conditional independence in images, which may not be true</a:t>
            </a:r>
          </a:p>
          <a:p>
            <a:r>
              <a:rPr lang="en-US" dirty="0"/>
              <a:t>Plus, use a latent space for the diffusion model </a:t>
            </a:r>
          </a:p>
          <a:p>
            <a:r>
              <a:rPr lang="en-US" dirty="0"/>
              <a:t>Problem: latent space is not quite suitable for MDM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7DA48-89C9-AC07-0496-49540C2A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C36453-A8A5-681C-7B22-A74A15FCF370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S. Gu et al., “Vector Quantized Diffusion Model for Text-to-Image Synthesis”, CVPR 2022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55853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0E4FB-7F55-DCAC-CA0B-37D0FB209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B054F-0BAB-EDCF-F7FC-A6E295DB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VQ-Diffusion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60873-486C-1530-072C-B188E7FC1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2314480"/>
          </a:xfrm>
        </p:spPr>
        <p:txBody>
          <a:bodyPr/>
          <a:lstStyle/>
          <a:p>
            <a:r>
              <a:rPr lang="en-US" dirty="0"/>
              <a:t>Goal: Generate image using discrete diffusion model</a:t>
            </a:r>
          </a:p>
          <a:p>
            <a:r>
              <a:rPr lang="en-US" dirty="0"/>
              <a:t>AR models assume conditional independence in images, which may not be true</a:t>
            </a:r>
          </a:p>
          <a:p>
            <a:r>
              <a:rPr lang="en-US" dirty="0"/>
              <a:t>Plus, use a latent space for the diffusion model </a:t>
            </a:r>
          </a:p>
          <a:p>
            <a:r>
              <a:rPr lang="en-US" dirty="0"/>
              <a:t>Problem: latent space is not quite suitable for MDM </a:t>
            </a:r>
          </a:p>
          <a:p>
            <a:pPr lvl="1"/>
            <a:r>
              <a:rPr lang="en-US" dirty="0"/>
              <a:t>Use discrete representation of image latent space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C5AF2-E499-8384-1122-FF713AC6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37786-ED93-C400-DD39-CCA4CA38D099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S. Gu et al., “Vector Quantized Diffusion Model for Text-to-Image Synthesis”, CVPR 2022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28256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2F7C7-942A-F0B0-8825-2244E42A5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Prerequisites: VQ-VAE</a:t>
            </a:r>
          </a:p>
        </p:txBody>
      </p:sp>
      <p:pic>
        <p:nvPicPr>
          <p:cNvPr id="6" name="Content Placeholder 5" descr="A diagram of a graph&#10;&#10;AI-generated content may be incorrect.">
            <a:extLst>
              <a:ext uri="{FF2B5EF4-FFF2-40B4-BE49-F238E27FC236}">
                <a16:creationId xmlns:a16="http://schemas.microsoft.com/office/drawing/2014/main" id="{BF8DA312-E6C9-44E5-AF08-60D3A7B91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21664" b="-1122"/>
          <a:stretch>
            <a:fillRect/>
          </a:stretch>
        </p:blipFill>
        <p:spPr>
          <a:xfrm>
            <a:off x="1125894" y="2053267"/>
            <a:ext cx="9940212" cy="389033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F3FD6-B3A4-CAC8-8481-0C8B7BF1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7D2A7-07DB-9D81-3F64-A745CFB24301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van den Oord et al., “Neural Discrete Representation Learning”, NIPS 2017.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66212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CEF8F-BF16-333B-897B-ABADC3E16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B12BF-3D7A-1B14-F821-56C68E454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Prerequisites: VQ-VAE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D2477-5495-1011-70B7-AD4377BF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A845F8F-81AD-ECAD-9E3D-1E12205DA5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911019"/>
              </a:xfrm>
            </p:spPr>
            <p:txBody>
              <a:bodyPr/>
              <a:lstStyle/>
              <a:p>
                <a:r>
                  <a:rPr lang="en-US" dirty="0"/>
                  <a:t>An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×3</m:t>
                        </m:r>
                      </m:sup>
                    </m:sSup>
                  </m:oMath>
                </a14:m>
                <a:r>
                  <a:rPr lang="en-US" dirty="0"/>
                  <a:t> is encoded into a code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A845F8F-81AD-ECAD-9E3D-1E12205DA5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911019"/>
              </a:xfrm>
              <a:blipFill>
                <a:blip r:embed="rId5"/>
                <a:stretch>
                  <a:fillRect l="-1387" t="-8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5" descr="A diagram of a graph&#10;&#10;AI-generated content may be incorrect.">
            <a:extLst>
              <a:ext uri="{FF2B5EF4-FFF2-40B4-BE49-F238E27FC236}">
                <a16:creationId xmlns:a16="http://schemas.microsoft.com/office/drawing/2014/main" id="{DC11DB0A-F39B-C14C-F3C6-7D99D68386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21664" b="-1122"/>
          <a:stretch>
            <a:fillRect/>
          </a:stretch>
        </p:blipFill>
        <p:spPr>
          <a:xfrm>
            <a:off x="3473253" y="4236555"/>
            <a:ext cx="5245493" cy="20529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40718C-A0A9-0B78-B130-A9E5F7D33A0A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van den Oord et al., “Neural Discrete Representation Learning”, NIPS 2017.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70171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BC66E-405B-DC9C-ED2C-9960774DF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D30F1-5362-00FE-C54A-BD6D427C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Prerequisites: VQ-VAE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A1487-CD3A-95AF-6371-2CCED6D40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3D4DF45-D3E5-1DF9-FDA4-869C2A082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1793696"/>
              </a:xfrm>
            </p:spPr>
            <p:txBody>
              <a:bodyPr/>
              <a:lstStyle/>
              <a:p>
                <a:r>
                  <a:rPr lang="en-US" dirty="0"/>
                  <a:t>An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×3</m:t>
                        </m:r>
                      </m:sup>
                    </m:sSup>
                  </m:oMath>
                </a14:m>
                <a:r>
                  <a:rPr lang="en-US" dirty="0"/>
                  <a:t> is encoded into a code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arg</m:t>
                                  </m:r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min</m:t>
                                          </m:r>
                                        </m:e>
                                        <m:li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d>
                                            <m:dPr>
                                              <m:begChr m:val="‖"/>
                                              <m:endChr m:val="‖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𝑒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𝑒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func>
                                </m:e>
                              </m:func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3D4DF45-D3E5-1DF9-FDA4-869C2A082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1793696"/>
              </a:xfrm>
              <a:blipFill>
                <a:blip r:embed="rId5"/>
                <a:stretch>
                  <a:fillRect l="-1387" t="-127465" b="-207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5" descr="A diagram of a graph&#10;&#10;AI-generated content may be incorrect.">
            <a:extLst>
              <a:ext uri="{FF2B5EF4-FFF2-40B4-BE49-F238E27FC236}">
                <a16:creationId xmlns:a16="http://schemas.microsoft.com/office/drawing/2014/main" id="{F36FF890-8E1A-B1F3-72D9-12154E729E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21664" b="-1122"/>
          <a:stretch>
            <a:fillRect/>
          </a:stretch>
        </p:blipFill>
        <p:spPr>
          <a:xfrm>
            <a:off x="3473253" y="4236555"/>
            <a:ext cx="5245493" cy="20529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3C27DA-5046-6F0C-AEC0-FD5EF6A23B7F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van den Oord et al., “Neural Discrete Representation Learning”, NIPS 2017.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33808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8A58-6836-E5D9-37CF-7F6F6A7B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CD243-D635-61D8-06D9-D5EC8CE05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Prerequisites: VQ-VAE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3C841-F7EC-7E30-8E62-C71E9123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E7D0763-CF1F-4A79-E071-9AD595DB47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2550635"/>
              </a:xfrm>
            </p:spPr>
            <p:txBody>
              <a:bodyPr/>
              <a:lstStyle/>
              <a:p>
                <a:r>
                  <a:rPr lang="en-US" dirty="0"/>
                  <a:t>An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×3</m:t>
                        </m:r>
                      </m:sup>
                    </m:sSup>
                  </m:oMath>
                </a14:m>
                <a:r>
                  <a:rPr lang="en-US" dirty="0"/>
                  <a:t> is encoded into a code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for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arg</m:t>
                                  </m:r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min</m:t>
                                          </m:r>
                                        </m:e>
                                        <m:li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d>
                                            <m:dPr>
                                              <m:begChr m:val="‖"/>
                                              <m:endChr m:val="‖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𝑒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𝑒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func>
                                </m:e>
                              </m:func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E7D0763-CF1F-4A79-E071-9AD595DB47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2550635"/>
              </a:xfrm>
              <a:blipFill>
                <a:blip r:embed="rId5"/>
                <a:stretch>
                  <a:fillRect l="-1387" t="-89604" b="-115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5" descr="A diagram of a graph&#10;&#10;AI-generated content may be incorrect.">
            <a:extLst>
              <a:ext uri="{FF2B5EF4-FFF2-40B4-BE49-F238E27FC236}">
                <a16:creationId xmlns:a16="http://schemas.microsoft.com/office/drawing/2014/main" id="{6973F7AD-88BE-B3A7-555B-066FBB11E7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21664" b="-1122"/>
          <a:stretch>
            <a:fillRect/>
          </a:stretch>
        </p:blipFill>
        <p:spPr>
          <a:xfrm>
            <a:off x="3473253" y="4236555"/>
            <a:ext cx="5245493" cy="20529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6E7E14-281E-BE87-C525-D79C60296946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A. van den Oord et al., “Neural Discrete Representation Learning”, NIPS 2017.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747577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D5B10-EEBF-118B-5975-191ADF9BB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2EAC9-95C1-C750-7283-E1088C901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Quantization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5EB2C-3993-8848-A9B1-85A5D54BFB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1341906"/>
              </a:xfrm>
            </p:spPr>
            <p:txBody>
              <a:bodyPr/>
              <a:lstStyle/>
              <a:p>
                <a:r>
                  <a:rPr lang="en-US" dirty="0"/>
                  <a:t>Goal: Generate image</a:t>
                </a:r>
              </a:p>
              <a:p>
                <a:pPr lvl="1"/>
                <a:r>
                  <a:rPr lang="en-US" dirty="0"/>
                  <a:t>Training process discrepancy: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not given in the generation process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5EB2C-3993-8848-A9B1-85A5D54BFB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1341906"/>
              </a:xfrm>
              <a:blipFill>
                <a:blip r:embed="rId5"/>
                <a:stretch>
                  <a:fillRect l="-1387" t="-5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9E102-C4DC-8CCB-701C-E72D5152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BC9ED6-0CC7-7CC6-F623-12ABB130E13B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S. Gu et al., “Vector Quantized Diffusion Model for Text-to-Image Synthesis”, CVPR 2022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23865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AF433-C92D-232A-2CF6-A8E60B85E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3C64E-680C-7784-9E77-A62B51C7C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Quantization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338CA9-2E6A-845D-D42E-5D6D9E6F70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1772793"/>
              </a:xfrm>
            </p:spPr>
            <p:txBody>
              <a:bodyPr/>
              <a:lstStyle/>
              <a:p>
                <a:r>
                  <a:rPr lang="en-US" dirty="0"/>
                  <a:t>Goal: Generate image from text </a:t>
                </a:r>
              </a:p>
              <a:p>
                <a:pPr lvl="1"/>
                <a:r>
                  <a:rPr lang="en-US" dirty="0"/>
                  <a:t>Training process discrepancy: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not given in the generation process</a:t>
                </a:r>
              </a:p>
              <a:p>
                <a:pPr lvl="1"/>
                <a:r>
                  <a:rPr lang="en-US" dirty="0"/>
                  <a:t>Use 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as a condition and optimize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338CA9-2E6A-845D-D42E-5D6D9E6F70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1772793"/>
              </a:xfrm>
              <a:blipFill>
                <a:blip r:embed="rId5"/>
                <a:stretch>
                  <a:fillRect l="-1387" t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C7F12-9F3C-F0CD-8FE6-70CE4BCA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0555C-2F15-999D-02C6-DE3937E2931B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S. Gu et al., “Vector Quantized Diffusion Model for Text-to-Image Synthesis”, CVPR 2022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20383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1A796-4778-2AAA-44DD-1D4A8E20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E0043-1EB2-ED89-293B-6A7C3A5ED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Quantization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5FD356-093F-947F-772C-8366347F53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14500"/>
                <a:ext cx="10972800" cy="4842223"/>
              </a:xfrm>
            </p:spPr>
            <p:txBody>
              <a:bodyPr/>
              <a:lstStyle/>
              <a:p>
                <a:r>
                  <a:rPr lang="en-US" dirty="0"/>
                  <a:t>Goal: Generate image from text </a:t>
                </a:r>
              </a:p>
              <a:p>
                <a:pPr lvl="1"/>
                <a:r>
                  <a:rPr lang="en-US" dirty="0"/>
                  <a:t>Training process discrepancy: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not given in the generation process</a:t>
                </a:r>
              </a:p>
              <a:p>
                <a:pPr lvl="1"/>
                <a:r>
                  <a:rPr lang="en-US" dirty="0"/>
                  <a:t>Use 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as a condition and optimize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objective function can be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lit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5FD356-093F-947F-772C-8366347F53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4500"/>
                <a:ext cx="10972800" cy="4842223"/>
              </a:xfrm>
              <a:blipFill>
                <a:blip r:embed="rId5"/>
                <a:stretch>
                  <a:fillRect l="-1387" t="-1567" b="-9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02B67-A0CC-F84D-5305-48ABBACB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83035-F991-0F67-F216-1EF8077B4923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S. Gu et al., “Vector Quantized Diffusion Model for Text-to-Image Synthesis”, CVPR 2022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37359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536D9-68EC-71DB-E987-DEF2FBA70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Mask-and-Replace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C1E09-289A-F6FE-54E2-7C1D5DC99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883593"/>
          </a:xfrm>
        </p:spPr>
        <p:txBody>
          <a:bodyPr/>
          <a:lstStyle/>
          <a:p>
            <a:r>
              <a:rPr lang="en-US" dirty="0"/>
              <a:t>D3PM uses random changing masking strategy: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71F68-6E78-E881-633B-775B5464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47F3D0-6C45-976D-D175-AA8D28731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635" y="2139232"/>
            <a:ext cx="4486729" cy="14664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496BE0-65B9-453B-05A3-B64AA3CBF5A3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S. Gu et al., “Vector Quantized Diffusion Model for Text-to-Image Synthesis”, CVPR 2022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6477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E86F6-8E4E-B553-22F7-0717D0F2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F32C1-4299-78A2-8FA6-2E85F1E55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Mask-and-Replace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FF71B-F74B-1013-A006-10CC3E334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2369880"/>
          </a:xfrm>
        </p:spPr>
        <p:txBody>
          <a:bodyPr/>
          <a:lstStyle/>
          <a:p>
            <a:r>
              <a:rPr lang="en-US" dirty="0"/>
              <a:t>D3PM uses random changing masking strategy: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Problem: the model cannot know which tokens are masked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0D4C7-1AA1-A18E-19A3-33755CF6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704E3C-7B87-BCA3-7367-1C4814CD9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635" y="2139232"/>
            <a:ext cx="4486729" cy="14664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532F6B-B534-12E6-A331-26D51808369D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S. Gu et al., “Vector Quantized Diffusion Model for Text-to-Image Synthesis”, CVPR 2022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56360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BFB39-0905-D225-9F4D-84C72D36A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9AC22-5830-8CAC-95F8-789AFE185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Mask-and-Replace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FF77D-F8F3-7CC1-5AB2-DCA2293AE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2856167"/>
          </a:xfrm>
        </p:spPr>
        <p:txBody>
          <a:bodyPr/>
          <a:lstStyle/>
          <a:p>
            <a:r>
              <a:rPr lang="en-US" dirty="0"/>
              <a:t>D3PM uses random changing masking strategy: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Problem: the model cannot know which tokens are masked</a:t>
            </a:r>
          </a:p>
          <a:p>
            <a:r>
              <a:rPr lang="en-US" dirty="0"/>
              <a:t>Solution: add a new [MASK] token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8832A-7F55-1BF8-C5D1-29D0809D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F1553C-49B6-7B37-1FFE-3453D70B3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635" y="2139232"/>
            <a:ext cx="4486729" cy="1466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101AC4-61E8-79B1-31D0-CFD128712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984" y="4674227"/>
            <a:ext cx="4982029" cy="17978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68D87F-238F-7155-6C2A-CBC1A7CEFC98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S. Gu et al., “Vector Quantized Diffusion Model for Text-to-Image Synthesis”, CVPR 2022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63450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EF317-2B45-24BF-0B0D-6836BF94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VQ-Diffusion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55360-58BA-0165-2670-43F595808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487E4-38A6-817E-B5BB-61DA6B064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B0EED9-DDE6-A22C-ADB3-7F0545800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471" y="2143953"/>
            <a:ext cx="6281057" cy="32916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59A35E-0F5E-D249-6B06-853D39535698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S. Gu et al., “Vector Quantized Diffusion Model for Text-to-Image Synthesis”, CVPR 2022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49358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9857-9393-A624-416B-925803AF5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VQ-Diffusion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31A72-7ED4-33EA-B394-67F1139AA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E7488-C634-6FA4-6E35-8233F3EDB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CBE374-D13C-2F70-4F7A-A1E702EFA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758" y="1451352"/>
            <a:ext cx="4634484" cy="48381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EFE5D7-F1D7-9E47-17A7-3469736278D9}"/>
              </a:ext>
            </a:extLst>
          </p:cNvPr>
          <p:cNvSpPr txBox="1"/>
          <p:nvPr/>
        </p:nvSpPr>
        <p:spPr>
          <a:xfrm>
            <a:off x="0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S. Gu et al., “Vector Quantized Diffusion Model for Text-to-Image Synthesis”, CVPR 2022 Oral.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0450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43DDE-9AE7-252C-4A27-11A8125E87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Jihwan</a:t>
            </a:r>
            <a:r>
              <a:rPr lang="en-US" dirty="0"/>
              <a:t> Hong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865A2D-5D80-FA32-2997-F166A32A51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9124" y="3990975"/>
            <a:ext cx="1981201" cy="313932"/>
          </a:xfrm>
        </p:spPr>
        <p:txBody>
          <a:bodyPr/>
          <a:lstStyle/>
          <a:p>
            <a:r>
              <a:rPr lang="en-US" dirty="0" err="1"/>
              <a:t>csjihwanh@snu.ac.kr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4A68C-36A6-500E-4810-6F45019283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289675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46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 Confidential Light">
  <a:themeElements>
    <a:clrScheme name="AWS_2022_Light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2074D5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AWS">
      <a:majorFont>
        <a:latin typeface="Amazon Ember Display"/>
        <a:ea typeface="Noto Sans KR"/>
        <a:cs typeface=""/>
      </a:majorFont>
      <a:minorFont>
        <a:latin typeface="Amazon Ember Display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>
          <a:defRPr b="0" i="0" dirty="0" err="1" smtClean="0">
            <a:latin typeface="Pretendard Variable Medium" panose="02000003000000020004" pitchFamily="2" charset="-127"/>
            <a:ea typeface="Pretendard Variable Medium" panose="02000003000000020004" pitchFamily="2" charset="-127"/>
            <a:cs typeface="Pretendard Variable Medium" panose="02000003000000020004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5" id="{53BDB8A2-CD6C-C749-ABDC-265FF8736D9E}" vid="{EC413510-C8E7-EA4E-AA82-7C61127BDA43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8B642EF64ED0F47B920132EBB4BA1B1" ma:contentTypeVersion="19" ma:contentTypeDescription="새 문서를 만듭니다." ma:contentTypeScope="" ma:versionID="80e348e2e4ab8159d9dc33ee247191d0">
  <xsd:schema xmlns:xsd="http://www.w3.org/2001/XMLSchema" xmlns:xs="http://www.w3.org/2001/XMLSchema" xmlns:p="http://schemas.microsoft.com/office/2006/metadata/properties" xmlns:ns2="bcb2b4a5-cb44-4291-9886-2edaa9e85bdf" xmlns:ns3="e88e242b-24fc-4e0f-9d1e-ff21a8f51232" targetNamespace="http://schemas.microsoft.com/office/2006/metadata/properties" ma:root="true" ma:fieldsID="bb43ea3dc43c3bf6afd2e4364d3117d0" ns2:_="" ns3:_="">
    <xsd:import namespace="bcb2b4a5-cb44-4291-9886-2edaa9e85bdf"/>
    <xsd:import namespace="e88e242b-24fc-4e0f-9d1e-ff21a8f512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_xbbf8__xb9ac__xbcf4__xae3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2b4a5-cb44-4291-9886-2edaa9e85b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2641299d-3420-4534-9c49-27313639e9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xbbf8__xb9ac__xbcf4__xae30_" ma:index="25" nillable="true" ma:displayName="미리보기" ma:format="Thumbnail" ma:internalName="_xbbf8__xb9ac__xbcf4__xae30_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e242b-24fc-4e0f-9d1e-ff21a8f5123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0543c7f-4928-4de1-899e-5400b04075d5}" ma:internalName="TaxCatchAll" ma:showField="CatchAllData" ma:web="e88e242b-24fc-4e0f-9d1e-ff21a8f512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D3ED33-DD31-4F1F-A409-9876B920A0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b2b4a5-cb44-4291-9886-2edaa9e85bdf"/>
    <ds:schemaRef ds:uri="e88e242b-24fc-4e0f-9d1e-ff21a8f512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14D744-C26F-4649-A6D6-5DDDD270EE2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AWS Confidential Light</Template>
  <TotalTime>37645</TotalTime>
  <Words>4059</Words>
  <Application>Microsoft Macintosh PowerPoint</Application>
  <PresentationFormat>Widescreen</PresentationFormat>
  <Paragraphs>690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7" baseType="lpstr">
      <vt:lpstr>Arial</vt:lpstr>
      <vt:lpstr>Pretendard SemiBold</vt:lpstr>
      <vt:lpstr>Pretendard</vt:lpstr>
      <vt:lpstr>Pretendard Medium</vt:lpstr>
      <vt:lpstr>Cambria Math</vt:lpstr>
      <vt:lpstr>Amazon Ember</vt:lpstr>
      <vt:lpstr>Pretendard Variable Medium</vt:lpstr>
      <vt:lpstr>Wingdings</vt:lpstr>
      <vt:lpstr>Amazon Ember Display</vt:lpstr>
      <vt:lpstr>Pretendard Variable Black</vt:lpstr>
      <vt:lpstr>AWS Confidential Light</vt:lpstr>
      <vt:lpstr>Week 6 – Various Diffusion Space</vt:lpstr>
      <vt:lpstr>Latent Space Diffusion</vt:lpstr>
      <vt:lpstr>Recap: Diffusion Models</vt:lpstr>
      <vt:lpstr>Recap: Diffusion Models</vt:lpstr>
      <vt:lpstr>DDPM Implementation</vt:lpstr>
      <vt:lpstr>DDPM Implementation</vt:lpstr>
      <vt:lpstr>DDPM Implementation</vt:lpstr>
      <vt:lpstr>DDPM Implementation</vt:lpstr>
      <vt:lpstr>DDPM Implementation</vt:lpstr>
      <vt:lpstr>DDPM Implementation</vt:lpstr>
      <vt:lpstr>DDPM Implementation</vt:lpstr>
      <vt:lpstr>DDPM Implementation</vt:lpstr>
      <vt:lpstr>Latent Diffusion Model</vt:lpstr>
      <vt:lpstr>Latent Diffusion Model</vt:lpstr>
      <vt:lpstr>Latent Diffusion Model</vt:lpstr>
      <vt:lpstr>Latent Diffusion Model</vt:lpstr>
      <vt:lpstr>Latent Diffusion Model</vt:lpstr>
      <vt:lpstr>PowerPoint Presentation</vt:lpstr>
      <vt:lpstr>Diffusion Transformer (DiT)</vt:lpstr>
      <vt:lpstr>Diffusion Transformer (DiT)</vt:lpstr>
      <vt:lpstr>Diffusion Transformer (DiT)</vt:lpstr>
      <vt:lpstr>Diffusion Transformer (DiT)</vt:lpstr>
      <vt:lpstr>Diffusion Transformer (DiT)</vt:lpstr>
      <vt:lpstr>DiT Patchification</vt:lpstr>
      <vt:lpstr>DiT Patchification</vt:lpstr>
      <vt:lpstr>DiT Patchification</vt:lpstr>
      <vt:lpstr>DiT Patchification</vt:lpstr>
      <vt:lpstr>Architectural Detail</vt:lpstr>
      <vt:lpstr>DiT Scalability</vt:lpstr>
      <vt:lpstr>DiT </vt:lpstr>
      <vt:lpstr>Score-based Diffusion Process</vt:lpstr>
      <vt:lpstr>Score-based Diffusion Process</vt:lpstr>
      <vt:lpstr>Score-based Diffusion Process</vt:lpstr>
      <vt:lpstr>Score-based Diffusion Process</vt:lpstr>
      <vt:lpstr>Score-based Diffusion Process</vt:lpstr>
      <vt:lpstr>Score-based Diffusion Process</vt:lpstr>
      <vt:lpstr>Score-based Diffusion Process</vt:lpstr>
      <vt:lpstr>LSGM Loss</vt:lpstr>
      <vt:lpstr>LSGM Loss</vt:lpstr>
      <vt:lpstr>LSGM Loss</vt:lpstr>
      <vt:lpstr>LSGM Loss</vt:lpstr>
      <vt:lpstr>LSGM Loss</vt:lpstr>
      <vt:lpstr>LSGM Loss</vt:lpstr>
      <vt:lpstr>LSGM Loss</vt:lpstr>
      <vt:lpstr>LSGM Loss </vt:lpstr>
      <vt:lpstr>LSGM Loss </vt:lpstr>
      <vt:lpstr>LSGM Loss </vt:lpstr>
      <vt:lpstr>LSGM Loss </vt:lpstr>
      <vt:lpstr>LSGM Loss </vt:lpstr>
      <vt:lpstr>LSGM Loss </vt:lpstr>
      <vt:lpstr>LSGM Loss </vt:lpstr>
      <vt:lpstr>LSGM Loss: The Cross Entropy Term</vt:lpstr>
      <vt:lpstr>Score-based Generation in Latent Space</vt:lpstr>
      <vt:lpstr>LSGM Results</vt:lpstr>
      <vt:lpstr>Discrete Diffusion Models</vt:lpstr>
      <vt:lpstr>Discrete Space Transition </vt:lpstr>
      <vt:lpstr>Discrete Space Transition </vt:lpstr>
      <vt:lpstr>Discrete Space Transition </vt:lpstr>
      <vt:lpstr>Discrete Space Transition </vt:lpstr>
      <vt:lpstr>Discrete Space Transition </vt:lpstr>
      <vt:lpstr>Transition Matrices</vt:lpstr>
      <vt:lpstr>Everything is a Diffusion Model</vt:lpstr>
      <vt:lpstr>Everything is a Diffusion Model</vt:lpstr>
      <vt:lpstr>Everything is a Diffusion Model</vt:lpstr>
      <vt:lpstr>Everything is a Diffusion Model</vt:lpstr>
      <vt:lpstr>Everything is a Diffusion Model</vt:lpstr>
      <vt:lpstr>D3PM Language Generation </vt:lpstr>
      <vt:lpstr>D3PM Image Generation</vt:lpstr>
      <vt:lpstr>VQ-Diffusion</vt:lpstr>
      <vt:lpstr>VQ-Diffusion</vt:lpstr>
      <vt:lpstr>VQ-Diffusion</vt:lpstr>
      <vt:lpstr>VQ-Diffusion</vt:lpstr>
      <vt:lpstr>VQ-Diffusion</vt:lpstr>
      <vt:lpstr>Prerequisites: VQ-VAE</vt:lpstr>
      <vt:lpstr>Prerequisites: VQ-VAE</vt:lpstr>
      <vt:lpstr>Prerequisites: VQ-VAE</vt:lpstr>
      <vt:lpstr>Prerequisites: VQ-VAE</vt:lpstr>
      <vt:lpstr>Vector Quantization</vt:lpstr>
      <vt:lpstr>Vector Quantization</vt:lpstr>
      <vt:lpstr>Vector Quantization</vt:lpstr>
      <vt:lpstr>Mask-and-Replace </vt:lpstr>
      <vt:lpstr>Mask-and-Replace </vt:lpstr>
      <vt:lpstr>Mask-and-Replace </vt:lpstr>
      <vt:lpstr>VQ-Diffusion Architecture</vt:lpstr>
      <vt:lpstr>VQ-Diffusion 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Jihwan Hong</cp:lastModifiedBy>
  <cp:revision>63</cp:revision>
  <dcterms:created xsi:type="dcterms:W3CDTF">2023-03-29T00:28:06Z</dcterms:created>
  <dcterms:modified xsi:type="dcterms:W3CDTF">2025-10-10T01:41:15Z</dcterms:modified>
</cp:coreProperties>
</file>