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151"/>
  </p:notesMasterIdLst>
  <p:handoutMasterIdLst>
    <p:handoutMasterId r:id="rId152"/>
  </p:handoutMasterIdLst>
  <p:sldIdLst>
    <p:sldId id="328" r:id="rId4"/>
    <p:sldId id="658" r:id="rId5"/>
    <p:sldId id="633" r:id="rId6"/>
    <p:sldId id="634" r:id="rId7"/>
    <p:sldId id="636" r:id="rId8"/>
    <p:sldId id="644" r:id="rId9"/>
    <p:sldId id="646" r:id="rId10"/>
    <p:sldId id="645" r:id="rId11"/>
    <p:sldId id="647" r:id="rId12"/>
    <p:sldId id="553" r:id="rId13"/>
    <p:sldId id="700" r:id="rId14"/>
    <p:sldId id="638" r:id="rId15"/>
    <p:sldId id="641" r:id="rId16"/>
    <p:sldId id="648" r:id="rId17"/>
    <p:sldId id="642" r:id="rId18"/>
    <p:sldId id="643" r:id="rId19"/>
    <p:sldId id="649" r:id="rId20"/>
    <p:sldId id="650" r:id="rId21"/>
    <p:sldId id="640" r:id="rId22"/>
    <p:sldId id="651" r:id="rId23"/>
    <p:sldId id="652" r:id="rId24"/>
    <p:sldId id="653" r:id="rId25"/>
    <p:sldId id="654" r:id="rId26"/>
    <p:sldId id="655" r:id="rId27"/>
    <p:sldId id="703" r:id="rId28"/>
    <p:sldId id="701" r:id="rId29"/>
    <p:sldId id="702" r:id="rId30"/>
    <p:sldId id="556" r:id="rId31"/>
    <p:sldId id="656" r:id="rId32"/>
    <p:sldId id="657" r:id="rId33"/>
    <p:sldId id="659" r:id="rId34"/>
    <p:sldId id="704" r:id="rId35"/>
    <p:sldId id="558" r:id="rId36"/>
    <p:sldId id="732" r:id="rId37"/>
    <p:sldId id="660" r:id="rId38"/>
    <p:sldId id="705" r:id="rId39"/>
    <p:sldId id="559" r:id="rId40"/>
    <p:sldId id="679" r:id="rId41"/>
    <p:sldId id="681" r:id="rId42"/>
    <p:sldId id="680" r:id="rId43"/>
    <p:sldId id="662" r:id="rId44"/>
    <p:sldId id="665" r:id="rId45"/>
    <p:sldId id="664" r:id="rId46"/>
    <p:sldId id="663" r:id="rId47"/>
    <p:sldId id="676" r:id="rId48"/>
    <p:sldId id="706" r:id="rId49"/>
    <p:sldId id="707" r:id="rId50"/>
    <p:sldId id="708" r:id="rId51"/>
    <p:sldId id="709" r:id="rId52"/>
    <p:sldId id="710" r:id="rId53"/>
    <p:sldId id="711" r:id="rId54"/>
    <p:sldId id="682" r:id="rId55"/>
    <p:sldId id="683" r:id="rId56"/>
    <p:sldId id="684" r:id="rId57"/>
    <p:sldId id="677" r:id="rId58"/>
    <p:sldId id="678" r:id="rId59"/>
    <p:sldId id="733" r:id="rId60"/>
    <p:sldId id="686" r:id="rId61"/>
    <p:sldId id="712" r:id="rId62"/>
    <p:sldId id="713" r:id="rId63"/>
    <p:sldId id="714" r:id="rId64"/>
    <p:sldId id="730" r:id="rId65"/>
    <p:sldId id="566" r:id="rId66"/>
    <p:sldId id="573" r:id="rId67"/>
    <p:sldId id="734" r:id="rId68"/>
    <p:sldId id="735" r:id="rId69"/>
    <p:sldId id="574" r:id="rId70"/>
    <p:sldId id="575" r:id="rId71"/>
    <p:sldId id="576" r:id="rId72"/>
    <p:sldId id="715" r:id="rId73"/>
    <p:sldId id="577" r:id="rId74"/>
    <p:sldId id="578" r:id="rId75"/>
    <p:sldId id="737" r:id="rId76"/>
    <p:sldId id="736" r:id="rId77"/>
    <p:sldId id="579" r:id="rId78"/>
    <p:sldId id="716" r:id="rId79"/>
    <p:sldId id="717" r:id="rId80"/>
    <p:sldId id="718" r:id="rId81"/>
    <p:sldId id="719" r:id="rId82"/>
    <p:sldId id="720" r:id="rId83"/>
    <p:sldId id="583" r:id="rId84"/>
    <p:sldId id="624" r:id="rId85"/>
    <p:sldId id="584" r:id="rId86"/>
    <p:sldId id="721" r:id="rId87"/>
    <p:sldId id="587" r:id="rId88"/>
    <p:sldId id="588" r:id="rId89"/>
    <p:sldId id="589" r:id="rId90"/>
    <p:sldId id="590" r:id="rId91"/>
    <p:sldId id="572" r:id="rId92"/>
    <p:sldId id="599" r:id="rId93"/>
    <p:sldId id="600" r:id="rId94"/>
    <p:sldId id="591" r:id="rId95"/>
    <p:sldId id="667" r:id="rId96"/>
    <p:sldId id="598" r:id="rId97"/>
    <p:sldId id="666" r:id="rId98"/>
    <p:sldId id="668" r:id="rId99"/>
    <p:sldId id="738" r:id="rId100"/>
    <p:sldId id="722" r:id="rId101"/>
    <p:sldId id="739" r:id="rId102"/>
    <p:sldId id="723" r:id="rId103"/>
    <p:sldId id="724" r:id="rId104"/>
    <p:sldId id="725" r:id="rId105"/>
    <p:sldId id="726" r:id="rId106"/>
    <p:sldId id="727" r:id="rId107"/>
    <p:sldId id="728" r:id="rId108"/>
    <p:sldId id="729" r:id="rId109"/>
    <p:sldId id="687" r:id="rId110"/>
    <p:sldId id="688" r:id="rId111"/>
    <p:sldId id="692" r:id="rId112"/>
    <p:sldId id="603" r:id="rId113"/>
    <p:sldId id="604" r:id="rId114"/>
    <p:sldId id="605" r:id="rId115"/>
    <p:sldId id="606" r:id="rId116"/>
    <p:sldId id="607" r:id="rId117"/>
    <p:sldId id="608" r:id="rId118"/>
    <p:sldId id="609" r:id="rId119"/>
    <p:sldId id="610" r:id="rId120"/>
    <p:sldId id="611" r:id="rId121"/>
    <p:sldId id="612" r:id="rId122"/>
    <p:sldId id="613" r:id="rId123"/>
    <p:sldId id="615" r:id="rId124"/>
    <p:sldId id="740" r:id="rId125"/>
    <p:sldId id="616" r:id="rId126"/>
    <p:sldId id="617" r:id="rId127"/>
    <p:sldId id="618" r:id="rId128"/>
    <p:sldId id="619" r:id="rId129"/>
    <p:sldId id="620" r:id="rId130"/>
    <p:sldId id="621" r:id="rId131"/>
    <p:sldId id="623" r:id="rId132"/>
    <p:sldId id="622" r:id="rId133"/>
    <p:sldId id="626" r:id="rId134"/>
    <p:sldId id="691" r:id="rId135"/>
    <p:sldId id="693" r:id="rId136"/>
    <p:sldId id="694" r:id="rId137"/>
    <p:sldId id="695" r:id="rId138"/>
    <p:sldId id="696" r:id="rId139"/>
    <p:sldId id="697" r:id="rId140"/>
    <p:sldId id="698" r:id="rId141"/>
    <p:sldId id="628" r:id="rId142"/>
    <p:sldId id="627" r:id="rId143"/>
    <p:sldId id="630" r:id="rId144"/>
    <p:sldId id="631" r:id="rId145"/>
    <p:sldId id="629" r:id="rId146"/>
    <p:sldId id="632" r:id="rId147"/>
    <p:sldId id="625" r:id="rId148"/>
    <p:sldId id="731" r:id="rId149"/>
    <p:sldId id="362" r:id="rId150"/>
  </p:sldIdLst>
  <p:sldSz cx="12192000" cy="6858000"/>
  <p:notesSz cx="6858000" cy="9144000"/>
  <p:embeddedFontLst>
    <p:embeddedFont>
      <p:font typeface="Pretendard" panose="02000503000000020004" pitchFamily="2" charset="-127"/>
      <p:regular r:id="rId153"/>
      <p:bold r:id="rId154"/>
    </p:embeddedFont>
    <p:embeddedFont>
      <p:font typeface="Pretendard SemiBold" panose="02000703000000020004" pitchFamily="2" charset="-127"/>
      <p:regular r:id="rId155"/>
      <p:bold r:id="rId156"/>
    </p:embeddedFont>
    <p:embeddedFont>
      <p:font typeface="Pretendard Variable Black" panose="02000003000000020004" pitchFamily="2" charset="-127"/>
      <p:bold r:id="rId157"/>
    </p:embeddedFont>
    <p:embeddedFont>
      <p:font typeface="Pretendard Variable Light" panose="02000003000000020004" pitchFamily="2" charset="-127"/>
      <p:regular r:id="rId158"/>
      <p:bold r:id="rId159"/>
    </p:embeddedFont>
    <p:embeddedFont>
      <p:font typeface="Pretendard Variable Medium" panose="02000003000000020004" pitchFamily="2" charset="-127"/>
      <p:regular r:id="rId160"/>
    </p:embeddedFont>
    <p:embeddedFont>
      <p:font typeface="Amazon Ember" panose="020B0603020204020204" pitchFamily="34" charset="0"/>
      <p:regular r:id="rId161"/>
      <p:bold r:id="rId162"/>
      <p:italic r:id="rId163"/>
      <p:boldItalic r:id="rId164"/>
    </p:embeddedFont>
    <p:embeddedFont>
      <p:font typeface="Amazon Ember Display" panose="020F0603020204020204" pitchFamily="34" charset="0"/>
      <p:regular r:id="rId165"/>
      <p:bold r:id="rId166"/>
      <p:italic r:id="rId167"/>
      <p:boldItalic r:id="rId168"/>
    </p:embeddedFont>
    <p:embeddedFont>
      <p:font typeface="Cambria Math" panose="02040503050406030204" pitchFamily="18" charset="0"/>
      <p:regular r:id="rId169"/>
    </p:embeddedFont>
    <p:embeddedFont>
      <p:font typeface="Pretendard Medium" panose="020F0502020204030204" pitchFamily="34" charset="0"/>
      <p:regular r:id="rId17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E1F978-0DB9-4540-9F5F-C631925DCAB2}">
          <p14:sldIdLst>
            <p14:sldId id="328"/>
          </p14:sldIdLst>
        </p14:section>
        <p14:section name="Generative Modeling" id="{D98C0030-D4D2-604A-B9B0-F8E28BC37DDC}">
          <p14:sldIdLst>
            <p14:sldId id="658"/>
            <p14:sldId id="633"/>
            <p14:sldId id="634"/>
            <p14:sldId id="636"/>
            <p14:sldId id="644"/>
            <p14:sldId id="646"/>
            <p14:sldId id="645"/>
            <p14:sldId id="647"/>
            <p14:sldId id="553"/>
            <p14:sldId id="700"/>
            <p14:sldId id="638"/>
            <p14:sldId id="641"/>
            <p14:sldId id="648"/>
            <p14:sldId id="642"/>
            <p14:sldId id="643"/>
            <p14:sldId id="649"/>
            <p14:sldId id="650"/>
            <p14:sldId id="640"/>
            <p14:sldId id="651"/>
            <p14:sldId id="652"/>
            <p14:sldId id="653"/>
            <p14:sldId id="654"/>
            <p14:sldId id="655"/>
            <p14:sldId id="703"/>
            <p14:sldId id="701"/>
            <p14:sldId id="702"/>
            <p14:sldId id="556"/>
            <p14:sldId id="656"/>
            <p14:sldId id="657"/>
          </p14:sldIdLst>
        </p14:section>
        <p14:section name="Autoregressive Models" id="{7A4D2EBC-77F2-3E4D-883A-4B5EE338DF31}">
          <p14:sldIdLst>
            <p14:sldId id="659"/>
            <p14:sldId id="704"/>
            <p14:sldId id="558"/>
            <p14:sldId id="732"/>
            <p14:sldId id="660"/>
            <p14:sldId id="705"/>
            <p14:sldId id="559"/>
            <p14:sldId id="679"/>
            <p14:sldId id="681"/>
            <p14:sldId id="680"/>
            <p14:sldId id="662"/>
            <p14:sldId id="665"/>
            <p14:sldId id="664"/>
            <p14:sldId id="663"/>
            <p14:sldId id="676"/>
            <p14:sldId id="706"/>
            <p14:sldId id="707"/>
            <p14:sldId id="708"/>
            <p14:sldId id="709"/>
            <p14:sldId id="710"/>
            <p14:sldId id="711"/>
            <p14:sldId id="682"/>
            <p14:sldId id="683"/>
            <p14:sldId id="684"/>
            <p14:sldId id="677"/>
            <p14:sldId id="678"/>
            <p14:sldId id="733"/>
            <p14:sldId id="686"/>
            <p14:sldId id="712"/>
            <p14:sldId id="713"/>
            <p14:sldId id="714"/>
          </p14:sldIdLst>
        </p14:section>
        <p14:section name="Variational Autoencoder" id="{4B9ABD31-3D30-444C-85F7-CC103E061DC0}">
          <p14:sldIdLst>
            <p14:sldId id="730"/>
            <p14:sldId id="566"/>
            <p14:sldId id="573"/>
            <p14:sldId id="734"/>
            <p14:sldId id="735"/>
            <p14:sldId id="574"/>
            <p14:sldId id="575"/>
            <p14:sldId id="576"/>
            <p14:sldId id="715"/>
            <p14:sldId id="577"/>
            <p14:sldId id="578"/>
            <p14:sldId id="737"/>
            <p14:sldId id="736"/>
            <p14:sldId id="579"/>
            <p14:sldId id="716"/>
            <p14:sldId id="717"/>
            <p14:sldId id="718"/>
            <p14:sldId id="719"/>
            <p14:sldId id="720"/>
            <p14:sldId id="583"/>
            <p14:sldId id="624"/>
            <p14:sldId id="584"/>
            <p14:sldId id="721"/>
            <p14:sldId id="587"/>
            <p14:sldId id="588"/>
            <p14:sldId id="589"/>
            <p14:sldId id="590"/>
            <p14:sldId id="572"/>
            <p14:sldId id="599"/>
            <p14:sldId id="600"/>
            <p14:sldId id="591"/>
            <p14:sldId id="667"/>
            <p14:sldId id="598"/>
            <p14:sldId id="666"/>
            <p14:sldId id="668"/>
            <p14:sldId id="738"/>
            <p14:sldId id="722"/>
            <p14:sldId id="739"/>
            <p14:sldId id="723"/>
            <p14:sldId id="724"/>
            <p14:sldId id="725"/>
            <p14:sldId id="726"/>
            <p14:sldId id="727"/>
            <p14:sldId id="728"/>
            <p14:sldId id="729"/>
            <p14:sldId id="687"/>
            <p14:sldId id="688"/>
          </p14:sldIdLst>
        </p14:section>
        <p14:section name="Generative Adversarial Networks" id="{CF8501E9-083E-1E4B-B283-C3322A92E13E}">
          <p14:sldIdLst>
            <p14:sldId id="69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5"/>
            <p14:sldId id="740"/>
            <p14:sldId id="616"/>
            <p14:sldId id="617"/>
            <p14:sldId id="618"/>
            <p14:sldId id="619"/>
            <p14:sldId id="620"/>
            <p14:sldId id="621"/>
            <p14:sldId id="623"/>
            <p14:sldId id="622"/>
            <p14:sldId id="626"/>
            <p14:sldId id="691"/>
            <p14:sldId id="693"/>
            <p14:sldId id="694"/>
            <p14:sldId id="695"/>
            <p14:sldId id="696"/>
            <p14:sldId id="697"/>
            <p14:sldId id="698"/>
            <p14:sldId id="628"/>
            <p14:sldId id="627"/>
            <p14:sldId id="630"/>
            <p14:sldId id="631"/>
            <p14:sldId id="629"/>
            <p14:sldId id="632"/>
            <p14:sldId id="625"/>
            <p14:sldId id="731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FFFFFF"/>
    <a:srgbClr val="1F2F3F"/>
    <a:srgbClr val="1FA682"/>
    <a:srgbClr val="FFEDCF"/>
    <a:srgbClr val="FF9900"/>
    <a:srgbClr val="7CE8F4"/>
    <a:srgbClr val="31B0C9"/>
    <a:srgbClr val="FFBBC6"/>
    <a:srgbClr val="FED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B945A4-B991-4E73-B58D-0653ECECD744}" v="11" dt="2025-03-11T09:11:30.656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32" autoAdjust="0"/>
    <p:restoredTop sz="68571" autoAdjust="0"/>
  </p:normalViewPr>
  <p:slideViewPr>
    <p:cSldViewPr snapToGrid="0">
      <p:cViewPr varScale="1">
        <p:scale>
          <a:sx n="85" d="100"/>
          <a:sy n="85" d="100"/>
        </p:scale>
        <p:origin x="2728" y="1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59" Type="http://schemas.openxmlformats.org/officeDocument/2006/relationships/font" Target="fonts/font7.fntdata"/><Relationship Id="rId170" Type="http://schemas.openxmlformats.org/officeDocument/2006/relationships/font" Target="fonts/font18.fntdata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160" Type="http://schemas.openxmlformats.org/officeDocument/2006/relationships/font" Target="fonts/font8.fntdata"/><Relationship Id="rId22" Type="http://schemas.openxmlformats.org/officeDocument/2006/relationships/slide" Target="slides/slide19.xml"/><Relationship Id="rId43" Type="http://schemas.openxmlformats.org/officeDocument/2006/relationships/slide" Target="slides/slide40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39" Type="http://schemas.openxmlformats.org/officeDocument/2006/relationships/slide" Target="slides/slide136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71" Type="http://schemas.openxmlformats.org/officeDocument/2006/relationships/presProps" Target="presProps.xml"/><Relationship Id="rId12" Type="http://schemas.openxmlformats.org/officeDocument/2006/relationships/slide" Target="slides/slide9.xml"/><Relationship Id="rId33" Type="http://schemas.openxmlformats.org/officeDocument/2006/relationships/slide" Target="slides/slide30.xml"/><Relationship Id="rId108" Type="http://schemas.openxmlformats.org/officeDocument/2006/relationships/slide" Target="slides/slide105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5" Type="http://schemas.openxmlformats.org/officeDocument/2006/relationships/slide" Target="slides/slide72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61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35" Type="http://schemas.openxmlformats.org/officeDocument/2006/relationships/slide" Target="slides/slide132.xml"/><Relationship Id="rId151" Type="http://schemas.openxmlformats.org/officeDocument/2006/relationships/notesMaster" Target="notesMasters/notesMaster1.xml"/><Relationship Id="rId156" Type="http://schemas.openxmlformats.org/officeDocument/2006/relationships/font" Target="fonts/font4.fntdata"/><Relationship Id="rId172" Type="http://schemas.openxmlformats.org/officeDocument/2006/relationships/viewProps" Target="viewProps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slide" Target="slides/slide138.xml"/><Relationship Id="rId146" Type="http://schemas.openxmlformats.org/officeDocument/2006/relationships/slide" Target="slides/slide143.xml"/><Relationship Id="rId167" Type="http://schemas.openxmlformats.org/officeDocument/2006/relationships/font" Target="fonts/font15.fntdata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162" Type="http://schemas.openxmlformats.org/officeDocument/2006/relationships/font" Target="fonts/font10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157" Type="http://schemas.openxmlformats.org/officeDocument/2006/relationships/font" Target="fonts/font5.fntdata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handoutMaster" Target="handoutMasters/handoutMaster1.xml"/><Relationship Id="rId173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168" Type="http://schemas.openxmlformats.org/officeDocument/2006/relationships/font" Target="fonts/font16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163" Type="http://schemas.openxmlformats.org/officeDocument/2006/relationships/font" Target="fonts/font11.fntdata"/><Relationship Id="rId3" Type="http://schemas.openxmlformats.org/officeDocument/2006/relationships/slideMaster" Target="slideMasters/slideMaster1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font" Target="fonts/font6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font" Target="fonts/font1.fntdata"/><Relationship Id="rId174" Type="http://schemas.openxmlformats.org/officeDocument/2006/relationships/tableStyles" Target="tableStyles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48" Type="http://schemas.openxmlformats.org/officeDocument/2006/relationships/slide" Target="slides/slide145.xml"/><Relationship Id="rId164" Type="http://schemas.openxmlformats.org/officeDocument/2006/relationships/font" Target="fonts/font12.fntdata"/><Relationship Id="rId169" Type="http://schemas.openxmlformats.org/officeDocument/2006/relationships/font" Target="fonts/font1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font" Target="fonts/font2.fntdata"/><Relationship Id="rId175" Type="http://schemas.microsoft.com/office/2015/10/relationships/revisionInfo" Target="revisionInfo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165" Type="http://schemas.openxmlformats.org/officeDocument/2006/relationships/font" Target="fonts/font13.fntdata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Relationship Id="rId80" Type="http://schemas.openxmlformats.org/officeDocument/2006/relationships/slide" Target="slides/slide77.xml"/><Relationship Id="rId155" Type="http://schemas.openxmlformats.org/officeDocument/2006/relationships/font" Target="fonts/font3.fntdata"/><Relationship Id="rId17" Type="http://schemas.openxmlformats.org/officeDocument/2006/relationships/slide" Target="slides/slide14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24" Type="http://schemas.openxmlformats.org/officeDocument/2006/relationships/slide" Target="slides/slide121.xml"/><Relationship Id="rId70" Type="http://schemas.openxmlformats.org/officeDocument/2006/relationships/slide" Target="slides/slide67.xml"/><Relationship Id="rId91" Type="http://schemas.openxmlformats.org/officeDocument/2006/relationships/slide" Target="slides/slide88.xml"/><Relationship Id="rId145" Type="http://schemas.openxmlformats.org/officeDocument/2006/relationships/slide" Target="slides/slide142.xml"/><Relationship Id="rId166" Type="http://schemas.openxmlformats.org/officeDocument/2006/relationships/font" Target="fonts/font1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4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51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48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33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28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0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08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74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09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35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38988-9D3C-CD2C-D012-AEDF8F882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14D71-421E-7985-BEBA-C43C64113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A0394-2147-677F-BFB3-0E40FDA57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B7414-8839-8171-1322-95EF2E1F6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35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56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33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06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0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63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07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455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227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45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7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673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467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498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58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8E837-3411-A30C-67BE-81FA545C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FCC2D-7574-8AD0-F590-EF28ED1B9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70CFE-0247-EB36-8570-A1E7175B3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6838A-98B8-9F33-287E-15721C078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51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8F259-4335-A367-2744-915EF0694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968A1-F6C2-FFFE-7789-B91569561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FF62D-ABE2-787F-3E1F-CE4D79F2F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2335F-701C-7F4E-BE67-F56C41B58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263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58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072D-FB95-A4C4-9704-30158B60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335E6-D52C-E446-15EB-5FB97BC64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C0B18-225E-FA54-810A-7A6AFA834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DF3DA-BE34-35D1-854E-6089DF864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386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19CB4-CFD8-B36D-99DD-F7077AAB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2CE24-84AF-A688-1403-F7EA81C7B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D2393-8779-8547-1CE2-2FB70AE10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E2079-5349-A6B6-7453-61739C01C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092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429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1F21-A012-A55B-FCD6-498A2601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5D73B-C0F7-2F1B-7A9A-D24DF6519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19E82-A650-2EB4-4BEE-A09A5A688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4C981-31C8-82B6-E291-6094623BA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764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104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0DE0-49BC-0CF2-97B4-A82440281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FEB34-2424-BB13-C795-CAD4D2FB1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88C0B-B98D-4B23-3FF3-7F4015247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A3505-AB31-AC09-94C6-533A41A61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189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0E2E-C615-D95B-DDEA-D8A6B4C54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1E4D2-58AF-E5AD-8185-76CB945F5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7FACE-B1FC-0060-93C6-B014C8578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EC6D1-C355-88A5-90FC-248B3C5DF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012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708E-60AF-C66F-6019-13622141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CAF45-F949-0F19-4FD8-0D5D70BD2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C407E-31A9-CD94-CE38-35D7FCECD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6B0DD-51F5-AC32-4B8D-11ECBDB1B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841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9371F-D323-8048-84C5-5F58C1AD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BB778-1FBD-638B-DC18-C0CC6CDC9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92E75-C1C6-1BD3-B841-2F9EE97EB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36E77-31D5-6A23-9819-C5777D45A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863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36217-2D4C-0766-8164-363E6FDBC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C0BF3-5CE6-0423-E332-DDD20D456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1D893-77D8-D98C-BF62-A00EB879E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F3E0A-C0B2-92BA-E5D1-8DCBDBBD7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605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DA4D-965B-D646-4176-C478A78C3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062E2-7238-457D-A1D4-5AF68B487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7F81E-D53B-6D0D-6766-016AF1582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4E808-79DD-372C-B11A-9CB904B47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390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5D1CB-684D-ACD6-CDFC-57105D5A4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C4800-1B71-EAAE-CCF7-51138C8ED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F1AE9-BC2D-5D50-A8CC-0D7FD71AF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9F71A-2C27-BCFF-B892-329B77349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990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6B29-00CE-FEFD-8452-4CCA535C2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112AD-C1EF-839F-FD1D-13DC5EF27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31B20-F8BC-0F80-E6EC-C9EF11836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C8398-346D-1227-5C37-0C67B45C8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124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F780-A7B4-318B-FDBA-929F6E8B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7DDBA-318D-7FDA-8C88-4DEF59EE6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A8058-606C-6A1A-79BC-6D2CCDBB1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E4A5D-2262-A6DB-B871-565A494C7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774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A4E5-ABB3-DDF4-0C04-EF53BA753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A3CD8-2A7F-849F-03DD-19ECCF0D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BFB71-F4D9-F149-E095-C4FDE54BF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10F6C-1ED4-D647-0350-0A4376D68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32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FAFA8-CF04-3A23-E52A-122661C7A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0BF88-38D4-FE7F-F99D-ACDD0EFF1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91E77-1EAC-919E-F5AF-FAC6F31E6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6E152-FE5B-39AA-27AD-3EDE4FD76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313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B0F9-8065-8227-FF0C-4B3B8684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DBCF9-AC7D-E83E-0F98-3FDD19D0A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AFA4E-1AFC-B199-6B10-2809737C9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1298F-A922-2C8B-0880-334AD3143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003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56A2F-2FE4-62F2-AFDB-70D97981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AB5B1-1106-A4A4-162A-3A4323F2F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6BE35-403C-5A9A-7329-02807B9B4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0AAE9-BAD6-6D39-A2EF-F717C99B7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785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ADE7-7E52-46DC-A071-E66565BE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E9D4C-EAAA-FE42-9238-3EFC961FE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27AF0-3255-A55F-F7BF-0E6E0C640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D62DB-EA76-2AAE-3129-A4FD8F1FB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792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01B9-22C3-5FEA-BA8A-ABF423EF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B134D-CF06-BA41-5099-4C495DA9F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8A050-4561-042A-CA13-F5B209B75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D252A-EDC3-FD08-2174-FF6A053AA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716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7946-210C-3DCD-4204-1F6D6EB8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CBFE2-AD05-4060-E074-C598CCA8E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2F573-8D9F-3F3E-85EB-E0A7A4D87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B3FE9-0527-D65F-68D4-59F73D5CA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416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805E-547F-E833-F3BD-EB90F3C9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C8318-2C95-C04E-4110-6A1D25D29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19725-9195-FC6C-42AC-12C0CE32A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844FE-51D8-1501-3D1C-6EB38A4A9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4313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3A4FE-BE1D-CB06-54C5-7F0696FE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13A2D-0189-DA95-A72F-F1A4B8453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1A059-4BAC-B9DD-D3E7-845022A63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E782C-21E8-D6C7-56FF-B0ACDF1CE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87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486B-88EE-6F23-76EC-DD7A9FDC3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1B787-5E6F-0FAE-9B01-1BF5624FF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3800B-2E6D-19D7-A39A-62BF53818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AAA9-5BCF-D535-A21F-454E315C1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367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3CA8-FFD8-E40C-29C4-C312EA0DC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69679-4D54-5AD3-48D2-E352F6C87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7E65F-4788-889B-4DB3-12DE88BC5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B8DF1-69FC-AAFF-C731-BC75ACE3A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440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0483-28EE-9AF3-0726-7169B796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5A4E9-D5FD-24F0-A6C5-CBB4398CA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01E96-C7CF-CE6E-5E64-142E2FE10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95FF2-B887-FD35-E4C7-CF270E724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552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A8AD-E3F8-05DF-F6D4-57C7A6C5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23607-EB89-84AB-1352-B124B1431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B3B5-8E63-31FF-91A7-777F1CE82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2B184-5B3F-1021-AD7B-D83E7653B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381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799A6-A284-8104-BEF9-8B248BA71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CE0B2-F1C4-6A63-C969-AF098F3F1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7B6DC-8D23-1840-D607-1C66A659D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DED51-DCBC-1AF1-BEF3-CD1D682EE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3028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D360-183F-930B-683A-BE47DF18D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EDE7F-795E-E43F-04C5-4BD5188DB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D0811-D000-12CC-5369-4611100B5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B8388-8F40-113D-DB0E-650555512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2789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7885A-EE24-C190-AC1B-C532895A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BC44E-2B66-7DF6-5451-AC186476D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EA3AA-BEAC-472B-7765-B45B39123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01F00-8C89-DCD5-B9DF-68D8F4419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8750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4C194-E4AA-3AB0-9FF7-BD71C7033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43040-6700-5FC1-809E-891330D9E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F0841-4E7B-BD7F-30B3-E0A25987C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42608-9AA9-62C9-6003-FE344DDB2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9547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39EF1-7F6E-7FF0-CACA-C0E319C0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F20C3-B20D-859F-6C95-583A876D4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7447B-2115-7F2C-92CE-5A5674991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0BBEA-BB25-BE8F-1C5C-601F4B014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639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0E749-3F92-CE66-C095-D49B1AA81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1A7FA-AC2F-E3E0-9F4A-580DA2864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05D37-4D57-7FFB-A5C5-3F87B195E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B1103-2C49-DE40-D48B-20E793C0A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8871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9508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2886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4864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68498-E09B-F3EE-2C09-88BE7FA4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718A6-8F97-3865-F6A8-7A7BEFB09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7BAC5-3223-0114-8105-F6EFEA9C3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8FC74-C007-CF04-401D-5A998A82E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3280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30645-126E-58F1-8873-25619063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0C08F-3250-16BB-952C-840D7CF93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F1259-1B22-BC72-EC88-4A6AB8F21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08E49-E4FA-A013-751E-39688B216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0145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6021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6425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6915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51C46-2E63-065C-D333-EF60C1B7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B98E6-1F4D-AAA8-73C6-DDAF3BBEE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71174-D2BD-3AAA-C50B-D64B30492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9D7E5-42DC-BC03-3003-D57D6E683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8055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3731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4103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B483C-53D7-1BC6-8C56-CE1D4FA2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813C7-BD76-5701-3922-85EC44FB2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8D301-441C-BE4B-D3D5-8EE3DD28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B94CA-7A2E-3C14-714B-659421395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7964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84041-AE61-7E55-F7FD-F591736A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DF5E3-8F5F-956F-EFBA-F2A93BEC8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4CF9D-A700-B2E0-FDAC-F2E434AEB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0A934-CBF8-A988-04B1-E8045E109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9764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9737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1E68C-BF56-862C-9BA6-2B7A7A3C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75DB1-6B8A-40C8-F0FF-46E6BBA8F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75E6C-6B3C-EFB8-A3A9-5217A9FFA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B668A-2968-F58D-30B3-5FD0275CD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0142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1C5DC-8616-8E25-83A0-01CB467B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B0F07-D08F-C12F-5DD5-73740B641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044BB-5596-7EBF-AC7B-1E69869C4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6B756-2A0B-A32A-5E46-5D3798A63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7177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99205-CFFE-D6C4-4637-FB5463AF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2B53-1BD3-E8D4-BC87-257279D08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E21DB-E630-8F70-485C-56053D66A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9C3D-E195-6437-CAE2-6E6965423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3060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816AF-886A-8C8D-6A2E-C62E1FA74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1C5BC-BD28-3205-ED10-A180D19B0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85189-7285-88D7-3EED-2EAFCD865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40934-CE74-821D-2610-C49945C54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5245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468C9-F7CF-7666-69D6-9DE2ED30F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93436-53B0-1227-935E-F008C771D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E0D4F-A5F3-4035-9E39-FC05F2D75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A26C7-901A-D8DA-AC23-6D10E45FF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4850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0717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6561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3707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89195-9CB5-B10E-D7FD-F8D5ADDF2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1A6A9-D64A-F684-5347-4805B54E7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E6BC1-31E9-9B23-E9B8-0B91FC34C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42049-A817-B498-6AE3-1671C9B5F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578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1539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3904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C870-8572-F1FF-74EA-57225103E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5C79A-33DE-0AA9-737E-DEDE38138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D6865-5A87-EF89-1508-3E7480F39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9BA57-03D8-405F-A5E4-F8C6C170A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1551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88DEA-B177-DC5A-81F1-31943B58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B8BB9-D83C-DD78-C603-F3785A01F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C3579-121C-5054-CD2A-1F8C3CD84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CB687-C450-5A97-ACF8-7F8054B74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3033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6577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6945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2259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0432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9512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0209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770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4320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9DA9-A15A-2138-AA35-70E523CDE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3660F-A285-E177-DC6A-6C0CC4154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97E09-855E-2403-7D08-45077840F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C9E17-FBA3-7F42-0700-FDF36574E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3447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0C42-77A9-5AF6-7408-5DC70F0C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345C10-DF78-FD8D-E25B-E65AD168F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37047-FA84-B2B6-52ED-FF4EF54D4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5D1FF-8DD6-B396-CEA9-ACA591135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668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AAE44-C5F3-2C00-7690-EDD31D97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B189D-19AC-F0DD-69B6-C9D26B998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CF48D-58A9-879B-3217-089038682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4BAC1-4DC5-0946-FBBE-C65826A96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3158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70B35-BB8B-EE5E-EAE8-E5993788E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DDF77-9BBC-B1E7-0382-3F70E6B5E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5C71B-7255-0CDA-8D61-4C3763F0D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0DE47-B9CA-0023-F4E9-4A39CACC7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8052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A05F-582A-F13B-FA32-2466BBAD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08F30-A5FA-694A-C4AA-7CBB59429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D1359-9CC9-402B-2770-4BC300B59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38C3B-21FC-E300-D9F0-84C5A0C8D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35713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35EB7-E156-F39A-F3AC-BF69544D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3BDB4-7B77-E680-B489-F3F4610B1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49352-783A-DABD-6B90-34EA0B661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79C9C-5902-CFDC-2D6F-7C260CD10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4381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C5F9E-3813-7A4F-C8E9-6B1B4FB3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56E1A-102F-CC4B-AD63-1A24301C1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1EEB5-EFE1-ED05-2625-2CE0171A2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BD31B-F4BE-11DA-ABFA-482967671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19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5BCDE-D693-24C9-3B64-5DFC53D1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FB262-188F-4496-72D5-2E860EC1D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1950A-DC01-9C90-6E6A-7830C166B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CF422-27D6-737F-7C07-D80D5441D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4746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1B1C5-27AC-222C-C356-4962C58B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56CF4-72EA-3BAA-D1A1-A9A290694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EBF98-F87C-983B-ED2A-B9D6E9D2B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75CE1-9B1C-1885-2D4F-4534E21B0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4108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DFDEB-8B2A-98C6-2BA7-A66770B9C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19BED-390F-525C-F183-F2EFCF079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6A8BF7-DA90-156E-FAA9-58BAB83D6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E3D26-6407-8AE1-E2F6-BE23E953D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9051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522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3067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9524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657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2205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73947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677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9605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23347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2947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5598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5503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35818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34688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1631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90530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91997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13895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4821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1747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57768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55505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1429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87606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1612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5969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02379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09695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77719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715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71135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08628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02070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4282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66EF-06AA-81FC-6435-21B9A6D2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516FA-18FF-FD4E-B77B-ABDAF1B03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5D995-CAFF-8073-5D2C-6CDCE5C9C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1BAB4-BFF8-D8C2-A3CF-051A0ED66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7271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9315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05083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24265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53434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00603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05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19D5990-0C54-831D-96A4-1627FE9FCB07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 b="1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7" name="Picture 6" descr="정장 - 대학상징 - 대학소개 - 서울대학교">
            <a:extLst>
              <a:ext uri="{FF2B5EF4-FFF2-40B4-BE49-F238E27FC236}">
                <a16:creationId xmlns:a16="http://schemas.microsoft.com/office/drawing/2014/main" id="{1CEEA42D-03E6-42C5-DB73-A8862FA337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95E115-D62C-AE0C-429A-CF37FB8895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14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406E2F2-8AA5-3982-5D4F-A13EB9512525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 b="1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1AE1-7907-F24D-8677-0B8F5F67234B}" type="datetime1">
              <a:rPr lang="en-US" smtClean="0"/>
              <a:t>10/10/25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92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BBD02A2E-F04D-C9AF-9F9A-C610B110494F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4412-B7A6-5248-9101-6EE6DBC2D916}" type="datetime1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120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24E4CF3D-D908-926B-E2E0-16DC23B9AD70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41519F39-6580-C4C2-BB47-492DBFE4A8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19A95A1-B9DA-4AAF-6327-04E6E02C33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FCCCA-452D-9DA7-013E-E3237E8C1941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9671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6736434-7E81-994B-854B-1BF33F160A0D}" type="datetime1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0D62F-E191-C046-B6EA-E79BE99AA24A}" type="datetime1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0" i="0" cap="all" spc="300" baseline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1D3B374-854B-EF47-9B56-0018B9F83111}" type="datetime1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009781"/>
          </a:xfrm>
        </p:spPr>
        <p:txBody>
          <a:bodyPr/>
          <a:lstStyle>
            <a:lvl1pPr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78D1-9721-044C-B65C-A6FC97994CEC}" type="datetime1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C1E3C-DF27-14BF-51FF-36D7EB8FB5F0}"/>
              </a:ext>
            </a:extLst>
          </p:cNvPr>
          <p:cNvSpPr txBox="1"/>
          <p:nvPr userDrawn="1"/>
        </p:nvSpPr>
        <p:spPr>
          <a:xfrm>
            <a:off x="609600" y="311291"/>
            <a:ext cx="109728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b="0" i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UPDATE THIS PRESENTATION HEADER</a:t>
            </a:r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4422CFE-CB70-E144-AF43-F0FCE393742F}" type="datetime1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2203680"/>
          </a:xfrm>
        </p:spPr>
        <p:txBody>
          <a:bodyPr/>
          <a:lstStyle>
            <a:lvl1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4FC2D43-256D-6645-BCF9-A844B8D70195}" type="datetime1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978729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C0C526-AA41-9246-8D2F-123642CF358A}" type="datetime1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C29B-2875-A847-90DD-93F5B9D216F5}" type="datetime1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7C09E-9944-944E-A974-7D6AA4E02B83}" type="datetime1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F02E835-1245-C748-8E9F-651FE6B45587}" type="datetime1">
              <a:rPr lang="en-US" smtClean="0"/>
              <a:t>10/10/25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96E8718-D810-5D42-BBA7-DBDBA7B074E9}" type="datetime1">
              <a:rPr lang="en-US" smtClean="0"/>
              <a:t>10/10/25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958DF5-F549-8B46-95E0-C2CB36033BB5}" type="datetime1">
              <a:rPr lang="en-US" smtClean="0"/>
              <a:t>10/10/25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1397-8FE7-FB4B-82EE-58C288712F6D}" type="datetime1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8789C-A0D1-A74F-A15D-501FE221905E}" type="datetime1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75199"/>
            <a:ext cx="8067261" cy="1920526"/>
          </a:xfrm>
        </p:spPr>
        <p:txBody>
          <a:bodyPr anchor="b" anchorCtr="0"/>
          <a:lstStyle>
            <a:lvl1pPr>
              <a:defRPr sz="44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>
              <a:duotone>
                <a:prstClr val="black"/>
                <a:srgbClr val="19191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8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4150" y="3274218"/>
            <a:ext cx="309563" cy="309563"/>
          </a:xfr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8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2BEA218-CD6F-B44E-B26C-C64BF244E0F0}" type="datetime1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Color set 2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B1A5DF-D1AF-9EE3-9432-779B4BB2A974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8311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3037755"/>
          </a:xfrm>
        </p:spPr>
        <p:txBody>
          <a:bodyPr/>
          <a:lstStyle>
            <a:lvl1pPr>
              <a:defRPr sz="2400"/>
            </a:lvl1pPr>
            <a:lvl5pPr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  <a:p>
            <a:pPr lvl="4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78D1-9721-044C-B65C-A6FC97994CEC}" type="datetime1">
              <a:rPr lang="en-US" smtClean="0"/>
              <a:t>10/10/25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1758726-86DF-80CA-D868-EE7E19158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4289" y="326168"/>
            <a:ext cx="10972800" cy="230832"/>
          </a:xfrm>
        </p:spPr>
        <p:txBody>
          <a:bodyPr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pPr lvl="0"/>
            <a:r>
              <a:rPr lang="en-US" dirty="0"/>
              <a:t>Text </a:t>
            </a:r>
          </a:p>
        </p:txBody>
      </p:sp>
    </p:spTree>
    <p:extLst>
      <p:ext uri="{BB962C8B-B14F-4D97-AF65-F5344CB8AC3E}">
        <p14:creationId xmlns:p14="http://schemas.microsoft.com/office/powerpoint/2010/main" val="127007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 - Color set 2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A9C9AE-8A1E-810A-DF26-752087DAD2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674"/>
            <a:ext cx="12216384" cy="6871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C79AD1E-BD19-F31A-84F5-2BAC50F4A65A}"/>
              </a:ext>
            </a:extLst>
          </p:cNvPr>
          <p:cNvSpPr txBox="1">
            <a:spLocks/>
          </p:cNvSpPr>
          <p:nvPr userDrawn="1"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31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EF3D5-2436-9240-B6D0-2048A71FFF33}" type="datetime1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40" r:id="rId2"/>
    <p:sldLayoutId id="2147483741" r:id="rId3"/>
    <p:sldLayoutId id="2147483676" r:id="rId4"/>
    <p:sldLayoutId id="2147483661" r:id="rId5"/>
    <p:sldLayoutId id="2147483654" r:id="rId6"/>
    <p:sldLayoutId id="2147483663" r:id="rId7"/>
    <p:sldLayoutId id="2147483650" r:id="rId8"/>
    <p:sldLayoutId id="2147483664" r:id="rId9"/>
    <p:sldLayoutId id="2147483666" r:id="rId10"/>
    <p:sldLayoutId id="2147483667" r:id="rId11"/>
    <p:sldLayoutId id="2147483665" r:id="rId12"/>
    <p:sldLayoutId id="2147483668" r:id="rId13"/>
    <p:sldLayoutId id="2147483653" r:id="rId14"/>
    <p:sldLayoutId id="2147483689" r:id="rId15"/>
    <p:sldLayoutId id="2147483691" r:id="rId16"/>
    <p:sldLayoutId id="2147483690" r:id="rId17"/>
    <p:sldLayoutId id="2147483657" r:id="rId18"/>
    <p:sldLayoutId id="2147483693" r:id="rId19"/>
    <p:sldLayoutId id="2147483673" r:id="rId20"/>
    <p:sldLayoutId id="2147483743" r:id="rId21"/>
    <p:sldLayoutId id="2147483744" r:id="rId22"/>
    <p:sldLayoutId id="2147483745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Pretendard Variable Black" panose="02000003000000020004" pitchFamily="2" charset="-127"/>
          <a:ea typeface="Pretendard Variable Black" panose="02000003000000020004" pitchFamily="2" charset="-127"/>
          <a:cs typeface="Pretendard Variable Black" panose="02000003000000020004" pitchFamily="2" charset="-12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7" Type="http://schemas.openxmlformats.org/officeDocument/2006/relationships/image" Target="../media/image8.jp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jp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9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20.png"/><Relationship Id="rId7" Type="http://schemas.openxmlformats.org/officeDocument/2006/relationships/image" Target="../media/image8.jpg"/><Relationship Id="rId12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jp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9" Type="http://schemas.openxmlformats.org/officeDocument/2006/relationships/image" Target="../media/image10.jp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3.jpeg"/><Relationship Id="rId5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10" Type="http://schemas.openxmlformats.org/officeDocument/2006/relationships/image" Target="../media/image19.png"/><Relationship Id="rId9" Type="http://schemas.openxmlformats.org/officeDocument/2006/relationships/image" Target="../media/image2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9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9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9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5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1.png"/><Relationship Id="rId5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5.jpg"/><Relationship Id="rId7" Type="http://schemas.openxmlformats.org/officeDocument/2006/relationships/image" Target="../media/image33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1.png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image" Target="../media/image36.png"/><Relationship Id="rId9" Type="http://schemas.openxmlformats.org/officeDocument/2006/relationships/image" Target="../media/image35.png"/><Relationship Id="rId1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5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.pn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image" Target="../media/image40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45.png"/><Relationship Id="rId5" Type="http://schemas.openxmlformats.org/officeDocument/2006/relationships/image" Target="../media/image21.png"/><Relationship Id="rId10" Type="http://schemas.openxmlformats.org/officeDocument/2006/relationships/image" Target="../media/image44.png"/><Relationship Id="rId9" Type="http://schemas.openxmlformats.org/officeDocument/2006/relationships/image" Target="../media/image13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45.png"/><Relationship Id="rId5" Type="http://schemas.openxmlformats.org/officeDocument/2006/relationships/image" Target="../media/image21.png"/><Relationship Id="rId10" Type="http://schemas.openxmlformats.org/officeDocument/2006/relationships/image" Target="../media/image44.png"/><Relationship Id="rId9" Type="http://schemas.openxmlformats.org/officeDocument/2006/relationships/image" Target="../media/image13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45.png"/><Relationship Id="rId5" Type="http://schemas.openxmlformats.org/officeDocument/2006/relationships/image" Target="../media/image21.png"/><Relationship Id="rId10" Type="http://schemas.openxmlformats.org/officeDocument/2006/relationships/image" Target="../media/image44.png"/><Relationship Id="rId9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45.png"/><Relationship Id="rId5" Type="http://schemas.openxmlformats.org/officeDocument/2006/relationships/image" Target="../media/image21.png"/><Relationship Id="rId10" Type="http://schemas.openxmlformats.org/officeDocument/2006/relationships/image" Target="../media/image44.png"/><Relationship Id="rId9" Type="http://schemas.openxmlformats.org/officeDocument/2006/relationships/image" Target="../media/image1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9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4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9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2.xml"/></Relationships>
</file>

<file path=ppt/slides/_rels/slide6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0.png"/><Relationship Id="rId5" Type="http://schemas.openxmlformats.org/officeDocument/2006/relationships/image" Target="../media/image31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0.png"/><Relationship Id="rId5" Type="http://schemas.openxmlformats.org/officeDocument/2006/relationships/image" Target="../media/image31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7" Type="http://schemas.openxmlformats.org/officeDocument/2006/relationships/image" Target="../media/image33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5" Type="http://schemas.openxmlformats.org/officeDocument/2006/relationships/image" Target="../media/image310.png"/><Relationship Id="rId10" Type="http://schemas.openxmlformats.org/officeDocument/2006/relationships/image" Target="../media/image61.png"/><Relationship Id="rId9" Type="http://schemas.openxmlformats.org/officeDocument/2006/relationships/image" Target="../media/image35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7" Type="http://schemas.openxmlformats.org/officeDocument/2006/relationships/image" Target="../media/image380.png"/><Relationship Id="rId12" Type="http://schemas.openxmlformats.org/officeDocument/2006/relationships/image" Target="../media/image37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20.png"/><Relationship Id="rId11" Type="http://schemas.openxmlformats.org/officeDocument/2006/relationships/image" Target="../media/image61.png"/><Relationship Id="rId5" Type="http://schemas.openxmlformats.org/officeDocument/2006/relationships/image" Target="../media/image310.png"/><Relationship Id="rId10" Type="http://schemas.openxmlformats.org/officeDocument/2006/relationships/image" Target="../media/image350.png"/><Relationship Id="rId9" Type="http://schemas.openxmlformats.org/officeDocument/2006/relationships/image" Target="../media/image14.jpe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7" Type="http://schemas.openxmlformats.org/officeDocument/2006/relationships/image" Target="../media/image33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5" Type="http://schemas.openxmlformats.org/officeDocument/2006/relationships/image" Target="../media/image310.png"/><Relationship Id="rId10" Type="http://schemas.openxmlformats.org/officeDocument/2006/relationships/image" Target="../media/image61.png"/><Relationship Id="rId9" Type="http://schemas.openxmlformats.org/officeDocument/2006/relationships/image" Target="../media/image35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50.png"/><Relationship Id="rId5" Type="http://schemas.openxmlformats.org/officeDocument/2006/relationships/image" Target="../media/image32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50.png"/><Relationship Id="rId5" Type="http://schemas.openxmlformats.org/officeDocument/2006/relationships/image" Target="../media/image32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50.png"/><Relationship Id="rId5" Type="http://schemas.openxmlformats.org/officeDocument/2006/relationships/image" Target="../media/image320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50.png"/><Relationship Id="rId5" Type="http://schemas.openxmlformats.org/officeDocument/2006/relationships/image" Target="../media/image32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62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0.png"/><Relationship Id="rId5" Type="http://schemas.openxmlformats.org/officeDocument/2006/relationships/image" Target="../media/image350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0.png"/><Relationship Id="rId5" Type="http://schemas.openxmlformats.org/officeDocument/2006/relationships/image" Target="../media/image350.png"/><Relationship Id="rId9" Type="http://schemas.openxmlformats.org/officeDocument/2006/relationships/image" Target="../media/image11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0.png"/><Relationship Id="rId5" Type="http://schemas.openxmlformats.org/officeDocument/2006/relationships/image" Target="../media/image350.png"/><Relationship Id="rId10" Type="http://schemas.openxmlformats.org/officeDocument/2006/relationships/image" Target="../media/image11.png"/><Relationship Id="rId9" Type="http://schemas.openxmlformats.org/officeDocument/2006/relationships/image" Target="../media/image420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0.png"/><Relationship Id="rId11" Type="http://schemas.openxmlformats.org/officeDocument/2006/relationships/image" Target="../media/image11.png"/><Relationship Id="rId5" Type="http://schemas.openxmlformats.org/officeDocument/2006/relationships/image" Target="../media/image350.png"/><Relationship Id="rId10" Type="http://schemas.openxmlformats.org/officeDocument/2006/relationships/image" Target="../media/image641.png"/><Relationship Id="rId9" Type="http://schemas.openxmlformats.org/officeDocument/2006/relationships/image" Target="../media/image420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0.png"/><Relationship Id="rId11" Type="http://schemas.openxmlformats.org/officeDocument/2006/relationships/image" Target="../media/image11.png"/><Relationship Id="rId5" Type="http://schemas.openxmlformats.org/officeDocument/2006/relationships/image" Target="../media/image350.png"/><Relationship Id="rId10" Type="http://schemas.openxmlformats.org/officeDocument/2006/relationships/image" Target="../media/image430.png"/><Relationship Id="rId9" Type="http://schemas.openxmlformats.org/officeDocument/2006/relationships/image" Target="../media/image420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0.png"/><Relationship Id="rId11" Type="http://schemas.openxmlformats.org/officeDocument/2006/relationships/image" Target="../media/image11.png"/><Relationship Id="rId5" Type="http://schemas.openxmlformats.org/officeDocument/2006/relationships/image" Target="../media/image350.png"/><Relationship Id="rId10" Type="http://schemas.openxmlformats.org/officeDocument/2006/relationships/image" Target="../media/image430.png"/><Relationship Id="rId9" Type="http://schemas.openxmlformats.org/officeDocument/2006/relationships/image" Target="../media/image420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50.png"/><Relationship Id="rId11" Type="http://schemas.openxmlformats.org/officeDocument/2006/relationships/image" Target="../media/image11.png"/><Relationship Id="rId5" Type="http://schemas.openxmlformats.org/officeDocument/2006/relationships/image" Target="../media/image430.png"/><Relationship Id="rId10" Type="http://schemas.openxmlformats.org/officeDocument/2006/relationships/image" Target="../media/image420.png"/><Relationship Id="rId9" Type="http://schemas.openxmlformats.org/officeDocument/2006/relationships/image" Target="../media/image410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50.png"/><Relationship Id="rId11" Type="http://schemas.openxmlformats.org/officeDocument/2006/relationships/image" Target="../media/image11.png"/><Relationship Id="rId5" Type="http://schemas.openxmlformats.org/officeDocument/2006/relationships/image" Target="../media/image430.png"/><Relationship Id="rId10" Type="http://schemas.openxmlformats.org/officeDocument/2006/relationships/image" Target="../media/image420.png"/><Relationship Id="rId9" Type="http://schemas.openxmlformats.org/officeDocument/2006/relationships/image" Target="../media/image410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50.png"/><Relationship Id="rId11" Type="http://schemas.openxmlformats.org/officeDocument/2006/relationships/image" Target="../media/image11.png"/><Relationship Id="rId5" Type="http://schemas.openxmlformats.org/officeDocument/2006/relationships/image" Target="../media/image440.png"/><Relationship Id="rId10" Type="http://schemas.openxmlformats.org/officeDocument/2006/relationships/image" Target="../media/image420.png"/><Relationship Id="rId9" Type="http://schemas.openxmlformats.org/officeDocument/2006/relationships/image" Target="../media/image410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50.png"/><Relationship Id="rId11" Type="http://schemas.openxmlformats.org/officeDocument/2006/relationships/image" Target="../media/image11.png"/><Relationship Id="rId5" Type="http://schemas.openxmlformats.org/officeDocument/2006/relationships/image" Target="../media/image440.png"/><Relationship Id="rId10" Type="http://schemas.openxmlformats.org/officeDocument/2006/relationships/image" Target="../media/image420.png"/><Relationship Id="rId9" Type="http://schemas.openxmlformats.org/officeDocument/2006/relationships/image" Target="../media/image410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50.png"/><Relationship Id="rId11" Type="http://schemas.openxmlformats.org/officeDocument/2006/relationships/image" Target="../media/image11.png"/><Relationship Id="rId5" Type="http://schemas.openxmlformats.org/officeDocument/2006/relationships/image" Target="../media/image440.png"/><Relationship Id="rId10" Type="http://schemas.openxmlformats.org/officeDocument/2006/relationships/image" Target="../media/image420.png"/><Relationship Id="rId9" Type="http://schemas.openxmlformats.org/officeDocument/2006/relationships/image" Target="../media/image41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7" Type="http://schemas.openxmlformats.org/officeDocument/2006/relationships/image" Target="../media/image390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50.png"/><Relationship Id="rId11" Type="http://schemas.openxmlformats.org/officeDocument/2006/relationships/image" Target="../media/image450.png"/><Relationship Id="rId5" Type="http://schemas.openxmlformats.org/officeDocument/2006/relationships/image" Target="../media/image440.png"/><Relationship Id="rId10" Type="http://schemas.openxmlformats.org/officeDocument/2006/relationships/image" Target="../media/image420.png"/><Relationship Id="rId9" Type="http://schemas.openxmlformats.org/officeDocument/2006/relationships/image" Target="../media/image410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7" Type="http://schemas.openxmlformats.org/officeDocument/2006/relationships/image" Target="../media/image65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0.png"/><Relationship Id="rId11" Type="http://schemas.openxmlformats.org/officeDocument/2006/relationships/image" Target="../media/image651.png"/><Relationship Id="rId5" Type="http://schemas.openxmlformats.org/officeDocument/2006/relationships/image" Target="../media/image350.png"/><Relationship Id="rId10" Type="http://schemas.openxmlformats.org/officeDocument/2006/relationships/image" Target="../media/image450.png"/><Relationship Id="rId9" Type="http://schemas.openxmlformats.org/officeDocument/2006/relationships/image" Target="../media/image420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image" Target="../media/image11.png"/><Relationship Id="rId7" Type="http://schemas.openxmlformats.org/officeDocument/2006/relationships/image" Target="../media/image65.png"/><Relationship Id="rId12" Type="http://schemas.openxmlformats.org/officeDocument/2006/relationships/image" Target="../media/image65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0.png"/><Relationship Id="rId11" Type="http://schemas.openxmlformats.org/officeDocument/2006/relationships/image" Target="../media/image620.png"/><Relationship Id="rId5" Type="http://schemas.openxmlformats.org/officeDocument/2006/relationships/image" Target="../media/image350.png"/><Relationship Id="rId10" Type="http://schemas.openxmlformats.org/officeDocument/2006/relationships/image" Target="../media/image450.png"/><Relationship Id="rId9" Type="http://schemas.openxmlformats.org/officeDocument/2006/relationships/image" Target="../media/image420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320.png"/><Relationship Id="rId7" Type="http://schemas.openxmlformats.org/officeDocument/2006/relationships/image" Target="../media/image14.jpeg"/><Relationship Id="rId12" Type="http://schemas.openxmlformats.org/officeDocument/2006/relationships/image" Target="../media/image52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80.png"/><Relationship Id="rId11" Type="http://schemas.openxmlformats.org/officeDocument/2006/relationships/image" Target="../media/image510.png"/><Relationship Id="rId5" Type="http://schemas.openxmlformats.org/officeDocument/2006/relationships/image" Target="../media/image310.png"/><Relationship Id="rId10" Type="http://schemas.openxmlformats.org/officeDocument/2006/relationships/image" Target="../media/image500.png"/><Relationship Id="rId9" Type="http://schemas.openxmlformats.org/officeDocument/2006/relationships/image" Target="../media/image61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320.png"/><Relationship Id="rId7" Type="http://schemas.openxmlformats.org/officeDocument/2006/relationships/image" Target="../media/image14.jpeg"/><Relationship Id="rId12" Type="http://schemas.openxmlformats.org/officeDocument/2006/relationships/image" Target="../media/image52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80.png"/><Relationship Id="rId11" Type="http://schemas.openxmlformats.org/officeDocument/2006/relationships/image" Target="../media/image510.png"/><Relationship Id="rId5" Type="http://schemas.openxmlformats.org/officeDocument/2006/relationships/image" Target="../media/image310.png"/><Relationship Id="rId10" Type="http://schemas.openxmlformats.org/officeDocument/2006/relationships/image" Target="../media/image500.png"/><Relationship Id="rId9" Type="http://schemas.openxmlformats.org/officeDocument/2006/relationships/image" Target="../media/image61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320.png"/><Relationship Id="rId7" Type="http://schemas.openxmlformats.org/officeDocument/2006/relationships/image" Target="../media/image14.jpeg"/><Relationship Id="rId12" Type="http://schemas.openxmlformats.org/officeDocument/2006/relationships/image" Target="../media/image520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80.png"/><Relationship Id="rId11" Type="http://schemas.openxmlformats.org/officeDocument/2006/relationships/image" Target="../media/image510.png"/><Relationship Id="rId5" Type="http://schemas.openxmlformats.org/officeDocument/2006/relationships/image" Target="../media/image310.png"/><Relationship Id="rId10" Type="http://schemas.openxmlformats.org/officeDocument/2006/relationships/image" Target="../media/image500.png"/><Relationship Id="rId9" Type="http://schemas.openxmlformats.org/officeDocument/2006/relationships/image" Target="../media/image61.png"/><Relationship Id="rId14" Type="http://schemas.openxmlformats.org/officeDocument/2006/relationships/image" Target="../media/image630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640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650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66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67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680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0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0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0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/Relationships>
</file>

<file path=ppt/slides/_rels/slide102.xml.rels><?xml version="1.0" encoding="UTF-8" standalone="yes"?>
<Relationships xmlns="http://schemas.openxmlformats.org/package/2006/relationships"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4.png"/><Relationship Id="rId5" Type="http://schemas.openxmlformats.org/officeDocument/2006/relationships/image" Target="../media/image70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5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5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9.e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0.png"/><Relationship Id="rId5" Type="http://schemas.openxmlformats.org/officeDocument/2006/relationships/image" Target="../media/image77.png"/><Relationship Id="rId9" Type="http://schemas.openxmlformats.org/officeDocument/2006/relationships/image" Target="../media/image11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2.png"/><Relationship Id="rId5" Type="http://schemas.openxmlformats.org/officeDocument/2006/relationships/image" Target="../media/image77.png"/><Relationship Id="rId9" Type="http://schemas.openxmlformats.org/officeDocument/2006/relationships/image" Target="../media/image11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11.png"/><Relationship Id="rId9" Type="http://schemas.openxmlformats.org/officeDocument/2006/relationships/image" Target="../media/image84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5.png"/><Relationship Id="rId5" Type="http://schemas.openxmlformats.org/officeDocument/2006/relationships/image" Target="../media/image77.png"/><Relationship Id="rId10" Type="http://schemas.openxmlformats.org/officeDocument/2006/relationships/image" Target="../media/image11.png"/><Relationship Id="rId9" Type="http://schemas.openxmlformats.org/officeDocument/2006/relationships/image" Target="../media/image84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9" Type="http://schemas.openxmlformats.org/officeDocument/2006/relationships/image" Target="../media/image84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9" Type="http://schemas.openxmlformats.org/officeDocument/2006/relationships/image" Target="../media/image84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9" Type="http://schemas.openxmlformats.org/officeDocument/2006/relationships/image" Target="../media/image84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9" Type="http://schemas.openxmlformats.org/officeDocument/2006/relationships/image" Target="../media/image84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9" Type="http://schemas.openxmlformats.org/officeDocument/2006/relationships/image" Target="../media/image84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7.png"/><Relationship Id="rId11" Type="http://schemas.openxmlformats.org/officeDocument/2006/relationships/image" Target="../media/image90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9" Type="http://schemas.openxmlformats.org/officeDocument/2006/relationships/image" Target="../media/image84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1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1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2.png"/></Relationships>
</file>

<file path=ppt/slides/_rels/slide124.xml.rels><?xml version="1.0" encoding="UTF-8" standalone="yes"?>
<Relationships xmlns="http://schemas.openxmlformats.org/package/2006/relationships"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/Relationships>
</file>

<file path=ppt/slides/_rels/slide1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4.png"/><Relationship Id="rId5" Type="http://schemas.openxmlformats.org/officeDocument/2006/relationships/image" Target="../media/image92.png"/></Relationships>
</file>

<file path=ppt/slides/_rels/slide126.xml.rels><?xml version="1.0" encoding="UTF-8" standalone="yes"?>
<Relationships xmlns="http://schemas.openxmlformats.org/package/2006/relationships"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5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5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3.png"/><Relationship Id="rId5" Type="http://schemas.openxmlformats.org/officeDocument/2006/relationships/image" Target="../media/image95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3.png"/><Relationship Id="rId5" Type="http://schemas.openxmlformats.org/officeDocument/2006/relationships/image" Target="../media/image95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7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8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96.emf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7.emf"/><Relationship Id="rId4" Type="http://schemas.openxmlformats.org/officeDocument/2006/relationships/image" Target="../media/image96.emf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4" Type="http://schemas.openxmlformats.org/officeDocument/2006/relationships/image" Target="../media/image96.emf"/><Relationship Id="rId9" Type="http://schemas.openxmlformats.org/officeDocument/2006/relationships/image" Target="../media/image103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4" Type="http://schemas.openxmlformats.org/officeDocument/2006/relationships/image" Target="../media/image96.emf"/><Relationship Id="rId9" Type="http://schemas.openxmlformats.org/officeDocument/2006/relationships/image" Target="../media/image104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0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05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2.xml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115.png"/><Relationship Id="rId18" Type="http://schemas.openxmlformats.org/officeDocument/2006/relationships/image" Target="../media/image84.png"/><Relationship Id="rId7" Type="http://schemas.openxmlformats.org/officeDocument/2006/relationships/image" Target="../media/image14.jpeg"/><Relationship Id="rId12" Type="http://schemas.openxmlformats.org/officeDocument/2006/relationships/image" Target="../media/image520.png"/><Relationship Id="rId17" Type="http://schemas.openxmlformats.org/officeDocument/2006/relationships/image" Target="../media/image118.png"/><Relationship Id="rId2" Type="http://schemas.openxmlformats.org/officeDocument/2006/relationships/notesSlide" Target="../notesSlides/notesSlide145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80.png"/><Relationship Id="rId11" Type="http://schemas.openxmlformats.org/officeDocument/2006/relationships/image" Target="../media/image510.png"/><Relationship Id="rId5" Type="http://schemas.openxmlformats.org/officeDocument/2006/relationships/image" Target="../media/image113.png"/><Relationship Id="rId15" Type="http://schemas.openxmlformats.org/officeDocument/2006/relationships/image" Target="../media/image117.png"/><Relationship Id="rId10" Type="http://schemas.openxmlformats.org/officeDocument/2006/relationships/image" Target="../media/image114.png"/><Relationship Id="rId19" Type="http://schemas.openxmlformats.org/officeDocument/2006/relationships/image" Target="../media/image119.png"/><Relationship Id="rId9" Type="http://schemas.openxmlformats.org/officeDocument/2006/relationships/image" Target="../media/image61.png"/><Relationship Id="rId14" Type="http://schemas.openxmlformats.org/officeDocument/2006/relationships/image" Target="../media/image11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hyperlink" Target="https://cs231n.stanford.edu/" TargetMode="External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2.xml"/><Relationship Id="rId5" Type="http://schemas.openxmlformats.org/officeDocument/2006/relationships/hyperlink" Target="https://www.cs.princeton.edu/courses/archive/fall11/cos597C/lectures/variational-inference-i.pdf" TargetMode="External"/><Relationship Id="rId4" Type="http://schemas.openxmlformats.org/officeDocument/2006/relationships/hyperlink" Target="https://deepgenerativemodels.github.io/" TargetMode="Externa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DDD679A-5DC1-14B2-A08C-2D75E1140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2126159"/>
            <a:ext cx="9288028" cy="757130"/>
          </a:xfrm>
        </p:spPr>
        <p:txBody>
          <a:bodyPr/>
          <a:lstStyle/>
          <a:p>
            <a:r>
              <a:rPr lang="en-US" altLang="ko-KR" b="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Week 2 – Generative Modeling I</a:t>
            </a:r>
            <a:endParaRPr lang="ko-KR" altLang="en-US" b="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79986BE-08F0-DED1-9883-73080EA3B6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Jihwan Hong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0A28C4B-C2F7-AFDA-6EB2-ECA35FEB74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834074"/>
          </a:xfrm>
        </p:spPr>
        <p:txBody>
          <a:bodyPr/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AIDAS Lab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Seoul National University</a:t>
            </a:r>
          </a:p>
          <a:p>
            <a:r>
              <a:rPr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csjihwanh@gmail.com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E1DC52-6E3D-42F7-42AC-02936D6505FB}"/>
              </a:ext>
            </a:extLst>
          </p:cNvPr>
          <p:cNvSpPr txBox="1"/>
          <p:nvPr/>
        </p:nvSpPr>
        <p:spPr>
          <a:xfrm>
            <a:off x="609598" y="1713314"/>
            <a:ext cx="209672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Mastering Diffusion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2196A-9107-DB63-43A1-F17A50A7725C}"/>
              </a:ext>
            </a:extLst>
          </p:cNvPr>
          <p:cNvSpPr txBox="1"/>
          <p:nvPr/>
        </p:nvSpPr>
        <p:spPr>
          <a:xfrm>
            <a:off x="611552" y="2926802"/>
            <a:ext cx="4954883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Introduction to Generative Modeling</a:t>
            </a:r>
          </a:p>
        </p:txBody>
      </p:sp>
    </p:spTree>
    <p:extLst>
      <p:ext uri="{BB962C8B-B14F-4D97-AF65-F5344CB8AC3E}">
        <p14:creationId xmlns:p14="http://schemas.microsoft.com/office/powerpoint/2010/main" val="11091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D21C-FE7F-3D7D-D96C-955D9C94C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5"/>
            <a:ext cx="7823200" cy="757130"/>
          </a:xfrm>
        </p:spPr>
        <p:txBody>
          <a:bodyPr/>
          <a:lstStyle/>
          <a:p>
            <a:r>
              <a:rPr lang="en-US" dirty="0"/>
              <a:t>Generative Modeling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5DF391-3128-22F3-4ADF-72FB10B0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63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1EFA4-35EC-6A73-DC17-F9D5E1E8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D15117-1838-750C-FBC9-66164CF6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E7B29A-7BDE-B420-C369-B263C1C48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24732"/>
          </a:xfrm>
        </p:spPr>
        <p:txBody>
          <a:bodyPr/>
          <a:lstStyle/>
          <a:p>
            <a:r>
              <a:rPr lang="en-US" dirty="0"/>
              <a:t>Generative model is a model that can </a:t>
            </a:r>
            <a:r>
              <a:rPr lang="en-US" b="1" dirty="0">
                <a:solidFill>
                  <a:srgbClr val="C00000"/>
                </a:solidFill>
              </a:rPr>
              <a:t>generate new data instances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8B44D1-CC73-0C67-DAEB-179F86FE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060F98-C9D4-9CEF-63CE-434EFA49F9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080D57D-16E8-F029-70CC-C6E634560BFF}"/>
              </a:ext>
            </a:extLst>
          </p:cNvPr>
          <p:cNvGrpSpPr/>
          <p:nvPr/>
        </p:nvGrpSpPr>
        <p:grpSpPr>
          <a:xfrm>
            <a:off x="1112898" y="3143028"/>
            <a:ext cx="2779325" cy="2228125"/>
            <a:chOff x="799134" y="3232676"/>
            <a:chExt cx="2779325" cy="2228125"/>
          </a:xfrm>
        </p:grpSpPr>
        <p:pic>
          <p:nvPicPr>
            <p:cNvPr id="10" name="Picture 9" descr="A dog standing in grass&#10;&#10;AI-generated content may be incorrect.">
              <a:extLst>
                <a:ext uri="{FF2B5EF4-FFF2-40B4-BE49-F238E27FC236}">
                  <a16:creationId xmlns:a16="http://schemas.microsoft.com/office/drawing/2014/main" id="{E6655B84-E424-1D3B-D3ED-265604DE9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134" y="3232676"/>
              <a:ext cx="1267782" cy="828430"/>
            </a:xfrm>
            <a:prstGeom prst="rect">
              <a:avLst/>
            </a:prstGeom>
          </p:spPr>
        </p:pic>
        <p:pic>
          <p:nvPicPr>
            <p:cNvPr id="13" name="Picture 12" descr="A dog eating a bird&#10;&#10;AI-generated content may be incorrect.">
              <a:extLst>
                <a:ext uri="{FF2B5EF4-FFF2-40B4-BE49-F238E27FC236}">
                  <a16:creationId xmlns:a16="http://schemas.microsoft.com/office/drawing/2014/main" id="{79034751-CDF1-FB22-5DC4-32AB99A0A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289" y="4219142"/>
              <a:ext cx="826945" cy="1241659"/>
            </a:xfrm>
            <a:prstGeom prst="rect">
              <a:avLst/>
            </a:prstGeom>
          </p:spPr>
        </p:pic>
        <p:pic>
          <p:nvPicPr>
            <p:cNvPr id="15" name="Picture 14" descr="A dog standing in grass&#10;&#10;AI-generated content may be incorrect.">
              <a:extLst>
                <a:ext uri="{FF2B5EF4-FFF2-40B4-BE49-F238E27FC236}">
                  <a16:creationId xmlns:a16="http://schemas.microsoft.com/office/drawing/2014/main" id="{B8662E26-BD8D-1532-AD87-1AC166A95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3766" y="4298661"/>
              <a:ext cx="1214693" cy="911020"/>
            </a:xfrm>
            <a:prstGeom prst="rect">
              <a:avLst/>
            </a:prstGeom>
          </p:spPr>
        </p:pic>
        <p:pic>
          <p:nvPicPr>
            <p:cNvPr id="17" name="Picture 16" descr="A dog chewing on a rope&#10;&#10;AI-generated content may be incorrect.">
              <a:extLst>
                <a:ext uri="{FF2B5EF4-FFF2-40B4-BE49-F238E27FC236}">
                  <a16:creationId xmlns:a16="http://schemas.microsoft.com/office/drawing/2014/main" id="{892B67C7-4676-8315-BA80-FE9665117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3765" y="3232676"/>
              <a:ext cx="1214693" cy="91102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3CA3FA-CF50-AB24-60A9-0F34555759B7}"/>
                  </a:ext>
                </a:extLst>
              </p:cNvPr>
              <p:cNvSpPr txBox="1"/>
              <p:nvPr/>
            </p:nvSpPr>
            <p:spPr>
              <a:xfrm>
                <a:off x="1979669" y="5830520"/>
                <a:ext cx="69974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𝑋</m:t>
                    </m:r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3CA3FA-CF50-AB24-60A9-0F3455575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69" y="5830520"/>
                <a:ext cx="699743" cy="369332"/>
              </a:xfrm>
              <a:prstGeom prst="rect">
                <a:avLst/>
              </a:prstGeom>
              <a:blipFill>
                <a:blip r:embed="rId9"/>
                <a:stretch>
                  <a:fillRect l="-21429" t="-6452" r="-26786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F844B17-5E65-5960-4915-12E99E237C7A}"/>
              </a:ext>
            </a:extLst>
          </p:cNvPr>
          <p:cNvSpPr txBox="1"/>
          <p:nvPr/>
        </p:nvSpPr>
        <p:spPr>
          <a:xfrm>
            <a:off x="68013" y="6611779"/>
            <a:ext cx="3252493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Images from ILSVRC 2012 (</a:t>
            </a:r>
            <a:r>
              <a:rPr lang="en-US" sz="10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Russakovsky</a:t>
            </a:r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et al., IJCV 2015)</a:t>
            </a:r>
          </a:p>
        </p:txBody>
      </p:sp>
    </p:spTree>
    <p:extLst>
      <p:ext uri="{BB962C8B-B14F-4D97-AF65-F5344CB8AC3E}">
        <p14:creationId xmlns:p14="http://schemas.microsoft.com/office/powerpoint/2010/main" val="332847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BF955-F7BB-9B75-40A2-2BCD158C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710DE3-373C-ACE0-F725-DF9387D2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DD5D905-5D6A-931F-42B8-B95B0526BD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911019"/>
              </a:xfrm>
            </p:spPr>
            <p:txBody>
              <a:bodyPr/>
              <a:lstStyle/>
              <a:p>
                <a:r>
                  <a:rPr lang="en-US" dirty="0"/>
                  <a:t>Generative model is a model that can </a:t>
                </a:r>
                <a:r>
                  <a:rPr lang="en-US" b="1" dirty="0">
                    <a:solidFill>
                      <a:srgbClr val="C00000"/>
                    </a:solidFill>
                  </a:rPr>
                  <a:t>generate new data instances</a:t>
                </a:r>
              </a:p>
              <a:p>
                <a:r>
                  <a:rPr lang="en-US" dirty="0"/>
                  <a:t>More precisely, it models the </a:t>
                </a:r>
                <a:r>
                  <a:rPr lang="en-US" b="1" dirty="0">
                    <a:solidFill>
                      <a:srgbClr val="C00000"/>
                    </a:solidFill>
                  </a:rPr>
                  <a:t>probability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data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7260A8D-368E-202D-05ED-7AB22A43B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911019"/>
              </a:xfrm>
              <a:blipFill>
                <a:blip r:embed="rId5"/>
                <a:stretch>
                  <a:fillRect l="-1387" t="-8219" b="-15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DF1165-43B8-723F-591C-1D9E1268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373B2-168D-35FB-DCE8-9613A19155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AA5EA0-3D38-9271-E292-8B50A859D58D}"/>
              </a:ext>
            </a:extLst>
          </p:cNvPr>
          <p:cNvGrpSpPr/>
          <p:nvPr/>
        </p:nvGrpSpPr>
        <p:grpSpPr>
          <a:xfrm>
            <a:off x="1112898" y="3143028"/>
            <a:ext cx="2779325" cy="2228125"/>
            <a:chOff x="799134" y="3232676"/>
            <a:chExt cx="2779325" cy="2228125"/>
          </a:xfrm>
        </p:grpSpPr>
        <p:pic>
          <p:nvPicPr>
            <p:cNvPr id="10" name="Picture 9" descr="A dog standing in grass&#10;&#10;AI-generated content may be incorrect.">
              <a:extLst>
                <a:ext uri="{FF2B5EF4-FFF2-40B4-BE49-F238E27FC236}">
                  <a16:creationId xmlns:a16="http://schemas.microsoft.com/office/drawing/2014/main" id="{44E4E706-8E60-4686-7011-E3865E9B0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134" y="3232676"/>
              <a:ext cx="1267782" cy="828430"/>
            </a:xfrm>
            <a:prstGeom prst="rect">
              <a:avLst/>
            </a:prstGeom>
          </p:spPr>
        </p:pic>
        <p:pic>
          <p:nvPicPr>
            <p:cNvPr id="13" name="Picture 12" descr="A dog eating a bird&#10;&#10;AI-generated content may be incorrect.">
              <a:extLst>
                <a:ext uri="{FF2B5EF4-FFF2-40B4-BE49-F238E27FC236}">
                  <a16:creationId xmlns:a16="http://schemas.microsoft.com/office/drawing/2014/main" id="{03281DA2-0E13-A3AF-732D-A569A316B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289" y="4219142"/>
              <a:ext cx="826945" cy="1241659"/>
            </a:xfrm>
            <a:prstGeom prst="rect">
              <a:avLst/>
            </a:prstGeom>
          </p:spPr>
        </p:pic>
        <p:pic>
          <p:nvPicPr>
            <p:cNvPr id="15" name="Picture 14" descr="A dog standing in grass&#10;&#10;AI-generated content may be incorrect.">
              <a:extLst>
                <a:ext uri="{FF2B5EF4-FFF2-40B4-BE49-F238E27FC236}">
                  <a16:creationId xmlns:a16="http://schemas.microsoft.com/office/drawing/2014/main" id="{53AE60DB-5B44-6127-4F0C-DD936FA21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3766" y="4298661"/>
              <a:ext cx="1214693" cy="911020"/>
            </a:xfrm>
            <a:prstGeom prst="rect">
              <a:avLst/>
            </a:prstGeom>
          </p:spPr>
        </p:pic>
        <p:pic>
          <p:nvPicPr>
            <p:cNvPr id="17" name="Picture 16" descr="A dog chewing on a rope&#10;&#10;AI-generated content may be incorrect.">
              <a:extLst>
                <a:ext uri="{FF2B5EF4-FFF2-40B4-BE49-F238E27FC236}">
                  <a16:creationId xmlns:a16="http://schemas.microsoft.com/office/drawing/2014/main" id="{33098F28-3FB5-5073-A6FC-4CE155DB4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3765" y="3232676"/>
              <a:ext cx="1214693" cy="91102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900D7BA-555D-8242-FBF0-86D18CEC8078}"/>
                  </a:ext>
                </a:extLst>
              </p:cNvPr>
              <p:cNvSpPr txBox="1"/>
              <p:nvPr/>
            </p:nvSpPr>
            <p:spPr>
              <a:xfrm>
                <a:off x="1979669" y="5830520"/>
                <a:ext cx="69974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𝑋</m:t>
                    </m:r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900D7BA-555D-8242-FBF0-86D18CEC8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69" y="5830520"/>
                <a:ext cx="699743" cy="369332"/>
              </a:xfrm>
              <a:prstGeom prst="rect">
                <a:avLst/>
              </a:prstGeom>
              <a:blipFill>
                <a:blip r:embed="rId10"/>
                <a:stretch>
                  <a:fillRect l="-21429" t="-6452" r="-26786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5E73E2-6AA4-680A-17D2-9731AE65D024}"/>
                  </a:ext>
                </a:extLst>
              </p:cNvPr>
              <p:cNvSpPr txBox="1"/>
              <p:nvPr/>
            </p:nvSpPr>
            <p:spPr>
              <a:xfrm>
                <a:off x="5113018" y="5806099"/>
                <a:ext cx="289399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Probability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5E73E2-6AA4-680A-17D2-9731AE65D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018" y="5806099"/>
                <a:ext cx="2893997" cy="369332"/>
              </a:xfrm>
              <a:prstGeom prst="rect">
                <a:avLst/>
              </a:prstGeom>
              <a:blipFill>
                <a:blip r:embed="rId11"/>
                <a:stretch>
                  <a:fillRect l="-4803" t="-3226" r="-567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E4E7F6B-073B-A4B3-55D6-EC39373A0C7E}"/>
              </a:ext>
            </a:extLst>
          </p:cNvPr>
          <p:cNvCxnSpPr/>
          <p:nvPr/>
        </p:nvCxnSpPr>
        <p:spPr>
          <a:xfrm>
            <a:off x="4375927" y="4209013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041371D-0E66-F0BD-8809-99353A049A43}"/>
              </a:ext>
            </a:extLst>
          </p:cNvPr>
          <p:cNvSpPr txBox="1"/>
          <p:nvPr/>
        </p:nvSpPr>
        <p:spPr>
          <a:xfrm>
            <a:off x="4308045" y="3745765"/>
            <a:ext cx="59311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C30661-1C40-343D-E0B7-D7F22AB92633}"/>
              </a:ext>
            </a:extLst>
          </p:cNvPr>
          <p:cNvSpPr txBox="1"/>
          <p:nvPr/>
        </p:nvSpPr>
        <p:spPr>
          <a:xfrm>
            <a:off x="68013" y="6611779"/>
            <a:ext cx="3252493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Images from ILSVRC 2012 (</a:t>
            </a:r>
            <a:r>
              <a:rPr lang="en-US" sz="10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Russakovsky</a:t>
            </a:r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et al., IJCV 2015)</a:t>
            </a:r>
          </a:p>
        </p:txBody>
      </p:sp>
      <p:pic>
        <p:nvPicPr>
          <p:cNvPr id="12" name="Picture 11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0A2398D9-93F6-0D6A-6498-D111581F23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860" y="3545589"/>
            <a:ext cx="2029297" cy="132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1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3BCC9-EF6A-35E1-7B9F-233BA057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80A47-000D-0930-EDC5-7CB014D0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651B272-0F5C-8811-3255-A794732F97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911019"/>
              </a:xfrm>
            </p:spPr>
            <p:txBody>
              <a:bodyPr/>
              <a:lstStyle/>
              <a:p>
                <a:r>
                  <a:rPr lang="en-US" dirty="0"/>
                  <a:t>Generative model is a model that can </a:t>
                </a:r>
                <a:r>
                  <a:rPr lang="en-US" b="1" dirty="0">
                    <a:solidFill>
                      <a:srgbClr val="C00000"/>
                    </a:solidFill>
                  </a:rPr>
                  <a:t>generate new data instances</a:t>
                </a:r>
              </a:p>
              <a:p>
                <a:r>
                  <a:rPr lang="en-US" dirty="0"/>
                  <a:t>More precisely, it models the </a:t>
                </a:r>
                <a:r>
                  <a:rPr lang="en-US" b="1" dirty="0">
                    <a:solidFill>
                      <a:srgbClr val="C00000"/>
                    </a:solidFill>
                  </a:rPr>
                  <a:t>probability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data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7260A8D-368E-202D-05ED-7AB22A43B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911019"/>
              </a:xfrm>
              <a:blipFill>
                <a:blip r:embed="rId5"/>
                <a:stretch>
                  <a:fillRect l="-1387" t="-8219" b="-15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27DEF-482C-3379-8DF9-A3200F19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38FA4-2914-AF4F-0DBE-3A8FFAE50A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384790-5C03-5A6F-67A8-56DD8CB6DB17}"/>
              </a:ext>
            </a:extLst>
          </p:cNvPr>
          <p:cNvGrpSpPr/>
          <p:nvPr/>
        </p:nvGrpSpPr>
        <p:grpSpPr>
          <a:xfrm>
            <a:off x="1112898" y="3143028"/>
            <a:ext cx="2779325" cy="2228125"/>
            <a:chOff x="799134" y="3232676"/>
            <a:chExt cx="2779325" cy="2228125"/>
          </a:xfrm>
        </p:grpSpPr>
        <p:pic>
          <p:nvPicPr>
            <p:cNvPr id="10" name="Picture 9" descr="A dog standing in grass&#10;&#10;AI-generated content may be incorrect.">
              <a:extLst>
                <a:ext uri="{FF2B5EF4-FFF2-40B4-BE49-F238E27FC236}">
                  <a16:creationId xmlns:a16="http://schemas.microsoft.com/office/drawing/2014/main" id="{1B5D7436-B0F0-E942-BF1D-FDE6F4673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134" y="3232676"/>
              <a:ext cx="1267782" cy="828430"/>
            </a:xfrm>
            <a:prstGeom prst="rect">
              <a:avLst/>
            </a:prstGeom>
          </p:spPr>
        </p:pic>
        <p:pic>
          <p:nvPicPr>
            <p:cNvPr id="13" name="Picture 12" descr="A dog eating a bird&#10;&#10;AI-generated content may be incorrect.">
              <a:extLst>
                <a:ext uri="{FF2B5EF4-FFF2-40B4-BE49-F238E27FC236}">
                  <a16:creationId xmlns:a16="http://schemas.microsoft.com/office/drawing/2014/main" id="{6DF3C2EE-2622-EE36-6C97-6A7E6D2EC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289" y="4219142"/>
              <a:ext cx="826945" cy="1241659"/>
            </a:xfrm>
            <a:prstGeom prst="rect">
              <a:avLst/>
            </a:prstGeom>
          </p:spPr>
        </p:pic>
        <p:pic>
          <p:nvPicPr>
            <p:cNvPr id="15" name="Picture 14" descr="A dog standing in grass&#10;&#10;AI-generated content may be incorrect.">
              <a:extLst>
                <a:ext uri="{FF2B5EF4-FFF2-40B4-BE49-F238E27FC236}">
                  <a16:creationId xmlns:a16="http://schemas.microsoft.com/office/drawing/2014/main" id="{2B47AF90-C17B-4E46-A911-CE22B73D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3766" y="4298661"/>
              <a:ext cx="1214693" cy="911020"/>
            </a:xfrm>
            <a:prstGeom prst="rect">
              <a:avLst/>
            </a:prstGeom>
          </p:spPr>
        </p:pic>
        <p:pic>
          <p:nvPicPr>
            <p:cNvPr id="17" name="Picture 16" descr="A dog chewing on a rope&#10;&#10;AI-generated content may be incorrect.">
              <a:extLst>
                <a:ext uri="{FF2B5EF4-FFF2-40B4-BE49-F238E27FC236}">
                  <a16:creationId xmlns:a16="http://schemas.microsoft.com/office/drawing/2014/main" id="{73FDFA55-21A9-45FC-F980-917890447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3765" y="3232676"/>
              <a:ext cx="1214693" cy="91102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3CE680-1BC3-B0F4-FEDD-3FEA0A651D3E}"/>
                  </a:ext>
                </a:extLst>
              </p:cNvPr>
              <p:cNvSpPr txBox="1"/>
              <p:nvPr/>
            </p:nvSpPr>
            <p:spPr>
              <a:xfrm>
                <a:off x="1979669" y="5830520"/>
                <a:ext cx="69974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𝑋</m:t>
                    </m:r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3CE680-1BC3-B0F4-FEDD-3FEA0A651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69" y="5830520"/>
                <a:ext cx="699743" cy="369332"/>
              </a:xfrm>
              <a:prstGeom prst="rect">
                <a:avLst/>
              </a:prstGeom>
              <a:blipFill>
                <a:blip r:embed="rId10"/>
                <a:stretch>
                  <a:fillRect l="-21429" t="-6452" r="-26786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DCE2F7-1523-6248-1D89-E062AF7EC917}"/>
                  </a:ext>
                </a:extLst>
              </p:cNvPr>
              <p:cNvSpPr txBox="1"/>
              <p:nvPr/>
            </p:nvSpPr>
            <p:spPr>
              <a:xfrm>
                <a:off x="5113018" y="5806099"/>
                <a:ext cx="289399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Probability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DCE2F7-1523-6248-1D89-E062AF7EC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018" y="5806099"/>
                <a:ext cx="2893997" cy="369332"/>
              </a:xfrm>
              <a:prstGeom prst="rect">
                <a:avLst/>
              </a:prstGeom>
              <a:blipFill>
                <a:blip r:embed="rId11"/>
                <a:stretch>
                  <a:fillRect l="-4803" t="-3226" r="-567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DD2EE1-9170-F750-2987-2A1E6F7FA0AF}"/>
              </a:ext>
            </a:extLst>
          </p:cNvPr>
          <p:cNvCxnSpPr/>
          <p:nvPr/>
        </p:nvCxnSpPr>
        <p:spPr>
          <a:xfrm>
            <a:off x="4375927" y="4209013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425AD6-8D54-A48F-A3B6-5827397B6A9C}"/>
              </a:ext>
            </a:extLst>
          </p:cNvPr>
          <p:cNvCxnSpPr/>
          <p:nvPr/>
        </p:nvCxnSpPr>
        <p:spPr>
          <a:xfrm>
            <a:off x="8141904" y="4209013"/>
            <a:ext cx="512488" cy="0"/>
          </a:xfrm>
          <a:prstGeom prst="straightConnector1">
            <a:avLst/>
          </a:prstGeom>
          <a:ln w="635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dog standing on grass&#10;&#10;AI-generated content may be incorrect.">
            <a:extLst>
              <a:ext uri="{FF2B5EF4-FFF2-40B4-BE49-F238E27FC236}">
                <a16:creationId xmlns:a16="http://schemas.microsoft.com/office/drawing/2014/main" id="{26996F18-BCEA-3A05-B498-BC17F1A9C7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095" y="3575262"/>
            <a:ext cx="1652855" cy="14490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1F31F2E-B3CB-544E-9825-9941624F8AAF}"/>
                  </a:ext>
                </a:extLst>
              </p:cNvPr>
              <p:cNvSpPr txBox="1"/>
              <p:nvPr/>
            </p:nvSpPr>
            <p:spPr>
              <a:xfrm>
                <a:off x="9052926" y="5830520"/>
                <a:ext cx="182319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Generated data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1F31F2E-B3CB-544E-9825-9941624F8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926" y="5830520"/>
                <a:ext cx="1823191" cy="369332"/>
              </a:xfrm>
              <a:prstGeom prst="rect">
                <a:avLst/>
              </a:prstGeom>
              <a:blipFill>
                <a:blip r:embed="rId13"/>
                <a:stretch>
                  <a:fillRect l="-7586" t="-6452" r="-9655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E347C689-9ADC-04E2-F52C-B23545066981}"/>
              </a:ext>
            </a:extLst>
          </p:cNvPr>
          <p:cNvSpPr txBox="1"/>
          <p:nvPr/>
        </p:nvSpPr>
        <p:spPr>
          <a:xfrm>
            <a:off x="8007015" y="3745765"/>
            <a:ext cx="7822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Sample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EF8538-88C4-4C07-06D4-BD8BFF0A8287}"/>
              </a:ext>
            </a:extLst>
          </p:cNvPr>
          <p:cNvSpPr txBox="1"/>
          <p:nvPr/>
        </p:nvSpPr>
        <p:spPr>
          <a:xfrm>
            <a:off x="4308045" y="3745765"/>
            <a:ext cx="59311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Learn</a:t>
            </a:r>
          </a:p>
        </p:txBody>
      </p:sp>
      <p:pic>
        <p:nvPicPr>
          <p:cNvPr id="8" name="Picture 7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522DBE7F-3A1F-5B8B-FAA6-4F8A807F0E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860" y="3545589"/>
            <a:ext cx="2029297" cy="13268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D463A8-0FC9-F9AD-C083-C2E68E887F18}"/>
              </a:ext>
            </a:extLst>
          </p:cNvPr>
          <p:cNvSpPr txBox="1"/>
          <p:nvPr/>
        </p:nvSpPr>
        <p:spPr>
          <a:xfrm>
            <a:off x="68013" y="6611779"/>
            <a:ext cx="3252493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Images from ILSVRC 2012 (</a:t>
            </a:r>
            <a:r>
              <a:rPr lang="en-US" sz="10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Russakovsky</a:t>
            </a:r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et al., IJCV 2015)</a:t>
            </a:r>
          </a:p>
        </p:txBody>
      </p:sp>
    </p:spTree>
    <p:extLst>
      <p:ext uri="{BB962C8B-B14F-4D97-AF65-F5344CB8AC3E}">
        <p14:creationId xmlns:p14="http://schemas.microsoft.com/office/powerpoint/2010/main" val="161401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70CF-26EE-1D7A-824D-50AD8D04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6563C1-EF9F-83AE-243E-3FBE41C1E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2650BD-B95B-3B6C-B2A0-44F8BB86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EFCD64-AE90-3489-B418-D603F3373E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4D2B865-AAC0-B972-E80B-7B7E81A34576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4D2B865-AAC0-B972-E80B-7B7E81A345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B04A139-BC3B-CF11-1434-91CF27515585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B04A139-BC3B-CF11-1434-91CF275155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02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DFD7-322F-BD6C-69C3-304F93F4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B0A636-6084-9B7A-D30A-61C3219E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F180C9-62DC-324B-2FD4-1B28169A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A411EC-E442-0A40-D3D7-F72160000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0AFBA7D-C000-6135-CEEB-67150C09F43C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0AFBA7D-C000-6135-CEEB-67150C09F4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9E1306A-97AA-5C8C-EB13-3CF599E2D6D5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9E1306A-97AA-5C8C-EB13-3CF599E2D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E85B561-8427-37A8-FD94-DB5B54A09A32}"/>
              </a:ext>
            </a:extLst>
          </p:cNvPr>
          <p:cNvSpPr txBox="1"/>
          <p:nvPr/>
        </p:nvSpPr>
        <p:spPr>
          <a:xfrm>
            <a:off x="2631109" y="2862015"/>
            <a:ext cx="6929782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Discriminative models estimate p(</a:t>
            </a:r>
            <a:r>
              <a:rPr lang="en-US" sz="2000" dirty="0" err="1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y|x</a:t>
            </a:r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) for predefined labels </a:t>
            </a:r>
          </a:p>
        </p:txBody>
      </p:sp>
    </p:spTree>
    <p:extLst>
      <p:ext uri="{BB962C8B-B14F-4D97-AF65-F5344CB8AC3E}">
        <p14:creationId xmlns:p14="http://schemas.microsoft.com/office/powerpoint/2010/main" val="354988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0D8E-2FFE-8D08-3EDA-08F58FE87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54FA98-D28E-930C-8C23-6A217089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13C139-8E1A-5FB0-494B-A40386F1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4603BF-87FF-7CEB-E09B-76796E027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FD1318-33F4-3D58-531C-B5E0E49D6C80}"/>
                  </a:ext>
                </a:extLst>
              </p:cNvPr>
              <p:cNvSpPr txBox="1"/>
              <p:nvPr/>
            </p:nvSpPr>
            <p:spPr>
              <a:xfrm>
                <a:off x="2104963" y="5758933"/>
                <a:ext cx="576248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𝑦</m:t>
                    </m:r>
                  </m:oMath>
                </a14:m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 pig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FD1318-33F4-3D58-531C-B5E0E49D6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963" y="5758933"/>
                <a:ext cx="576248" cy="369332"/>
              </a:xfrm>
              <a:prstGeom prst="rect">
                <a:avLst/>
              </a:prstGeom>
              <a:blipFill>
                <a:blip r:embed="rId5"/>
                <a:stretch>
                  <a:fillRect l="-14894" t="-6667" r="-3191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 descr="images: undefined">
            <a:extLst>
              <a:ext uri="{FF2B5EF4-FFF2-40B4-BE49-F238E27FC236}">
                <a16:creationId xmlns:a16="http://schemas.microsoft.com/office/drawing/2014/main" id="{3D86044A-3217-FA33-9B74-CA680AF41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43" y="3429000"/>
            <a:ext cx="33909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07959CA-656F-A10C-6D1C-F055767B94B2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07959CA-656F-A10C-6D1C-F055767B94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4874C3A-5EF2-642C-9865-49745BC0C1DC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4874C3A-5EF2-642C-9865-49745BC0C1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2BA28FE-2437-105E-AE45-2990525E6F5F}"/>
              </a:ext>
            </a:extLst>
          </p:cNvPr>
          <p:cNvSpPr txBox="1"/>
          <p:nvPr/>
        </p:nvSpPr>
        <p:spPr>
          <a:xfrm>
            <a:off x="2631109" y="2862015"/>
            <a:ext cx="6929782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Discriminative models estimate p(</a:t>
            </a:r>
            <a:r>
              <a:rPr lang="en-US" sz="2000" dirty="0" err="1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y|x</a:t>
            </a:r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) for predefined labels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40BE47-207A-F28A-87E5-86110963822C}"/>
                  </a:ext>
                </a:extLst>
              </p:cNvPr>
              <p:cNvSpPr txBox="1"/>
              <p:nvPr/>
            </p:nvSpPr>
            <p:spPr>
              <a:xfrm>
                <a:off x="2052974" y="5361800"/>
                <a:ext cx="887038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 image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40BE47-207A-F28A-87E5-861109638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974" y="5361800"/>
                <a:ext cx="887038" cy="369332"/>
              </a:xfrm>
              <a:prstGeom prst="rect">
                <a:avLst/>
              </a:prstGeom>
              <a:blipFill>
                <a:blip r:embed="rId9"/>
                <a:stretch>
                  <a:fillRect l="-7042" t="-6667" r="-2112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67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DF37E-0D0D-3F0B-8421-EB6B1A786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A5B360-E87F-3001-1986-79C534BF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23D867-CD6C-5D31-A258-8BF9EC96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F0E43D-D136-E67F-1254-8F5E93000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p:pic>
        <p:nvPicPr>
          <p:cNvPr id="2" name="Picture 2" descr="images: undefined">
            <a:extLst>
              <a:ext uri="{FF2B5EF4-FFF2-40B4-BE49-F238E27FC236}">
                <a16:creationId xmlns:a16="http://schemas.microsoft.com/office/drawing/2014/main" id="{436DF0D0-BCCF-5BBF-253D-27B842877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43" y="3429000"/>
            <a:ext cx="33909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56BE3B8-B319-2394-920F-C2D66AC9A3ED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56BE3B8-B319-2394-920F-C2D66AC9A3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D34A6A2-EDCC-0386-680C-67168924393E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D34A6A2-EDCC-0386-680C-6716892439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3E4CF89-FBA3-894C-D3C3-CA042F45BF08}"/>
              </a:ext>
            </a:extLst>
          </p:cNvPr>
          <p:cNvSpPr txBox="1"/>
          <p:nvPr/>
        </p:nvSpPr>
        <p:spPr>
          <a:xfrm>
            <a:off x="2631109" y="2862015"/>
            <a:ext cx="6929782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Discriminative models estimate p(</a:t>
            </a:r>
            <a:r>
              <a:rPr lang="en-US" sz="2000" dirty="0" err="1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y|x</a:t>
            </a:r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) for predefined labels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916B7-CA57-11F0-0A18-60D1CCB26C59}"/>
              </a:ext>
            </a:extLst>
          </p:cNvPr>
          <p:cNvSpPr txBox="1"/>
          <p:nvPr/>
        </p:nvSpPr>
        <p:spPr>
          <a:xfrm>
            <a:off x="1887340" y="5747217"/>
            <a:ext cx="101149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Label: pig</a:t>
            </a:r>
          </a:p>
        </p:txBody>
      </p:sp>
    </p:spTree>
    <p:extLst>
      <p:ext uri="{BB962C8B-B14F-4D97-AF65-F5344CB8AC3E}">
        <p14:creationId xmlns:p14="http://schemas.microsoft.com/office/powerpoint/2010/main" val="225590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F2039-D4B7-C1E6-FB5E-6C029EA3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B519D7-5051-0E66-B0E4-25BE9714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44B47B-BF26-CC2D-6EEF-5365D53F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CECA48-5876-A998-348A-ADD61523CA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B71C2D-ED82-C615-9A25-210D808EB084}"/>
              </a:ext>
            </a:extLst>
          </p:cNvPr>
          <p:cNvCxnSpPr/>
          <p:nvPr/>
        </p:nvCxnSpPr>
        <p:spPr>
          <a:xfrm>
            <a:off x="5115170" y="4686682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ADEFF4-7990-E64D-2F31-7CD838FE2325}"/>
              </a:ext>
            </a:extLst>
          </p:cNvPr>
          <p:cNvSpPr txBox="1"/>
          <p:nvPr/>
        </p:nvSpPr>
        <p:spPr>
          <a:xfrm>
            <a:off x="4988790" y="4201739"/>
            <a:ext cx="84798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Classify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A5C838-1A9E-794E-A011-197A0C396E98}"/>
              </a:ext>
            </a:extLst>
          </p:cNvPr>
          <p:cNvSpPr txBox="1"/>
          <p:nvPr/>
        </p:nvSpPr>
        <p:spPr>
          <a:xfrm>
            <a:off x="1887340" y="5747217"/>
            <a:ext cx="101149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Label: pig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881504-E3B7-9AAC-AD33-A4F43BF0B3ED}"/>
              </a:ext>
            </a:extLst>
          </p:cNvPr>
          <p:cNvSpPr/>
          <p:nvPr/>
        </p:nvSpPr>
        <p:spPr>
          <a:xfrm>
            <a:off x="7104964" y="3798860"/>
            <a:ext cx="408878" cy="158180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8BD7A4-AC01-B934-37EE-21DC9D4E9AF1}"/>
              </a:ext>
            </a:extLst>
          </p:cNvPr>
          <p:cNvSpPr/>
          <p:nvPr/>
        </p:nvSpPr>
        <p:spPr>
          <a:xfrm>
            <a:off x="8442070" y="5047128"/>
            <a:ext cx="408878" cy="31928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FDE7EC-58D6-9BF2-BC26-0767007F5AE0}"/>
                  </a:ext>
                </a:extLst>
              </p:cNvPr>
              <p:cNvSpPr txBox="1"/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𝑝𝑖𝑔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FDE7EC-58D6-9BF2-BC26-0767007F5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blipFill>
                <a:blip r:embed="rId5"/>
                <a:stretch>
                  <a:fillRect l="-5405" t="-6667" r="-1756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ACBFE4-C802-8392-0295-91D39133A600}"/>
                  </a:ext>
                </a:extLst>
              </p:cNvPr>
              <p:cNvSpPr txBox="1"/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𝑑𝑢𝑐𝑘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ACBFE4-C802-8392-0295-91D39133A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blipFill>
                <a:blip r:embed="rId6"/>
                <a:stretch>
                  <a:fillRect l="-4598" t="-6667" r="-1494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 descr="images: undefined">
            <a:extLst>
              <a:ext uri="{FF2B5EF4-FFF2-40B4-BE49-F238E27FC236}">
                <a16:creationId xmlns:a16="http://schemas.microsoft.com/office/drawing/2014/main" id="{14205CB6-D8EB-1360-4E75-5EC119D4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43" y="3429000"/>
            <a:ext cx="33909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9447BCB-755D-1C95-F7D1-4B560C6A2653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9447BCB-755D-1C95-F7D1-4B560C6A2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E61B50-77A6-002C-AAD4-EBB049105930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E61B50-77A6-002C-AAD4-EBB0491059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F09BA30-6B30-55CF-1ECF-89941E50648B}"/>
              </a:ext>
            </a:extLst>
          </p:cNvPr>
          <p:cNvCxnSpPr>
            <a:cxnSpLocks/>
          </p:cNvCxnSpPr>
          <p:nvPr/>
        </p:nvCxnSpPr>
        <p:spPr>
          <a:xfrm>
            <a:off x="6297775" y="5380667"/>
            <a:ext cx="353016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850B57-C01D-BCDE-FAD3-A9B7EDF278F6}"/>
              </a:ext>
            </a:extLst>
          </p:cNvPr>
          <p:cNvSpPr txBox="1"/>
          <p:nvPr/>
        </p:nvSpPr>
        <p:spPr>
          <a:xfrm>
            <a:off x="7309403" y="5943599"/>
            <a:ext cx="150682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Prediction: pig</a:t>
            </a:r>
          </a:p>
        </p:txBody>
      </p:sp>
    </p:spTree>
    <p:extLst>
      <p:ext uri="{BB962C8B-B14F-4D97-AF65-F5344CB8AC3E}">
        <p14:creationId xmlns:p14="http://schemas.microsoft.com/office/powerpoint/2010/main" val="287838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078D9-2EC7-24EC-5033-0B2B34F4D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4FF7EB-1D0F-58FC-FE9F-383D0CC1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618020-29C3-C2F7-92CE-E8366087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7B00CE-70C3-A61D-212E-081DCB9991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C7803B-792A-45DE-B9AD-1EFD80C27384}"/>
              </a:ext>
            </a:extLst>
          </p:cNvPr>
          <p:cNvCxnSpPr/>
          <p:nvPr/>
        </p:nvCxnSpPr>
        <p:spPr>
          <a:xfrm>
            <a:off x="5115170" y="4686682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7D1D97B-F4F4-1B97-60E6-89DFF9078461}"/>
              </a:ext>
            </a:extLst>
          </p:cNvPr>
          <p:cNvSpPr txBox="1"/>
          <p:nvPr/>
        </p:nvSpPr>
        <p:spPr>
          <a:xfrm>
            <a:off x="4988790" y="4201739"/>
            <a:ext cx="84798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Classify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B5EF7C-33E4-0C0D-AE96-394673786662}"/>
              </a:ext>
            </a:extLst>
          </p:cNvPr>
          <p:cNvSpPr txBox="1"/>
          <p:nvPr/>
        </p:nvSpPr>
        <p:spPr>
          <a:xfrm>
            <a:off x="1887340" y="5747217"/>
            <a:ext cx="101149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Label: pig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E8207C-83FB-36F9-5F81-5CC39F047BF5}"/>
              </a:ext>
            </a:extLst>
          </p:cNvPr>
          <p:cNvSpPr/>
          <p:nvPr/>
        </p:nvSpPr>
        <p:spPr>
          <a:xfrm>
            <a:off x="7104964" y="3798860"/>
            <a:ext cx="408878" cy="158180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385A1F-9B7B-3599-F92F-7E9EA8E34977}"/>
              </a:ext>
            </a:extLst>
          </p:cNvPr>
          <p:cNvSpPr/>
          <p:nvPr/>
        </p:nvSpPr>
        <p:spPr>
          <a:xfrm>
            <a:off x="8442070" y="5047128"/>
            <a:ext cx="408878" cy="31928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CA1F893-BBFC-3D44-C178-DF3F287B8A3A}"/>
                  </a:ext>
                </a:extLst>
              </p:cNvPr>
              <p:cNvSpPr txBox="1"/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𝑝𝑖𝑔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FDE7EC-58D6-9BF2-BC26-0767007F5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blipFill>
                <a:blip r:embed="rId5"/>
                <a:stretch>
                  <a:fillRect l="-5405" t="-6667" r="-1756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C61D9DF-E29C-99EB-73F8-445039F3AF7B}"/>
                  </a:ext>
                </a:extLst>
              </p:cNvPr>
              <p:cNvSpPr txBox="1"/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𝑑𝑢𝑐𝑘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ACBFE4-C802-8392-0295-91D39133A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blipFill>
                <a:blip r:embed="rId6"/>
                <a:stretch>
                  <a:fillRect l="-4598" t="-6667" r="-1494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 descr="images: undefined">
            <a:extLst>
              <a:ext uri="{FF2B5EF4-FFF2-40B4-BE49-F238E27FC236}">
                <a16:creationId xmlns:a16="http://schemas.microsoft.com/office/drawing/2014/main" id="{A0FDCB2F-E03B-19B1-02C4-AF1DD0241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43" y="3429000"/>
            <a:ext cx="33909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DBD605E-0498-C7DD-CEE2-6AA0148E53DC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9447BCB-755D-1C95-F7D1-4B560C6A2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EBF518-168E-12D6-657F-795A81890898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E61B50-77A6-002C-AAD4-EBB0491059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FDCFE4-2BDD-709C-C426-537B745AFFBC}"/>
              </a:ext>
            </a:extLst>
          </p:cNvPr>
          <p:cNvCxnSpPr>
            <a:cxnSpLocks/>
          </p:cNvCxnSpPr>
          <p:nvPr/>
        </p:nvCxnSpPr>
        <p:spPr>
          <a:xfrm>
            <a:off x="6297775" y="5380667"/>
            <a:ext cx="353016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C65D96A-F776-F9A1-8A83-E6745E0D65C8}"/>
              </a:ext>
            </a:extLst>
          </p:cNvPr>
          <p:cNvSpPr txBox="1"/>
          <p:nvPr/>
        </p:nvSpPr>
        <p:spPr>
          <a:xfrm>
            <a:off x="7309403" y="5943599"/>
            <a:ext cx="150682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Prediction: pig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35BCDB-8FBB-5C12-7EBF-41A478630DF8}"/>
                  </a:ext>
                </a:extLst>
              </p:cNvPr>
              <p:cNvSpPr txBox="1"/>
              <p:nvPr/>
            </p:nvSpPr>
            <p:spPr>
              <a:xfrm>
                <a:off x="9982077" y="3849399"/>
                <a:ext cx="1777153" cy="72167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35BCDB-8FBB-5C12-7EBF-41A478630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077" y="3849399"/>
                <a:ext cx="1777153" cy="721672"/>
              </a:xfrm>
              <a:prstGeom prst="rect">
                <a:avLst/>
              </a:prstGeom>
              <a:blipFill>
                <a:blip r:embed="rId10"/>
                <a:stretch>
                  <a:fillRect l="-58865" t="-172414" r="-9929" b="-2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26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9C82A-C170-9312-9475-7B78AB6B5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0E61318-915A-153E-DC1F-1D090AB8CD6A}"/>
              </a:ext>
            </a:extLst>
          </p:cNvPr>
          <p:cNvSpPr/>
          <p:nvPr/>
        </p:nvSpPr>
        <p:spPr>
          <a:xfrm>
            <a:off x="8442070" y="3899652"/>
            <a:ext cx="408878" cy="14604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735946-4518-3939-031A-90FDE5CB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EB2656-A8B9-57BE-1D10-849E3AB3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2AECAE-204D-4566-2A31-0B1225A289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4E171EC-1B09-166E-A034-71898B1ECFBC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4E171EC-1B09-166E-A034-71898B1EC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1A0FEA5-C056-1763-F3F6-96D21C596803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1A0FEA5-C056-1763-F3F6-96D21C596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31BC02A-2EF0-CDE9-619B-FBE6D21B97A1}"/>
              </a:ext>
            </a:extLst>
          </p:cNvPr>
          <p:cNvCxnSpPr/>
          <p:nvPr/>
        </p:nvCxnSpPr>
        <p:spPr>
          <a:xfrm>
            <a:off x="5115170" y="4686682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432A3F-BF2C-21B2-ABE9-F4A048E5126D}"/>
              </a:ext>
            </a:extLst>
          </p:cNvPr>
          <p:cNvSpPr txBox="1"/>
          <p:nvPr/>
        </p:nvSpPr>
        <p:spPr>
          <a:xfrm>
            <a:off x="4988790" y="4201739"/>
            <a:ext cx="84798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Classify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87381E-4B7D-0A88-37C4-ADF1E712D11E}"/>
              </a:ext>
            </a:extLst>
          </p:cNvPr>
          <p:cNvSpPr txBox="1"/>
          <p:nvPr/>
        </p:nvSpPr>
        <p:spPr>
          <a:xfrm>
            <a:off x="1887340" y="5747217"/>
            <a:ext cx="120225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Label: duck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D0D177-1E5F-FEAB-4084-D5476166BD11}"/>
                  </a:ext>
                </a:extLst>
              </p:cNvPr>
              <p:cNvSpPr txBox="1"/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𝑝𝑖𝑔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D0D177-1E5F-FEAB-4084-D5476166B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blipFill>
                <a:blip r:embed="rId7"/>
                <a:stretch>
                  <a:fillRect l="-5405" t="-6667" r="-1756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D54BB2-548F-8853-3972-610990B7E67F}"/>
                  </a:ext>
                </a:extLst>
              </p:cNvPr>
              <p:cNvSpPr txBox="1"/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𝑑𝑢𝑐𝑘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D54BB2-548F-8853-3972-610990B7E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blipFill>
                <a:blip r:embed="rId8"/>
                <a:stretch>
                  <a:fillRect l="-4598" t="-6667" r="-1494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A duck swimming in the water&#10;&#10;AI-generated content may be incorrect.">
            <a:extLst>
              <a:ext uri="{FF2B5EF4-FFF2-40B4-BE49-F238E27FC236}">
                <a16:creationId xmlns:a16="http://schemas.microsoft.com/office/drawing/2014/main" id="{B44FCEAF-3E56-96EF-7A51-D8F22E7B84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386" y="3149557"/>
            <a:ext cx="1881098" cy="247369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FC78C15-6AEF-EDCC-2CC3-E7BC76A29253}"/>
              </a:ext>
            </a:extLst>
          </p:cNvPr>
          <p:cNvSpPr/>
          <p:nvPr/>
        </p:nvSpPr>
        <p:spPr>
          <a:xfrm>
            <a:off x="7104964" y="5029200"/>
            <a:ext cx="408878" cy="33721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D356C5D-58CA-C823-EB3E-151A13E8A3A1}"/>
              </a:ext>
            </a:extLst>
          </p:cNvPr>
          <p:cNvCxnSpPr>
            <a:cxnSpLocks/>
          </p:cNvCxnSpPr>
          <p:nvPr/>
        </p:nvCxnSpPr>
        <p:spPr>
          <a:xfrm>
            <a:off x="6297775" y="5380667"/>
            <a:ext cx="353016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17F0DA-1C09-BC74-FFB8-83241BC045C2}"/>
              </a:ext>
            </a:extLst>
          </p:cNvPr>
          <p:cNvSpPr txBox="1"/>
          <p:nvPr/>
        </p:nvSpPr>
        <p:spPr>
          <a:xfrm>
            <a:off x="7309403" y="5943599"/>
            <a:ext cx="169758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Prediction: duck</a:t>
            </a:r>
          </a:p>
        </p:txBody>
      </p:sp>
    </p:spTree>
    <p:extLst>
      <p:ext uri="{BB962C8B-B14F-4D97-AF65-F5344CB8AC3E}">
        <p14:creationId xmlns:p14="http://schemas.microsoft.com/office/powerpoint/2010/main" val="37442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3EA7-1F6D-47E5-D524-D4A7CEEE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F59FCB3-C38F-30F0-FF6F-536D3F73D0E5}"/>
              </a:ext>
            </a:extLst>
          </p:cNvPr>
          <p:cNvSpPr/>
          <p:nvPr/>
        </p:nvSpPr>
        <p:spPr>
          <a:xfrm>
            <a:off x="8442070" y="4487736"/>
            <a:ext cx="408878" cy="87238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57E65D-0ABD-C434-F93E-4379665E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BFC87-3052-C201-2363-68597534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CF643C-3A5C-5C66-47C3-7516440F78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2850420-8FF3-A4CA-7FFF-E5FDFDFC3585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2850420-8FF3-A4CA-7FFF-E5FDFDFC35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0EAC77-1197-92D5-2718-6039C0095EB1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0EAC77-1197-92D5-2718-6039C0095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31FC36-7E08-3C32-64E4-5B59709EB7B8}"/>
              </a:ext>
            </a:extLst>
          </p:cNvPr>
          <p:cNvCxnSpPr/>
          <p:nvPr/>
        </p:nvCxnSpPr>
        <p:spPr>
          <a:xfrm>
            <a:off x="5115170" y="4686682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EDA3D2F-801C-0F63-3636-A6586FE3209D}"/>
              </a:ext>
            </a:extLst>
          </p:cNvPr>
          <p:cNvSpPr txBox="1"/>
          <p:nvPr/>
        </p:nvSpPr>
        <p:spPr>
          <a:xfrm>
            <a:off x="4988790" y="4201739"/>
            <a:ext cx="84798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Classify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23CE20-CE72-E527-3C44-3A5E0DA76CA9}"/>
              </a:ext>
            </a:extLst>
          </p:cNvPr>
          <p:cNvSpPr txBox="1"/>
          <p:nvPr/>
        </p:nvSpPr>
        <p:spPr>
          <a:xfrm>
            <a:off x="1887340" y="5747217"/>
            <a:ext cx="109324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Label: dog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43F73E-A906-C35B-B451-26FB64ECFDCA}"/>
                  </a:ext>
                </a:extLst>
              </p:cNvPr>
              <p:cNvSpPr txBox="1"/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𝑝𝑖𝑔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43F73E-A906-C35B-B451-26FB64ECF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blipFill>
                <a:blip r:embed="rId7"/>
                <a:stretch>
                  <a:fillRect l="-5405" t="-6667" r="-1756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6EE4FEF-C991-DFB5-7CEC-EA890CE4E837}"/>
                  </a:ext>
                </a:extLst>
              </p:cNvPr>
              <p:cNvSpPr txBox="1"/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𝑑𝑢𝑐𝑘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6EE4FEF-C991-DFB5-7CEC-EA890CE4E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blipFill>
                <a:blip r:embed="rId8"/>
                <a:stretch>
                  <a:fillRect l="-4598" t="-6667" r="-1494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3FE602E8-F681-3DEE-AD5F-D6BCB301ED61}"/>
              </a:ext>
            </a:extLst>
          </p:cNvPr>
          <p:cNvSpPr/>
          <p:nvPr/>
        </p:nvSpPr>
        <p:spPr>
          <a:xfrm>
            <a:off x="7104964" y="4355375"/>
            <a:ext cx="408878" cy="101104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D5D1C1-E952-4A13-A4F4-AC3CCAF2FBD8}"/>
              </a:ext>
            </a:extLst>
          </p:cNvPr>
          <p:cNvCxnSpPr>
            <a:cxnSpLocks/>
          </p:cNvCxnSpPr>
          <p:nvPr/>
        </p:nvCxnSpPr>
        <p:spPr>
          <a:xfrm>
            <a:off x="6297775" y="5380667"/>
            <a:ext cx="353016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9B97FD-448B-8E2A-9496-0B5718A29A3F}"/>
              </a:ext>
            </a:extLst>
          </p:cNvPr>
          <p:cNvSpPr txBox="1"/>
          <p:nvPr/>
        </p:nvSpPr>
        <p:spPr>
          <a:xfrm>
            <a:off x="7309403" y="5943599"/>
            <a:ext cx="150682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Prediction: pig</a:t>
            </a:r>
          </a:p>
        </p:txBody>
      </p:sp>
      <p:pic>
        <p:nvPicPr>
          <p:cNvPr id="14" name="Picture 13" descr="A dog sitting in the grass&#10;&#10;AI-generated content may be incorrect.">
            <a:extLst>
              <a:ext uri="{FF2B5EF4-FFF2-40B4-BE49-F238E27FC236}">
                <a16:creationId xmlns:a16="http://schemas.microsoft.com/office/drawing/2014/main" id="{58AD8294-180C-1419-034A-16E2B072C1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23" y="3281236"/>
            <a:ext cx="2730500" cy="2413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B61043-D01F-38F5-5F72-A000F3D46A97}"/>
              </a:ext>
            </a:extLst>
          </p:cNvPr>
          <p:cNvSpPr txBox="1"/>
          <p:nvPr/>
        </p:nvSpPr>
        <p:spPr>
          <a:xfrm>
            <a:off x="68013" y="6611779"/>
            <a:ext cx="3252493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Images from ILSVRC 2012 (</a:t>
            </a:r>
            <a:r>
              <a:rPr lang="en-US" sz="10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Russakovsky</a:t>
            </a:r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et al., IJCV 2015)</a:t>
            </a:r>
          </a:p>
        </p:txBody>
      </p:sp>
    </p:spTree>
    <p:extLst>
      <p:ext uri="{BB962C8B-B14F-4D97-AF65-F5344CB8AC3E}">
        <p14:creationId xmlns:p14="http://schemas.microsoft.com/office/powerpoint/2010/main" val="16349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229B-A489-1322-DBA6-418B9DA6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96563C2-33F0-726C-7EBA-A1C6AE9C7D06}"/>
              </a:ext>
            </a:extLst>
          </p:cNvPr>
          <p:cNvSpPr/>
          <p:nvPr/>
        </p:nvSpPr>
        <p:spPr>
          <a:xfrm>
            <a:off x="8442070" y="4487736"/>
            <a:ext cx="408878" cy="87238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2B7238-39F1-59F6-CAFC-F4375F75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964C74-FD07-5483-1714-330BB901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577BE3-2788-EA45-3AE1-1D837DEA9F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E6A33AF-A553-74B3-5923-CF171BBE53A1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E6A33AF-A553-74B3-5923-CF171BBE53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CA63DC-75BF-C213-A34C-884F6F39A669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CA63DC-75BF-C213-A34C-884F6F39A6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981329A-8B0B-3BC8-CF90-74F128072B37}"/>
              </a:ext>
            </a:extLst>
          </p:cNvPr>
          <p:cNvCxnSpPr/>
          <p:nvPr/>
        </p:nvCxnSpPr>
        <p:spPr>
          <a:xfrm>
            <a:off x="5115170" y="4686682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F9C9B08-C417-90F3-EE3E-CCFCE062F701}"/>
              </a:ext>
            </a:extLst>
          </p:cNvPr>
          <p:cNvSpPr txBox="1"/>
          <p:nvPr/>
        </p:nvSpPr>
        <p:spPr>
          <a:xfrm>
            <a:off x="4988790" y="4201739"/>
            <a:ext cx="84798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Classify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8A5EA-C69F-5E09-B6B3-34D7651D4AD6}"/>
              </a:ext>
            </a:extLst>
          </p:cNvPr>
          <p:cNvSpPr txBox="1"/>
          <p:nvPr/>
        </p:nvSpPr>
        <p:spPr>
          <a:xfrm>
            <a:off x="1887340" y="5747217"/>
            <a:ext cx="109324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Label: dog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7FE1946-7F3B-725C-0FEF-A7ABC0267376}"/>
                  </a:ext>
                </a:extLst>
              </p:cNvPr>
              <p:cNvSpPr txBox="1"/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𝑝𝑖𝑔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7FE1946-7F3B-725C-0FEF-A7ABC0267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blipFill>
                <a:blip r:embed="rId7"/>
                <a:stretch>
                  <a:fillRect l="-5405" t="-6667" r="-1756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68AFD9-DD10-2BFF-AB20-73C0FC0AF8B4}"/>
                  </a:ext>
                </a:extLst>
              </p:cNvPr>
              <p:cNvSpPr txBox="1"/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𝑑𝑢𝑐𝑘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68AFD9-DD10-2BFF-AB20-73C0FC0AF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blipFill>
                <a:blip r:embed="rId8"/>
                <a:stretch>
                  <a:fillRect l="-4598" t="-6667" r="-1494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1901F68C-0D28-A089-B97D-F257EFC9102E}"/>
              </a:ext>
            </a:extLst>
          </p:cNvPr>
          <p:cNvSpPr/>
          <p:nvPr/>
        </p:nvSpPr>
        <p:spPr>
          <a:xfrm>
            <a:off x="7104964" y="4355375"/>
            <a:ext cx="408878" cy="101104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E2E605-C7DD-48D5-4027-956D4263D3E6}"/>
              </a:ext>
            </a:extLst>
          </p:cNvPr>
          <p:cNvCxnSpPr>
            <a:cxnSpLocks/>
          </p:cNvCxnSpPr>
          <p:nvPr/>
        </p:nvCxnSpPr>
        <p:spPr>
          <a:xfrm>
            <a:off x="6297775" y="5380667"/>
            <a:ext cx="353016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D3D63C-9D71-7900-760B-A915F6B6DB9B}"/>
              </a:ext>
            </a:extLst>
          </p:cNvPr>
          <p:cNvSpPr txBox="1"/>
          <p:nvPr/>
        </p:nvSpPr>
        <p:spPr>
          <a:xfrm>
            <a:off x="7309403" y="5943599"/>
            <a:ext cx="150682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Prediction: pig</a:t>
            </a:r>
          </a:p>
        </p:txBody>
      </p:sp>
      <p:pic>
        <p:nvPicPr>
          <p:cNvPr id="14" name="Picture 13" descr="A dog sitting in the grass&#10;&#10;AI-generated content may be incorrect.">
            <a:extLst>
              <a:ext uri="{FF2B5EF4-FFF2-40B4-BE49-F238E27FC236}">
                <a16:creationId xmlns:a16="http://schemas.microsoft.com/office/drawing/2014/main" id="{F8B6E1C1-D357-086C-A1BD-574DA7D321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23" y="3281236"/>
            <a:ext cx="2730500" cy="2413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6E06CD-4A64-B525-739B-13D0B5D81771}"/>
              </a:ext>
            </a:extLst>
          </p:cNvPr>
          <p:cNvSpPr txBox="1"/>
          <p:nvPr/>
        </p:nvSpPr>
        <p:spPr>
          <a:xfrm>
            <a:off x="5758280" y="3270495"/>
            <a:ext cx="490999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No way to compute p(</a:t>
            </a:r>
            <a:r>
              <a:rPr lang="en-US" dirty="0" err="1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y|x</a:t>
            </a:r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) for undefined labels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83CA47-A395-171B-11A6-2C6F45D31B59}"/>
              </a:ext>
            </a:extLst>
          </p:cNvPr>
          <p:cNvSpPr txBox="1"/>
          <p:nvPr/>
        </p:nvSpPr>
        <p:spPr>
          <a:xfrm>
            <a:off x="68013" y="6611779"/>
            <a:ext cx="3252493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Images from ILSVRC 2012 (</a:t>
            </a:r>
            <a:r>
              <a:rPr lang="en-US" sz="10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Russakovsky</a:t>
            </a:r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et al., IJCV 2015)</a:t>
            </a:r>
          </a:p>
        </p:txBody>
      </p:sp>
    </p:spTree>
    <p:extLst>
      <p:ext uri="{BB962C8B-B14F-4D97-AF65-F5344CB8AC3E}">
        <p14:creationId xmlns:p14="http://schemas.microsoft.com/office/powerpoint/2010/main" val="230022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57BAC-89B0-1AB0-376E-7FEBA3E3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1E493D7-9C1E-4B66-14CB-AFCE4AA13F7C}"/>
              </a:ext>
            </a:extLst>
          </p:cNvPr>
          <p:cNvSpPr/>
          <p:nvPr/>
        </p:nvSpPr>
        <p:spPr>
          <a:xfrm>
            <a:off x="8442070" y="4349073"/>
            <a:ext cx="408878" cy="101104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03FF6D-201C-AFE0-76FE-E33EE4A3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1656B6-8C60-7CC3-14BE-F13440C7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96EFB7-0685-5DCC-8973-2852C154F4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AE8FB3E-06D6-73EC-4B92-79BAFC61C91C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AE8FB3E-06D6-73EC-4B92-79BAFC61C9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F0EEC5-6D92-5DB8-A093-EC7EC610B835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F0EEC5-6D92-5DB8-A093-EC7EC610B8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89DE4E-48B8-72D3-7E3D-96D8AAB19948}"/>
              </a:ext>
            </a:extLst>
          </p:cNvPr>
          <p:cNvCxnSpPr/>
          <p:nvPr/>
        </p:nvCxnSpPr>
        <p:spPr>
          <a:xfrm>
            <a:off x="5115170" y="4686682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DF6139-80B3-A2B9-2973-6E921019122D}"/>
              </a:ext>
            </a:extLst>
          </p:cNvPr>
          <p:cNvSpPr txBox="1"/>
          <p:nvPr/>
        </p:nvSpPr>
        <p:spPr>
          <a:xfrm>
            <a:off x="4988790" y="4201739"/>
            <a:ext cx="84798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Classify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631A93-BC90-777E-7748-238B913684AE}"/>
              </a:ext>
            </a:extLst>
          </p:cNvPr>
          <p:cNvSpPr txBox="1"/>
          <p:nvPr/>
        </p:nvSpPr>
        <p:spPr>
          <a:xfrm>
            <a:off x="1887340" y="5747217"/>
            <a:ext cx="91691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Label: 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CB6F06-E168-D220-864C-1E604C4B2550}"/>
                  </a:ext>
                </a:extLst>
              </p:cNvPr>
              <p:cNvSpPr txBox="1"/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𝑝𝑖𝑔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CB6F06-E168-D220-864C-1E604C4B2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208" y="5465752"/>
                <a:ext cx="930704" cy="369332"/>
              </a:xfrm>
              <a:prstGeom prst="rect">
                <a:avLst/>
              </a:prstGeom>
              <a:blipFill>
                <a:blip r:embed="rId7"/>
                <a:stretch>
                  <a:fillRect l="-5405" t="-6667" r="-1756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9CD026-9ABB-6A7B-9FE2-DBE9732844D3}"/>
                  </a:ext>
                </a:extLst>
              </p:cNvPr>
              <p:cNvSpPr txBox="1"/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𝑑𝑢𝑐𝑘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9CD026-9ABB-6A7B-9FE2-DBE973284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53" y="5451502"/>
                <a:ext cx="1088952" cy="369332"/>
              </a:xfrm>
              <a:prstGeom prst="rect">
                <a:avLst/>
              </a:prstGeom>
              <a:blipFill>
                <a:blip r:embed="rId8"/>
                <a:stretch>
                  <a:fillRect l="-4598" t="-6667" r="-1494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1FE12E3D-DAF2-DBDB-D8A5-E8841D63F0F5}"/>
              </a:ext>
            </a:extLst>
          </p:cNvPr>
          <p:cNvSpPr/>
          <p:nvPr/>
        </p:nvSpPr>
        <p:spPr>
          <a:xfrm>
            <a:off x="7104964" y="4571071"/>
            <a:ext cx="408878" cy="79534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B42328-DF25-4BEA-9B04-AE2FBB2FC8BA}"/>
              </a:ext>
            </a:extLst>
          </p:cNvPr>
          <p:cNvCxnSpPr>
            <a:cxnSpLocks/>
          </p:cNvCxnSpPr>
          <p:nvPr/>
        </p:nvCxnSpPr>
        <p:spPr>
          <a:xfrm>
            <a:off x="6297775" y="5380667"/>
            <a:ext cx="353016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6A210ED-2F47-FE47-A963-B72252E2A158}"/>
              </a:ext>
            </a:extLst>
          </p:cNvPr>
          <p:cNvSpPr txBox="1"/>
          <p:nvPr/>
        </p:nvSpPr>
        <p:spPr>
          <a:xfrm>
            <a:off x="7309403" y="5943599"/>
            <a:ext cx="169758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Prediction: duck</a:t>
            </a:r>
          </a:p>
        </p:txBody>
      </p:sp>
      <p:pic>
        <p:nvPicPr>
          <p:cNvPr id="28674" name="Picture 2" descr="Generated image">
            <a:extLst>
              <a:ext uri="{FF2B5EF4-FFF2-40B4-BE49-F238E27FC236}">
                <a16:creationId xmlns:a16="http://schemas.microsoft.com/office/drawing/2014/main" id="{CA76FADB-B77F-32FA-1D5B-CF32C880C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361" y="3462102"/>
            <a:ext cx="2079811" cy="2079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1E2283-07E9-F28F-B9DE-F7D8D1A4DA48}"/>
              </a:ext>
            </a:extLst>
          </p:cNvPr>
          <p:cNvSpPr txBox="1"/>
          <p:nvPr/>
        </p:nvSpPr>
        <p:spPr>
          <a:xfrm>
            <a:off x="5758280" y="3270495"/>
            <a:ext cx="490999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No way to compute p(</a:t>
            </a:r>
            <a:r>
              <a:rPr lang="en-US" dirty="0" err="1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y|x</a:t>
            </a:r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) for undefined labels </a:t>
            </a:r>
          </a:p>
        </p:txBody>
      </p:sp>
    </p:spTree>
    <p:extLst>
      <p:ext uri="{BB962C8B-B14F-4D97-AF65-F5344CB8AC3E}">
        <p14:creationId xmlns:p14="http://schemas.microsoft.com/office/powerpoint/2010/main" val="178792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6252E-2CEC-CDFA-BA89-79231593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E1982D-7F77-5275-7F78-853CF2B71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9FBC32-3A77-AFC7-4445-2DABF757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43E851-1577-C620-7F1B-B2B2E7C81A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948E761-EAFE-3B64-0B0B-76B215CB0426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948E761-EAFE-3B64-0B0B-76B215CB0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6D3E02C-29EC-9F8B-6698-518D421779B2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6D3E02C-29EC-9F8B-6698-518D42177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1D482A8-6342-BB56-2CC7-DCADEE1B180A}"/>
              </a:ext>
            </a:extLst>
          </p:cNvPr>
          <p:cNvSpPr txBox="1"/>
          <p:nvPr/>
        </p:nvSpPr>
        <p:spPr>
          <a:xfrm>
            <a:off x="3146612" y="3269551"/>
            <a:ext cx="591668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Generative models estimate </a:t>
            </a:r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likely an image is </a:t>
            </a:r>
          </a:p>
        </p:txBody>
      </p:sp>
    </p:spTree>
    <p:extLst>
      <p:ext uri="{BB962C8B-B14F-4D97-AF65-F5344CB8AC3E}">
        <p14:creationId xmlns:p14="http://schemas.microsoft.com/office/powerpoint/2010/main" val="127981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E47F4-67CA-FE88-41A7-2D0373EC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82D7E5-87D3-9954-A96F-54572E5E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580C2-AF2B-F956-D6C7-A2A25C60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E281F1-D6D4-734D-A9BB-17FD92B4C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CDC400-6F66-46CF-E43A-EE2D56FAF49F}"/>
              </a:ext>
            </a:extLst>
          </p:cNvPr>
          <p:cNvSpPr/>
          <p:nvPr/>
        </p:nvSpPr>
        <p:spPr>
          <a:xfrm>
            <a:off x="2092855" y="4010927"/>
            <a:ext cx="408878" cy="10333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DE9567-FDF9-6C9E-1C40-A82131F0E7F2}"/>
                  </a:ext>
                </a:extLst>
              </p:cNvPr>
              <p:cNvSpPr txBox="1"/>
              <p:nvPr/>
            </p:nvSpPr>
            <p:spPr>
              <a:xfrm>
                <a:off x="1132905" y="5349610"/>
                <a:ext cx="2328778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                                      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DE9567-FDF9-6C9E-1C40-A82131F0E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05" y="5349610"/>
                <a:ext cx="2328778" cy="369332"/>
              </a:xfrm>
              <a:prstGeom prst="rect">
                <a:avLst/>
              </a:prstGeom>
              <a:blipFill>
                <a:blip r:embed="rId5"/>
                <a:stretch>
                  <a:fillRect l="-2174" t="-6667" r="-706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EBEB2F-E050-199D-7D7E-074CAE7F942E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EBEB2F-E050-199D-7D7E-074CAE7F9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6432E15-6798-1C00-7C9F-9AEE8B3BA305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6432E15-6798-1C00-7C9F-9AEE8B3BA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78831A6-FE0E-5DD3-A78E-3BA75D9C72D5}"/>
              </a:ext>
            </a:extLst>
          </p:cNvPr>
          <p:cNvSpPr txBox="1"/>
          <p:nvPr/>
        </p:nvSpPr>
        <p:spPr>
          <a:xfrm>
            <a:off x="11491029" y="4657118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…</a:t>
            </a:r>
          </a:p>
        </p:txBody>
      </p:sp>
      <p:pic>
        <p:nvPicPr>
          <p:cNvPr id="14" name="Picture 2" descr="images: undefined">
            <a:extLst>
              <a:ext uri="{FF2B5EF4-FFF2-40B4-BE49-F238E27FC236}">
                <a16:creationId xmlns:a16="http://schemas.microsoft.com/office/drawing/2014/main" id="{172BC3C0-5A9C-DF62-CBF5-401DB2042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384" y="5162624"/>
            <a:ext cx="1502228" cy="84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21B28C5-C1B5-B801-9104-58049E5CD527}"/>
              </a:ext>
            </a:extLst>
          </p:cNvPr>
          <p:cNvCxnSpPr>
            <a:cxnSpLocks/>
          </p:cNvCxnSpPr>
          <p:nvPr/>
        </p:nvCxnSpPr>
        <p:spPr>
          <a:xfrm>
            <a:off x="609600" y="5044291"/>
            <a:ext cx="10569388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7FFFCA6-D9DD-D4A4-BA44-B753D97AE814}"/>
              </a:ext>
            </a:extLst>
          </p:cNvPr>
          <p:cNvSpPr txBox="1"/>
          <p:nvPr/>
        </p:nvSpPr>
        <p:spPr>
          <a:xfrm>
            <a:off x="3146612" y="3269551"/>
            <a:ext cx="591668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Generative models estimate </a:t>
            </a:r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likely an image is </a:t>
            </a:r>
          </a:p>
        </p:txBody>
      </p:sp>
    </p:spTree>
    <p:extLst>
      <p:ext uri="{BB962C8B-B14F-4D97-AF65-F5344CB8AC3E}">
        <p14:creationId xmlns:p14="http://schemas.microsoft.com/office/powerpoint/2010/main" val="266089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45FA2-3648-B601-0362-31FF42219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0C76BA-16B0-78EE-799D-441C7C284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6D4CC9-A1A7-059E-FBB2-5E356713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4D5689-4B94-52C4-27D7-388B981A16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EB8517-4154-C714-2F30-F02A2A567B21}"/>
              </a:ext>
            </a:extLst>
          </p:cNvPr>
          <p:cNvSpPr/>
          <p:nvPr/>
        </p:nvSpPr>
        <p:spPr>
          <a:xfrm>
            <a:off x="2092855" y="4010927"/>
            <a:ext cx="408878" cy="10333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CEF0BE-4AD5-7BB6-45EE-F195218EF80D}"/>
                  </a:ext>
                </a:extLst>
              </p:cNvPr>
              <p:cNvSpPr txBox="1"/>
              <p:nvPr/>
            </p:nvSpPr>
            <p:spPr>
              <a:xfrm>
                <a:off x="1132905" y="5349610"/>
                <a:ext cx="2328778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                                      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CEF0BE-4AD5-7BB6-45EE-F195218EF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05" y="5349610"/>
                <a:ext cx="2328778" cy="369332"/>
              </a:xfrm>
              <a:prstGeom prst="rect">
                <a:avLst/>
              </a:prstGeom>
              <a:blipFill>
                <a:blip r:embed="rId5"/>
                <a:stretch>
                  <a:fillRect l="-2174" t="-6667" r="-706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191CC7E-6935-248E-3489-E45EFA419A6D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191CC7E-6935-248E-3489-E45EFA419A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7AFCD90-9C97-5DB3-7F6B-CD0E2DA63FC8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7AFCD90-9C97-5DB3-7F6B-CD0E2DA63F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45B8C57-A0F2-2F55-60A2-E853E4C571C3}"/>
              </a:ext>
            </a:extLst>
          </p:cNvPr>
          <p:cNvSpPr/>
          <p:nvPr/>
        </p:nvSpPr>
        <p:spPr>
          <a:xfrm>
            <a:off x="9635641" y="4966026"/>
            <a:ext cx="408878" cy="925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49243-2BBB-9216-842C-219551341AB1}"/>
              </a:ext>
            </a:extLst>
          </p:cNvPr>
          <p:cNvSpPr txBox="1"/>
          <p:nvPr/>
        </p:nvSpPr>
        <p:spPr>
          <a:xfrm>
            <a:off x="11491029" y="4657118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…</a:t>
            </a:r>
          </a:p>
        </p:txBody>
      </p:sp>
      <p:pic>
        <p:nvPicPr>
          <p:cNvPr id="14" name="Picture 2" descr="images: undefined">
            <a:extLst>
              <a:ext uri="{FF2B5EF4-FFF2-40B4-BE49-F238E27FC236}">
                <a16:creationId xmlns:a16="http://schemas.microsoft.com/office/drawing/2014/main" id="{D289028D-FD17-9913-F7E9-5E37FB92A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384" y="5162624"/>
            <a:ext cx="1502228" cy="84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8B306E4-D980-1237-1819-14253DE01C9D}"/>
              </a:ext>
            </a:extLst>
          </p:cNvPr>
          <p:cNvSpPr/>
          <p:nvPr/>
        </p:nvSpPr>
        <p:spPr>
          <a:xfrm>
            <a:off x="4607117" y="4530880"/>
            <a:ext cx="408878" cy="52769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69AA1A-0690-471E-A3C4-F08C173F8E21}"/>
                  </a:ext>
                </a:extLst>
              </p:cNvPr>
              <p:cNvSpPr txBox="1"/>
              <p:nvPr/>
            </p:nvSpPr>
            <p:spPr>
              <a:xfrm>
                <a:off x="3647167" y="5349610"/>
                <a:ext cx="2328778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                                      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69AA1A-0690-471E-A3C4-F08C173F8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167" y="5349610"/>
                <a:ext cx="2328778" cy="369332"/>
              </a:xfrm>
              <a:prstGeom prst="rect">
                <a:avLst/>
              </a:prstGeom>
              <a:blipFill>
                <a:blip r:embed="rId9"/>
                <a:stretch>
                  <a:fillRect l="-2174" t="-6667" r="-652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D20790C-1D41-FB21-26AD-187F4DFCE540}"/>
              </a:ext>
            </a:extLst>
          </p:cNvPr>
          <p:cNvSpPr/>
          <p:nvPr/>
        </p:nvSpPr>
        <p:spPr>
          <a:xfrm>
            <a:off x="7121379" y="4841784"/>
            <a:ext cx="408878" cy="20250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1CE7B2-7B6D-B266-79D0-BE88E0D1BAED}"/>
                  </a:ext>
                </a:extLst>
              </p:cNvPr>
              <p:cNvSpPr txBox="1"/>
              <p:nvPr/>
            </p:nvSpPr>
            <p:spPr>
              <a:xfrm>
                <a:off x="6161429" y="5347714"/>
                <a:ext cx="2328778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                                      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1CE7B2-7B6D-B266-79D0-BE88E0D1B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429" y="5347714"/>
                <a:ext cx="2328778" cy="369332"/>
              </a:xfrm>
              <a:prstGeom prst="rect">
                <a:avLst/>
              </a:prstGeom>
              <a:blipFill>
                <a:blip r:embed="rId10"/>
                <a:stretch>
                  <a:fillRect l="-2174" t="-3226" r="-7065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A3C972D-76D2-8493-D4F9-4E65B1EA2ED5}"/>
              </a:ext>
            </a:extLst>
          </p:cNvPr>
          <p:cNvCxnSpPr>
            <a:cxnSpLocks/>
          </p:cNvCxnSpPr>
          <p:nvPr/>
        </p:nvCxnSpPr>
        <p:spPr>
          <a:xfrm>
            <a:off x="609600" y="5044291"/>
            <a:ext cx="10569388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E2B73C-56DE-1915-A10F-AE30BF386213}"/>
                  </a:ext>
                </a:extLst>
              </p:cNvPr>
              <p:cNvSpPr txBox="1"/>
              <p:nvPr/>
            </p:nvSpPr>
            <p:spPr>
              <a:xfrm>
                <a:off x="8817688" y="5347714"/>
                <a:ext cx="2328778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                                      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E2B73C-56DE-1915-A10F-AE30BF386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688" y="5347714"/>
                <a:ext cx="2328778" cy="369332"/>
              </a:xfrm>
              <a:prstGeom prst="rect">
                <a:avLst/>
              </a:prstGeom>
              <a:blipFill>
                <a:blip r:embed="rId11"/>
                <a:stretch>
                  <a:fillRect l="-2174" t="-3226" r="-6522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A duck swimming in the water&#10;&#10;AI-generated content may be incorrect.">
            <a:extLst>
              <a:ext uri="{FF2B5EF4-FFF2-40B4-BE49-F238E27FC236}">
                <a16:creationId xmlns:a16="http://schemas.microsoft.com/office/drawing/2014/main" id="{62A672D1-EE53-9149-EC60-0C82FB56DF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685" y="5122557"/>
            <a:ext cx="1000732" cy="1315990"/>
          </a:xfrm>
          <a:prstGeom prst="rect">
            <a:avLst/>
          </a:prstGeom>
        </p:spPr>
      </p:pic>
      <p:pic>
        <p:nvPicPr>
          <p:cNvPr id="26" name="Picture 25" descr="A dog sitting in the grass&#10;&#10;AI-generated content may be incorrect.">
            <a:extLst>
              <a:ext uri="{FF2B5EF4-FFF2-40B4-BE49-F238E27FC236}">
                <a16:creationId xmlns:a16="http://schemas.microsoft.com/office/drawing/2014/main" id="{203341D6-B091-6B6A-A82F-7034C0EFFF4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191" y="5162624"/>
            <a:ext cx="1365250" cy="1206500"/>
          </a:xfrm>
          <a:prstGeom prst="rect">
            <a:avLst/>
          </a:prstGeom>
        </p:spPr>
      </p:pic>
      <p:pic>
        <p:nvPicPr>
          <p:cNvPr id="31" name="Picture 2" descr="Generated image">
            <a:extLst>
              <a:ext uri="{FF2B5EF4-FFF2-40B4-BE49-F238E27FC236}">
                <a16:creationId xmlns:a16="http://schemas.microsoft.com/office/drawing/2014/main" id="{E4A748E6-3C64-06E4-5461-D042077C9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643" y="5157787"/>
            <a:ext cx="1198868" cy="119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37ADBC4-F0EC-7CD3-81E6-AC8EC6E8E5AC}"/>
              </a:ext>
            </a:extLst>
          </p:cNvPr>
          <p:cNvSpPr txBox="1"/>
          <p:nvPr/>
        </p:nvSpPr>
        <p:spPr>
          <a:xfrm>
            <a:off x="3146612" y="3269551"/>
            <a:ext cx="591668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Generative models estimate </a:t>
            </a:r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likely an image is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F1ED8-2C83-0D20-8C7C-202AD5F66145}"/>
              </a:ext>
            </a:extLst>
          </p:cNvPr>
          <p:cNvSpPr txBox="1"/>
          <p:nvPr/>
        </p:nvSpPr>
        <p:spPr>
          <a:xfrm>
            <a:off x="68013" y="6611779"/>
            <a:ext cx="3252493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Images from ILSVRC 2012 (</a:t>
            </a:r>
            <a:r>
              <a:rPr lang="en-US" sz="10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Russakovsky</a:t>
            </a:r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et al., IJCV 2015)</a:t>
            </a:r>
          </a:p>
        </p:txBody>
      </p:sp>
    </p:spTree>
    <p:extLst>
      <p:ext uri="{BB962C8B-B14F-4D97-AF65-F5344CB8AC3E}">
        <p14:creationId xmlns:p14="http://schemas.microsoft.com/office/powerpoint/2010/main" val="5040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092C-0280-3B26-EA7B-912A7A98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6E8E85-82E7-F3CD-8347-7DE0F21E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726757-2DF1-1AC8-E78B-37D08CA5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325EF1-C2BD-C1CE-EDDC-87F9C08DFB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098D66-007C-0249-20AB-6493E43C6A17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098D66-007C-0249-20AB-6493E43C6A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69AA57-DADF-FBC1-03F3-5F8458DDE453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69AA57-DADF-FBC1-03F3-5F8458DDE4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C87873A-2537-BC4D-5747-DBA170052160}"/>
              </a:ext>
            </a:extLst>
          </p:cNvPr>
          <p:cNvSpPr txBox="1"/>
          <p:nvPr/>
        </p:nvSpPr>
        <p:spPr>
          <a:xfrm>
            <a:off x="2353789" y="3135080"/>
            <a:ext cx="755014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Or, generative models estimate </a:t>
            </a:r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likely x and y occur together</a:t>
            </a:r>
          </a:p>
        </p:txBody>
      </p:sp>
    </p:spTree>
    <p:extLst>
      <p:ext uri="{BB962C8B-B14F-4D97-AF65-F5344CB8AC3E}">
        <p14:creationId xmlns:p14="http://schemas.microsoft.com/office/powerpoint/2010/main" val="150979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E051B-2DED-2202-AEC1-99C73E17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F5701F-608D-F1A6-AF90-8630F6AD8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C15DB-53D7-F571-44C6-6564653A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6049E6-99AF-8DE5-F048-7A186ABE6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9BD5B2-468E-CF73-3B03-A3B73562E12A}"/>
              </a:ext>
            </a:extLst>
          </p:cNvPr>
          <p:cNvCxnSpPr/>
          <p:nvPr/>
        </p:nvCxnSpPr>
        <p:spPr>
          <a:xfrm>
            <a:off x="5115170" y="4686682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51E2843-B16D-278E-41F9-DC3F04776E43}"/>
              </a:ext>
            </a:extLst>
          </p:cNvPr>
          <p:cNvSpPr txBox="1"/>
          <p:nvPr/>
        </p:nvSpPr>
        <p:spPr>
          <a:xfrm>
            <a:off x="1887340" y="5747217"/>
            <a:ext cx="101149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Label: pig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49E8ED-6B02-4573-5E03-EA1F0C7736A6}"/>
              </a:ext>
            </a:extLst>
          </p:cNvPr>
          <p:cNvSpPr/>
          <p:nvPr/>
        </p:nvSpPr>
        <p:spPr>
          <a:xfrm>
            <a:off x="7104964" y="3798860"/>
            <a:ext cx="408878" cy="158180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EFA1F4-A4AF-AE5F-0CC1-1EF502FB2535}"/>
              </a:ext>
            </a:extLst>
          </p:cNvPr>
          <p:cNvSpPr/>
          <p:nvPr/>
        </p:nvSpPr>
        <p:spPr>
          <a:xfrm>
            <a:off x="8295396" y="4899530"/>
            <a:ext cx="408878" cy="47292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1EFC3B-1011-65AA-1A3E-3ED633BB3ECC}"/>
                  </a:ext>
                </a:extLst>
              </p:cNvPr>
              <p:cNvSpPr txBox="1"/>
              <p:nvPr/>
            </p:nvSpPr>
            <p:spPr>
              <a:xfrm>
                <a:off x="6837639" y="5443289"/>
                <a:ext cx="943528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𝑝𝑖𝑔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1EFC3B-1011-65AA-1A3E-3ED633BB3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639" y="5443289"/>
                <a:ext cx="943528" cy="369332"/>
              </a:xfrm>
              <a:prstGeom prst="rect">
                <a:avLst/>
              </a:prstGeom>
              <a:blipFill>
                <a:blip r:embed="rId5"/>
                <a:stretch>
                  <a:fillRect l="-5333" t="-6667" r="-17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F866C0D-D20D-DD91-C5D7-024A58634467}"/>
                  </a:ext>
                </a:extLst>
              </p:cNvPr>
              <p:cNvSpPr txBox="1"/>
              <p:nvPr/>
            </p:nvSpPr>
            <p:spPr>
              <a:xfrm>
                <a:off x="7966651" y="5443289"/>
                <a:ext cx="110177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𝑑𝑢𝑐𝑘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F866C0D-D20D-DD91-C5D7-024A58634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651" y="5443289"/>
                <a:ext cx="1101776" cy="369332"/>
              </a:xfrm>
              <a:prstGeom prst="rect">
                <a:avLst/>
              </a:prstGeom>
              <a:blipFill>
                <a:blip r:embed="rId6"/>
                <a:stretch>
                  <a:fillRect l="-4545" t="-6667" r="-1477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 descr="images: undefined">
            <a:extLst>
              <a:ext uri="{FF2B5EF4-FFF2-40B4-BE49-F238E27FC236}">
                <a16:creationId xmlns:a16="http://schemas.microsoft.com/office/drawing/2014/main" id="{E8890442-9CBC-68B6-C2BE-9F4C6E7C5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87" y="3637264"/>
            <a:ext cx="33909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E6BCF0-9E53-22C5-8688-03E0D726F6DB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E6BCF0-9E53-22C5-8688-03E0D726F6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4430E02-5970-5B72-95C9-9305E3A4C36C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4430E02-5970-5B72-95C9-9305E3A4C3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43CB50D-2152-D682-EF31-AB5B7087D060}"/>
              </a:ext>
            </a:extLst>
          </p:cNvPr>
          <p:cNvSpPr/>
          <p:nvPr/>
        </p:nvSpPr>
        <p:spPr>
          <a:xfrm>
            <a:off x="9485828" y="5040335"/>
            <a:ext cx="408878" cy="33211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10F9BA-0B28-2A16-B980-5A3EC435B0AD}"/>
                  </a:ext>
                </a:extLst>
              </p:cNvPr>
              <p:cNvSpPr txBox="1"/>
              <p:nvPr/>
            </p:nvSpPr>
            <p:spPr>
              <a:xfrm>
                <a:off x="9253911" y="5435332"/>
                <a:ext cx="944618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𝑑𝑜𝑔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10F9BA-0B28-2A16-B980-5A3EC435B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911" y="5435332"/>
                <a:ext cx="944618" cy="369332"/>
              </a:xfrm>
              <a:prstGeom prst="rect">
                <a:avLst/>
              </a:prstGeom>
              <a:blipFill>
                <a:blip r:embed="rId10"/>
                <a:stretch>
                  <a:fillRect l="-7895" t="-10345" r="-1973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DCCDCE-498D-22B9-84A7-75F457C56C60}"/>
                  </a:ext>
                </a:extLst>
              </p:cNvPr>
              <p:cNvSpPr txBox="1"/>
              <p:nvPr/>
            </p:nvSpPr>
            <p:spPr>
              <a:xfrm>
                <a:off x="10298748" y="5415690"/>
                <a:ext cx="142122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𝑚𝑜𝑛𝑘𝑒𝑦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DCCDCE-498D-22B9-84A7-75F457C56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748" y="5415690"/>
                <a:ext cx="1421223" cy="369332"/>
              </a:xfrm>
              <a:prstGeom prst="rect">
                <a:avLst/>
              </a:prstGeom>
              <a:blipFill>
                <a:blip r:embed="rId11"/>
                <a:stretch>
                  <a:fillRect l="-3509" t="-6667" r="-1052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21455910-03D9-586F-6D4A-0FF86FD62AC4}"/>
              </a:ext>
            </a:extLst>
          </p:cNvPr>
          <p:cNvSpPr/>
          <p:nvPr/>
        </p:nvSpPr>
        <p:spPr>
          <a:xfrm>
            <a:off x="10676260" y="5219168"/>
            <a:ext cx="408878" cy="16149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6790D-BAA0-EAA2-800B-228A004F717D}"/>
              </a:ext>
            </a:extLst>
          </p:cNvPr>
          <p:cNvSpPr txBox="1"/>
          <p:nvPr/>
        </p:nvSpPr>
        <p:spPr>
          <a:xfrm>
            <a:off x="11728819" y="5065291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…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61ED5A5-D614-945F-03FE-08DA9C456299}"/>
              </a:ext>
            </a:extLst>
          </p:cNvPr>
          <p:cNvCxnSpPr>
            <a:cxnSpLocks/>
          </p:cNvCxnSpPr>
          <p:nvPr/>
        </p:nvCxnSpPr>
        <p:spPr>
          <a:xfrm flipV="1">
            <a:off x="6297775" y="5376409"/>
            <a:ext cx="4881213" cy="4258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747B0C-4BAB-6503-22A8-B9A3F339A895}"/>
              </a:ext>
            </a:extLst>
          </p:cNvPr>
          <p:cNvSpPr txBox="1"/>
          <p:nvPr/>
        </p:nvSpPr>
        <p:spPr>
          <a:xfrm>
            <a:off x="2353789" y="3135080"/>
            <a:ext cx="755014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Or, generative models estimate </a:t>
            </a:r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likely x and y occur together</a:t>
            </a:r>
          </a:p>
        </p:txBody>
      </p:sp>
    </p:spTree>
    <p:extLst>
      <p:ext uri="{BB962C8B-B14F-4D97-AF65-F5344CB8AC3E}">
        <p14:creationId xmlns:p14="http://schemas.microsoft.com/office/powerpoint/2010/main" val="92304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260C-872F-64BE-E21A-98166B0AB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16B62F-E301-B8FD-8681-45F4BF84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86F6B-5913-B8F0-613F-048E618C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DDE340-F72E-04BF-CE5B-5AA48A25A9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B98956E-710E-7EEC-9485-53F01B8240CA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B98956E-710E-7EEC-9485-53F01B8240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124811-B318-33A5-26CB-DDBCE6E627ED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124811-B318-33A5-26CB-DDBCE6E627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B813449-8698-151E-1C39-0B586FD1526E}"/>
              </a:ext>
            </a:extLst>
          </p:cNvPr>
          <p:cNvGrpSpPr/>
          <p:nvPr/>
        </p:nvGrpSpPr>
        <p:grpSpPr>
          <a:xfrm>
            <a:off x="799387" y="4378715"/>
            <a:ext cx="11112174" cy="2479285"/>
            <a:chOff x="799387" y="3637264"/>
            <a:chExt cx="11112174" cy="24792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CB369AF-C453-54DB-18FE-BC573726F66F}"/>
                </a:ext>
              </a:extLst>
            </p:cNvPr>
            <p:cNvCxnSpPr/>
            <p:nvPr/>
          </p:nvCxnSpPr>
          <p:spPr>
            <a:xfrm>
              <a:off x="5115170" y="4686682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B824E5-4C2E-E5C3-CE55-727B708C9A51}"/>
                </a:ext>
              </a:extLst>
            </p:cNvPr>
            <p:cNvSpPr txBox="1"/>
            <p:nvPr/>
          </p:nvSpPr>
          <p:spPr>
            <a:xfrm>
              <a:off x="1887340" y="5747217"/>
              <a:ext cx="1011495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Label: pig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ACE4EF-4ADD-3E08-20D3-3EEE94BA167B}"/>
                </a:ext>
              </a:extLst>
            </p:cNvPr>
            <p:cNvSpPr/>
            <p:nvPr/>
          </p:nvSpPr>
          <p:spPr>
            <a:xfrm>
              <a:off x="7104964" y="3798860"/>
              <a:ext cx="408878" cy="1581808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38E11AB-1494-9D0B-1CF8-668649045776}"/>
                </a:ext>
              </a:extLst>
            </p:cNvPr>
            <p:cNvSpPr/>
            <p:nvPr/>
          </p:nvSpPr>
          <p:spPr>
            <a:xfrm>
              <a:off x="8295396" y="4899530"/>
              <a:ext cx="408878" cy="472924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3C24497-8C5C-9018-6C03-0E99660AF613}"/>
                    </a:ext>
                  </a:extLst>
                </p:cNvPr>
                <p:cNvSpPr txBox="1"/>
                <p:nvPr/>
              </p:nvSpPr>
              <p:spPr>
                <a:xfrm>
                  <a:off x="6837639" y="5443289"/>
                  <a:ext cx="943528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𝑝𝑖𝑔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3C24497-8C5C-9018-6C03-0E99660AF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7639" y="5443289"/>
                  <a:ext cx="943528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5333" t="-10345" r="-17333" b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A029625-0154-4E4D-5C3C-178EE39D1041}"/>
                    </a:ext>
                  </a:extLst>
                </p:cNvPr>
                <p:cNvSpPr txBox="1"/>
                <p:nvPr/>
              </p:nvSpPr>
              <p:spPr>
                <a:xfrm>
                  <a:off x="7966651" y="5443289"/>
                  <a:ext cx="110177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𝑑𝑢𝑐𝑘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A029625-0154-4E4D-5C3C-178EE39D1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6651" y="5443289"/>
                  <a:ext cx="110177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4545" t="-10345" r="-14773" b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" name="Picture 2" descr="images: undefined">
              <a:extLst>
                <a:ext uri="{FF2B5EF4-FFF2-40B4-BE49-F238E27FC236}">
                  <a16:creationId xmlns:a16="http://schemas.microsoft.com/office/drawing/2014/main" id="{DF96678F-8E35-58CC-CEAB-D8B99688B1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387" y="3637264"/>
              <a:ext cx="33909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D0EAC5-6BD2-A2EF-CC03-5E222D6324C0}"/>
                </a:ext>
              </a:extLst>
            </p:cNvPr>
            <p:cNvSpPr/>
            <p:nvPr/>
          </p:nvSpPr>
          <p:spPr>
            <a:xfrm>
              <a:off x="9485828" y="5040335"/>
              <a:ext cx="408878" cy="3321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DCD4DD-AFB6-1975-67D5-5BF780C2E625}"/>
                    </a:ext>
                  </a:extLst>
                </p:cNvPr>
                <p:cNvSpPr txBox="1"/>
                <p:nvPr/>
              </p:nvSpPr>
              <p:spPr>
                <a:xfrm>
                  <a:off x="9253911" y="5435332"/>
                  <a:ext cx="944618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𝑑𝑜𝑔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DCD4DD-AFB6-1975-67D5-5BF780C2E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3911" y="5435332"/>
                  <a:ext cx="944618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7895" t="-6667" r="-19737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58E6657-C5AD-CE8F-6A45-AEF345ADA6A5}"/>
                    </a:ext>
                  </a:extLst>
                </p:cNvPr>
                <p:cNvSpPr txBox="1"/>
                <p:nvPr/>
              </p:nvSpPr>
              <p:spPr>
                <a:xfrm>
                  <a:off x="10298748" y="5415690"/>
                  <a:ext cx="142122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𝑚𝑜𝑛𝑘𝑒𝑦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58E6657-C5AD-CE8F-6A45-AEF345ADA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748" y="5415690"/>
                  <a:ext cx="1421223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509" t="-6452" r="-10526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12E33D-EAB5-442A-0F04-F0E525613028}"/>
                </a:ext>
              </a:extLst>
            </p:cNvPr>
            <p:cNvSpPr/>
            <p:nvPr/>
          </p:nvSpPr>
          <p:spPr>
            <a:xfrm>
              <a:off x="10676260" y="5219168"/>
              <a:ext cx="408878" cy="1614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2589F7-0270-434D-6453-599202A02851}"/>
                </a:ext>
              </a:extLst>
            </p:cNvPr>
            <p:cNvSpPr txBox="1"/>
            <p:nvPr/>
          </p:nvSpPr>
          <p:spPr>
            <a:xfrm>
              <a:off x="11728819" y="5065291"/>
              <a:ext cx="182742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…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3CE35CA-2B1B-F172-59EB-11F32D53F5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7775" y="5376409"/>
              <a:ext cx="4881213" cy="4258"/>
            </a:xfrm>
            <a:prstGeom prst="line">
              <a:avLst/>
            </a:prstGeom>
            <a:ln w="3810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53B3E16-486F-99A8-4311-3C9AD75DD818}"/>
              </a:ext>
            </a:extLst>
          </p:cNvPr>
          <p:cNvSpPr txBox="1"/>
          <p:nvPr/>
        </p:nvSpPr>
        <p:spPr>
          <a:xfrm>
            <a:off x="2353789" y="3135080"/>
            <a:ext cx="755014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Or, generative models estimate </a:t>
            </a:r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likely x and y occur together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548D6A-8199-8B83-24BE-6E8D3C58A6B6}"/>
              </a:ext>
            </a:extLst>
          </p:cNvPr>
          <p:cNvSpPr txBox="1"/>
          <p:nvPr/>
        </p:nvSpPr>
        <p:spPr>
          <a:xfrm>
            <a:off x="1081012" y="3591138"/>
            <a:ext cx="5328382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We can build a discriminative model from this </a:t>
            </a:r>
          </a:p>
        </p:txBody>
      </p:sp>
    </p:spTree>
    <p:extLst>
      <p:ext uri="{BB962C8B-B14F-4D97-AF65-F5344CB8AC3E}">
        <p14:creationId xmlns:p14="http://schemas.microsoft.com/office/powerpoint/2010/main" val="326231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CD18-41A4-CCF1-8E81-B4CFCD71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7B9BEC-0749-49EF-EB28-22D4E54B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B27164-C94A-2683-FAB4-E413AD9C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4EA114-44C5-BE70-7920-248A58F4F7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9C32E1D-A077-B334-03CF-5D49E0D83394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9C32E1D-A077-B334-03CF-5D49E0D83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2166A1E-2167-3F22-8CD1-30FB33941910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2166A1E-2167-3F22-8CD1-30FB339419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710C8A3C-ACB1-7B1A-999D-A412B5D454B2}"/>
              </a:ext>
            </a:extLst>
          </p:cNvPr>
          <p:cNvGrpSpPr/>
          <p:nvPr/>
        </p:nvGrpSpPr>
        <p:grpSpPr>
          <a:xfrm>
            <a:off x="799387" y="4378715"/>
            <a:ext cx="11112174" cy="2479285"/>
            <a:chOff x="799387" y="3637264"/>
            <a:chExt cx="11112174" cy="24792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CAB18E5-CBB8-B736-B553-F57CBE3ED8BE}"/>
                </a:ext>
              </a:extLst>
            </p:cNvPr>
            <p:cNvCxnSpPr/>
            <p:nvPr/>
          </p:nvCxnSpPr>
          <p:spPr>
            <a:xfrm>
              <a:off x="5115170" y="4686682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8BBA4D-4C7B-31AF-1721-BFFE9873DACF}"/>
                </a:ext>
              </a:extLst>
            </p:cNvPr>
            <p:cNvSpPr txBox="1"/>
            <p:nvPr/>
          </p:nvSpPr>
          <p:spPr>
            <a:xfrm>
              <a:off x="1887340" y="5747217"/>
              <a:ext cx="1011495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Label: pig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05B219-509F-EA62-D315-F0F8AB1D8B9D}"/>
                </a:ext>
              </a:extLst>
            </p:cNvPr>
            <p:cNvSpPr/>
            <p:nvPr/>
          </p:nvSpPr>
          <p:spPr>
            <a:xfrm>
              <a:off x="7104964" y="3798860"/>
              <a:ext cx="408878" cy="1581808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856958-C4FF-BFFB-E9EE-B565E6F8C75A}"/>
                </a:ext>
              </a:extLst>
            </p:cNvPr>
            <p:cNvSpPr/>
            <p:nvPr/>
          </p:nvSpPr>
          <p:spPr>
            <a:xfrm>
              <a:off x="8295396" y="4899530"/>
              <a:ext cx="408878" cy="472924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9517F0F-EE50-E787-1BA2-AC32FD7E1672}"/>
                    </a:ext>
                  </a:extLst>
                </p:cNvPr>
                <p:cNvSpPr txBox="1"/>
                <p:nvPr/>
              </p:nvSpPr>
              <p:spPr>
                <a:xfrm>
                  <a:off x="6837639" y="5443289"/>
                  <a:ext cx="943528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𝑝𝑖𝑔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9517F0F-EE50-E787-1BA2-AC32FD7E1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7639" y="5443289"/>
                  <a:ext cx="943528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5333" t="-10345" r="-17333" b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143C322-08B9-9062-14D2-81EE05B73832}"/>
                    </a:ext>
                  </a:extLst>
                </p:cNvPr>
                <p:cNvSpPr txBox="1"/>
                <p:nvPr/>
              </p:nvSpPr>
              <p:spPr>
                <a:xfrm>
                  <a:off x="7966651" y="5443289"/>
                  <a:ext cx="110177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𝑑𝑢𝑐𝑘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143C322-08B9-9062-14D2-81EE05B73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6651" y="5443289"/>
                  <a:ext cx="110177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4545" t="-10345" r="-14773" b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" name="Picture 2" descr="images: undefined">
              <a:extLst>
                <a:ext uri="{FF2B5EF4-FFF2-40B4-BE49-F238E27FC236}">
                  <a16:creationId xmlns:a16="http://schemas.microsoft.com/office/drawing/2014/main" id="{2886E3C0-371E-39C2-943D-FF852F5974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387" y="3637264"/>
              <a:ext cx="33909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6B0702-1404-4CE3-706C-014D10DB50A3}"/>
                </a:ext>
              </a:extLst>
            </p:cNvPr>
            <p:cNvSpPr/>
            <p:nvPr/>
          </p:nvSpPr>
          <p:spPr>
            <a:xfrm>
              <a:off x="9485828" y="5040335"/>
              <a:ext cx="408878" cy="3321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F88ABDD-7393-E7D1-8052-278F2397F3EA}"/>
                    </a:ext>
                  </a:extLst>
                </p:cNvPr>
                <p:cNvSpPr txBox="1"/>
                <p:nvPr/>
              </p:nvSpPr>
              <p:spPr>
                <a:xfrm>
                  <a:off x="9253911" y="5435332"/>
                  <a:ext cx="944618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𝑑𝑜𝑔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F88ABDD-7393-E7D1-8052-278F2397F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3911" y="5435332"/>
                  <a:ext cx="944618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7895" t="-6667" r="-19737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601F2B0-C9B8-5CDA-5DEE-0238F3668405}"/>
                    </a:ext>
                  </a:extLst>
                </p:cNvPr>
                <p:cNvSpPr txBox="1"/>
                <p:nvPr/>
              </p:nvSpPr>
              <p:spPr>
                <a:xfrm>
                  <a:off x="10298748" y="5415690"/>
                  <a:ext cx="142122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𝑚𝑜𝑛𝑘𝑒𝑦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601F2B0-C9B8-5CDA-5DEE-0238F36684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748" y="5415690"/>
                  <a:ext cx="1421223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509" t="-6452" r="-10526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36CA7F6-FD5F-8B01-A576-5E8D85CF4A9D}"/>
                </a:ext>
              </a:extLst>
            </p:cNvPr>
            <p:cNvSpPr/>
            <p:nvPr/>
          </p:nvSpPr>
          <p:spPr>
            <a:xfrm>
              <a:off x="10676260" y="5219168"/>
              <a:ext cx="408878" cy="1614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D21EB8-BB73-0F25-7A81-134CE10FA428}"/>
                </a:ext>
              </a:extLst>
            </p:cNvPr>
            <p:cNvSpPr txBox="1"/>
            <p:nvPr/>
          </p:nvSpPr>
          <p:spPr>
            <a:xfrm>
              <a:off x="11728819" y="5065291"/>
              <a:ext cx="182742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…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0A1DE-3983-138F-7201-62F85F8B3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7775" y="5376409"/>
              <a:ext cx="4881213" cy="4258"/>
            </a:xfrm>
            <a:prstGeom prst="line">
              <a:avLst/>
            </a:prstGeom>
            <a:ln w="3810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27A931A-5653-5CB3-84A1-F2A173954F96}"/>
              </a:ext>
            </a:extLst>
          </p:cNvPr>
          <p:cNvSpPr txBox="1"/>
          <p:nvPr/>
        </p:nvSpPr>
        <p:spPr>
          <a:xfrm>
            <a:off x="2353789" y="3135080"/>
            <a:ext cx="755014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Or, generative models estimate </a:t>
            </a:r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likely x and y occur together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62F22C-36F2-C857-FC59-8D781050C434}"/>
              </a:ext>
            </a:extLst>
          </p:cNvPr>
          <p:cNvSpPr txBox="1"/>
          <p:nvPr/>
        </p:nvSpPr>
        <p:spPr>
          <a:xfrm>
            <a:off x="1081012" y="3591138"/>
            <a:ext cx="5328382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We can build a discriminative model from this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706201-13A0-A27F-331E-DA3E49A1E276}"/>
              </a:ext>
            </a:extLst>
          </p:cNvPr>
          <p:cNvSpPr txBox="1"/>
          <p:nvPr/>
        </p:nvSpPr>
        <p:spPr>
          <a:xfrm>
            <a:off x="7089808" y="3553951"/>
            <a:ext cx="1753685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Recap: Bayes’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061B1E-7B78-3027-0723-EFD6A5DE4F80}"/>
                  </a:ext>
                </a:extLst>
              </p:cNvPr>
              <p:cNvSpPr txBox="1"/>
              <p:nvPr/>
            </p:nvSpPr>
            <p:spPr>
              <a:xfrm>
                <a:off x="7699607" y="3764585"/>
                <a:ext cx="3108607" cy="6790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061B1E-7B78-3027-0723-EFD6A5DE4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607" y="3764585"/>
                <a:ext cx="3108607" cy="679032"/>
              </a:xfrm>
              <a:prstGeom prst="rect">
                <a:avLst/>
              </a:prstGeom>
              <a:blipFill>
                <a:blip r:embed="rId12"/>
                <a:stretch>
                  <a:fillRect l="-1626" r="-4878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066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78DE9-CE59-A526-2C27-195E001D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333869-239F-8D59-E2ED-E75924ED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BED8FA-AD42-8171-D28C-48F23B9B7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7E2698-6F49-1B21-2B69-5403590C20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26A7F5-2DED-9E7F-564D-F3EA1EE83657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26A7F5-2DED-9E7F-564D-F3EA1EE836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2E1E4-CFB8-CFEC-8C2D-33E171D45FBA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2E1E4-CFB8-CFEC-8C2D-33E171D45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5370D01-6232-01AA-CE37-ADBCEB1D595A}"/>
              </a:ext>
            </a:extLst>
          </p:cNvPr>
          <p:cNvGrpSpPr/>
          <p:nvPr/>
        </p:nvGrpSpPr>
        <p:grpSpPr>
          <a:xfrm>
            <a:off x="799387" y="4378715"/>
            <a:ext cx="11112174" cy="2479285"/>
            <a:chOff x="799387" y="3637264"/>
            <a:chExt cx="11112174" cy="24792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C4D5D24-780C-AC80-80CC-5CC36204CFB4}"/>
                </a:ext>
              </a:extLst>
            </p:cNvPr>
            <p:cNvCxnSpPr/>
            <p:nvPr/>
          </p:nvCxnSpPr>
          <p:spPr>
            <a:xfrm>
              <a:off x="5115170" y="4686682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2E2AFF-7F52-3577-E486-C1AC0577039C}"/>
                </a:ext>
              </a:extLst>
            </p:cNvPr>
            <p:cNvSpPr txBox="1"/>
            <p:nvPr/>
          </p:nvSpPr>
          <p:spPr>
            <a:xfrm>
              <a:off x="1887340" y="5747217"/>
              <a:ext cx="1011495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Label: pig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ADB6184-B886-B5E5-8A36-1DF260B18F33}"/>
                </a:ext>
              </a:extLst>
            </p:cNvPr>
            <p:cNvSpPr/>
            <p:nvPr/>
          </p:nvSpPr>
          <p:spPr>
            <a:xfrm>
              <a:off x="7104964" y="3798860"/>
              <a:ext cx="408878" cy="1581808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C47C044-0CE2-EA09-D3DC-4A84E3094E24}"/>
                </a:ext>
              </a:extLst>
            </p:cNvPr>
            <p:cNvSpPr/>
            <p:nvPr/>
          </p:nvSpPr>
          <p:spPr>
            <a:xfrm>
              <a:off x="8295396" y="4899530"/>
              <a:ext cx="408878" cy="472924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D70EF1E-D360-2288-3A2C-9D151060DF96}"/>
                    </a:ext>
                  </a:extLst>
                </p:cNvPr>
                <p:cNvSpPr txBox="1"/>
                <p:nvPr/>
              </p:nvSpPr>
              <p:spPr>
                <a:xfrm>
                  <a:off x="6837639" y="5443289"/>
                  <a:ext cx="943528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𝑝𝑖𝑔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D70EF1E-D360-2288-3A2C-9D151060DF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7639" y="5443289"/>
                  <a:ext cx="943528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5333" t="-10345" r="-17333" b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C64E332-CD62-180D-DAAC-CDDAC818E2A8}"/>
                    </a:ext>
                  </a:extLst>
                </p:cNvPr>
                <p:cNvSpPr txBox="1"/>
                <p:nvPr/>
              </p:nvSpPr>
              <p:spPr>
                <a:xfrm>
                  <a:off x="7966651" y="5443289"/>
                  <a:ext cx="110177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𝑑𝑢𝑐𝑘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C64E332-CD62-180D-DAAC-CDDAC818E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6651" y="5443289"/>
                  <a:ext cx="110177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4545" t="-10345" r="-14773" b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" name="Picture 2" descr="images: undefined">
              <a:extLst>
                <a:ext uri="{FF2B5EF4-FFF2-40B4-BE49-F238E27FC236}">
                  <a16:creationId xmlns:a16="http://schemas.microsoft.com/office/drawing/2014/main" id="{BE793FD9-BC33-80CB-EBDC-B9E64BE5D5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387" y="3637264"/>
              <a:ext cx="33909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247883-AE79-4FC9-84C9-313012AF4AAD}"/>
                </a:ext>
              </a:extLst>
            </p:cNvPr>
            <p:cNvSpPr/>
            <p:nvPr/>
          </p:nvSpPr>
          <p:spPr>
            <a:xfrm>
              <a:off x="9485828" y="5040335"/>
              <a:ext cx="408878" cy="3321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C36A961-26E2-73D4-13C8-69F254AACC45}"/>
                    </a:ext>
                  </a:extLst>
                </p:cNvPr>
                <p:cNvSpPr txBox="1"/>
                <p:nvPr/>
              </p:nvSpPr>
              <p:spPr>
                <a:xfrm>
                  <a:off x="9253911" y="5435332"/>
                  <a:ext cx="944618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𝑑𝑜𝑔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C36A961-26E2-73D4-13C8-69F254AAC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3911" y="5435332"/>
                  <a:ext cx="944618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7895" t="-6667" r="-19737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6A55A11-BA26-1517-83BC-B03F61E05448}"/>
                    </a:ext>
                  </a:extLst>
                </p:cNvPr>
                <p:cNvSpPr txBox="1"/>
                <p:nvPr/>
              </p:nvSpPr>
              <p:spPr>
                <a:xfrm>
                  <a:off x="10298748" y="5415690"/>
                  <a:ext cx="142122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𝑚𝑜𝑛𝑘𝑒𝑦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6A55A11-BA26-1517-83BC-B03F61E054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748" y="5415690"/>
                  <a:ext cx="1421223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509" t="-6452" r="-10526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CE95AB-5C19-1697-CA37-48DD4430AC10}"/>
                </a:ext>
              </a:extLst>
            </p:cNvPr>
            <p:cNvSpPr/>
            <p:nvPr/>
          </p:nvSpPr>
          <p:spPr>
            <a:xfrm>
              <a:off x="10676260" y="5219168"/>
              <a:ext cx="408878" cy="1614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84BAD8-0A6F-6333-C996-5F17565FFFF5}"/>
                </a:ext>
              </a:extLst>
            </p:cNvPr>
            <p:cNvSpPr txBox="1"/>
            <p:nvPr/>
          </p:nvSpPr>
          <p:spPr>
            <a:xfrm>
              <a:off x="11728819" y="5065291"/>
              <a:ext cx="182742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…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BD31D9-ED43-92CB-2C18-18E8133D96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7775" y="5376409"/>
              <a:ext cx="4881213" cy="4258"/>
            </a:xfrm>
            <a:prstGeom prst="line">
              <a:avLst/>
            </a:prstGeom>
            <a:ln w="3810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02400BB-5ECD-51ED-CCE6-3354FAE96F44}"/>
              </a:ext>
            </a:extLst>
          </p:cNvPr>
          <p:cNvSpPr txBox="1"/>
          <p:nvPr/>
        </p:nvSpPr>
        <p:spPr>
          <a:xfrm>
            <a:off x="2353789" y="3135080"/>
            <a:ext cx="755014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Or, generative models estimate </a:t>
            </a:r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likely x and y occur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FFE78C-F0FF-BA3E-C186-773DA5772ACA}"/>
                  </a:ext>
                </a:extLst>
              </p:cNvPr>
              <p:cNvSpPr txBox="1"/>
              <p:nvPr/>
            </p:nvSpPr>
            <p:spPr>
              <a:xfrm>
                <a:off x="6621135" y="3523536"/>
                <a:ext cx="2117246" cy="6765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𝑝𝑖𝑔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𝑝𝑖𝑔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FFE78C-F0FF-BA3E-C186-773DA5772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135" y="3523536"/>
                <a:ext cx="2117246" cy="676532"/>
              </a:xfrm>
              <a:prstGeom prst="rect">
                <a:avLst/>
              </a:prstGeom>
              <a:blipFill>
                <a:blip r:embed="rId12"/>
                <a:stretch>
                  <a:fillRect l="-2395" r="-778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5990ECC-D1A2-E5D0-3183-757CE057DBA8}"/>
              </a:ext>
            </a:extLst>
          </p:cNvPr>
          <p:cNvSpPr txBox="1"/>
          <p:nvPr/>
        </p:nvSpPr>
        <p:spPr>
          <a:xfrm>
            <a:off x="1081012" y="3591138"/>
            <a:ext cx="5328382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We can build a discriminative model from this </a:t>
            </a:r>
          </a:p>
        </p:txBody>
      </p:sp>
    </p:spTree>
    <p:extLst>
      <p:ext uri="{BB962C8B-B14F-4D97-AF65-F5344CB8AC3E}">
        <p14:creationId xmlns:p14="http://schemas.microsoft.com/office/powerpoint/2010/main" val="407017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4147E-D4A0-14D9-14C1-161F65E50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7EF007-B893-0AF1-C814-99E5924A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vs. Generative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488C68-F739-44AF-D49E-73821A74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C4B8D5-5F04-C076-D264-74EDC5BD9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4A556F2-B6BA-0F87-2D2C-2D12D23BD24A}"/>
                  </a:ext>
                </a:extLst>
              </p:cNvPr>
              <p:cNvSpPr/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4A556F2-B6BA-0F87-2D2C-2D12D23BD2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73" y="1684098"/>
                <a:ext cx="3286683" cy="101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D850D38-14E0-9D28-7BC6-14FF24E9E066}"/>
                  </a:ext>
                </a:extLst>
              </p:cNvPr>
              <p:cNvSpPr/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noFill/>
              <a:ln w="635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Generative Model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or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𝑦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D850D38-14E0-9D28-7BC6-14FF24E9E0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394" y="1684098"/>
                <a:ext cx="3286683" cy="10110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B6FB669-34B9-AC80-7012-967CDB3092A0}"/>
              </a:ext>
            </a:extLst>
          </p:cNvPr>
          <p:cNvGrpSpPr/>
          <p:nvPr/>
        </p:nvGrpSpPr>
        <p:grpSpPr>
          <a:xfrm>
            <a:off x="799387" y="4378715"/>
            <a:ext cx="11112174" cy="2479285"/>
            <a:chOff x="799387" y="3637264"/>
            <a:chExt cx="11112174" cy="24792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5AACF47-BAA1-00AA-D449-CC5991D6BB74}"/>
                </a:ext>
              </a:extLst>
            </p:cNvPr>
            <p:cNvCxnSpPr/>
            <p:nvPr/>
          </p:nvCxnSpPr>
          <p:spPr>
            <a:xfrm>
              <a:off x="5115170" y="4686682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B95B765-D4A6-84D6-4E1C-2EEFE1DB6D2D}"/>
                </a:ext>
              </a:extLst>
            </p:cNvPr>
            <p:cNvSpPr txBox="1"/>
            <p:nvPr/>
          </p:nvSpPr>
          <p:spPr>
            <a:xfrm>
              <a:off x="1887340" y="5747217"/>
              <a:ext cx="1011495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Label: pig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94414E-41D5-1053-D900-F845A60946A5}"/>
                </a:ext>
              </a:extLst>
            </p:cNvPr>
            <p:cNvSpPr/>
            <p:nvPr/>
          </p:nvSpPr>
          <p:spPr>
            <a:xfrm>
              <a:off x="7104964" y="3798860"/>
              <a:ext cx="408878" cy="1581808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1CBDD0B-94B0-B92E-A3B4-CC6448973A4E}"/>
                </a:ext>
              </a:extLst>
            </p:cNvPr>
            <p:cNvSpPr/>
            <p:nvPr/>
          </p:nvSpPr>
          <p:spPr>
            <a:xfrm>
              <a:off x="8295396" y="4899530"/>
              <a:ext cx="408878" cy="472924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A5F8D6E-7ADC-B7E0-BDA0-C2CD65E2D26E}"/>
                    </a:ext>
                  </a:extLst>
                </p:cNvPr>
                <p:cNvSpPr txBox="1"/>
                <p:nvPr/>
              </p:nvSpPr>
              <p:spPr>
                <a:xfrm>
                  <a:off x="6837639" y="5443289"/>
                  <a:ext cx="943528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𝑝𝑖𝑔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A5F8D6E-7ADC-B7E0-BDA0-C2CD65E2D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7639" y="5443289"/>
                  <a:ext cx="943528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5333" t="-10345" r="-17333" b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AFFB143-5615-50BD-B414-9048325C294F}"/>
                    </a:ext>
                  </a:extLst>
                </p:cNvPr>
                <p:cNvSpPr txBox="1"/>
                <p:nvPr/>
              </p:nvSpPr>
              <p:spPr>
                <a:xfrm>
                  <a:off x="7966651" y="5443289"/>
                  <a:ext cx="110177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𝑑𝑢𝑐𝑘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AFFB143-5615-50BD-B414-9048325C2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6651" y="5443289"/>
                  <a:ext cx="110177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4545" t="-10345" r="-14773" b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" name="Picture 2" descr="images: undefined">
              <a:extLst>
                <a:ext uri="{FF2B5EF4-FFF2-40B4-BE49-F238E27FC236}">
                  <a16:creationId xmlns:a16="http://schemas.microsoft.com/office/drawing/2014/main" id="{9BB4A920-329F-2A2E-5CB4-4EBFC2CD56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387" y="3637264"/>
              <a:ext cx="33909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9714D2-66F7-0344-89E0-EF642546972B}"/>
                </a:ext>
              </a:extLst>
            </p:cNvPr>
            <p:cNvSpPr/>
            <p:nvPr/>
          </p:nvSpPr>
          <p:spPr>
            <a:xfrm>
              <a:off x="9485828" y="5040335"/>
              <a:ext cx="408878" cy="3321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6B19092-41EB-B1B5-121E-75C5D8EFF0F6}"/>
                    </a:ext>
                  </a:extLst>
                </p:cNvPr>
                <p:cNvSpPr txBox="1"/>
                <p:nvPr/>
              </p:nvSpPr>
              <p:spPr>
                <a:xfrm>
                  <a:off x="9253911" y="5435332"/>
                  <a:ext cx="944618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𝑑𝑜𝑔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6B19092-41EB-B1B5-121E-75C5D8EFF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3911" y="5435332"/>
                  <a:ext cx="944618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7895" t="-6667" r="-19737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F2F2BE-BCC9-B919-E983-82426DC9CB19}"/>
                    </a:ext>
                  </a:extLst>
                </p:cNvPr>
                <p:cNvSpPr txBox="1"/>
                <p:nvPr/>
              </p:nvSpPr>
              <p:spPr>
                <a:xfrm>
                  <a:off x="10298748" y="5415690"/>
                  <a:ext cx="142122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𝑚𝑜𝑛𝑘𝑒𝑦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F2F2BE-BCC9-B919-E983-82426DC9C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748" y="5415690"/>
                  <a:ext cx="1421223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509" t="-6452" r="-10526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87031A-4E73-D535-2ABF-C5F3074A16BE}"/>
                </a:ext>
              </a:extLst>
            </p:cNvPr>
            <p:cNvSpPr/>
            <p:nvPr/>
          </p:nvSpPr>
          <p:spPr>
            <a:xfrm>
              <a:off x="10676260" y="5219168"/>
              <a:ext cx="408878" cy="1614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8479C2-809C-3EC3-C36F-8D711C9096BF}"/>
                </a:ext>
              </a:extLst>
            </p:cNvPr>
            <p:cNvSpPr txBox="1"/>
            <p:nvPr/>
          </p:nvSpPr>
          <p:spPr>
            <a:xfrm>
              <a:off x="11728819" y="5065291"/>
              <a:ext cx="182742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…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3A6594F-A255-30F5-BC33-D8707F9A9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7775" y="5376409"/>
              <a:ext cx="4881213" cy="4258"/>
            </a:xfrm>
            <a:prstGeom prst="line">
              <a:avLst/>
            </a:prstGeom>
            <a:ln w="3810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62594D0-0014-FDBA-3702-2ED118E11C6D}"/>
              </a:ext>
            </a:extLst>
          </p:cNvPr>
          <p:cNvSpPr txBox="1"/>
          <p:nvPr/>
        </p:nvSpPr>
        <p:spPr>
          <a:xfrm>
            <a:off x="2353789" y="3135080"/>
            <a:ext cx="755014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Or, generative models estimate </a:t>
            </a:r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likely x and y occur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62D99-26F3-E56E-32DB-78CF19FC7C6F}"/>
                  </a:ext>
                </a:extLst>
              </p:cNvPr>
              <p:cNvSpPr txBox="1"/>
              <p:nvPr/>
            </p:nvSpPr>
            <p:spPr>
              <a:xfrm>
                <a:off x="6621135" y="3523536"/>
                <a:ext cx="2117246" cy="6765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𝑝𝑖𝑔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𝑝𝑖𝑔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62D99-26F3-E56E-32DB-78CF19FC7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135" y="3523536"/>
                <a:ext cx="2117246" cy="676532"/>
              </a:xfrm>
              <a:prstGeom prst="rect">
                <a:avLst/>
              </a:prstGeom>
              <a:blipFill>
                <a:blip r:embed="rId12"/>
                <a:stretch>
                  <a:fillRect l="-2395" r="-778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5224AE9-867B-60E7-2B99-BE6C77661359}"/>
              </a:ext>
            </a:extLst>
          </p:cNvPr>
          <p:cNvSpPr txBox="1"/>
          <p:nvPr/>
        </p:nvSpPr>
        <p:spPr>
          <a:xfrm>
            <a:off x="1081012" y="3591138"/>
            <a:ext cx="5328382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We can build a discriminative model from this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5AD584-1049-6B21-88BB-CEBAA109CFA3}"/>
                  </a:ext>
                </a:extLst>
              </p:cNvPr>
              <p:cNvSpPr txBox="1"/>
              <p:nvPr/>
            </p:nvSpPr>
            <p:spPr>
              <a:xfrm>
                <a:off x="8892113" y="3523536"/>
                <a:ext cx="2433743" cy="6765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𝑑𝑢𝑐𝑘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𝑑𝑢𝑐𝑘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5AD584-1049-6B21-88BB-CEBAA109C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113" y="3523536"/>
                <a:ext cx="2433743" cy="676532"/>
              </a:xfrm>
              <a:prstGeom prst="rect">
                <a:avLst/>
              </a:prstGeom>
              <a:blipFill>
                <a:blip r:embed="rId13"/>
                <a:stretch>
                  <a:fillRect l="-2083" r="-677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89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F9A3-36C6-DB05-A7B6-16D519B09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Generative Models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8541F-1B1C-8F9E-A30E-9DFDDA6F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53194-B333-7F12-EB39-E651BA0F1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Modeling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0AE106-2A07-9A75-33C8-73211077353B}"/>
              </a:ext>
            </a:extLst>
          </p:cNvPr>
          <p:cNvSpPr txBox="1"/>
          <p:nvPr/>
        </p:nvSpPr>
        <p:spPr>
          <a:xfrm>
            <a:off x="609600" y="3429000"/>
            <a:ext cx="25840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Generative Models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3C29E16-3F34-31CB-C5BD-E2F4C11A35F1}"/>
              </a:ext>
            </a:extLst>
          </p:cNvPr>
          <p:cNvCxnSpPr/>
          <p:nvPr/>
        </p:nvCxnSpPr>
        <p:spPr>
          <a:xfrm>
            <a:off x="3397405" y="3635298"/>
            <a:ext cx="676507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66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F9B0-BE4F-5045-E486-877D7506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F50C-C6DA-97F6-C6A2-0F215DD4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Generative Models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3697B-98C8-A513-8C8C-8EA57A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103B13-002A-05F4-EB09-91226A57DB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Modeling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6A841B-09ED-0661-7C18-2CAAD4D7E907}"/>
              </a:ext>
            </a:extLst>
          </p:cNvPr>
          <p:cNvSpPr txBox="1"/>
          <p:nvPr/>
        </p:nvSpPr>
        <p:spPr>
          <a:xfrm>
            <a:off x="609600" y="3429000"/>
            <a:ext cx="25840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Generative Models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8B96235-F62C-C8C4-BB77-3B34463C51AD}"/>
              </a:ext>
            </a:extLst>
          </p:cNvPr>
          <p:cNvCxnSpPr/>
          <p:nvPr/>
        </p:nvCxnSpPr>
        <p:spPr>
          <a:xfrm>
            <a:off x="3397405" y="3635298"/>
            <a:ext cx="676507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A45127-FCCE-B9FA-A25E-19969EDABC55}"/>
              </a:ext>
            </a:extLst>
          </p:cNvPr>
          <p:cNvSpPr txBox="1"/>
          <p:nvPr/>
        </p:nvSpPr>
        <p:spPr>
          <a:xfrm>
            <a:off x="4415481" y="2792118"/>
            <a:ext cx="467115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Explicitness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: define an </a:t>
            </a:r>
            <a:r>
              <a:rPr lang="en-US" b="1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explicit form of p(x)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65363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D7E73-0A88-0204-0FCF-B3B8B19B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60156-0D9B-49C4-01E4-543930C62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Generative Models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B3656-B7BD-F1DF-4F2C-64E077A4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0C086F-2377-A769-0BD0-8D559DB590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Modeling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F63E01-0C80-8B00-8220-78E9645623F1}"/>
              </a:ext>
            </a:extLst>
          </p:cNvPr>
          <p:cNvSpPr txBox="1"/>
          <p:nvPr/>
        </p:nvSpPr>
        <p:spPr>
          <a:xfrm>
            <a:off x="609600" y="3429000"/>
            <a:ext cx="25840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Generative Models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1CE66A8-BC6B-ECB8-B578-AA052C57D476}"/>
              </a:ext>
            </a:extLst>
          </p:cNvPr>
          <p:cNvCxnSpPr/>
          <p:nvPr/>
        </p:nvCxnSpPr>
        <p:spPr>
          <a:xfrm>
            <a:off x="3397405" y="3635298"/>
            <a:ext cx="676507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9005F5-1647-1293-8A8D-8762FAF4330C}"/>
              </a:ext>
            </a:extLst>
          </p:cNvPr>
          <p:cNvSpPr txBox="1"/>
          <p:nvPr/>
        </p:nvSpPr>
        <p:spPr>
          <a:xfrm>
            <a:off x="4415481" y="2792118"/>
            <a:ext cx="467115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Explicitness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: define an </a:t>
            </a:r>
            <a:r>
              <a:rPr lang="en-US" b="1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explicit form of p(x)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C43595-5CCD-59FF-17A0-B629C8CBF44B}"/>
              </a:ext>
            </a:extLst>
          </p:cNvPr>
          <p:cNvSpPr txBox="1"/>
          <p:nvPr/>
        </p:nvSpPr>
        <p:spPr>
          <a:xfrm>
            <a:off x="4415481" y="4282282"/>
            <a:ext cx="607858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Tractability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: can </a:t>
            </a:r>
            <a:r>
              <a:rPr lang="en-US" b="1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p(x) be computed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exactly and efficiently?</a:t>
            </a:r>
          </a:p>
        </p:txBody>
      </p:sp>
    </p:spTree>
    <p:extLst>
      <p:ext uri="{BB962C8B-B14F-4D97-AF65-F5344CB8AC3E}">
        <p14:creationId xmlns:p14="http://schemas.microsoft.com/office/powerpoint/2010/main" val="188896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F9A3-36C6-DB05-A7B6-16D519B09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Generative Models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8541F-1B1C-8F9E-A30E-9DFDDA6F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53194-B333-7F12-EB39-E651BA0F1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Modeling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69B36-200F-6860-F7A5-A26398C46B91}"/>
              </a:ext>
            </a:extLst>
          </p:cNvPr>
          <p:cNvSpPr/>
          <p:nvPr/>
        </p:nvSpPr>
        <p:spPr>
          <a:xfrm>
            <a:off x="4630682" y="2008342"/>
            <a:ext cx="2222810" cy="6891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Explicit Tractable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44C27-7FC0-8CCE-86B2-BE017BBCE1FA}"/>
              </a:ext>
            </a:extLst>
          </p:cNvPr>
          <p:cNvSpPr txBox="1"/>
          <p:nvPr/>
        </p:nvSpPr>
        <p:spPr>
          <a:xfrm>
            <a:off x="7028268" y="2024435"/>
            <a:ext cx="2204130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Autoregressive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Normalizing Flows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0AE106-2A07-9A75-33C8-73211077353B}"/>
              </a:ext>
            </a:extLst>
          </p:cNvPr>
          <p:cNvSpPr txBox="1"/>
          <p:nvPr/>
        </p:nvSpPr>
        <p:spPr>
          <a:xfrm>
            <a:off x="609600" y="3429000"/>
            <a:ext cx="25840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Generative Models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3C29E16-3F34-31CB-C5BD-E2F4C11A35F1}"/>
              </a:ext>
            </a:extLst>
          </p:cNvPr>
          <p:cNvCxnSpPr/>
          <p:nvPr/>
        </p:nvCxnSpPr>
        <p:spPr>
          <a:xfrm>
            <a:off x="3397405" y="3635298"/>
            <a:ext cx="676507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0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9CB9-D32F-F50A-FD2A-C9FB844CB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B1DC-10B8-2C80-E478-97A7FADB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Generative Models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6052A-815D-CC5A-1FBF-1D773091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B0A25-DE0A-6932-D782-1084B193BB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Modeling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F53227-99A4-0970-59C7-FECDFC50DD91}"/>
              </a:ext>
            </a:extLst>
          </p:cNvPr>
          <p:cNvSpPr/>
          <p:nvPr/>
        </p:nvSpPr>
        <p:spPr>
          <a:xfrm>
            <a:off x="4630682" y="2008342"/>
            <a:ext cx="2222810" cy="6891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Explicit Tractable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42F1F0-747F-396F-5F2B-9F040250D139}"/>
              </a:ext>
            </a:extLst>
          </p:cNvPr>
          <p:cNvSpPr/>
          <p:nvPr/>
        </p:nvSpPr>
        <p:spPr>
          <a:xfrm>
            <a:off x="4630682" y="3255857"/>
            <a:ext cx="2222810" cy="6891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Explicit Intractable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9A8E9D-0B08-CB33-E71C-55329AECFAB3}"/>
              </a:ext>
            </a:extLst>
          </p:cNvPr>
          <p:cNvSpPr txBox="1"/>
          <p:nvPr/>
        </p:nvSpPr>
        <p:spPr>
          <a:xfrm>
            <a:off x="7028268" y="2024435"/>
            <a:ext cx="2204130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Autoregressive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Normalizing Flows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2F53DF-8EBC-C86F-B1F0-F7E3EB6A8BC6}"/>
              </a:ext>
            </a:extLst>
          </p:cNvPr>
          <p:cNvSpPr txBox="1"/>
          <p:nvPr/>
        </p:nvSpPr>
        <p:spPr>
          <a:xfrm>
            <a:off x="7028268" y="3138744"/>
            <a:ext cx="3683701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Variational Autoencoders (VAE)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Diffusion Models*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Score-Based Generative Models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5A309-93E6-D86A-98C2-A6554DAC13E3}"/>
              </a:ext>
            </a:extLst>
          </p:cNvPr>
          <p:cNvSpPr txBox="1"/>
          <p:nvPr/>
        </p:nvSpPr>
        <p:spPr>
          <a:xfrm>
            <a:off x="609600" y="3429000"/>
            <a:ext cx="25840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Generative Models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0E1FC28-D8CE-AB73-E5EE-A9AFDB5C2DB7}"/>
              </a:ext>
            </a:extLst>
          </p:cNvPr>
          <p:cNvCxnSpPr/>
          <p:nvPr/>
        </p:nvCxnSpPr>
        <p:spPr>
          <a:xfrm>
            <a:off x="3397405" y="3635298"/>
            <a:ext cx="676507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44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FAF2-5BCB-DEE0-0972-F33347591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DACD-E880-0130-5C7C-61503222D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Generative Models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84F89-903D-7630-00AA-82A13AE8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4D195-099A-F9E9-E8BF-1E5A9B8E92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Modeling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85E3B2-0832-9036-7EA7-F44BBCE5C05A}"/>
              </a:ext>
            </a:extLst>
          </p:cNvPr>
          <p:cNvSpPr/>
          <p:nvPr/>
        </p:nvSpPr>
        <p:spPr>
          <a:xfrm>
            <a:off x="4630682" y="2008342"/>
            <a:ext cx="2222810" cy="6891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Explicit Tractable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9ED73B-4337-A23C-00C9-D48AAA24459B}"/>
              </a:ext>
            </a:extLst>
          </p:cNvPr>
          <p:cNvSpPr/>
          <p:nvPr/>
        </p:nvSpPr>
        <p:spPr>
          <a:xfrm>
            <a:off x="4630682" y="3255857"/>
            <a:ext cx="2222810" cy="6891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Explicit Intractable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11DA1C-C73E-23DE-CC2F-86083D106629}"/>
              </a:ext>
            </a:extLst>
          </p:cNvPr>
          <p:cNvSpPr/>
          <p:nvPr/>
        </p:nvSpPr>
        <p:spPr>
          <a:xfrm>
            <a:off x="4630682" y="4486683"/>
            <a:ext cx="2222810" cy="6891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Implicit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162615-0341-CEA2-3B80-6C617015E634}"/>
              </a:ext>
            </a:extLst>
          </p:cNvPr>
          <p:cNvSpPr txBox="1"/>
          <p:nvPr/>
        </p:nvSpPr>
        <p:spPr>
          <a:xfrm>
            <a:off x="7028268" y="2024435"/>
            <a:ext cx="2204130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Autoregressive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Normalizing Flows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F39447-C32C-4C32-8879-83F8BB62CECD}"/>
              </a:ext>
            </a:extLst>
          </p:cNvPr>
          <p:cNvSpPr txBox="1"/>
          <p:nvPr/>
        </p:nvSpPr>
        <p:spPr>
          <a:xfrm>
            <a:off x="7028268" y="3138744"/>
            <a:ext cx="3683701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Variational Autoencoders (VAE)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Diffusion Models*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Score-Based Generative Models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6160D6-296E-D94B-43A3-E3990D977B42}"/>
              </a:ext>
            </a:extLst>
          </p:cNvPr>
          <p:cNvSpPr txBox="1"/>
          <p:nvPr/>
        </p:nvSpPr>
        <p:spPr>
          <a:xfrm>
            <a:off x="7028268" y="4651947"/>
            <a:ext cx="45541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Generative Adversarial Networks (GANs)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87DFBA-D47C-4D2A-36BE-B6CEDE376238}"/>
              </a:ext>
            </a:extLst>
          </p:cNvPr>
          <p:cNvSpPr txBox="1"/>
          <p:nvPr/>
        </p:nvSpPr>
        <p:spPr>
          <a:xfrm>
            <a:off x="609600" y="3429000"/>
            <a:ext cx="25840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Generative Models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3BC7F1C-4CC2-352F-5512-4201D0F1856E}"/>
              </a:ext>
            </a:extLst>
          </p:cNvPr>
          <p:cNvCxnSpPr/>
          <p:nvPr/>
        </p:nvCxnSpPr>
        <p:spPr>
          <a:xfrm>
            <a:off x="3397405" y="3635298"/>
            <a:ext cx="676507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3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146F-47D8-66C0-7ABC-D579BE44D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5"/>
            <a:ext cx="7823200" cy="757130"/>
          </a:xfrm>
        </p:spPr>
        <p:txBody>
          <a:bodyPr/>
          <a:lstStyle/>
          <a:p>
            <a:r>
              <a:rPr lang="en-US" dirty="0"/>
              <a:t>Autoregressive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DD069-002D-25AE-B76B-22CD8E150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95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59019-F4CA-C572-BFD1-F064B5EE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549E-847B-1567-3DCB-49F1AF81D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DB8E3-470E-CD17-2649-8D0632B836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397306"/>
              </a:xfrm>
            </p:spPr>
            <p:txBody>
              <a:bodyPr/>
              <a:lstStyle/>
              <a:p>
                <a:r>
                  <a:rPr lang="en-US" dirty="0"/>
                  <a:t>Our objective: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DB8E3-470E-CD17-2649-8D0632B836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397306"/>
              </a:xfrm>
              <a:blipFill>
                <a:blip r:embed="rId5"/>
                <a:stretch>
                  <a:fillRect l="-1734" t="-5405" b="-9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55B99-86F1-76A0-44BF-2A56B72B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11739-73E5-9213-8C91-C2345A011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</p:spTree>
    <p:extLst>
      <p:ext uri="{BB962C8B-B14F-4D97-AF65-F5344CB8AC3E}">
        <p14:creationId xmlns:p14="http://schemas.microsoft.com/office/powerpoint/2010/main" val="112828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5BD7-2472-E6E3-8D52-6E4E9E47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2B21D-64E6-379C-8945-343DBB817C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883593"/>
              </a:xfrm>
            </p:spPr>
            <p:txBody>
              <a:bodyPr/>
              <a:lstStyle/>
              <a:p>
                <a:r>
                  <a:rPr lang="en-US" dirty="0"/>
                  <a:t>Our objective: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Given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train the model by solving:</a:t>
                </a:r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2B21D-64E6-379C-8945-343DBB817C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883593"/>
              </a:xfrm>
              <a:blipFill>
                <a:blip r:embed="rId5"/>
                <a:stretch>
                  <a:fillRect l="-1734" t="-4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620E-102F-946E-781C-E167C1F10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F8D97-6A8D-D34C-860E-F3633CCA5E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</p:spTree>
    <p:extLst>
      <p:ext uri="{BB962C8B-B14F-4D97-AF65-F5344CB8AC3E}">
        <p14:creationId xmlns:p14="http://schemas.microsoft.com/office/powerpoint/2010/main" val="19011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2706-451E-EF05-9783-01AE55B04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506D-5507-B036-0093-1B855C3D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6AB99-6D7D-36FF-EDF2-C787A07AC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789581"/>
              </a:xfrm>
            </p:spPr>
            <p:txBody>
              <a:bodyPr/>
              <a:lstStyle/>
              <a:p>
                <a:r>
                  <a:rPr lang="en-US" dirty="0"/>
                  <a:t>Our objective: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Given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train the model by solving:</a:t>
                </a:r>
              </a:p>
              <a:p>
                <a:pPr marL="0" indent="0">
                  <a:buNone/>
                  <a:tabLst>
                    <a:tab pos="555148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      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e>
                              </m:nary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US" b="0" i="1" dirty="0">
                    <a:solidFill>
                      <a:schemeClr val="bg2"/>
                    </a:solidFill>
                    <a:latin typeface="Cambria Math" panose="02040503050406030204" pitchFamily="18" charset="0"/>
                  </a:rPr>
                </a:br>
                <a:r>
                  <a:rPr lang="en-US" b="0" i="1" dirty="0">
                    <a:solidFill>
                      <a:schemeClr val="bg2"/>
                    </a:solidFill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2B21D-64E6-379C-8945-343DBB817C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789581"/>
              </a:xfrm>
              <a:blipFill>
                <a:blip r:embed="rId5"/>
                <a:stretch>
                  <a:fillRect l="-1734" t="-8179" b="-10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B1445-6E52-2372-13BC-1EE989E9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A0FD36-FD9E-7F58-A260-154F05444A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</p:spTree>
    <p:extLst>
      <p:ext uri="{BB962C8B-B14F-4D97-AF65-F5344CB8AC3E}">
        <p14:creationId xmlns:p14="http://schemas.microsoft.com/office/powerpoint/2010/main" val="222417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CC7E-247C-5657-4C03-400CA925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81E9-6354-98C3-9E9C-6C297D78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33880-2456-964F-2CD5-ABB86B4B16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789581"/>
              </a:xfrm>
            </p:spPr>
            <p:txBody>
              <a:bodyPr/>
              <a:lstStyle/>
              <a:p>
                <a:r>
                  <a:rPr lang="en-US" dirty="0"/>
                  <a:t>Our objective: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Given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train the model by solving:</a:t>
                </a:r>
              </a:p>
              <a:p>
                <a:pPr marL="0" indent="0">
                  <a:buNone/>
                  <a:tabLst>
                    <a:tab pos="555148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e>
                              </m:nary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US" b="0" i="1" dirty="0">
                    <a:solidFill>
                      <a:schemeClr val="bg2"/>
                    </a:solidFill>
                    <a:latin typeface="Cambria Math" panose="02040503050406030204" pitchFamily="18" charset="0"/>
                  </a:rPr>
                </a:br>
                <a:r>
                  <a:rPr lang="en-US" b="0" i="1" dirty="0">
                    <a:solidFill>
                      <a:schemeClr val="bg2"/>
                    </a:solidFill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>
                  <a:solidFill>
                    <a:schemeClr val="bg2"/>
                  </a:solidFill>
                </a:endParaRPr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33880-2456-964F-2CD5-ABB86B4B16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789581"/>
              </a:xfrm>
              <a:blipFill>
                <a:blip r:embed="rId5"/>
                <a:stretch>
                  <a:fillRect l="-1734" t="-8179" b="-10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35363-BE3C-22EC-0F67-1E01A61B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ADF279-C10E-566D-2532-CC5D136606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</p:spTree>
    <p:extLst>
      <p:ext uri="{BB962C8B-B14F-4D97-AF65-F5344CB8AC3E}">
        <p14:creationId xmlns:p14="http://schemas.microsoft.com/office/powerpoint/2010/main" val="39579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084E-8B92-E1D2-44FB-57E586E3C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D9D0-38E9-F0C5-1537-DFB02ED3D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B9904-F977-BE3A-AA76-35CA22EE3E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789581"/>
              </a:xfrm>
            </p:spPr>
            <p:txBody>
              <a:bodyPr/>
              <a:lstStyle/>
              <a:p>
                <a:r>
                  <a:rPr lang="en-US" dirty="0"/>
                  <a:t>Our objective: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Given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train the model by solving:</a:t>
                </a:r>
              </a:p>
              <a:p>
                <a:pPr marL="0" indent="0">
                  <a:buNone/>
                  <a:tabLst>
                    <a:tab pos="555148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r>
                  <a:rPr lang="en-US" b="0" i="1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2B21D-64E6-379C-8945-343DBB817C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789581"/>
              </a:xfrm>
              <a:blipFill>
                <a:blip r:embed="rId5"/>
                <a:stretch>
                  <a:fillRect l="-1734" t="-8179" b="-10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B8562-2472-36E8-5F33-7B9801C8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44B7F-D68B-38D6-CD3A-E3DE569723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</p:spTree>
    <p:extLst>
      <p:ext uri="{BB962C8B-B14F-4D97-AF65-F5344CB8AC3E}">
        <p14:creationId xmlns:p14="http://schemas.microsoft.com/office/powerpoint/2010/main" val="348740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73805-CB26-2046-76C6-F4D762A03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A1EE-9597-C2B6-C5EF-FD2BAE70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8231A0-C2D6-C7E4-66AE-B2F8E9745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397306"/>
              </a:xfrm>
            </p:spPr>
            <p:txBody>
              <a:bodyPr/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sequence: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8231A0-C2D6-C7E4-66AE-B2F8E9745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397306"/>
              </a:xfrm>
              <a:blipFill>
                <a:blip r:embed="rId5"/>
                <a:stretch>
                  <a:fillRect l="-1734" t="-5405" b="-9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3CFDA-01AE-877B-365F-BA96C54E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7E0C8-1D03-9501-4831-DCCF59D9C7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</p:spTree>
    <p:extLst>
      <p:ext uri="{BB962C8B-B14F-4D97-AF65-F5344CB8AC3E}">
        <p14:creationId xmlns:p14="http://schemas.microsoft.com/office/powerpoint/2010/main" val="285215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580D3-DBE3-B210-9235-5E6FED980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1249E-3E91-4844-8ECB-1E28A150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9D032-D013-B6F5-D5C5-9A718AB25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545586"/>
              </a:xfrm>
            </p:spPr>
            <p:txBody>
              <a:bodyPr/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sequence: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9D032-D013-B6F5-D5C5-9A718AB25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545586"/>
              </a:xfrm>
              <a:blipFill>
                <a:blip r:embed="rId5"/>
                <a:stretch>
                  <a:fillRect l="-1734" t="-2135" b="-2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C74A3-CC1B-2EF2-3AD1-17B74355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03B02-CB99-69D0-A3F7-AF24C59C1B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</p:spTree>
    <p:extLst>
      <p:ext uri="{BB962C8B-B14F-4D97-AF65-F5344CB8AC3E}">
        <p14:creationId xmlns:p14="http://schemas.microsoft.com/office/powerpoint/2010/main" val="2480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552F5-C9FA-768E-AF03-8EAC5A69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9280-496A-0803-4E75-DFC577A27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5131A-DDFC-BD74-A766-16D290B91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545586"/>
              </a:xfrm>
            </p:spPr>
            <p:txBody>
              <a:bodyPr/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sequence: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5131A-DDFC-BD74-A766-16D290B91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545586"/>
              </a:xfrm>
              <a:blipFill>
                <a:blip r:embed="rId5"/>
                <a:stretch>
                  <a:fillRect l="-1734" t="-2135" b="-2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C6B80-92AA-E69D-B5E1-AE5D073C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44B66-D651-E171-3846-498EC00C78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</p:spTree>
    <p:extLst>
      <p:ext uri="{BB962C8B-B14F-4D97-AF65-F5344CB8AC3E}">
        <p14:creationId xmlns:p14="http://schemas.microsoft.com/office/powerpoint/2010/main" val="151650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90DDD-0E35-1949-0476-4A9FFB4C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7080-5959-D565-5360-3E8EFD0E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83A5B7-1985-62CC-F451-0B9CE71980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147802"/>
              </a:xfrm>
            </p:spPr>
            <p:txBody>
              <a:bodyPr/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sequence: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8231A0-C2D6-C7E4-66AE-B2F8E9745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147802"/>
              </a:xfrm>
              <a:blipFill>
                <a:blip r:embed="rId5"/>
                <a:stretch>
                  <a:fillRect l="-1734" t="-1829" b="-23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83245-8092-B839-5F5D-99E01620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3BF35F-58D0-42CC-9750-3B19C27C35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</p:spTree>
    <p:extLst>
      <p:ext uri="{BB962C8B-B14F-4D97-AF65-F5344CB8AC3E}">
        <p14:creationId xmlns:p14="http://schemas.microsoft.com/office/powerpoint/2010/main" val="281901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BAEE-4CFE-34CD-E8B7-7BA3F309B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5DAE-C28E-8037-DDD8-90A6E8BC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CADD8-32A1-B748-4BD1-760F215D3A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2768643"/>
              </a:xfrm>
            </p:spPr>
            <p:txBody>
              <a:bodyPr/>
              <a:lstStyle/>
              <a:p>
                <a:r>
                  <a:rPr lang="en-US" dirty="0"/>
                  <a:t>Image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/>
                  <a:t> pixels </a:t>
                </a:r>
              </a:p>
              <a:p>
                <a:r>
                  <a:rPr lang="en-US" b="1" dirty="0">
                    <a:solidFill>
                      <a:schemeClr val="bg2"/>
                    </a:solidFill>
                  </a:rPr>
                  <a:t>Make them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sequence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br>
                  <a:rPr lang="en-US" b="0" dirty="0">
                    <a:solidFill>
                      <a:schemeClr val="bg2"/>
                    </a:solidFill>
                  </a:rPr>
                </a:br>
                <a:endParaRPr lang="en-US" dirty="0">
                  <a:solidFill>
                    <a:schemeClr val="bg2"/>
                  </a:solidFill>
                </a:endParaRPr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CADD8-32A1-B748-4BD1-760F215D3A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2768643"/>
              </a:xfrm>
              <a:blipFill>
                <a:blip r:embed="rId5"/>
                <a:stretch>
                  <a:fillRect l="-3121" t="-2740" b="-4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7FD7D-E513-8BF1-48C5-D57CB74F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0D318-ACD1-8BF0-69C7-5141C2BEC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5432D-A428-2D53-A86C-7BE733864EAF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86B88-133D-16F9-771C-DF21EBE5059D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ED4AA6-7344-BC37-3DBC-64F402E75C58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</p:spTree>
    <p:extLst>
      <p:ext uri="{BB962C8B-B14F-4D97-AF65-F5344CB8AC3E}">
        <p14:creationId xmlns:p14="http://schemas.microsoft.com/office/powerpoint/2010/main" val="77251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BEA75-33D3-77F9-3555-4C7921AE8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91908-D16B-D0F8-BF36-C9D51E63E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2768643"/>
              </a:xfrm>
            </p:spPr>
            <p:txBody>
              <a:bodyPr/>
              <a:lstStyle/>
              <a:p>
                <a:r>
                  <a:rPr lang="en-US" dirty="0"/>
                  <a:t>Image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/>
                  <a:t> pixels </a:t>
                </a:r>
              </a:p>
              <a:p>
                <a:r>
                  <a:rPr lang="en-US" b="1" dirty="0"/>
                  <a:t>Make them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sequence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br>
                  <a:rPr lang="en-US" b="0" dirty="0">
                    <a:solidFill>
                      <a:schemeClr val="bg2"/>
                    </a:solidFill>
                  </a:rPr>
                </a:br>
                <a:endParaRPr lang="en-US" dirty="0">
                  <a:solidFill>
                    <a:schemeClr val="bg2"/>
                  </a:solidFill>
                </a:endParaRPr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91908-D16B-D0F8-BF36-C9D51E63E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2768643"/>
              </a:xfrm>
              <a:blipFill>
                <a:blip r:embed="rId5"/>
                <a:stretch>
                  <a:fillRect l="-3121" t="-2740" b="-4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3423A-2C16-C33B-6EF9-FF498328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184B7-6D2C-9B69-DC15-9EDBEB4CC8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7BC8D-AFC6-29D6-94DF-1171B9191C2C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102C5-A17E-798F-03CD-84DD0574852D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8B240F6-A120-59EB-1044-4B21B1B1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6505C8-2724-D91C-303A-F8C691D018C1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</p:spTree>
    <p:extLst>
      <p:ext uri="{BB962C8B-B14F-4D97-AF65-F5344CB8AC3E}">
        <p14:creationId xmlns:p14="http://schemas.microsoft.com/office/powerpoint/2010/main" val="361051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E33AA-3D74-2067-E5AE-0925BE08D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F162-7C48-30DF-82AE-B814C545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A3C61-A4E1-F39A-581C-28EEF70E8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019947"/>
              </a:xfrm>
            </p:spPr>
            <p:txBody>
              <a:bodyPr/>
              <a:lstStyle/>
              <a:p>
                <a:r>
                  <a:rPr lang="en-US" dirty="0"/>
                  <a:t>Image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/>
                  <a:t> pixels </a:t>
                </a:r>
              </a:p>
              <a:p>
                <a:r>
                  <a:rPr lang="en-US" b="1" dirty="0"/>
                  <a:t>Make them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sequence</a:t>
                </a:r>
              </a:p>
              <a:p>
                <a:r>
                  <a:rPr lang="en-US" dirty="0"/>
                  <a:t>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br>
                  <a:rPr lang="en-US" b="0" dirty="0">
                    <a:solidFill>
                      <a:schemeClr val="bg2"/>
                    </a:solidFill>
                  </a:rPr>
                </a:br>
                <a:endParaRPr lang="en-US" dirty="0">
                  <a:solidFill>
                    <a:schemeClr val="bg2"/>
                  </a:solidFill>
                </a:endParaRPr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A3C61-A4E1-F39A-581C-28EEF70E8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019947"/>
              </a:xfrm>
              <a:blipFill>
                <a:blip r:embed="rId5"/>
                <a:stretch>
                  <a:fillRect l="-1734" t="-1887" b="-24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A7A4B-326F-44BB-E6AB-D5F70D80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D7558-81E7-D6DE-9944-984A67BED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335D0-F861-BA1C-5A53-240F3E7BDF74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E5141-BDC4-0C66-F59E-0DC40EA6125D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79444F-B941-F08C-92AE-F2888F2DC60E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5457E-BFC0-D2CC-2140-64016E3C041A}"/>
              </a:ext>
            </a:extLst>
          </p:cNvPr>
          <p:cNvSpPr txBox="1"/>
          <p:nvPr/>
        </p:nvSpPr>
        <p:spPr>
          <a:xfrm>
            <a:off x="13211503" y="648488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841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CEC3F-130F-C6B1-9D7E-AD2A5359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8C7D-30DE-D841-753F-11E5A905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8D708E-3A53-8571-8A7E-04CC8E28F9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019947"/>
              </a:xfrm>
            </p:spPr>
            <p:txBody>
              <a:bodyPr/>
              <a:lstStyle/>
              <a:p>
                <a:r>
                  <a:rPr lang="en-US" dirty="0"/>
                  <a:t>Image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/>
                  <a:t> pixels </a:t>
                </a:r>
              </a:p>
              <a:p>
                <a:r>
                  <a:rPr lang="en-US" b="1" dirty="0"/>
                  <a:t>Make them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sequence</a:t>
                </a:r>
              </a:p>
              <a:p>
                <a:r>
                  <a:rPr lang="en-US" dirty="0"/>
                  <a:t>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5551488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53570-158E-C5DD-BA20-7231BD4B6F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019947"/>
              </a:xfrm>
              <a:blipFill>
                <a:blip r:embed="rId5"/>
                <a:stretch>
                  <a:fillRect l="-1734" t="-1887" b="-24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735E6-8221-170F-3225-EC02D304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8F226C-6B0C-9099-AF13-078584D65B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DC5B7-A1A2-A843-8AC9-8913DC50919F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51696-B0B0-8E3D-608A-8C4D0538E260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8CADE8-5295-7FFE-8BC5-0A013B290BD1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</p:spTree>
    <p:extLst>
      <p:ext uri="{BB962C8B-B14F-4D97-AF65-F5344CB8AC3E}">
        <p14:creationId xmlns:p14="http://schemas.microsoft.com/office/powerpoint/2010/main" val="106985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3E6DE-B814-9593-2D19-1DD37193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DA359-B271-3AD4-E88E-CE05FAF8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FAA26-F88E-11EA-5DEA-E463E53D1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F4A0C-D2A6-3EDD-2DF6-E9927693E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50334-9F4A-3339-9B41-0FFA129AC666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B69DB-A4FE-D086-6DC8-7D5EA8355B96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9BF6AB2-5043-F3D6-5202-F3DCA66B76C5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483F576-A31B-9509-6FF4-8CA8492D8027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758F9D4-14AA-3068-A903-5E8B0B95BD61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39A52A9-978F-8E17-2C46-F8D9CA0216C9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B1E5E13-5011-055F-5DBF-ECA810876FEB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559ACAD-0765-5729-320A-7716E0929715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F75BB73-AC39-3382-956E-475A448E5079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4E90D95-CF7C-64CF-8D66-6223D346B4F2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FFBC81E-7380-C44A-5E52-836101E33A5C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898ED1B-358E-6E8D-B589-21D53402C814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C211518-F12B-942C-0D8F-A6EBA8DDBD75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2ECFE94-5F34-5389-B599-86DC645E8BC7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F635195-A917-534C-2FFC-34ED0FBB313B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B7E3277-3856-C0F3-5922-9ED3909588A2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8648F68-ED41-A047-497E-02F13DB6F434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0975F4A-C7C5-9B59-CC41-AE29CB6B356A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E8DC1FC-3161-FC7A-0C16-6D3F70452D16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886C178-8581-1E2C-C078-18F66E687314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A19E348-9C6B-B0C2-1E6C-E8F74C86A66B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42B4484-29EC-02E1-E667-509A9319A239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57EA272-023C-96F7-1799-47C89EDD787C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1F4365F-9E08-B996-95D5-20758B073721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0A88D9-85CC-AF53-319B-7328BDCB5986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92938F3-DDFC-1578-670C-CE945AF96D96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81D687D-3DCA-B48F-5980-004683D52CCE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EB78C81-F34B-CC30-0BE3-B61A95682FCC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2F2AA6A-74B3-A2BD-64FF-A1CC4A6F31DB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1FB0497-932B-06C1-4283-1D820C443E8A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3645E9-42B0-4C62-69E9-5C9B9D129584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9DDD4F-B887-6C6C-D016-3073374011A0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7EA914C-C91F-D321-60FB-615E4E83EF8D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E3E412D-E472-93AC-2113-4B8AF8CE108F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0175AA4-CF6F-338F-9D07-421396E8A4AF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DF88392-F397-458E-362F-BF86DDA55190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D250CFB-9830-CE01-4FF7-7DEEEAC0F1B8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2557DBC-979D-D432-5D89-A227C8D0FA79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5F0FE1C-FF1A-AAC1-F02A-E0326EE07674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A3E2831-80C0-5183-9EF8-82B2884DEBE8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D9B47FF-537E-6E98-125D-4F49664ED30E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DEB33FC-7C4C-38BF-B656-E18E4068FED5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96F911E-C267-4297-D7C4-522A558D523A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A057E84A-3368-F33D-A156-7016350A5279}"/>
              </a:ext>
            </a:extLst>
          </p:cNvPr>
          <p:cNvSpPr/>
          <p:nvPr/>
        </p:nvSpPr>
        <p:spPr>
          <a:xfrm>
            <a:off x="6194613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16CD094-0418-0D16-C2BC-8510304629B1}"/>
              </a:ext>
            </a:extLst>
          </p:cNvPr>
          <p:cNvSpPr/>
          <p:nvPr/>
        </p:nvSpPr>
        <p:spPr>
          <a:xfrm>
            <a:off x="6551189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83ACB6C-BF0E-178B-0D11-BB6405E0052D}"/>
              </a:ext>
            </a:extLst>
          </p:cNvPr>
          <p:cNvSpPr/>
          <p:nvPr/>
        </p:nvSpPr>
        <p:spPr>
          <a:xfrm>
            <a:off x="6907766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4F719-DF48-0C05-BA9D-54C4BF996D56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E54FF0-DC9C-8AFC-6725-21E131C33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88" y="2026024"/>
            <a:ext cx="3191289" cy="31844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042EE-CF92-3E01-60EC-DD8AEF0F6A4A}"/>
              </a:ext>
            </a:extLst>
          </p:cNvPr>
          <p:cNvSpPr txBox="1"/>
          <p:nvPr/>
        </p:nvSpPr>
        <p:spPr>
          <a:xfrm>
            <a:off x="2488049" y="5235704"/>
            <a:ext cx="8351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130118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827D5-B998-3968-3FA6-D4B6A1BF9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FD155-4E76-90DC-E031-73C3ACB4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02539-228F-8B0C-0287-B4B3D16EE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8CFB7-449A-0774-B15D-22D115692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CD6996-EACC-592A-3CE6-2FA01A0F4689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F4EDE-7AAC-704E-C486-88420494F873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479AFC0-610C-BE2A-FA68-A04F702D015C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D6FB5EC-A595-2602-3788-FF521C2703EF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067DD7-68BE-858B-D40A-B1B687185274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7797476-9A61-7B82-7383-DC378A6C6278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BF77F24-B537-9AB6-5E34-1E755CB7C87C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F5CB740-49A3-5E2F-DDBE-C4F0FC534B2E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356CC5-3C11-5213-B913-D9FE396F9F47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86F49D3-A8F9-380E-3227-F7AC3A4F86D5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47DDE19-4CE7-2123-D7D9-F2A9AFA89F16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4717F63-4FFE-8F62-6003-7CA23D8AAC60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6373767-8170-7038-820B-B101411923DE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56A4675-D3C7-1ECB-2CFE-E1AF17B37DAA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B20FA21-C3BE-836F-5F40-B1774DC9313D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E76D34E-4D3B-94AB-DFD8-BC4D93013889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F92A1D7-D26C-E283-E770-C97B8B3E1223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B03A999-6D6B-0037-357B-7A73F909C151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D09DEDA-1EF7-EC2F-698C-79E6FFAE5E97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44970B0-6B57-73E0-D8F4-A4AC879CE90C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A12E232-F5BD-8904-B87D-D3DE55AA1858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9D2612A-8C23-2A04-3C93-71721CA690AC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A1488BC-88FB-4F2B-4077-D6DC894829AC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A94A2B7-E3FE-AB71-8E87-E5403ED6765B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49F2BF3-738B-8797-C205-0A62300F335B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AC57301-B32D-1D67-8FCC-85B91A61CE3D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E5D2C0A-87C3-0470-1F8B-FFE25694AD34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08AB854-090A-1008-B21D-0AADDB1685F2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259DC1D-FEA7-C1CC-3DDE-80604F1BB54A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1CE3978-2A8C-4F50-9552-C59742236D90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CBB9557-EE6F-D3C3-5329-19FFDC90ACFD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98C8A86-149E-B1B2-8DA9-72D4D6F7FE0C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6357883-FAD0-1F17-D849-27C640D455CD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A0E3597-0913-902D-775D-ADA35DC90A13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E6FC971-FB9E-E019-E269-8EEC308A0B12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A7AD60E-E6F3-2816-DA6C-7BC9BB947111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F6D4348-E4D5-65D3-E43E-48AA8BC7D2DF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2D20158-72AA-2739-3A39-6325272131CB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DCA6ECA-59F7-E691-689B-E2B98C27C918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FA32939-0C51-194D-C266-D0F144CD2A15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59F649C-3B2F-86D3-79A3-519D6A5F86E2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E9D1979-D144-10EE-8CBD-601EC94BC99D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9F42CC6-FDCB-3156-89CA-2CE305E7D800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56C0A99E-C025-9655-4122-0909953DD9A0}"/>
              </a:ext>
            </a:extLst>
          </p:cNvPr>
          <p:cNvSpPr/>
          <p:nvPr/>
        </p:nvSpPr>
        <p:spPr>
          <a:xfrm>
            <a:off x="6194613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3515FDC-6E7F-365F-EE1F-A92959B5695B}"/>
              </a:ext>
            </a:extLst>
          </p:cNvPr>
          <p:cNvSpPr/>
          <p:nvPr/>
        </p:nvSpPr>
        <p:spPr>
          <a:xfrm>
            <a:off x="6551189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1667A91-B2A4-7123-640C-BF2F97B24A29}"/>
              </a:ext>
            </a:extLst>
          </p:cNvPr>
          <p:cNvSpPr/>
          <p:nvPr/>
        </p:nvSpPr>
        <p:spPr>
          <a:xfrm>
            <a:off x="6907766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7269B-0575-DF38-17C6-320984AFE675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4B46EE-EC15-5041-2966-C09047E91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88" y="2026024"/>
            <a:ext cx="3191289" cy="31844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DE5D73-EE15-9442-5E3A-9F9EFDC74C6B}"/>
              </a:ext>
            </a:extLst>
          </p:cNvPr>
          <p:cNvSpPr txBox="1"/>
          <p:nvPr/>
        </p:nvSpPr>
        <p:spPr>
          <a:xfrm>
            <a:off x="2488049" y="5235704"/>
            <a:ext cx="8351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Context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CA25BB-5178-15A7-313B-606ED6FB5453}"/>
              </a:ext>
            </a:extLst>
          </p:cNvPr>
          <p:cNvSpPr/>
          <p:nvPr/>
        </p:nvSpPr>
        <p:spPr>
          <a:xfrm>
            <a:off x="7260917" y="3466024"/>
            <a:ext cx="360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30C69B0-8EC8-8633-B16C-475061553707}"/>
              </a:ext>
            </a:extLst>
          </p:cNvPr>
          <p:cNvCxnSpPr>
            <a:cxnSpLocks/>
          </p:cNvCxnSpPr>
          <p:nvPr/>
        </p:nvCxnSpPr>
        <p:spPr>
          <a:xfrm>
            <a:off x="6170369" y="1995824"/>
            <a:ext cx="0" cy="1862172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5A2E4CE-5981-A74C-E5F8-AFB6760B095F}"/>
              </a:ext>
            </a:extLst>
          </p:cNvPr>
          <p:cNvCxnSpPr>
            <a:cxnSpLocks/>
          </p:cNvCxnSpPr>
          <p:nvPr/>
        </p:nvCxnSpPr>
        <p:spPr>
          <a:xfrm>
            <a:off x="6149975" y="1998999"/>
            <a:ext cx="3305175" cy="0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E09D3FF-F0F9-F5B6-6526-A0A94D03B6E0}"/>
              </a:ext>
            </a:extLst>
          </p:cNvPr>
          <p:cNvCxnSpPr>
            <a:cxnSpLocks/>
          </p:cNvCxnSpPr>
          <p:nvPr/>
        </p:nvCxnSpPr>
        <p:spPr>
          <a:xfrm>
            <a:off x="6159003" y="3843407"/>
            <a:ext cx="1101914" cy="0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E6DCD72-D2BF-C0FB-D5CC-AFCD02CA6243}"/>
              </a:ext>
            </a:extLst>
          </p:cNvPr>
          <p:cNvCxnSpPr>
            <a:cxnSpLocks/>
          </p:cNvCxnSpPr>
          <p:nvPr/>
        </p:nvCxnSpPr>
        <p:spPr>
          <a:xfrm>
            <a:off x="9432925" y="1995824"/>
            <a:ext cx="0" cy="1496676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42EC6F9-7BE7-8278-9EE2-43114782CD9B}"/>
              </a:ext>
            </a:extLst>
          </p:cNvPr>
          <p:cNvCxnSpPr>
            <a:cxnSpLocks/>
          </p:cNvCxnSpPr>
          <p:nvPr/>
        </p:nvCxnSpPr>
        <p:spPr>
          <a:xfrm>
            <a:off x="7229475" y="3486150"/>
            <a:ext cx="2212975" cy="0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AD35DA0-D12E-1AE9-D77F-BE687FB7E225}"/>
              </a:ext>
            </a:extLst>
          </p:cNvPr>
          <p:cNvCxnSpPr>
            <a:cxnSpLocks/>
          </p:cNvCxnSpPr>
          <p:nvPr/>
        </p:nvCxnSpPr>
        <p:spPr>
          <a:xfrm>
            <a:off x="7245042" y="3492500"/>
            <a:ext cx="0" cy="365496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7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2740E-7A25-E587-23C9-10AC3C04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7161-D2EE-DC56-D546-945F8469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C74E5-DFC7-2E95-5F0F-DF487BF7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546FE-E7D4-2E32-F3A3-9E3FF1CEBB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FB26C-3957-FD26-FCF2-CC9BB9AC017B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4B797-B720-A8A7-C806-32A6916C5B36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0613C98-FA00-2FEA-353F-8C65B2D7DADB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A01D7D6-9507-7D3B-6D4C-1B24568D9394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470BF21-CF0C-8183-AD58-6EA636B52E81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14A9859-6353-65A0-BC24-AB8DFC625DF4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6A6525B-64EE-4D91-FE74-0ED0D93301B6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BE08DF7-AB89-E9B9-8637-4690CD963116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6354284-5A77-04FD-D2CF-6A301C0F9BEA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292A1CD-2C52-A998-18D9-CABDF8A2930B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A7663A7-E760-2BB5-8C38-F67EC23082FE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520622A-AF3A-2E26-D45D-8DFF48701C55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A154F0B-4633-4A26-BCA5-3D1EE38E680C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5AA15DF-766A-62B7-70FF-DE3F3B3CAEFE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8F9E4C1-31B9-7B86-6970-1A4790F07143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78E4936-F201-AC8C-924F-C46F8E23155C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E228747-01BB-15F7-17C7-3F266A188E54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8AD54CC-DA20-7667-D689-59495DDB9E38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BF9D421-6E3D-AED4-745B-EDB36961BBCA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28FAD01-36FA-3DB6-752D-7E6E0C14E003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0D9EEF0-DD61-20FC-61A0-0C0FE0EA22E5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D771A3A-1A3A-EA34-F08E-F47BB638527D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80660DB-3433-A3C2-570F-502500935B76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38C8BAD-939F-1DFF-C9EA-48496A73BBB2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C13E340-BDC4-C784-3C26-37A519462230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DBAA651-0E41-B731-F47D-C092AAFA49E0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77365DD-C4D0-45B2-00EF-06691AF73C45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846068D-66FE-8B3E-5281-CCD9BBAF6427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DE017B7-F542-8BCB-6AFC-D2CDB1174D6D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0E07BD6-F9B9-3B85-09B8-2FC8F15BB837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5D57212-5F45-BF83-7A92-5625F726AF04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D09F136-C7F3-16A7-978C-CE8355015CC3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607ED17-ABE6-4D0D-71F1-E01946D35FC8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DE9B66A-F0F5-1740-0AEA-5BB2FA6C1211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C497CB5-7AFF-C592-74D0-1D6ED95B31F0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027F421-24F5-E6C0-DC23-6672F82D7749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F8C20E5-88CD-9907-7B91-44CB29449E9C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BEB6FB3-E6EA-52D0-C832-D0EFF45D8FC6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0DF9F59-1AB8-E393-6DCE-1F694E4C7BD7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A0CCD27-844C-F9C9-3A2F-83E97E2E7E24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92B58F5-6B8D-8A18-89E0-02D06D96F115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2045390-F8C6-0EEB-BDC8-4A0AF8DF0530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53F9D2E-1839-39F9-FACF-9B03CE8CBB72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C50CF6F3-98E0-D5AA-41A3-E4E517BAE1A3}"/>
              </a:ext>
            </a:extLst>
          </p:cNvPr>
          <p:cNvSpPr/>
          <p:nvPr/>
        </p:nvSpPr>
        <p:spPr>
          <a:xfrm>
            <a:off x="6194613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AC70458-0E6F-610C-189A-7E7F5B9CF8B9}"/>
              </a:ext>
            </a:extLst>
          </p:cNvPr>
          <p:cNvSpPr/>
          <p:nvPr/>
        </p:nvSpPr>
        <p:spPr>
          <a:xfrm>
            <a:off x="6551189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8509E8-1DF3-8FFD-0710-E57C4263350B}"/>
              </a:ext>
            </a:extLst>
          </p:cNvPr>
          <p:cNvSpPr/>
          <p:nvPr/>
        </p:nvSpPr>
        <p:spPr>
          <a:xfrm>
            <a:off x="6907766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D72A2-7298-5063-1D99-5683B20ECA2D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163102-B82A-4C8E-13BD-D45A4BB8F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88" y="2026024"/>
            <a:ext cx="3191289" cy="31844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CD0C58-1142-F05A-7E35-1D30457A5AD7}"/>
              </a:ext>
            </a:extLst>
          </p:cNvPr>
          <p:cNvSpPr txBox="1"/>
          <p:nvPr/>
        </p:nvSpPr>
        <p:spPr>
          <a:xfrm>
            <a:off x="2488049" y="5235704"/>
            <a:ext cx="8351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Context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BE318B-1DF4-1497-ACEC-48BCBCA67726}"/>
              </a:ext>
            </a:extLst>
          </p:cNvPr>
          <p:cNvSpPr/>
          <p:nvPr/>
        </p:nvSpPr>
        <p:spPr>
          <a:xfrm>
            <a:off x="7623894" y="3466024"/>
            <a:ext cx="360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C2BB95F-7B4F-B4CE-18AF-2E7B53094B69}"/>
              </a:ext>
            </a:extLst>
          </p:cNvPr>
          <p:cNvCxnSpPr>
            <a:cxnSpLocks/>
          </p:cNvCxnSpPr>
          <p:nvPr/>
        </p:nvCxnSpPr>
        <p:spPr>
          <a:xfrm>
            <a:off x="6170369" y="1995824"/>
            <a:ext cx="0" cy="1862172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6E9F79-C5DE-D44C-4219-6D1B54C4BC72}"/>
              </a:ext>
            </a:extLst>
          </p:cNvPr>
          <p:cNvCxnSpPr>
            <a:cxnSpLocks/>
          </p:cNvCxnSpPr>
          <p:nvPr/>
        </p:nvCxnSpPr>
        <p:spPr>
          <a:xfrm>
            <a:off x="6149975" y="1998999"/>
            <a:ext cx="3305175" cy="0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365DF0A-8689-7D88-953C-659279CCA7FA}"/>
              </a:ext>
            </a:extLst>
          </p:cNvPr>
          <p:cNvCxnSpPr>
            <a:cxnSpLocks/>
          </p:cNvCxnSpPr>
          <p:nvPr/>
        </p:nvCxnSpPr>
        <p:spPr>
          <a:xfrm>
            <a:off x="6159003" y="3843407"/>
            <a:ext cx="1495922" cy="0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E3F601E-7F32-8D94-0BA7-F1414972A5EE}"/>
              </a:ext>
            </a:extLst>
          </p:cNvPr>
          <p:cNvCxnSpPr>
            <a:cxnSpLocks/>
          </p:cNvCxnSpPr>
          <p:nvPr/>
        </p:nvCxnSpPr>
        <p:spPr>
          <a:xfrm>
            <a:off x="9432925" y="1995824"/>
            <a:ext cx="0" cy="1496676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41CA4F7-C6AF-FE2F-9CB2-4D01878C44F4}"/>
              </a:ext>
            </a:extLst>
          </p:cNvPr>
          <p:cNvCxnSpPr>
            <a:cxnSpLocks/>
          </p:cNvCxnSpPr>
          <p:nvPr/>
        </p:nvCxnSpPr>
        <p:spPr>
          <a:xfrm>
            <a:off x="7619433" y="3486150"/>
            <a:ext cx="1823017" cy="0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24C13A5-43BA-9533-C3A4-A766784C2F7A}"/>
              </a:ext>
            </a:extLst>
          </p:cNvPr>
          <p:cNvSpPr/>
          <p:nvPr/>
        </p:nvSpPr>
        <p:spPr>
          <a:xfrm>
            <a:off x="7264342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DC40109-8F43-E001-FA8D-4C5B9B7346FC}"/>
              </a:ext>
            </a:extLst>
          </p:cNvPr>
          <p:cNvCxnSpPr>
            <a:cxnSpLocks/>
          </p:cNvCxnSpPr>
          <p:nvPr/>
        </p:nvCxnSpPr>
        <p:spPr>
          <a:xfrm>
            <a:off x="7631825" y="3477911"/>
            <a:ext cx="0" cy="365496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83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E0CAA-EB6A-D335-0A11-444AA115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34FA-9C09-691A-0887-21669B5C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E138A-CE6E-7397-4881-FF7D59E1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004EA-14F8-3C45-8559-3528EB206E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FE58F-E1D5-336D-28A8-33DA4C64879C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945C0-2BE5-AD9D-8A08-68FD43D3CA95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529E6B9-F255-9F94-F01E-37F3AF16D915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15EAA55-CD02-8B11-4BCF-64632E4FCDDF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C5E1F61-C16F-45A5-53C2-05CC08AF94D8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3F736E-1006-26CC-07D7-7EF023829D1C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B43525F-B12D-0B12-C5F6-B2FCC1286273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8C45A69-90A4-1B0B-43B3-64160B860ACB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7B5B6F1-4764-B5B3-29C3-ABE6AE71A296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E2341AC-7AED-4EDB-650B-38957FB7578C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C9D9829-7BDB-6360-E85E-FE93E1A232D5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556DAB4-DA55-ECF3-EA48-53237756307D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4D12505-23CF-D8B9-2D63-DFDE34EA03E5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3E84A13-A427-EA30-40B1-2610FEC74C03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7253768-724C-CE76-DBD0-E2206E4C5445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E493D49-FD37-EBD5-8C0E-0209B0A5A4A2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161FE5-8EC6-735D-BF39-A2F0195057F7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9AA472B-260B-7262-E1FE-34C83340808C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D186ABD-A87A-5C8D-EBB8-AFB4F66D05FF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D01A9FD-62C0-060B-C9B9-34C0116ADA2C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55351F6-0492-10F6-6AE1-0C206651F7D6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8531B56-F01B-855D-C812-6BD20189A93D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8349318-504A-8706-83E5-B6DE51D0C5B3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5CED62E-02C2-7476-2CE2-8D2AB0BF4FAD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A2100D3-6737-624B-E472-745EAB333D55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A921AD6-7656-63D7-DFD1-7D2720600A4B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22189AA-8316-6A94-1EC0-7B528E066A81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1C660BB-0663-7693-4B59-245B434CDABC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6968EDC-6CC2-5B5F-1AED-E67C13594BDD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E582887-4BDE-4FB7-10B3-F4940D8D28CA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D72AEB0-9D7A-B69C-EEDA-0F788CBD0DA3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0B23541-3E29-DE35-01E7-45F0A4683062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EC45285-8177-4260-50C7-0A955D893093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473D209-91A1-24B6-26E7-637A86D50A8A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9043F48-0CFD-B939-8A04-469804339C04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17BB2D5-2E8C-78E5-53E7-EE5F4CF0D114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838A2B9-06D2-22F9-C786-D702A6C937BB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21291E0-52AE-864F-ACC8-260D12DBCA1A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8A6F03B-CB89-1712-CAD8-C2F41F01AD8C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B52E525-A863-6CF6-CF10-896622C1602C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8147783-B831-136A-01E1-A97BC83CD969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4477B10-8A05-406D-F1B8-6E515496A621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498449F-6DEF-368B-88F6-D319317E1A50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16B5A034-3048-1ABF-9185-0E471D036DD3}"/>
              </a:ext>
            </a:extLst>
          </p:cNvPr>
          <p:cNvSpPr/>
          <p:nvPr/>
        </p:nvSpPr>
        <p:spPr>
          <a:xfrm>
            <a:off x="6194613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1662421-F93B-08CC-E463-C31F27CA86DA}"/>
              </a:ext>
            </a:extLst>
          </p:cNvPr>
          <p:cNvSpPr/>
          <p:nvPr/>
        </p:nvSpPr>
        <p:spPr>
          <a:xfrm>
            <a:off x="6551189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3A769EA-1764-FEB8-0939-52BBB560C679}"/>
              </a:ext>
            </a:extLst>
          </p:cNvPr>
          <p:cNvSpPr/>
          <p:nvPr/>
        </p:nvSpPr>
        <p:spPr>
          <a:xfrm>
            <a:off x="6907766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BCC24-F92F-214D-E40E-985918304C50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127C2A-D1F7-2374-02BE-521F0F93A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88" y="2026024"/>
            <a:ext cx="3191289" cy="31844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40AF68-53BF-C0D6-2FCF-A119F6044702}"/>
              </a:ext>
            </a:extLst>
          </p:cNvPr>
          <p:cNvSpPr txBox="1"/>
          <p:nvPr/>
        </p:nvSpPr>
        <p:spPr>
          <a:xfrm>
            <a:off x="2488049" y="5235704"/>
            <a:ext cx="8351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Context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AF97AB-D4E9-569F-E951-689A0C692D0D}"/>
              </a:ext>
            </a:extLst>
          </p:cNvPr>
          <p:cNvSpPr/>
          <p:nvPr/>
        </p:nvSpPr>
        <p:spPr>
          <a:xfrm>
            <a:off x="7982407" y="3466024"/>
            <a:ext cx="360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4E6E1AA-122C-12FE-A145-346B0670E3D5}"/>
              </a:ext>
            </a:extLst>
          </p:cNvPr>
          <p:cNvCxnSpPr>
            <a:cxnSpLocks/>
          </p:cNvCxnSpPr>
          <p:nvPr/>
        </p:nvCxnSpPr>
        <p:spPr>
          <a:xfrm>
            <a:off x="6170369" y="1995824"/>
            <a:ext cx="0" cy="1862172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2CBAF53-A801-99C9-0FCB-EB4E40BDA5D5}"/>
              </a:ext>
            </a:extLst>
          </p:cNvPr>
          <p:cNvCxnSpPr>
            <a:cxnSpLocks/>
          </p:cNvCxnSpPr>
          <p:nvPr/>
        </p:nvCxnSpPr>
        <p:spPr>
          <a:xfrm>
            <a:off x="6149975" y="1998999"/>
            <a:ext cx="3305175" cy="0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40600F4-80B0-8BDB-3B7B-EED939EA5CBA}"/>
              </a:ext>
            </a:extLst>
          </p:cNvPr>
          <p:cNvCxnSpPr>
            <a:cxnSpLocks/>
          </p:cNvCxnSpPr>
          <p:nvPr/>
        </p:nvCxnSpPr>
        <p:spPr>
          <a:xfrm>
            <a:off x="9432925" y="1995824"/>
            <a:ext cx="0" cy="1496676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8CA334E-AE65-3299-1D1B-17DC597E3F58}"/>
              </a:ext>
            </a:extLst>
          </p:cNvPr>
          <p:cNvCxnSpPr>
            <a:cxnSpLocks/>
          </p:cNvCxnSpPr>
          <p:nvPr/>
        </p:nvCxnSpPr>
        <p:spPr>
          <a:xfrm flipV="1">
            <a:off x="7977496" y="3486150"/>
            <a:ext cx="1464954" cy="3175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0F3D920-A8D5-5CFF-F5C9-7697855AF6C6}"/>
              </a:ext>
            </a:extLst>
          </p:cNvPr>
          <p:cNvSpPr/>
          <p:nvPr/>
        </p:nvSpPr>
        <p:spPr>
          <a:xfrm>
            <a:off x="7265481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0C0BC9-DDD2-65CB-AE14-DDA7D02537E8}"/>
              </a:ext>
            </a:extLst>
          </p:cNvPr>
          <p:cNvSpPr/>
          <p:nvPr/>
        </p:nvSpPr>
        <p:spPr>
          <a:xfrm>
            <a:off x="7621664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B82EAFC-B0CB-7B43-3CC5-EFAF4D6900F7}"/>
              </a:ext>
            </a:extLst>
          </p:cNvPr>
          <p:cNvCxnSpPr>
            <a:cxnSpLocks/>
          </p:cNvCxnSpPr>
          <p:nvPr/>
        </p:nvCxnSpPr>
        <p:spPr>
          <a:xfrm>
            <a:off x="7977496" y="3477911"/>
            <a:ext cx="0" cy="365496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17E935A-ECC1-CFBD-0246-75BB52B0CF98}"/>
              </a:ext>
            </a:extLst>
          </p:cNvPr>
          <p:cNvCxnSpPr>
            <a:cxnSpLocks/>
          </p:cNvCxnSpPr>
          <p:nvPr/>
        </p:nvCxnSpPr>
        <p:spPr>
          <a:xfrm>
            <a:off x="6175628" y="3840082"/>
            <a:ext cx="1818493" cy="0"/>
          </a:xfrm>
          <a:prstGeom prst="line">
            <a:avLst/>
          </a:prstGeom>
          <a:ln w="38100" cap="flat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55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E3E2-09D6-FE31-DF0F-01C8BAB49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AAD42-CF77-A6E6-53F5-1D7BBA83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D9092-67F0-F20B-F249-DAF94E16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C56BD-7938-63FD-A93F-84C5197659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B6755-B82C-49EF-1F30-682F12125B81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600E0-E862-E034-AE37-A1C0268CD1B9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3D11B-F0AF-9041-063E-6BAFB5F1984D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270440-9E80-8D7B-97D1-229512243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88" y="2026024"/>
            <a:ext cx="3191289" cy="31844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68B6B6-5CB3-72ED-4342-0F5F5EAADF56}"/>
              </a:ext>
            </a:extLst>
          </p:cNvPr>
          <p:cNvSpPr txBox="1"/>
          <p:nvPr/>
        </p:nvSpPr>
        <p:spPr>
          <a:xfrm>
            <a:off x="2488049" y="5235704"/>
            <a:ext cx="8351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Context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FE69951-6B8C-D735-95C3-CDA337E2DE14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6D35850-B3C4-2A05-7F12-4439719B03E3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F53E819C-4D96-CC9F-055C-6040855E006B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0F372F29-6240-205D-02D1-99126C8C8D6E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2E8915ED-FAD3-F8D7-26A5-3EA3777A4E18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682E2F44-3650-91F4-2B47-EFE8302BE4F2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7073EE1-A9BD-57DE-ACA5-52609BB67B22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C6198176-1CCA-B32B-9091-48BAF3298AFE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765195BC-F0C0-905A-BD62-C31E8EDA82A2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0F6C7F5-A580-01D7-3E61-84FF0B41F5CC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FDF0F13D-07E0-91DB-3D9F-0E3309310DE0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C39DDD9-A623-D4B8-BD02-638BF1544102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D8E159BF-3167-E9F7-6098-32AEB0029033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B5F41E3-A6A9-F9FB-1B0D-35A8E57D3346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3439606-88A6-AB36-D14D-FB2DBB9C4BCF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A70BB0F-1DA7-AE49-8993-0152B421D8C0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40ADB7B-5FE7-07A9-5D8C-89EB4EBB9EAE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45FE04E6-D139-5535-4ADB-6F811B1B581B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B271A128-9AB6-1046-50DE-5830747C0C01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E43AA771-EA2F-F3F8-EBE9-7D119657419E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AB2685E-86F8-4B2E-855D-CCBDA7D89812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ADFE52A-D286-362D-308E-43320AD4052C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CB5A288-BFC2-DBCD-9D60-87DFB6F2A0EC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365BC35B-5042-D54A-F7B1-4A27369A36E4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9D56634-468F-DBC2-547E-CAD40AF6F10D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DDB445D-3BB4-4E0D-EFD2-83CD4C0E15F8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A664A30-C3B8-27A0-1B76-E70431362990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13044EB-D8F5-8A0F-D5D0-70F1D883276C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4AA33B9-2D91-B493-9CD8-2932EC56EC32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36066420-5328-399D-9AB7-736BBD3D1A04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D9A7681-203D-41EC-7AD9-4F4828C8B237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F2B75A-B4F6-AF5F-96A9-FA60E72EE62C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2136A263-DC64-BD20-3EB6-8EC0435C4061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6D76D78A-2107-505F-17E6-FBA99E06DEB6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58FDB2C-4E43-D5ED-B48B-532C9A6E219F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0808C9B-1275-FDEC-A8E1-947828D0AF83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335CB46-D3D0-5D3D-0BE2-88AA7AFEA729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7FABD00-D8E9-E4E1-B0FF-CC25951DDED5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07884F5-197B-0346-36FD-6E3FF16222D1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1D99B340-8A4C-5628-285F-5D2F491E4BB3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654F984-0D58-072E-7EF3-AEBC08AB9C37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6FAE2BE-5975-1741-D4B7-D4FCA3FFEF34}"/>
              </a:ext>
            </a:extLst>
          </p:cNvPr>
          <p:cNvGrpSpPr/>
          <p:nvPr/>
        </p:nvGrpSpPr>
        <p:grpSpPr>
          <a:xfrm>
            <a:off x="6194613" y="3466024"/>
            <a:ext cx="3212612" cy="360000"/>
            <a:chOff x="6194612" y="2026024"/>
            <a:chExt cx="3212612" cy="36000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59FC2D6-7349-C272-24B4-F5269A0D55BE}"/>
                </a:ext>
              </a:extLst>
            </p:cNvPr>
            <p:cNvSpPr/>
            <p:nvPr/>
          </p:nvSpPr>
          <p:spPr>
            <a:xfrm>
              <a:off x="6194612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DB54404-AFD4-DA36-85EB-8523606EF5EF}"/>
                </a:ext>
              </a:extLst>
            </p:cNvPr>
            <p:cNvSpPr/>
            <p:nvPr/>
          </p:nvSpPr>
          <p:spPr>
            <a:xfrm>
              <a:off x="6551188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F165B3C-F053-5660-4440-F363D420AB94}"/>
                </a:ext>
              </a:extLst>
            </p:cNvPr>
            <p:cNvSpPr/>
            <p:nvPr/>
          </p:nvSpPr>
          <p:spPr>
            <a:xfrm>
              <a:off x="6907765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2F9E7F8-9B2C-075D-A2CA-754201D0ED1E}"/>
                </a:ext>
              </a:extLst>
            </p:cNvPr>
            <p:cNvSpPr/>
            <p:nvPr/>
          </p:nvSpPr>
          <p:spPr>
            <a:xfrm>
              <a:off x="7264342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786B4AF0-EE75-EF05-7928-468698DCFCF3}"/>
                </a:ext>
              </a:extLst>
            </p:cNvPr>
            <p:cNvSpPr/>
            <p:nvPr/>
          </p:nvSpPr>
          <p:spPr>
            <a:xfrm>
              <a:off x="7620919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CF35E2EB-14E6-8D11-CC84-4DE803CF251B}"/>
                </a:ext>
              </a:extLst>
            </p:cNvPr>
            <p:cNvSpPr/>
            <p:nvPr/>
          </p:nvSpPr>
          <p:spPr>
            <a:xfrm>
              <a:off x="7977496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A89157D-2285-090A-B9BE-9D5E3DB7C91C}"/>
                </a:ext>
              </a:extLst>
            </p:cNvPr>
            <p:cNvSpPr/>
            <p:nvPr/>
          </p:nvSpPr>
          <p:spPr>
            <a:xfrm>
              <a:off x="8334073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715D03B-307B-4A14-E454-169A5341EBEA}"/>
                </a:ext>
              </a:extLst>
            </p:cNvPr>
            <p:cNvSpPr/>
            <p:nvPr/>
          </p:nvSpPr>
          <p:spPr>
            <a:xfrm>
              <a:off x="8690650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7D707AB-FB04-7A4A-1F0A-576D79BE0C60}"/>
                </a:ext>
              </a:extLst>
            </p:cNvPr>
            <p:cNvSpPr/>
            <p:nvPr/>
          </p:nvSpPr>
          <p:spPr>
            <a:xfrm>
              <a:off x="9047224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231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0033-6DB2-EC7C-C4E1-4FF296B5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D3EA-6546-2048-2263-91B0F796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052A8-2A3D-F0B3-0D0C-4D3F5212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8F946-DA2A-45EA-1029-4CBA3A82E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8B0CD-F06B-C96D-8ACB-F1CBE0862B26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82FD9-1E58-B81D-3BD2-A62E44A99096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83985-9DF2-DDC3-CD73-C862A905C70F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226429-709C-ECF1-BEA7-F20449D9D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88" y="2026024"/>
            <a:ext cx="3191289" cy="31844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474CC6-2F95-B4BA-D6D6-74593AAF0274}"/>
              </a:ext>
            </a:extLst>
          </p:cNvPr>
          <p:cNvSpPr txBox="1"/>
          <p:nvPr/>
        </p:nvSpPr>
        <p:spPr>
          <a:xfrm>
            <a:off x="2488049" y="5235704"/>
            <a:ext cx="8351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Context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1576969-40A4-F982-4A37-FAB82B02CE5C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D354558-CD7E-3013-1D37-1FBB004B5C42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C0222F1A-90A8-8E86-3841-08BFE512AF8F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C8B0AE0F-BB87-CF1D-E3F5-F1EF5A7C1BB8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51A0B61-DE90-8F25-C58A-BFFEDE76E401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A981321B-043E-DA13-CF53-2B731B9AB205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324ED257-587C-4025-3CA0-BAB86B5AEBBE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67096492-C88B-178C-E904-B4823B1A7B14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21C2CFF1-B9BF-849B-92C7-30951CA16C62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190BB50D-75D2-6538-84EA-6E7E608627BD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FC44BE37-7E2D-AA57-83C2-3FE07CB6675D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6770C07-F589-EB63-BE73-01EA0470DC0A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F886DA4-B3C7-2CE6-4B57-7FB3FD5823B8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23ACE12-86A9-95D7-FCD9-54DB24A0C6DF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592DEED9-34C4-A58F-030C-55B212AC7170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A8349EAC-81C8-6AE0-5F6B-7D8AE60330C7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69E63CA-CECA-C706-537C-079227D2BEF1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6BC014DA-4485-1470-A4F7-FFD482B1C7BA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142AC57-496A-B275-7D7F-21F410E9E418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A81985CC-CF53-4E56-FC49-81E02FB8C8C8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04BDFE95-080F-5991-0224-5901F9DA4E3C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6318029-C574-9191-BA29-5CF29574CB01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060FFB0-DBE0-D4A9-CDE8-EC15CA9B2FEC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8A890C2-6B24-A9C6-893F-C36AB4F93E80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A0F41429-91B9-32A2-A01B-7D9036FBB29C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EEBF5E3-49BA-E301-5836-260493215715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86093270-32D9-1124-A6AE-4ED05117D12A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7267A029-A3A2-2483-1958-852955AE0FBD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E8E7FB9-58D3-9A1E-790C-B0FA5E2766EC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AEBF4800-85E2-5ADD-9476-EBECC7BE71F6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BD3BEB8-E37A-3BE8-E1D1-F92008CDA19A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26CA3BF-68C7-0743-2F72-932877ABF3A0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2CFEC5E1-068E-BD7B-71F4-42064819CC93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B3D2144-3D47-478D-3BAF-D6AF2E4CD85A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1771B44-7E69-4AC8-6163-F9637FB4EA17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5D32E07-17C7-F529-0116-CC923700361A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E02CD4B-AF19-9D9C-50DF-69F1F7A5EA19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E9981E47-CE2D-144D-48E2-6C2DBD0B4735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64EAF5C3-EA66-51AD-3801-B9B00B2A8AD9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5F6FB0F-2D9C-4E3B-B46C-A700C6BD3464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CEDBE50C-3E0A-F8BA-7C55-98B2B2F16ED9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342CB52-9CA4-4202-3062-0C538FB890D0}"/>
              </a:ext>
            </a:extLst>
          </p:cNvPr>
          <p:cNvGrpSpPr/>
          <p:nvPr/>
        </p:nvGrpSpPr>
        <p:grpSpPr>
          <a:xfrm>
            <a:off x="6194613" y="3466024"/>
            <a:ext cx="3212612" cy="360000"/>
            <a:chOff x="6194612" y="2026024"/>
            <a:chExt cx="3212612" cy="36000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ACA0074-4420-4FDC-251A-03D4F49FB097}"/>
                </a:ext>
              </a:extLst>
            </p:cNvPr>
            <p:cNvSpPr/>
            <p:nvPr/>
          </p:nvSpPr>
          <p:spPr>
            <a:xfrm>
              <a:off x="6194612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90DAFE2-880A-68D0-C31A-E44A9CD76E65}"/>
                </a:ext>
              </a:extLst>
            </p:cNvPr>
            <p:cNvSpPr/>
            <p:nvPr/>
          </p:nvSpPr>
          <p:spPr>
            <a:xfrm>
              <a:off x="6551188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A96A761-FA54-591A-8053-A6261C492B0E}"/>
                </a:ext>
              </a:extLst>
            </p:cNvPr>
            <p:cNvSpPr/>
            <p:nvPr/>
          </p:nvSpPr>
          <p:spPr>
            <a:xfrm>
              <a:off x="6907765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38ABAD7-23F7-5039-3F68-CC38F46F948A}"/>
                </a:ext>
              </a:extLst>
            </p:cNvPr>
            <p:cNvSpPr/>
            <p:nvPr/>
          </p:nvSpPr>
          <p:spPr>
            <a:xfrm>
              <a:off x="7264342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069BF34-7817-4FF4-944B-815F5A74E029}"/>
                </a:ext>
              </a:extLst>
            </p:cNvPr>
            <p:cNvSpPr/>
            <p:nvPr/>
          </p:nvSpPr>
          <p:spPr>
            <a:xfrm>
              <a:off x="7620919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9329760-CAA4-9E28-66D0-E43D3CCB48B9}"/>
                </a:ext>
              </a:extLst>
            </p:cNvPr>
            <p:cNvSpPr/>
            <p:nvPr/>
          </p:nvSpPr>
          <p:spPr>
            <a:xfrm>
              <a:off x="7977496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59BD74E-8C22-F950-D4C4-43219CDAC75A}"/>
                </a:ext>
              </a:extLst>
            </p:cNvPr>
            <p:cNvSpPr/>
            <p:nvPr/>
          </p:nvSpPr>
          <p:spPr>
            <a:xfrm>
              <a:off x="8334073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8C48FB0-68BC-B748-4825-B8CB92DACE5B}"/>
                </a:ext>
              </a:extLst>
            </p:cNvPr>
            <p:cNvSpPr/>
            <p:nvPr/>
          </p:nvSpPr>
          <p:spPr>
            <a:xfrm>
              <a:off x="8690650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FE1A1F6-3F74-3903-6FFA-41E4D21F45C3}"/>
                </a:ext>
              </a:extLst>
            </p:cNvPr>
            <p:cNvSpPr/>
            <p:nvPr/>
          </p:nvSpPr>
          <p:spPr>
            <a:xfrm>
              <a:off x="9047224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0391C91-FDC8-2E59-CB3A-04311FB908B9}"/>
              </a:ext>
            </a:extLst>
          </p:cNvPr>
          <p:cNvSpPr txBox="1"/>
          <p:nvPr/>
        </p:nvSpPr>
        <p:spPr>
          <a:xfrm>
            <a:off x="5667829" y="4712484"/>
            <a:ext cx="5525552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Sequential generation is extremely slow</a:t>
            </a:r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;</a:t>
            </a:r>
          </a:p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generating 256×256 image requires 65K steps </a:t>
            </a:r>
          </a:p>
        </p:txBody>
      </p:sp>
    </p:spTree>
    <p:extLst>
      <p:ext uri="{BB962C8B-B14F-4D97-AF65-F5344CB8AC3E}">
        <p14:creationId xmlns:p14="http://schemas.microsoft.com/office/powerpoint/2010/main" val="95444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09CC-2DD6-459D-51EC-70D52F90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A7FAC-8A74-6AA6-CDB0-26FD60C2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732D9-438C-88FE-CF99-41FC9A562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50CAC-2173-B471-CF75-79F5BE5060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F258CD-D3A9-F1BF-C2AD-537F494F3A66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48BB0-5038-608E-249C-3F5EF5AC6072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4098" name="Picture 2" descr="PixelCNN Explained | Papers With Code">
            <a:extLst>
              <a:ext uri="{FF2B5EF4-FFF2-40B4-BE49-F238E27FC236}">
                <a16:creationId xmlns:a16="http://schemas.microsoft.com/office/drawing/2014/main" id="{056D4AB6-67A5-70F1-F61A-48077006E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8" y="2263107"/>
            <a:ext cx="4006193" cy="329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D3FD2137-933B-D62F-0C5B-CE9471CBA2A6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DE43ECF-178C-7518-5EA7-FDD695058A9D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29D261E-29ED-001F-8BBA-E1DB88ECC2C1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E6A8D94-E2D9-4388-1A95-9BE82F83C225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94302E7-5FF8-80EE-C2A3-68DD0976A2C8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72AC008-6DA1-8C2F-889E-601D8D902529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3629EEB-BCE9-86DF-C413-9A6C4E3C255A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391EDF3-BE17-4405-1054-D11F28BB4071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C430D17-0FA0-EA3F-479E-89C542E9116F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02977D8-BAC7-E7BD-1965-567101014E2B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315DAD1-921F-174C-CDB4-9883D7B756AB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83B246F-FFCE-B592-A9D0-F30AEBE468C9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95387B1-650B-E711-1AB8-282E540555EE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557937D-CC31-0462-2B95-F2A8166A94B0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49FCD21-5695-7356-646F-389B85D0A475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055A10-BB52-D84B-C66B-AE1AE669FB22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05EAB3A-9B55-07C9-BC69-3FBD568CEC4E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27965D5-6136-F609-9C6D-D6E514E12BD2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EF82A8F-37C8-3F35-1AC8-501B8AEF1262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DE7B530-FD73-1744-C462-1BF661BAA817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59F4E40-EBBC-1844-2F19-43807B91CCD5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A6BC54F-B297-7D33-EDC6-98E92622F3BF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0E17820-BEA9-5CB3-A002-A001274EC207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63AD786-AA8F-FD12-0779-37390B831457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B6482AA-8248-9F0D-87FB-3C48A10623B3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6C04B8A-50FA-2D69-23F9-2EDF7C3D042F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06D6DD7-8063-23B7-C6C4-0371E055E369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009781F-08A3-841E-14EF-57B8CA13DD15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B39C632-67FB-C721-0607-DD2D7E74D592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27CEE74-2890-9930-FE90-A86B2B0F9288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4CB59CC-57AD-FDAA-15B8-B29C01B5F836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355AE68-EC67-48A8-0955-062C004AD16E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FAC7536-9B3B-4D2D-0824-C975CFCC7D9D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8281640-688A-528A-39B4-016F8EF30DB0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F1FEF3F-EE60-BD3D-A283-6DB358E906D0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79B2C84-0415-D8EB-8151-C04BC0D24F2A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9EAC0A6-9916-1631-2173-4EA09EB2B4A8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9E48C74-6CC4-3DEF-A81D-643868F1253D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573B4AB-C9A5-0971-0BF0-7309EC696687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682DA1A-88D9-AE13-FF7F-98C32088ADB3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3FCDE1E-EF72-395E-A2C4-E80A80B58B8E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DE55B616-5725-C9A7-B355-1CD75D0B1458}"/>
              </a:ext>
            </a:extLst>
          </p:cNvPr>
          <p:cNvSpPr/>
          <p:nvPr/>
        </p:nvSpPr>
        <p:spPr>
          <a:xfrm>
            <a:off x="6194613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0827422-C28B-1538-F135-7E98108DB105}"/>
              </a:ext>
            </a:extLst>
          </p:cNvPr>
          <p:cNvSpPr/>
          <p:nvPr/>
        </p:nvSpPr>
        <p:spPr>
          <a:xfrm>
            <a:off x="6551189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1BACF07-5F63-4602-3173-EA0C53F21507}"/>
              </a:ext>
            </a:extLst>
          </p:cNvPr>
          <p:cNvSpPr/>
          <p:nvPr/>
        </p:nvSpPr>
        <p:spPr>
          <a:xfrm>
            <a:off x="6907766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77767-3089-1360-2504-2D5C2DC60F7B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</p:spTree>
    <p:extLst>
      <p:ext uri="{BB962C8B-B14F-4D97-AF65-F5344CB8AC3E}">
        <p14:creationId xmlns:p14="http://schemas.microsoft.com/office/powerpoint/2010/main" val="78120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C94B6-D9A8-DBBD-15C7-A0434017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6074-6F28-1BFC-4E3E-89CBEE2FE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A2FD9-0F09-CF45-B146-A65868F6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CF413-AA7E-18C1-7E68-3E98AF8C6C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E86D5C-2A2E-3E5E-83DD-EEF855EB62F4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7216A-E77B-036F-8E7D-3C71879019BB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4098" name="Picture 2" descr="PixelCNN Explained | Papers With Code">
            <a:extLst>
              <a:ext uri="{FF2B5EF4-FFF2-40B4-BE49-F238E27FC236}">
                <a16:creationId xmlns:a16="http://schemas.microsoft.com/office/drawing/2014/main" id="{C0698FA4-F15D-728E-015A-C811A6432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8" y="2263107"/>
            <a:ext cx="4006193" cy="329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B001AF97-78CD-8B0C-AAA6-8A542AA43D3A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6F9A15F-5C27-FFFE-ABAE-E0EA1FC0DCFC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2ED1D9D-AE65-50B2-1ED0-CDFFAFFAA718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F6FD00A-1668-6D0D-82F3-FE985CBBAF43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C66081C-B5F4-5811-3C35-951F2978C1D2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DA6608B-6BA7-5880-C1F2-0F83F7DCF28D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74F03A2-524A-A6DD-E67D-6F9838AE68F9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BDB8018-37F8-95A5-5DE0-4C1B17650837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E229A94-AD13-18E1-BD8B-CC681A79EE07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F9CBCDA-82C0-A01F-7E3B-C5C99155EBA8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565613F-F13E-03C4-950E-56A86F15314E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84CE700-40B0-D025-CD66-BD405614D41A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9038A4E-DE17-535E-39EF-D5305D6186AD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BD9064B-636E-F2DF-EFFB-73531C1292E1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10EABBA-39F2-3CB4-F04F-8E3E66E5A81C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0A12B3B-0EDB-A969-66A9-4B0D3B8BB915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8E9C1DB-6A2A-2EDA-FA36-8DFC4EDA33FA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09F47EF-27B2-E66F-0E99-BF6DD6D6FF53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895F91B-72A1-105E-CD09-9282CDCD0956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5DDE96D-2803-54F4-108D-4FB482E6C455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A3A341E-4FAF-B498-E392-139CB9840C6E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1059BBD-5118-3206-77E7-76966B65046D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E5AF9B6-A6D2-4CC3-6F16-3BA57DF74334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4ABF189-5847-CB46-2A87-0F5A285F95EC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72D357B-4A41-0847-8044-FE6A5206607F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4913409-5F43-2AA6-03F0-FCE08FB8E1C6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98102AD-E575-A4B1-BA4B-FA2F4BD3B94F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833834C-2283-43B4-3ED7-E484AABB04BE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2C5BC63-AA52-9746-0EAB-5542FF1EC1DC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38015AE-B59F-0A92-330B-55F38913E7A2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790A2ED-FEA8-4685-5EA8-DE851FCDD5E4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E6391DE-C161-560D-2E2A-234671B83AB2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1C28E17-F01C-3F06-F0B8-89467DC6FF14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35E895A-D940-22BE-45D4-2521C19A12FF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DCE06D2-BEAC-BDFD-A27A-EACE191445B2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1C06BB4-515B-7FB8-D5A2-0D14F08C41B2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D8B8063-5D5C-80A0-D715-3189A2239D85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E9950E6-2601-62D5-7A71-C729B5237EF3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3559936-40FA-4A45-1055-A3B56117AB54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0475939-CD1E-23C4-5CC1-40E8E4A4AFA3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42D4CFB-5477-BD69-5504-CC3303B71372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03E2E42D-3865-115F-51CE-C88589B69B01}"/>
              </a:ext>
            </a:extLst>
          </p:cNvPr>
          <p:cNvSpPr/>
          <p:nvPr/>
        </p:nvSpPr>
        <p:spPr>
          <a:xfrm>
            <a:off x="6194613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4DD3787-C6B1-66BC-C4D0-70CA1FD4EB7D}"/>
              </a:ext>
            </a:extLst>
          </p:cNvPr>
          <p:cNvSpPr/>
          <p:nvPr/>
        </p:nvSpPr>
        <p:spPr>
          <a:xfrm>
            <a:off x="6551189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361267-8293-983A-B526-CE0779F659A5}"/>
              </a:ext>
            </a:extLst>
          </p:cNvPr>
          <p:cNvSpPr/>
          <p:nvPr/>
        </p:nvSpPr>
        <p:spPr>
          <a:xfrm>
            <a:off x="6907766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22A95-7110-3C1A-6952-AAE8CFC5BA35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7B3F78-C0A8-BD5F-C839-114571A969CA}"/>
              </a:ext>
            </a:extLst>
          </p:cNvPr>
          <p:cNvSpPr/>
          <p:nvPr/>
        </p:nvSpPr>
        <p:spPr>
          <a:xfrm>
            <a:off x="6894073" y="3106024"/>
            <a:ext cx="1080000" cy="1080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A929AC-9F5A-4069-ABC8-512EBA7F6B2A}"/>
              </a:ext>
            </a:extLst>
          </p:cNvPr>
          <p:cNvSpPr/>
          <p:nvPr/>
        </p:nvSpPr>
        <p:spPr>
          <a:xfrm>
            <a:off x="7260917" y="3466024"/>
            <a:ext cx="360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36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C0DC-D6DA-D1E9-2AE0-44E484CC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48340B2-CFAD-38C4-972A-AE7386847810}"/>
              </a:ext>
            </a:extLst>
          </p:cNvPr>
          <p:cNvSpPr/>
          <p:nvPr/>
        </p:nvSpPr>
        <p:spPr>
          <a:xfrm>
            <a:off x="7267766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E7CD-5F77-B915-D91C-B160C0D0B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2567B-EBF1-D757-F0D7-5DC66BF8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F54C8-1A7E-6116-D320-CEDE099601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D448B-D710-8541-6022-9E619ECC4CE1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D19BB-2214-B69C-813B-C4E3A552E817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4098" name="Picture 2" descr="PixelCNN Explained | Papers With Code">
            <a:extLst>
              <a:ext uri="{FF2B5EF4-FFF2-40B4-BE49-F238E27FC236}">
                <a16:creationId xmlns:a16="http://schemas.microsoft.com/office/drawing/2014/main" id="{468DF457-6A53-892B-846E-6647BCD1D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8" y="2263107"/>
            <a:ext cx="4006193" cy="329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E142FC46-298B-D72F-C745-AF951724CDF6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C96B0A6-86A6-4A3D-7CCE-9A4BD012D1FE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08F658B-DE6B-115A-A72C-4DAEAA7FA8CB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7CC87C9-C05C-12BE-24A9-7B034CBB1097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9CD7EF7-52E9-DA44-BF98-0422B28FE6B6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2C97318-4F5F-358D-8029-02B712713AAD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6A30F4-23D0-506A-B9FA-0FFF5AA38EAC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D3F89B6-68E5-D59E-6DE7-FD26DD091C18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35D5091-AA7E-8C09-13BA-0DD550FA44C4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91701D8-A579-FFA8-5D6F-8E861E466637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AA04D0D-5F73-39DB-303D-BEF73F11E75E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EF029BE-4FEE-72A6-FD68-9D2A21598C91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B8A7DF0-7EBA-D483-4898-9BE1F8D5FAFB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9068BA5-71C4-8377-BBE0-5FEF8E6CB66D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09B7914-A523-0851-D63C-AA4360895885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3AA833B-2C34-930A-443C-C399578709A8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E00BA63-49EF-C8B8-450C-76FBB3F9C603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A8464E1-1355-1129-5E6D-FEC4866F4A61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8B5C8A3-B632-ECE2-5F63-35EACBCEAF93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034EAEA-E947-B997-2968-504DB3FAC50C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0110C6B-5282-C459-C502-8C4B8324A090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2CAE848-D6C1-D794-742E-F9BFFDC9FEC9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A363A94-76A3-A920-A5F0-0241A9617664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031CA93-E98E-A05C-88FD-1393B942CFD2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B504EEC-21AD-570C-1969-17CFA00D0A1C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76F7EEA-3BF1-3C46-D2D3-7F911E6A2727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09E0E3C-89BC-3BCA-DB0F-77CF347F7213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A8DB771-E02E-9967-F21A-EC7AB622D3D6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D59EA83-5797-E790-A69E-80198A8A172E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08A9006-6A49-D5CA-A5B7-8FA4055D3F13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76BFDFF-B2F6-0819-ED3C-23D4CAD13D1A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8166E3B-4B45-DE4A-2DEE-1CEA5DA230A0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EF0B69-88BB-1FD7-74D4-05BF471293F6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24CC6A5-7CE3-51CF-EA05-127B87E9AB44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D22B5AC-31A2-76E3-9880-AC53D4E9677F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DD8B95E-386A-25F4-E0FA-D6C02C15B33C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2AC2691-1B64-6551-4945-03AAA257A024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3A387B4-724A-465C-2126-4634D6A368D6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C1A6D71-DD35-45F4-AEE4-B0D72700E0F9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168A6BB-59EE-8565-458F-E7084181785E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9D508B1-16D6-77B6-2E6E-03EAD3B3823A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767FE8D1-66F2-0099-6435-6D63C7ED36C7}"/>
              </a:ext>
            </a:extLst>
          </p:cNvPr>
          <p:cNvSpPr/>
          <p:nvPr/>
        </p:nvSpPr>
        <p:spPr>
          <a:xfrm>
            <a:off x="6194613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07D97A9-E6B0-6D3C-86AF-E589457A76B3}"/>
              </a:ext>
            </a:extLst>
          </p:cNvPr>
          <p:cNvSpPr/>
          <p:nvPr/>
        </p:nvSpPr>
        <p:spPr>
          <a:xfrm>
            <a:off x="6551189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E81FA7F-0FF8-5E16-C654-77931C9C0EEB}"/>
              </a:ext>
            </a:extLst>
          </p:cNvPr>
          <p:cNvSpPr/>
          <p:nvPr/>
        </p:nvSpPr>
        <p:spPr>
          <a:xfrm>
            <a:off x="6907766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FB9F5-6DBF-8CFF-4529-476BBF1FEC01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1E76DE-017B-028B-01AC-12786316470E}"/>
              </a:ext>
            </a:extLst>
          </p:cNvPr>
          <p:cNvSpPr/>
          <p:nvPr/>
        </p:nvSpPr>
        <p:spPr>
          <a:xfrm>
            <a:off x="7254075" y="3106024"/>
            <a:ext cx="1080000" cy="1080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78D8BE-9D94-4E54-3341-927E0D23A1D0}"/>
              </a:ext>
            </a:extLst>
          </p:cNvPr>
          <p:cNvSpPr/>
          <p:nvPr/>
        </p:nvSpPr>
        <p:spPr>
          <a:xfrm>
            <a:off x="7620919" y="3466024"/>
            <a:ext cx="360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90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AE2C-F129-A8A1-8E6C-ABA29CA1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4CA48E-BD01-2503-F2C6-3DC24906F09B}"/>
              </a:ext>
            </a:extLst>
          </p:cNvPr>
          <p:cNvSpPr/>
          <p:nvPr/>
        </p:nvSpPr>
        <p:spPr>
          <a:xfrm>
            <a:off x="7619207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E6764F-A22B-7907-8C14-A4EA969F1208}"/>
              </a:ext>
            </a:extLst>
          </p:cNvPr>
          <p:cNvSpPr/>
          <p:nvPr/>
        </p:nvSpPr>
        <p:spPr>
          <a:xfrm>
            <a:off x="7267766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C19EC6-8C88-F603-71EE-4A27B8D9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3DAAF-D58B-F75C-4060-742A2D30C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32331-FA99-17EF-EF09-5DCC0A90A5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51F0A-7B05-3260-9CC4-EBDF96E6DFBB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98F7E-11D5-5623-A7CA-5CB00D487CA2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4098" name="Picture 2" descr="PixelCNN Explained | Papers With Code">
            <a:extLst>
              <a:ext uri="{FF2B5EF4-FFF2-40B4-BE49-F238E27FC236}">
                <a16:creationId xmlns:a16="http://schemas.microsoft.com/office/drawing/2014/main" id="{54B9518A-B0E1-4848-5A52-E13CA33E3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8" y="2263107"/>
            <a:ext cx="4006193" cy="329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D5613DCC-ABA3-ECDB-0E06-06D5398389A4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F10D847-8CFF-0ADA-AC91-A8BC80C36144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AB659C5-D344-73B4-9A59-4D5D7B2E2DF6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CA41B48-1995-2448-83D4-DD7FEDB2B235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15D683C-DC6D-B9EB-7EE2-0EC8F1FB5167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CDA3406-2235-C66A-0989-D43657711894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6C3E81-E1FB-354A-8B43-0AB16426D37F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61DC523-B0FD-7BF5-8C99-F54E882EE897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ADC95CF-9160-79EF-B213-DB7437343F71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2908F91-C641-A862-EAD4-1085C917603A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1D293A2-1170-E7BF-316C-C2F782916435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B9B10B-AF70-2F7C-6605-140D0B8A7CDC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B3D01BD-0825-FA59-D05F-CB4B03586724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422F81F-97A1-43CE-5931-06DB48EA0F9F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1B5E549-BAEA-CBD2-173A-BCF00159AD07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197E148-E4F9-5C5B-6651-517A849E891D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B6A40F4-99E0-2D2A-082D-DDA54DFC37AD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CE58DDE-46AD-6783-D9FF-76CF2D1E2A78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36B3FDC-0489-D48C-409D-F124F16A294C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A0BBAD4-F878-6AC9-2ACB-D40A652F6D79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D4F309A-9773-EF7E-29E6-9CA92C2A58F7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D61F434-6EB6-A05A-808F-2120EBCB4106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5328F55-B741-D021-7E4F-915C16DCE331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2951974-83DA-7261-EB1C-1B7FF9CB26A8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49010E6-C797-0CF8-49B4-E74EE3CC7BB1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C1C4A76-38AF-7716-A463-E982947AE285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129BA40-A094-8A6A-A9BD-3618CE99902F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973614A-039E-34D6-8D6A-8A4B83240DF3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011207F-2AC5-9D92-6229-45F91F38CBC2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D05C2D2-933C-8184-27E9-E7A257F419F5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D2F9C94-09A6-F35E-97CD-EDE1CC7BB55E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87903C0-A011-D8F9-35C9-8694CC3B5BAF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6417EEC-2D0B-6CED-F275-F75ED46A3FDB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49CCFB3-707B-CEB9-2316-B6B915ECF737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00D074D-CAB8-507B-85E4-E320E520A00B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86FA07F-A573-2041-F66E-603E0036A845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1B62E3A-C7CF-5AF0-8CEB-51590080FAE4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A0A9AA9-CE11-2E6A-0EAF-8441581D46DC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D34C670-D953-5765-841E-28A4FCF523BC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04C9CCE-EC83-528D-06F3-EB38FABE2410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E1F30A4-AA41-EC53-9D0A-6DDA13756FE3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0C9B93E1-6F33-8D63-6D6C-BF925D9A6781}"/>
              </a:ext>
            </a:extLst>
          </p:cNvPr>
          <p:cNvSpPr/>
          <p:nvPr/>
        </p:nvSpPr>
        <p:spPr>
          <a:xfrm>
            <a:off x="6194613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8664E53-0B81-0408-53E1-64296351C878}"/>
              </a:ext>
            </a:extLst>
          </p:cNvPr>
          <p:cNvSpPr/>
          <p:nvPr/>
        </p:nvSpPr>
        <p:spPr>
          <a:xfrm>
            <a:off x="6551189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5709E4-1ADF-63E1-3C93-B75D70CD188C}"/>
              </a:ext>
            </a:extLst>
          </p:cNvPr>
          <p:cNvSpPr/>
          <p:nvPr/>
        </p:nvSpPr>
        <p:spPr>
          <a:xfrm>
            <a:off x="6907766" y="3466024"/>
            <a:ext cx="3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3FA25-09DA-BF59-EA85-17BB98986546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E80752-F547-4A35-6AE6-E813CF60459C}"/>
              </a:ext>
            </a:extLst>
          </p:cNvPr>
          <p:cNvSpPr/>
          <p:nvPr/>
        </p:nvSpPr>
        <p:spPr>
          <a:xfrm>
            <a:off x="7608938" y="3106024"/>
            <a:ext cx="1080000" cy="1080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AF0D0C-7B19-307C-22FE-9EB31CC22A16}"/>
              </a:ext>
            </a:extLst>
          </p:cNvPr>
          <p:cNvSpPr/>
          <p:nvPr/>
        </p:nvSpPr>
        <p:spPr>
          <a:xfrm>
            <a:off x="7975782" y="3466024"/>
            <a:ext cx="360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A2317-B440-AFE1-EB17-CBF7488B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38DC-16C8-60BB-EA46-4BC13CEA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CD077-B264-A71C-6CD4-A120B278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DFB16-91D9-B1D6-09D6-7A5FA467C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3E46B-F085-E312-4D0B-9907C90B2F99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4975DD-F699-FD3B-FAEA-AD23740BAFDE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4098" name="Picture 2" descr="PixelCNN Explained | Papers With Code">
            <a:extLst>
              <a:ext uri="{FF2B5EF4-FFF2-40B4-BE49-F238E27FC236}">
                <a16:creationId xmlns:a16="http://schemas.microsoft.com/office/drawing/2014/main" id="{CFC56A31-2673-A2CD-A160-B255ECB26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8" y="2263107"/>
            <a:ext cx="4006193" cy="329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FA5BEB2D-94F4-D971-00EF-C5DF447EB3E2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58FE665-73B5-4049-06A7-7747CC6A33B7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4AFB860-EC7A-9E4B-95C5-52E647E9307A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DD89CC6-ECD5-8D94-BC58-6724CEEC28F7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35DD1F-E91E-6B91-9461-82F4D984002E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1EABB80-77A2-E6A6-8CD5-F76386606B1F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E93D3DA-F6C3-F599-3E68-238E5135D4F3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51D8757-1292-B9CC-C739-9661CF72C51C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5C05261-A1F0-3D8E-071D-BCB19033E653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7B9A170-2063-9829-51F8-801C64E00D2D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A32D65-28EC-591A-4112-F008140FEDC3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EA35888-3DEC-279C-F634-16554E85C212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40264FD-490C-5AF9-CF0C-8D96AFA9BF1F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E52B173-5048-56D7-0805-F133CC6A7DE0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27CECAB-CD8A-757E-D4C7-7471F21F8581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5E5A6A6-EB85-48FE-208D-C1B46758753E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D56ADFA-B61C-8223-1CD5-8C9D165E04C5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DEFB1D3-857D-02FD-4611-2D59802328D2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1704A9E-2BEE-D34E-6121-3253EE496645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081DCB7-07D7-14A6-AF4D-D647F5ADF209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4828B2C-1572-ECE1-FA0C-AAB91F1995AB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31D22A3-5D8F-5EFD-E371-11688ECDA4C6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9ACCEBA-8BD2-EF89-5D37-DAF841F7C08D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07425EB-D97C-9EB8-3BA1-78509535DE43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4657402-6BBB-C87E-0B61-885976E3E7EE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913E2C4-258E-DFD1-34C5-46389CDB52B3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F6FD2D4-B04B-C497-6EFD-FA1ECEC68475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405ED53-A78D-9794-020E-43AA524060EF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E371CBE-BE25-D159-AB29-635F35A2AB04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A37B22E-F894-7E3A-9294-C305C4C7909F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210A1B5-F203-8069-E712-0835A5399EB1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A869C3C-EC5D-6FD4-4303-FE142DDCFA4D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5D8291B-4052-F49E-8A37-B67A1925ECBB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E4F0E78-DB7D-BECF-DD4F-1C86043D7CD5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5FB7FCC-F40C-FE89-B023-555709BE0A3A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B1829F9-D887-536F-928C-7B8665905A05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C5511EE-C1FD-5331-2EF2-B669F9523CE9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CFD7B76-53E8-6E3F-7DC8-FE7A01A25CDA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93015B9-1CAC-FD6D-76EF-B9401A07C20C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9D93576-717B-F598-7B2E-94504EEEE4DB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D3695DB6-6185-6B3F-FF99-4CBE2F64B4C8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F1B166-32DD-0008-66AB-E1D716F68900}"/>
              </a:ext>
            </a:extLst>
          </p:cNvPr>
          <p:cNvGrpSpPr/>
          <p:nvPr/>
        </p:nvGrpSpPr>
        <p:grpSpPr>
          <a:xfrm>
            <a:off x="6194613" y="3466024"/>
            <a:ext cx="3212612" cy="360000"/>
            <a:chOff x="6194612" y="2026024"/>
            <a:chExt cx="3212612" cy="3600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E5E1594-0A41-1ABA-6846-8B7CD0020C58}"/>
                </a:ext>
              </a:extLst>
            </p:cNvPr>
            <p:cNvSpPr/>
            <p:nvPr/>
          </p:nvSpPr>
          <p:spPr>
            <a:xfrm>
              <a:off x="6194612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9E32FDE-2E16-82F7-48B2-0469616BB702}"/>
                </a:ext>
              </a:extLst>
            </p:cNvPr>
            <p:cNvSpPr/>
            <p:nvPr/>
          </p:nvSpPr>
          <p:spPr>
            <a:xfrm>
              <a:off x="6551188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54300C4-6DCD-8616-3907-D6603981EF14}"/>
                </a:ext>
              </a:extLst>
            </p:cNvPr>
            <p:cNvSpPr/>
            <p:nvPr/>
          </p:nvSpPr>
          <p:spPr>
            <a:xfrm>
              <a:off x="6907765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1075CA3-D0B7-6472-6995-9718947DA32D}"/>
                </a:ext>
              </a:extLst>
            </p:cNvPr>
            <p:cNvSpPr/>
            <p:nvPr/>
          </p:nvSpPr>
          <p:spPr>
            <a:xfrm>
              <a:off x="7264342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0184AD2-1DD9-3FA5-0E42-DC0409ABD1DC}"/>
                </a:ext>
              </a:extLst>
            </p:cNvPr>
            <p:cNvSpPr/>
            <p:nvPr/>
          </p:nvSpPr>
          <p:spPr>
            <a:xfrm>
              <a:off x="7620919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A88EDD3-1D7B-7F24-C618-A173134831ED}"/>
                </a:ext>
              </a:extLst>
            </p:cNvPr>
            <p:cNvSpPr/>
            <p:nvPr/>
          </p:nvSpPr>
          <p:spPr>
            <a:xfrm>
              <a:off x="7977496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5047586-2E15-51D5-BA62-AFA87D619B97}"/>
                </a:ext>
              </a:extLst>
            </p:cNvPr>
            <p:cNvSpPr/>
            <p:nvPr/>
          </p:nvSpPr>
          <p:spPr>
            <a:xfrm>
              <a:off x="8334073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B3893B5-F091-1ADE-DAF6-C565A76D0F1E}"/>
                </a:ext>
              </a:extLst>
            </p:cNvPr>
            <p:cNvSpPr/>
            <p:nvPr/>
          </p:nvSpPr>
          <p:spPr>
            <a:xfrm>
              <a:off x="8690650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D4EE622-DE97-CD1D-CC14-B879E794E74B}"/>
                </a:ext>
              </a:extLst>
            </p:cNvPr>
            <p:cNvSpPr/>
            <p:nvPr/>
          </p:nvSpPr>
          <p:spPr>
            <a:xfrm>
              <a:off x="9047224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2C1110-C91B-0F74-49E6-69631774679B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</p:spTree>
    <p:extLst>
      <p:ext uri="{BB962C8B-B14F-4D97-AF65-F5344CB8AC3E}">
        <p14:creationId xmlns:p14="http://schemas.microsoft.com/office/powerpoint/2010/main" val="139425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3FDD-F687-B3F8-3471-8672BA7D2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6EF0-9EE7-DA26-FD1D-2814B4BC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47313-8B33-EA9A-1606-18D241E4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2FBD7-22FA-1C67-3B0C-3C0E55A4F2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10B02-EE76-4154-1BEC-6C22155DCD23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29830-24D4-34B5-BD89-71A422EB0008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4098" name="Picture 2" descr="PixelCNN Explained | Papers With Code">
            <a:extLst>
              <a:ext uri="{FF2B5EF4-FFF2-40B4-BE49-F238E27FC236}">
                <a16:creationId xmlns:a16="http://schemas.microsoft.com/office/drawing/2014/main" id="{C01F3489-E349-A2DF-EDB9-08F2945A6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8" y="2263107"/>
            <a:ext cx="4006193" cy="329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4C97907C-BFAE-6D0C-2157-B13FBDACF9C7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1313004-BF95-A2F6-B2C8-A9C26F2B4D89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AA6F147-0EBD-664A-3802-399964C8DFEE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5CAEDF2-4E33-AFC1-4327-7A31B1B290CE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E4DDAC0-829F-F799-57E7-704CB992B369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59EAB4C-1727-A3D1-CE24-EE2C66B7E2EF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634F731-5422-8DDF-827D-C04025C0DE11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102575B-8110-4119-CC13-A4EF58F3DD9E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793DE37-8780-1DB4-39F2-18D4064B9661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5618D7-4E4A-D55F-B53D-2123AF1534E2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38B86B-8F57-B55A-50F2-B02A67CB98C2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2A4D9BB-3152-EA3D-D161-D5E534F41FE3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A29FA1E-F7FA-9300-718F-2814582E438B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BEA9587-D241-F9E7-AE5A-251905A1D1E1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42362F7-061C-2BB4-4D9B-81D8573278D2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22D3237-EDD3-D775-2127-79B6B433D615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0FC473F-874D-449C-7757-96514C00FBC5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80A7C03-1908-7337-1F28-F234DC9FA18B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64F2770-9946-D6CE-47FE-BAF677B8D655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8F2BB80-C1F6-1D0E-4386-112A32FD213B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5D23982-B41E-393F-9B31-54785F4C2F0B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7C4F702-86D2-2102-BD18-12E65316BDD0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2284038-0973-5012-7DE4-FE17A9A9E884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24FFA42-4C72-7295-A4D9-1F8326019EDA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C321531-34B8-36BF-730D-BE8DC683A84A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AA35796-A1A6-AA25-9EA0-12297E81D128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C9306FC-0229-547E-4FDA-13308DCE07AB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938E525-98B8-8E9D-F767-26C94AED55C6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5198E96-E182-49A4-0E03-254BF63BA58D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49A8BE8-BAF9-6B6E-3A88-F0691CB87172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6D5B795-1DE3-28B0-38C2-9FFB8C19003F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884DBF7-1724-D5DF-FA58-C47237A20DA1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B576C7-1C0F-1B02-7C6E-904DC1B18FDF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3413C51-0ED8-905E-2D78-5C9622AC7CB7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5CBF166-BEF3-7B20-FEA4-30BC59FDBF48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DD43638-9F98-D688-32C4-A26C3F47A588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08FDAA4-4B00-4AFB-277D-C5B4211D1E79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8F084E9-A2AD-CA18-A99B-FD7A98156071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FC2027A-4D40-D4E1-26EC-D75C8EC1A1F4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9FF456D-DF73-0D03-0490-2A2705D418D4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271C354-DF6B-9515-5CE4-A35AF3BCB5C2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A5C7284-A310-3914-D20C-53CB9BBA36A4}"/>
              </a:ext>
            </a:extLst>
          </p:cNvPr>
          <p:cNvGrpSpPr/>
          <p:nvPr/>
        </p:nvGrpSpPr>
        <p:grpSpPr>
          <a:xfrm>
            <a:off x="6194613" y="3466024"/>
            <a:ext cx="3212612" cy="360000"/>
            <a:chOff x="6194612" y="2026024"/>
            <a:chExt cx="3212612" cy="3600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58A9976-89CC-70AC-CE29-577C6306D8A5}"/>
                </a:ext>
              </a:extLst>
            </p:cNvPr>
            <p:cNvSpPr/>
            <p:nvPr/>
          </p:nvSpPr>
          <p:spPr>
            <a:xfrm>
              <a:off x="6194612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95701E1-A764-8350-6FC6-49C3871CDA50}"/>
                </a:ext>
              </a:extLst>
            </p:cNvPr>
            <p:cNvSpPr/>
            <p:nvPr/>
          </p:nvSpPr>
          <p:spPr>
            <a:xfrm>
              <a:off x="6551188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2C705D2-C406-2871-C44E-4329A0EFF2F9}"/>
                </a:ext>
              </a:extLst>
            </p:cNvPr>
            <p:cNvSpPr/>
            <p:nvPr/>
          </p:nvSpPr>
          <p:spPr>
            <a:xfrm>
              <a:off x="6907765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58F9ECF-10E2-77D0-A0C0-679FDF5F8E98}"/>
                </a:ext>
              </a:extLst>
            </p:cNvPr>
            <p:cNvSpPr/>
            <p:nvPr/>
          </p:nvSpPr>
          <p:spPr>
            <a:xfrm>
              <a:off x="7264342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4D372EF-7077-F4B1-97E8-7454B75ABBA9}"/>
                </a:ext>
              </a:extLst>
            </p:cNvPr>
            <p:cNvSpPr/>
            <p:nvPr/>
          </p:nvSpPr>
          <p:spPr>
            <a:xfrm>
              <a:off x="7620919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34AA899-3E7F-82D3-5E48-F55F42EBCAA0}"/>
                </a:ext>
              </a:extLst>
            </p:cNvPr>
            <p:cNvSpPr/>
            <p:nvPr/>
          </p:nvSpPr>
          <p:spPr>
            <a:xfrm>
              <a:off x="7977496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CF3CF7F-6B06-9A97-6705-593D96CF3883}"/>
                </a:ext>
              </a:extLst>
            </p:cNvPr>
            <p:cNvSpPr/>
            <p:nvPr/>
          </p:nvSpPr>
          <p:spPr>
            <a:xfrm>
              <a:off x="8334073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9727F57-B7DE-E653-6300-1A8F244214F1}"/>
                </a:ext>
              </a:extLst>
            </p:cNvPr>
            <p:cNvSpPr/>
            <p:nvPr/>
          </p:nvSpPr>
          <p:spPr>
            <a:xfrm>
              <a:off x="8690650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F5C5455-E8F5-DBB7-B461-15F6F394B43D}"/>
                </a:ext>
              </a:extLst>
            </p:cNvPr>
            <p:cNvSpPr/>
            <p:nvPr/>
          </p:nvSpPr>
          <p:spPr>
            <a:xfrm>
              <a:off x="9047224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ED8B257-3A23-6390-A17B-8A95708581EB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D0020-6ED3-70AD-30DA-A777C66ACB62}"/>
              </a:ext>
            </a:extLst>
          </p:cNvPr>
          <p:cNvSpPr txBox="1"/>
          <p:nvPr/>
        </p:nvSpPr>
        <p:spPr>
          <a:xfrm>
            <a:off x="5846303" y="4526334"/>
            <a:ext cx="539891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Slightly faster due to parallelizable generation,</a:t>
            </a:r>
          </a:p>
        </p:txBody>
      </p:sp>
    </p:spTree>
    <p:extLst>
      <p:ext uri="{BB962C8B-B14F-4D97-AF65-F5344CB8AC3E}">
        <p14:creationId xmlns:p14="http://schemas.microsoft.com/office/powerpoint/2010/main" val="253553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EB236-AE31-C264-D05F-EA66FD31F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CCE3-12E5-5621-82FB-3BD416011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0289E-9663-2AAB-3D29-9E0CA9C5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C7D5E-E0BC-5279-5E6F-07D626A210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0B392-E7A2-20D8-82AF-F29B297F2CDC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FF7D1-1E58-7648-AC9B-2492D97EB084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4098" name="Picture 2" descr="PixelCNN Explained | Papers With Code">
            <a:extLst>
              <a:ext uri="{FF2B5EF4-FFF2-40B4-BE49-F238E27FC236}">
                <a16:creationId xmlns:a16="http://schemas.microsoft.com/office/drawing/2014/main" id="{715717DD-3E2F-AD72-BE98-D2A888BB2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8" y="2263107"/>
            <a:ext cx="4006193" cy="329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60F72687-1772-63C6-7A9C-4F16AE009501}"/>
              </a:ext>
            </a:extLst>
          </p:cNvPr>
          <p:cNvGrpSpPr/>
          <p:nvPr/>
        </p:nvGrpSpPr>
        <p:grpSpPr>
          <a:xfrm>
            <a:off x="6194612" y="2026024"/>
            <a:ext cx="3212613" cy="1440000"/>
            <a:chOff x="6194612" y="2026024"/>
            <a:chExt cx="3212613" cy="1440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0832E4C-DE8C-7B48-DF6A-7FBC9F66B489}"/>
                </a:ext>
              </a:extLst>
            </p:cNvPr>
            <p:cNvGrpSpPr/>
            <p:nvPr/>
          </p:nvGrpSpPr>
          <p:grpSpPr>
            <a:xfrm>
              <a:off x="6194612" y="2026024"/>
              <a:ext cx="3212612" cy="360000"/>
              <a:chOff x="6194612" y="2026024"/>
              <a:chExt cx="3212612" cy="36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6C2FA97-8957-6C01-FEB8-172C494DE7F0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4AAAE63-F077-BFE4-459B-2B5E44D98AC0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5AE983E-1959-386B-2016-DCEF7513F8D9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8D67109-1D0B-E2C8-3F4A-50BD5C670CDC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D0C53C7-0785-7DEF-8D18-DCAC3A7B8E5B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5E79F01-917C-7A85-9FA0-FD5FABCF713F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EA1A63E-3D87-8438-07C5-ED8E9683F0FB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DBAE603-F046-F49E-AC49-067995BA094F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38DF181-6694-B5E7-1BCA-9904996E33FC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D9FD649-D121-8BDD-05EA-27EF3458D081}"/>
                </a:ext>
              </a:extLst>
            </p:cNvPr>
            <p:cNvGrpSpPr/>
            <p:nvPr/>
          </p:nvGrpSpPr>
          <p:grpSpPr>
            <a:xfrm>
              <a:off x="6194613" y="2386024"/>
              <a:ext cx="3212612" cy="360000"/>
              <a:chOff x="6194612" y="2026024"/>
              <a:chExt cx="3212612" cy="36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7B0F498-7ACE-3BE8-9020-E5E458DB08CC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F4F9B83-E00F-1688-BA89-86CBDD9BBB6E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B364849-55DF-6B8D-4EC4-188D240BF641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177749F-CFA7-1D9E-BA53-CC9EE02F5E1D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8A12600-75EE-5958-F379-CD9E9AE3F85C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81D4975-492F-5F41-A5AC-11A827431C80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1477386-59D9-8EEB-D3D0-7B0F2A27D767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393B409-9E84-AED7-DED3-577B2C9FFFCE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C43336C-E120-E8C4-2973-92717A9F549E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03529B-2C5A-6277-35AD-7D907FB96231}"/>
                </a:ext>
              </a:extLst>
            </p:cNvPr>
            <p:cNvGrpSpPr/>
            <p:nvPr/>
          </p:nvGrpSpPr>
          <p:grpSpPr>
            <a:xfrm>
              <a:off x="6194613" y="2746024"/>
              <a:ext cx="3212612" cy="360000"/>
              <a:chOff x="6194612" y="2026024"/>
              <a:chExt cx="3212612" cy="36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C91DB9-4F45-0341-3273-8A3EC3697174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07F723B-AD80-2649-F010-F8A6D0A7CEF7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47F9558-A042-4446-EBB0-6631C0402580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F507915-C628-0D22-ACFF-91843B35F2CE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38A4CC1-17AA-20D2-B0EE-CC13133109FB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0345FB7-9D53-57D3-F636-0FF0F1D613AA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A67045A-0DB1-37C0-9D55-63E3BFB775CD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71D679B-73FD-AD25-CCD3-94BA6669BC97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9325A89-A9C6-97C7-6030-A4B2CD7127AC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2798094-6770-6A09-28DA-BD9A86A043D0}"/>
                </a:ext>
              </a:extLst>
            </p:cNvPr>
            <p:cNvGrpSpPr/>
            <p:nvPr/>
          </p:nvGrpSpPr>
          <p:grpSpPr>
            <a:xfrm>
              <a:off x="6194613" y="3106024"/>
              <a:ext cx="3212612" cy="360000"/>
              <a:chOff x="6194612" y="2026024"/>
              <a:chExt cx="3212612" cy="36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E588CCD-3EFA-4D1B-553C-5F0957BB534A}"/>
                  </a:ext>
                </a:extLst>
              </p:cNvPr>
              <p:cNvSpPr/>
              <p:nvPr/>
            </p:nvSpPr>
            <p:spPr>
              <a:xfrm>
                <a:off x="619461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EBCF4B9-920C-4216-81B7-65FD2C2881E0}"/>
                  </a:ext>
                </a:extLst>
              </p:cNvPr>
              <p:cNvSpPr/>
              <p:nvPr/>
            </p:nvSpPr>
            <p:spPr>
              <a:xfrm>
                <a:off x="6551188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2090E23-34D0-B72B-0497-799C26443522}"/>
                  </a:ext>
                </a:extLst>
              </p:cNvPr>
              <p:cNvSpPr/>
              <p:nvPr/>
            </p:nvSpPr>
            <p:spPr>
              <a:xfrm>
                <a:off x="6907765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0698289-3B13-497C-DCB7-4149D5E5FFA8}"/>
                  </a:ext>
                </a:extLst>
              </p:cNvPr>
              <p:cNvSpPr/>
              <p:nvPr/>
            </p:nvSpPr>
            <p:spPr>
              <a:xfrm>
                <a:off x="7264342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D33DC2F-4F5B-FC3B-2E1F-C10095EB20AB}"/>
                  </a:ext>
                </a:extLst>
              </p:cNvPr>
              <p:cNvSpPr/>
              <p:nvPr/>
            </p:nvSpPr>
            <p:spPr>
              <a:xfrm>
                <a:off x="7620919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3FCFF79-D211-D333-5F4F-E7E48F6E6BDE}"/>
                  </a:ext>
                </a:extLst>
              </p:cNvPr>
              <p:cNvSpPr/>
              <p:nvPr/>
            </p:nvSpPr>
            <p:spPr>
              <a:xfrm>
                <a:off x="7977496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3B18570-78A8-F5A3-3E46-EFFBC12BB4F3}"/>
                  </a:ext>
                </a:extLst>
              </p:cNvPr>
              <p:cNvSpPr/>
              <p:nvPr/>
            </p:nvSpPr>
            <p:spPr>
              <a:xfrm>
                <a:off x="8334073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94EE587-2548-2152-AE37-BFE560C4C847}"/>
                  </a:ext>
                </a:extLst>
              </p:cNvPr>
              <p:cNvSpPr/>
              <p:nvPr/>
            </p:nvSpPr>
            <p:spPr>
              <a:xfrm>
                <a:off x="8690650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CC003F8-7A12-F4C6-AEE0-25E31F060F9F}"/>
                  </a:ext>
                </a:extLst>
              </p:cNvPr>
              <p:cNvSpPr/>
              <p:nvPr/>
            </p:nvSpPr>
            <p:spPr>
              <a:xfrm>
                <a:off x="9047224" y="2026024"/>
                <a:ext cx="360000" cy="3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A60E076-93BF-6A15-F190-230B70431478}"/>
              </a:ext>
            </a:extLst>
          </p:cNvPr>
          <p:cNvGrpSpPr/>
          <p:nvPr/>
        </p:nvGrpSpPr>
        <p:grpSpPr>
          <a:xfrm>
            <a:off x="6194613" y="3466024"/>
            <a:ext cx="3212612" cy="360000"/>
            <a:chOff x="6194612" y="2026024"/>
            <a:chExt cx="3212612" cy="3600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D24C8BB-76BF-8FCF-C81F-1523CD43571A}"/>
                </a:ext>
              </a:extLst>
            </p:cNvPr>
            <p:cNvSpPr/>
            <p:nvPr/>
          </p:nvSpPr>
          <p:spPr>
            <a:xfrm>
              <a:off x="6194612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22D9B77-B932-5EC2-FA41-6425A93C0674}"/>
                </a:ext>
              </a:extLst>
            </p:cNvPr>
            <p:cNvSpPr/>
            <p:nvPr/>
          </p:nvSpPr>
          <p:spPr>
            <a:xfrm>
              <a:off x="6551188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2C5CE30-32E2-0517-B878-0393CB5F0D49}"/>
                </a:ext>
              </a:extLst>
            </p:cNvPr>
            <p:cNvSpPr/>
            <p:nvPr/>
          </p:nvSpPr>
          <p:spPr>
            <a:xfrm>
              <a:off x="6907765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E5146C2-63F4-448D-A77A-78CB9825C3E7}"/>
                </a:ext>
              </a:extLst>
            </p:cNvPr>
            <p:cNvSpPr/>
            <p:nvPr/>
          </p:nvSpPr>
          <p:spPr>
            <a:xfrm>
              <a:off x="7264342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4E564DB-35F3-384F-C8B4-4FD5D5F9BD33}"/>
                </a:ext>
              </a:extLst>
            </p:cNvPr>
            <p:cNvSpPr/>
            <p:nvPr/>
          </p:nvSpPr>
          <p:spPr>
            <a:xfrm>
              <a:off x="7620919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38CC2D7-3CDA-60F3-1D89-15F3BBE733D4}"/>
                </a:ext>
              </a:extLst>
            </p:cNvPr>
            <p:cNvSpPr/>
            <p:nvPr/>
          </p:nvSpPr>
          <p:spPr>
            <a:xfrm>
              <a:off x="7977496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06A1A9B-F62E-3E09-58CF-4A8CCFAA7479}"/>
                </a:ext>
              </a:extLst>
            </p:cNvPr>
            <p:cNvSpPr/>
            <p:nvPr/>
          </p:nvSpPr>
          <p:spPr>
            <a:xfrm>
              <a:off x="8334073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A55BD85-C799-FA9A-6934-917FEDCAB956}"/>
                </a:ext>
              </a:extLst>
            </p:cNvPr>
            <p:cNvSpPr/>
            <p:nvPr/>
          </p:nvSpPr>
          <p:spPr>
            <a:xfrm>
              <a:off x="8690650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52B863E-81EE-9C19-DB3C-68BC3F14DB4B}"/>
                </a:ext>
              </a:extLst>
            </p:cNvPr>
            <p:cNvSpPr/>
            <p:nvPr/>
          </p:nvSpPr>
          <p:spPr>
            <a:xfrm>
              <a:off x="9047224" y="2026024"/>
              <a:ext cx="360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EF05332-46CE-A779-159A-ACBC910533A1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881CA-FEF1-E4F0-CE87-D4706A649286}"/>
              </a:ext>
            </a:extLst>
          </p:cNvPr>
          <p:cNvSpPr txBox="1"/>
          <p:nvPr/>
        </p:nvSpPr>
        <p:spPr>
          <a:xfrm>
            <a:off x="5846303" y="4526334"/>
            <a:ext cx="5397311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Slightly faster due to parallelizable generation,</a:t>
            </a:r>
          </a:p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however, </a:t>
            </a:r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still very slow</a:t>
            </a:r>
          </a:p>
        </p:txBody>
      </p:sp>
    </p:spTree>
    <p:extLst>
      <p:ext uri="{BB962C8B-B14F-4D97-AF65-F5344CB8AC3E}">
        <p14:creationId xmlns:p14="http://schemas.microsoft.com/office/powerpoint/2010/main" val="104522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201B-627E-2D93-663C-2A7714DF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31EB3-FC61-12BD-CD45-2D70EB1C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r>
              <a:rPr lang="en-US" dirty="0"/>
              <a:t> Generated Samples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71914-E0A2-B511-1484-854CA506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A421F-28A2-FC9B-76E2-0787598E8B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CBD15-8DAE-0430-957E-894075BEEDC6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4054F-9BB7-0AE0-50E0-16B7291A0FD3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047F0-69B8-1AF0-A67B-47DAFF1C9D60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pic>
        <p:nvPicPr>
          <p:cNvPr id="9" name="Picture 8" descr="A collage of a dog&#10;&#10;AI-generated content may be incorrect.">
            <a:extLst>
              <a:ext uri="{FF2B5EF4-FFF2-40B4-BE49-F238E27FC236}">
                <a16:creationId xmlns:a16="http://schemas.microsoft.com/office/drawing/2014/main" id="{C9E89324-931F-BC78-EA3F-024A7736E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385" y="2524827"/>
            <a:ext cx="6581229" cy="24430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DF3F56-C3E2-D0A0-05ED-E7BD52816A99}"/>
              </a:ext>
            </a:extLst>
          </p:cNvPr>
          <p:cNvSpPr txBox="1"/>
          <p:nvPr/>
        </p:nvSpPr>
        <p:spPr>
          <a:xfrm>
            <a:off x="2640724" y="2155495"/>
            <a:ext cx="97302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occluded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A385F7-4CB8-4808-3DF2-577168EB0083}"/>
              </a:ext>
            </a:extLst>
          </p:cNvPr>
          <p:cNvSpPr txBox="1"/>
          <p:nvPr/>
        </p:nvSpPr>
        <p:spPr>
          <a:xfrm>
            <a:off x="5452393" y="2155495"/>
            <a:ext cx="128721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completions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09BF6-2F8C-7077-5649-EDA21FB130C1}"/>
              </a:ext>
            </a:extLst>
          </p:cNvPr>
          <p:cNvSpPr txBox="1"/>
          <p:nvPr/>
        </p:nvSpPr>
        <p:spPr>
          <a:xfrm>
            <a:off x="8545280" y="2155495"/>
            <a:ext cx="76783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47045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7BC3-FBDF-232B-3AE6-F8BAF5C7D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F701-5D87-3A07-E2A8-BFC74F821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r>
              <a:rPr lang="en-US" dirty="0"/>
              <a:t> Generated Samples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C2CF6-357F-3EAF-E918-8688D832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DDB63-A6F9-610D-B0D9-36240A7947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D0DE8-AC74-6ABE-6020-1B37C532BEE0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CDB58-1897-E214-1CF3-0AB43A30237D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656B-26A2-8394-1D3D-E6FBEE19B459}"/>
              </a:ext>
            </a:extLst>
          </p:cNvPr>
          <p:cNvSpPr txBox="1"/>
          <p:nvPr/>
        </p:nvSpPr>
        <p:spPr>
          <a:xfrm>
            <a:off x="78828" y="6607328"/>
            <a:ext cx="3698128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van Den Oord et al., “Pixel recurrent neural networks”, ICML 2016.</a:t>
            </a:r>
          </a:p>
        </p:txBody>
      </p:sp>
      <p:pic>
        <p:nvPicPr>
          <p:cNvPr id="10" name="Picture 9" descr="A collage of many squares&#10;&#10;AI-generated content may be incorrect.">
            <a:extLst>
              <a:ext uri="{FF2B5EF4-FFF2-40B4-BE49-F238E27FC236}">
                <a16:creationId xmlns:a16="http://schemas.microsoft.com/office/drawing/2014/main" id="{65AE2534-C051-6241-4085-6652755A7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070" y="1531155"/>
            <a:ext cx="5459860" cy="48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9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EDE90-74F8-69F1-D1B6-53F44DE8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30E2-7A0A-C9E8-4001-13001D3AC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Transformer-based Image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62FB4-A1B9-5037-36EB-7DC80561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06316-A316-20F1-AF4E-0EEEB689D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F1B1A-E030-6885-9A17-AE21850A7CE3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2C27B-3D8C-2D1A-1CF3-5821919B5E63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F088A-8AD1-E440-7654-37D753AC3629}"/>
              </a:ext>
            </a:extLst>
          </p:cNvPr>
          <p:cNvSpPr txBox="1"/>
          <p:nvPr/>
        </p:nvSpPr>
        <p:spPr>
          <a:xfrm>
            <a:off x="78828" y="6607328"/>
            <a:ext cx="340157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Chen et al., “Generative Pretraining from Pixels”, ICML 2020.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86B485-5D5C-FD70-1402-6B118945C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074956"/>
            <a:ext cx="7772400" cy="280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2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163E-7ACD-E898-D24E-8DC3B6FE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21710-3F8C-E357-A2AD-7133CA311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Transformer-based Image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C68F7-7BD9-1BBC-4EB3-87AABE16F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6C42D-4DF6-9D35-2589-A5BC300643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Autoregressive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3DED6-E5F6-9D01-2D48-5E01151A48A5}"/>
              </a:ext>
            </a:extLst>
          </p:cNvPr>
          <p:cNvSpPr txBox="1"/>
          <p:nvPr/>
        </p:nvSpPr>
        <p:spPr>
          <a:xfrm>
            <a:off x="2640724" y="6509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452BC-0E98-0F5B-4852-97A7F79A4A34}"/>
              </a:ext>
            </a:extLst>
          </p:cNvPr>
          <p:cNvSpPr txBox="1"/>
          <p:nvPr/>
        </p:nvSpPr>
        <p:spPr>
          <a:xfrm>
            <a:off x="2215055" y="6582103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484AE5-3220-228D-4C38-D48B82255C29}"/>
              </a:ext>
            </a:extLst>
          </p:cNvPr>
          <p:cNvSpPr txBox="1"/>
          <p:nvPr/>
        </p:nvSpPr>
        <p:spPr>
          <a:xfrm>
            <a:off x="78828" y="6607328"/>
            <a:ext cx="6440866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Tian et al., “Visual Autoregressive Modeling: Scalable Image Generation via Next-Scale Prediction.”, </a:t>
            </a:r>
            <a:r>
              <a:rPr lang="en-US" sz="10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NeurIPS</a:t>
            </a:r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2024.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6D536D-717E-5A99-A088-8E009AA6F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148" y="2189473"/>
            <a:ext cx="9003704" cy="320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79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E7D9D-D2A5-A302-F26E-DC03CBE5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E139-C99B-9CD7-659F-9D4FDD50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6"/>
            <a:ext cx="7823200" cy="1421928"/>
          </a:xfrm>
        </p:spPr>
        <p:txBody>
          <a:bodyPr/>
          <a:lstStyle/>
          <a:p>
            <a:r>
              <a:rPr lang="en-US" dirty="0"/>
              <a:t>Variational Autoencoder (VAE)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180419-1FFB-DEE4-269E-EBC9FA41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6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FD03-29A5-0E72-2E27-A0F44866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4D9255-B932-C396-12F1-84399567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698401-F4BE-2E06-F96A-8F1D8EB78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24732"/>
          </a:xfrm>
        </p:spPr>
        <p:txBody>
          <a:bodyPr/>
          <a:lstStyle/>
          <a:p>
            <a:r>
              <a:rPr lang="en-US" dirty="0"/>
              <a:t>Goal: Learn latent representation z without the label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64FD66-BA61-FBDC-A7F3-6C39EFEE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D601AA-B974-A63A-D4DB-88487F59FE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3228B-C98A-8274-E66F-A17E9F12D57E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205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CA5D-DCF6-0FC8-2BE3-4095D0E7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9E25BB-7AA4-B64A-DF24-126822E1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533223-40B9-2FAC-3374-4F458118A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24732"/>
          </a:xfrm>
        </p:spPr>
        <p:txBody>
          <a:bodyPr/>
          <a:lstStyle/>
          <a:p>
            <a:r>
              <a:rPr lang="en-US" dirty="0"/>
              <a:t>Goal: Learn latent representation z without the label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6E75D-2A02-35F3-3D7E-588934AB1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8D7E7C-4D3C-253D-5679-7DCE303D68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1B520-8FD8-F844-EE85-15996F3685CD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D23F4F-A1F2-5D39-27A2-62841E211614}"/>
                  </a:ext>
                </a:extLst>
              </p:cNvPr>
              <p:cNvSpPr txBox="1"/>
              <p:nvPr/>
            </p:nvSpPr>
            <p:spPr>
              <a:xfrm>
                <a:off x="1460001" y="4141269"/>
                <a:ext cx="83093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D23F4F-A1F2-5D39-27A2-62841E211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01" y="4141269"/>
                <a:ext cx="830933" cy="369332"/>
              </a:xfrm>
              <a:prstGeom prst="rect">
                <a:avLst/>
              </a:prstGeom>
              <a:blipFill>
                <a:blip r:embed="rId5"/>
                <a:stretch>
                  <a:fillRect l="-18182" t="-3226" r="-2272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3D2D9D9-2DA4-7820-E060-D3875FDAAE90}"/>
              </a:ext>
            </a:extLst>
          </p:cNvPr>
          <p:cNvGrpSpPr/>
          <p:nvPr/>
        </p:nvGrpSpPr>
        <p:grpSpPr>
          <a:xfrm>
            <a:off x="3458260" y="2391114"/>
            <a:ext cx="1506071" cy="2104632"/>
            <a:chOff x="3303646" y="2403800"/>
            <a:chExt cx="1506071" cy="2104632"/>
          </a:xfrm>
        </p:grpSpPr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A772B2D8-A8E3-1A4D-9B32-3B58C99DBDF6}"/>
                </a:ext>
              </a:extLst>
            </p:cNvPr>
            <p:cNvSpPr/>
            <p:nvPr/>
          </p:nvSpPr>
          <p:spPr>
            <a:xfrm rot="5400000">
              <a:off x="3004366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A1BF2B1-8C88-DBEE-9BA6-66B52AFEC645}"/>
                    </a:ext>
                  </a:extLst>
                </p:cNvPr>
                <p:cNvSpPr txBox="1"/>
                <p:nvPr/>
              </p:nvSpPr>
              <p:spPr>
                <a:xfrm>
                  <a:off x="3609561" y="3120575"/>
                  <a:ext cx="882581" cy="67108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Encoder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A1BF2B1-8C88-DBEE-9BA6-66B52AFEC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561" y="3120575"/>
                  <a:ext cx="882581" cy="671081"/>
                </a:xfrm>
                <a:prstGeom prst="rect">
                  <a:avLst/>
                </a:prstGeom>
                <a:blipFill>
                  <a:blip r:embed="rId6"/>
                  <a:stretch>
                    <a:fillRect l="-15714" t="-3704" r="-21429" b="-92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" name="Picture 15" descr="A duck swimming in the water&#10;&#10;AI-generated content may be incorrect.">
            <a:extLst>
              <a:ext uri="{FF2B5EF4-FFF2-40B4-BE49-F238E27FC236}">
                <a16:creationId xmlns:a16="http://schemas.microsoft.com/office/drawing/2014/main" id="{3B5B700D-0599-6CAC-B400-70D4F950A6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5" r="386" b="11247"/>
          <a:stretch>
            <a:fillRect/>
          </a:stretch>
        </p:blipFill>
        <p:spPr>
          <a:xfrm>
            <a:off x="1195745" y="2763727"/>
            <a:ext cx="1359447" cy="135940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130F7A-2B16-DCE1-FEF9-59BB0E4ADE93}"/>
              </a:ext>
            </a:extLst>
          </p:cNvPr>
          <p:cNvCxnSpPr/>
          <p:nvPr/>
        </p:nvCxnSpPr>
        <p:spPr>
          <a:xfrm>
            <a:off x="2750482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30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599FD-DCFE-2EF8-1148-95C76A74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F826A1-E1E9-3758-EF82-860FCD6C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ABC36C-BE2A-602F-77F7-63041224F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24732"/>
          </a:xfrm>
        </p:spPr>
        <p:txBody>
          <a:bodyPr/>
          <a:lstStyle/>
          <a:p>
            <a:r>
              <a:rPr lang="en-US" dirty="0"/>
              <a:t>Goal: Learn latent representation z without the label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988B2-B024-19F5-1ABC-57D994C6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E60468-F245-514B-18A0-FD0B32ABB4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A8BA9-7477-FB2B-A3F7-80A6C9546AF4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368C202-5B7B-0578-723D-B476225D19C0}"/>
                  </a:ext>
                </a:extLst>
              </p:cNvPr>
              <p:cNvSpPr txBox="1"/>
              <p:nvPr/>
            </p:nvSpPr>
            <p:spPr>
              <a:xfrm>
                <a:off x="1460001" y="4141269"/>
                <a:ext cx="83093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D23F4F-A1F2-5D39-27A2-62841E211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01" y="4141269"/>
                <a:ext cx="830933" cy="369332"/>
              </a:xfrm>
              <a:prstGeom prst="rect">
                <a:avLst/>
              </a:prstGeom>
              <a:blipFill>
                <a:blip r:embed="rId5"/>
                <a:stretch>
                  <a:fillRect l="-18182" t="-3226" r="-2272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8768910-B123-420D-2094-E20F4BBA3ECF}"/>
              </a:ext>
            </a:extLst>
          </p:cNvPr>
          <p:cNvGrpSpPr/>
          <p:nvPr/>
        </p:nvGrpSpPr>
        <p:grpSpPr>
          <a:xfrm>
            <a:off x="3458260" y="2391114"/>
            <a:ext cx="1506071" cy="2104632"/>
            <a:chOff x="3303646" y="2403800"/>
            <a:chExt cx="1506071" cy="2104632"/>
          </a:xfrm>
        </p:grpSpPr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9B9B1118-8858-4D4C-4253-A08C97D82E97}"/>
                </a:ext>
              </a:extLst>
            </p:cNvPr>
            <p:cNvSpPr/>
            <p:nvPr/>
          </p:nvSpPr>
          <p:spPr>
            <a:xfrm rot="5400000">
              <a:off x="3004366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0610F43-7ADE-0DC4-5E89-F81158232AE9}"/>
                    </a:ext>
                  </a:extLst>
                </p:cNvPr>
                <p:cNvSpPr txBox="1"/>
                <p:nvPr/>
              </p:nvSpPr>
              <p:spPr>
                <a:xfrm>
                  <a:off x="3609561" y="3120575"/>
                  <a:ext cx="882581" cy="67108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Encoder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A1BF2B1-8C88-DBEE-9BA6-66B52AFEC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561" y="3120575"/>
                  <a:ext cx="882581" cy="671081"/>
                </a:xfrm>
                <a:prstGeom prst="rect">
                  <a:avLst/>
                </a:prstGeom>
                <a:blipFill>
                  <a:blip r:embed="rId6"/>
                  <a:stretch>
                    <a:fillRect l="-15714" t="-3704" r="-21429" b="-92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" name="Picture 15" descr="A duck swimming in the water&#10;&#10;AI-generated content may be incorrect.">
            <a:extLst>
              <a:ext uri="{FF2B5EF4-FFF2-40B4-BE49-F238E27FC236}">
                <a16:creationId xmlns:a16="http://schemas.microsoft.com/office/drawing/2014/main" id="{6CC9626A-B228-DDD0-8378-1169C99550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5" r="386" b="11247"/>
          <a:stretch>
            <a:fillRect/>
          </a:stretch>
        </p:blipFill>
        <p:spPr>
          <a:xfrm>
            <a:off x="1195745" y="2763727"/>
            <a:ext cx="1359447" cy="135940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9C9E42-3EB2-6115-9E13-AF7AC47F5E05}"/>
              </a:ext>
            </a:extLst>
          </p:cNvPr>
          <p:cNvCxnSpPr/>
          <p:nvPr/>
        </p:nvCxnSpPr>
        <p:spPr>
          <a:xfrm>
            <a:off x="2750482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2E883DF-6C33-7117-A783-045407DC42CB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55675B4-495C-C801-08EC-6201CF2059D9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8E315E3-81E5-EBE0-77E8-E0B3050A4FE0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BE4BD93-D46F-27E8-A12D-FC20E174C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CEA4B7-A724-05CF-5E55-EA9D358B329B}"/>
              </a:ext>
            </a:extLst>
          </p:cNvPr>
          <p:cNvCxnSpPr>
            <a:cxnSpLocks/>
          </p:cNvCxnSpPr>
          <p:nvPr/>
        </p:nvCxnSpPr>
        <p:spPr>
          <a:xfrm>
            <a:off x="5159621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02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2AD3-E719-D96C-B546-7C869A2B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7176B7-7099-B275-E0FC-7F855C0B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783931-45E1-7B44-07B3-A7CC3ACD4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24732"/>
          </a:xfrm>
        </p:spPr>
        <p:txBody>
          <a:bodyPr/>
          <a:lstStyle/>
          <a:p>
            <a:r>
              <a:rPr lang="en-US" dirty="0"/>
              <a:t>Goal: Learn latent representation z without the label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EC1AA6-A2DB-9199-417F-6607FCBC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B03ED9-DE00-9E28-5E2B-A784401648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702C83-465A-9304-000B-047ECBFD3032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50E3070-E9B0-1A47-1E79-70B301EA272B}"/>
                  </a:ext>
                </a:extLst>
              </p:cNvPr>
              <p:cNvSpPr txBox="1"/>
              <p:nvPr/>
            </p:nvSpPr>
            <p:spPr>
              <a:xfrm>
                <a:off x="1460001" y="4141269"/>
                <a:ext cx="83093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D23F4F-A1F2-5D39-27A2-62841E211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01" y="4141269"/>
                <a:ext cx="830933" cy="369332"/>
              </a:xfrm>
              <a:prstGeom prst="rect">
                <a:avLst/>
              </a:prstGeom>
              <a:blipFill>
                <a:blip r:embed="rId5"/>
                <a:stretch>
                  <a:fillRect l="-18182" t="-3226" r="-2272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F16C286-FEA2-C9E6-AE4C-6CFBBE64C2D0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C5EDF5-CBC2-4B2C-E76E-88DDAA3F4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6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58FFDEE-A717-EE76-F1A9-F4CE0561E0BB}"/>
              </a:ext>
            </a:extLst>
          </p:cNvPr>
          <p:cNvGrpSpPr/>
          <p:nvPr/>
        </p:nvGrpSpPr>
        <p:grpSpPr>
          <a:xfrm>
            <a:off x="1195745" y="2391114"/>
            <a:ext cx="9800510" cy="2104632"/>
            <a:chOff x="1221591" y="2403800"/>
            <a:chExt cx="9800510" cy="210463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ECAA957-F1AE-B389-1A4E-C21C0D79CE42}"/>
                </a:ext>
              </a:extLst>
            </p:cNvPr>
            <p:cNvGrpSpPr/>
            <p:nvPr/>
          </p:nvGrpSpPr>
          <p:grpSpPr>
            <a:xfrm>
              <a:off x="3484106" y="2403800"/>
              <a:ext cx="1506071" cy="2104632"/>
              <a:chOff x="3303646" y="2403800"/>
              <a:chExt cx="1506071" cy="2104632"/>
            </a:xfrm>
          </p:grpSpPr>
          <p:sp>
            <p:nvSpPr>
              <p:cNvPr id="8" name="Trapezoid 7">
                <a:extLst>
                  <a:ext uri="{FF2B5EF4-FFF2-40B4-BE49-F238E27FC236}">
                    <a16:creationId xmlns:a16="http://schemas.microsoft.com/office/drawing/2014/main" id="{0A17CE8E-BDAB-E3B1-0D77-38477FC37374}"/>
                  </a:ext>
                </a:extLst>
              </p:cNvPr>
              <p:cNvSpPr/>
              <p:nvPr/>
            </p:nvSpPr>
            <p:spPr>
              <a:xfrm rot="5400000">
                <a:off x="3004366" y="270308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83D86E98-2650-09C9-1000-C47170475084}"/>
                      </a:ext>
                    </a:extLst>
                  </p:cNvPr>
                  <p:cNvSpPr txBox="1"/>
                  <p:nvPr/>
                </p:nvSpPr>
                <p:spPr>
                  <a:xfrm>
                    <a:off x="3609561" y="3120575"/>
                    <a:ext cx="882581" cy="671081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A1BF2B1-8C88-DBEE-9BA6-66B52AFEC6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9561" y="3120575"/>
                    <a:ext cx="882581" cy="67108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5714" t="-3704" r="-21429" b="-92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6" name="Picture 15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094F4A1E-BFA5-474C-93AB-C46DC329B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221591" y="2776413"/>
              <a:ext cx="1359447" cy="1359406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4C273A-1589-ACE9-87F6-D0A5B7251AB7}"/>
                </a:ext>
              </a:extLst>
            </p:cNvPr>
            <p:cNvCxnSpPr/>
            <p:nvPr/>
          </p:nvCxnSpPr>
          <p:spPr>
            <a:xfrm>
              <a:off x="2776328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192F6BC-91BA-B41C-1428-F6386AA19BCD}"/>
                </a:ext>
              </a:extLst>
            </p:cNvPr>
            <p:cNvGrpSpPr/>
            <p:nvPr/>
          </p:nvGrpSpPr>
          <p:grpSpPr>
            <a:xfrm>
              <a:off x="5893245" y="2724293"/>
              <a:ext cx="457200" cy="1463647"/>
              <a:chOff x="5446986" y="3171415"/>
              <a:chExt cx="457200" cy="1463647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85A6719-4B92-0078-109F-2CED1E7604F6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AF5E5B5-B115-A57D-9319-09C708D3F9C3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BE4BD93-D46F-27E8-A12D-FC20E174CD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9524" t="-11111" r="-80952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49373AD-0803-EB00-E7FC-0DE25E713F96}"/>
                </a:ext>
              </a:extLst>
            </p:cNvPr>
            <p:cNvCxnSpPr>
              <a:cxnSpLocks/>
            </p:cNvCxnSpPr>
            <p:nvPr/>
          </p:nvCxnSpPr>
          <p:spPr>
            <a:xfrm>
              <a:off x="6545735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4AE1B5AA-1121-CBFB-A18D-C0E8E99323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2654" y="2776393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6A06758-4093-5508-8883-2C2082C8452E}"/>
                </a:ext>
              </a:extLst>
            </p:cNvPr>
            <p:cNvCxnSpPr/>
            <p:nvPr/>
          </p:nvCxnSpPr>
          <p:spPr>
            <a:xfrm>
              <a:off x="8954874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E2C4E40-515B-3CAC-E4C9-062F0F99F1DA}"/>
                </a:ext>
              </a:extLst>
            </p:cNvPr>
            <p:cNvGrpSpPr/>
            <p:nvPr/>
          </p:nvGrpSpPr>
          <p:grpSpPr>
            <a:xfrm>
              <a:off x="7253513" y="2403800"/>
              <a:ext cx="1506071" cy="2104632"/>
              <a:chOff x="7367859" y="2403800"/>
              <a:chExt cx="1506071" cy="21046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0AF4C60-529A-69E4-9321-46F8A0E5EE6E}"/>
                      </a:ext>
                    </a:extLst>
                  </p:cNvPr>
                  <p:cNvSpPr txBox="1"/>
                  <p:nvPr/>
                </p:nvSpPr>
                <p:spPr>
                  <a:xfrm>
                    <a:off x="7727870" y="3132950"/>
                    <a:ext cx="930063" cy="646331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Decoder</a:t>
                    </a: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C3E7D114-01DA-2E27-E7FF-C242D0AE2E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7870" y="3132950"/>
                    <a:ext cx="930063" cy="64633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865" t="-3846" r="-17568" b="-134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6962E305-19E5-6065-D361-279FD2AC4E70}"/>
                  </a:ext>
                </a:extLst>
              </p:cNvPr>
              <p:cNvSpPr/>
              <p:nvPr/>
            </p:nvSpPr>
            <p:spPr>
              <a:xfrm rot="16200000">
                <a:off x="7068579" y="270308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0B8192E-85AC-0D82-C99D-272229D4D3DA}"/>
                </a:ext>
              </a:extLst>
            </p:cNvPr>
            <p:cNvCxnSpPr>
              <a:cxnSpLocks/>
            </p:cNvCxnSpPr>
            <p:nvPr/>
          </p:nvCxnSpPr>
          <p:spPr>
            <a:xfrm>
              <a:off x="5185467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5932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E5FDB-BA57-35E0-A25F-55554A1F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6D4A1F-083F-4737-ACE0-BB370E13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9B8BB8-C9B7-0D6A-977D-80F957B1B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24732"/>
          </a:xfrm>
        </p:spPr>
        <p:txBody>
          <a:bodyPr/>
          <a:lstStyle/>
          <a:p>
            <a:r>
              <a:rPr lang="en-US" dirty="0"/>
              <a:t>Goal: Learn latent representation z without the label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15DD63-8EC8-DD30-7137-A5B92B36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7D6896-0681-86B2-B7FC-0A5E1F73A6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DDF66-9EBB-8A8F-FA45-D982F607FD03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655D0E-AFB1-E00D-8B30-08930EFDDC94}"/>
                  </a:ext>
                </a:extLst>
              </p:cNvPr>
              <p:cNvSpPr txBox="1"/>
              <p:nvPr/>
            </p:nvSpPr>
            <p:spPr>
              <a:xfrm>
                <a:off x="1460001" y="4141269"/>
                <a:ext cx="83093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655D0E-AFB1-E00D-8B30-08930EFDD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01" y="4141269"/>
                <a:ext cx="830933" cy="369332"/>
              </a:xfrm>
              <a:prstGeom prst="rect">
                <a:avLst/>
              </a:prstGeom>
              <a:blipFill>
                <a:blip r:embed="rId5"/>
                <a:stretch>
                  <a:fillRect l="-18182" t="-3226" r="-2272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821D8B5-2EFE-F8DA-0DF0-7970FA175673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821D8B5-2EFE-F8DA-0DF0-7970FA175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6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24A8E1AA-7F25-AC1B-D647-9B8FAF32A85A}"/>
              </a:ext>
            </a:extLst>
          </p:cNvPr>
          <p:cNvCxnSpPr>
            <a:stCxn id="19" idx="2"/>
            <a:endCxn id="37" idx="2"/>
          </p:cNvCxnSpPr>
          <p:nvPr/>
        </p:nvCxnSpPr>
        <p:spPr>
          <a:xfrm rot="16200000" flipH="1">
            <a:off x="6167257" y="218811"/>
            <a:ext cx="8696" cy="8592275"/>
          </a:xfrm>
          <a:prstGeom prst="bentConnector3">
            <a:avLst>
              <a:gd name="adj1" fmla="val 2728795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B2E2C7-5AF6-C4AE-9F29-41DF71B0412A}"/>
                  </a:ext>
                </a:extLst>
              </p:cNvPr>
              <p:cNvSpPr txBox="1"/>
              <p:nvPr/>
            </p:nvSpPr>
            <p:spPr>
              <a:xfrm>
                <a:off x="4668573" y="4796031"/>
                <a:ext cx="3085781" cy="37305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Reconstruction Loss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2</m:t>
                        </m:r>
                      </m:sup>
                    </m:sSubSup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B2E2C7-5AF6-C4AE-9F29-41DF71B04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573" y="4796031"/>
                <a:ext cx="3085781" cy="373051"/>
              </a:xfrm>
              <a:prstGeom prst="rect">
                <a:avLst/>
              </a:prstGeom>
              <a:blipFill>
                <a:blip r:embed="rId7"/>
                <a:stretch>
                  <a:fillRect l="-4508" t="-3226" r="-5328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81E4DF62-9DB6-388C-8F72-1F9684297FA2}"/>
              </a:ext>
            </a:extLst>
          </p:cNvPr>
          <p:cNvGrpSpPr/>
          <p:nvPr/>
        </p:nvGrpSpPr>
        <p:grpSpPr>
          <a:xfrm>
            <a:off x="1195745" y="2391114"/>
            <a:ext cx="9800510" cy="2104632"/>
            <a:chOff x="1221591" y="2403800"/>
            <a:chExt cx="9800510" cy="210463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7032CD4-BA01-F1D8-9A8F-1BE0B322F04D}"/>
                </a:ext>
              </a:extLst>
            </p:cNvPr>
            <p:cNvGrpSpPr/>
            <p:nvPr/>
          </p:nvGrpSpPr>
          <p:grpSpPr>
            <a:xfrm>
              <a:off x="3484106" y="2403800"/>
              <a:ext cx="1506071" cy="2104632"/>
              <a:chOff x="3303646" y="2403800"/>
              <a:chExt cx="1506071" cy="2104632"/>
            </a:xfrm>
          </p:grpSpPr>
          <p:sp>
            <p:nvSpPr>
              <p:cNvPr id="8" name="Trapezoid 7">
                <a:extLst>
                  <a:ext uri="{FF2B5EF4-FFF2-40B4-BE49-F238E27FC236}">
                    <a16:creationId xmlns:a16="http://schemas.microsoft.com/office/drawing/2014/main" id="{460E6FE6-4E63-F2C5-D890-C2165956DFF4}"/>
                  </a:ext>
                </a:extLst>
              </p:cNvPr>
              <p:cNvSpPr/>
              <p:nvPr/>
            </p:nvSpPr>
            <p:spPr>
              <a:xfrm rot="5400000">
                <a:off x="3004366" y="270308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B3A9243F-7921-9629-12B7-110FBF06FA63}"/>
                      </a:ext>
                    </a:extLst>
                  </p:cNvPr>
                  <p:cNvSpPr txBox="1"/>
                  <p:nvPr/>
                </p:nvSpPr>
                <p:spPr>
                  <a:xfrm>
                    <a:off x="3609561" y="3120575"/>
                    <a:ext cx="882581" cy="671081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B3A9243F-7921-9629-12B7-110FBF06FA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9561" y="3120575"/>
                    <a:ext cx="882581" cy="67108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5714" t="-3704" r="-21429" b="-92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6" name="Picture 15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64CB373B-40EC-D62E-A973-F798C6C33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221591" y="2776413"/>
              <a:ext cx="1359447" cy="1359406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D132F9E-C34F-4D28-CD7F-69B8F8B05858}"/>
                </a:ext>
              </a:extLst>
            </p:cNvPr>
            <p:cNvCxnSpPr/>
            <p:nvPr/>
          </p:nvCxnSpPr>
          <p:spPr>
            <a:xfrm>
              <a:off x="2776328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9F3C311-6E63-2145-D45C-CE5D36A6435C}"/>
                </a:ext>
              </a:extLst>
            </p:cNvPr>
            <p:cNvGrpSpPr/>
            <p:nvPr/>
          </p:nvGrpSpPr>
          <p:grpSpPr>
            <a:xfrm>
              <a:off x="5893245" y="2724293"/>
              <a:ext cx="457200" cy="1463647"/>
              <a:chOff x="5446986" y="3171415"/>
              <a:chExt cx="457200" cy="1463647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9326251-56E2-3395-63DD-B66F0506B0B6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600AE70B-9FEF-1BB1-59F8-A57C756F7EBB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600AE70B-9FEF-1BB1-59F8-A57C756F7E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524" t="-11111" r="-80952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07F0A60-39F2-6424-0448-74331F76D465}"/>
                </a:ext>
              </a:extLst>
            </p:cNvPr>
            <p:cNvCxnSpPr>
              <a:cxnSpLocks/>
            </p:cNvCxnSpPr>
            <p:nvPr/>
          </p:nvCxnSpPr>
          <p:spPr>
            <a:xfrm>
              <a:off x="6545735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D1262489-2110-0871-0F2C-92E717D9C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2654" y="2776393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E6B0FB8-0D2E-F0ED-FC67-B7CEFFF63CD1}"/>
                </a:ext>
              </a:extLst>
            </p:cNvPr>
            <p:cNvCxnSpPr/>
            <p:nvPr/>
          </p:nvCxnSpPr>
          <p:spPr>
            <a:xfrm>
              <a:off x="8954874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6453729-B382-B4CA-558C-7B7914AC636F}"/>
                </a:ext>
              </a:extLst>
            </p:cNvPr>
            <p:cNvGrpSpPr/>
            <p:nvPr/>
          </p:nvGrpSpPr>
          <p:grpSpPr>
            <a:xfrm>
              <a:off x="7253513" y="2403800"/>
              <a:ext cx="1506071" cy="2104632"/>
              <a:chOff x="7367859" y="2403800"/>
              <a:chExt cx="1506071" cy="21046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67E505E-83C5-6213-233F-7BE8EAB3C60D}"/>
                      </a:ext>
                    </a:extLst>
                  </p:cNvPr>
                  <p:cNvSpPr txBox="1"/>
                  <p:nvPr/>
                </p:nvSpPr>
                <p:spPr>
                  <a:xfrm>
                    <a:off x="7727870" y="3132950"/>
                    <a:ext cx="930063" cy="646331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Decoder</a:t>
                    </a: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67E505E-83C5-6213-233F-7BE8EAB3C6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7870" y="3132950"/>
                    <a:ext cx="930063" cy="64633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4865" t="-3846" r="-17568" b="-134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C6E15EF0-59B5-33D7-4B9C-4ECFB3AEBCD1}"/>
                  </a:ext>
                </a:extLst>
              </p:cNvPr>
              <p:cNvSpPr/>
              <p:nvPr/>
            </p:nvSpPr>
            <p:spPr>
              <a:xfrm rot="16200000">
                <a:off x="7068579" y="270308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4F1A484-5B33-A4A7-B647-9792539D35AC}"/>
                </a:ext>
              </a:extLst>
            </p:cNvPr>
            <p:cNvCxnSpPr>
              <a:cxnSpLocks/>
            </p:cNvCxnSpPr>
            <p:nvPr/>
          </p:nvCxnSpPr>
          <p:spPr>
            <a:xfrm>
              <a:off x="5185467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681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18D39-D67B-8873-BB69-C9530CBDC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A00A4F-396B-B441-F86A-8468892A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78FDE7-84D7-3632-3C2D-68F43E297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24732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F1B265-FC52-0DD1-7F59-37EF50D8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1A569A-6AB2-F4B6-8593-C99F7BB487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10B5C-370B-FE5A-B4A5-C4D5FFC85174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30B59B-6D0F-37D4-0114-4C28AB275FB6}"/>
                  </a:ext>
                </a:extLst>
              </p:cNvPr>
              <p:cNvSpPr txBox="1"/>
              <p:nvPr/>
            </p:nvSpPr>
            <p:spPr>
              <a:xfrm>
                <a:off x="1460001" y="4141269"/>
                <a:ext cx="83093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30B59B-6D0F-37D4-0114-4C28AB275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01" y="4141269"/>
                <a:ext cx="830933" cy="369332"/>
              </a:xfrm>
              <a:prstGeom prst="rect">
                <a:avLst/>
              </a:prstGeom>
              <a:blipFill>
                <a:blip r:embed="rId5"/>
                <a:stretch>
                  <a:fillRect l="-18182" t="-3226" r="-2272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880828-7363-A448-247B-AA94E7F28073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880828-7363-A448-247B-AA94E7F28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6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0A65E62-2707-F603-3211-45C5CB7A513E}"/>
              </a:ext>
            </a:extLst>
          </p:cNvPr>
          <p:cNvGrpSpPr/>
          <p:nvPr/>
        </p:nvGrpSpPr>
        <p:grpSpPr>
          <a:xfrm>
            <a:off x="1195745" y="2391114"/>
            <a:ext cx="9800510" cy="2104632"/>
            <a:chOff x="1221591" y="2403800"/>
            <a:chExt cx="9800510" cy="210463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BB6C97E-67D2-2572-78F9-81470AA57401}"/>
                </a:ext>
              </a:extLst>
            </p:cNvPr>
            <p:cNvGrpSpPr/>
            <p:nvPr/>
          </p:nvGrpSpPr>
          <p:grpSpPr>
            <a:xfrm>
              <a:off x="3484106" y="2403800"/>
              <a:ext cx="1506071" cy="2104632"/>
              <a:chOff x="3303646" y="2403800"/>
              <a:chExt cx="1506071" cy="2104632"/>
            </a:xfrm>
          </p:grpSpPr>
          <p:sp>
            <p:nvSpPr>
              <p:cNvPr id="8" name="Trapezoid 7">
                <a:extLst>
                  <a:ext uri="{FF2B5EF4-FFF2-40B4-BE49-F238E27FC236}">
                    <a16:creationId xmlns:a16="http://schemas.microsoft.com/office/drawing/2014/main" id="{946251B4-FFF6-23AD-64E9-BABB9DAC39CC}"/>
                  </a:ext>
                </a:extLst>
              </p:cNvPr>
              <p:cNvSpPr/>
              <p:nvPr/>
            </p:nvSpPr>
            <p:spPr>
              <a:xfrm rot="5400000">
                <a:off x="3004366" y="270308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B979B18-E875-4823-C542-BC02CF5F1EC7}"/>
                      </a:ext>
                    </a:extLst>
                  </p:cNvPr>
                  <p:cNvSpPr txBox="1"/>
                  <p:nvPr/>
                </p:nvSpPr>
                <p:spPr>
                  <a:xfrm>
                    <a:off x="3609561" y="3120575"/>
                    <a:ext cx="882581" cy="671081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B979B18-E875-4823-C542-BC02CF5F1E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9561" y="3120575"/>
                    <a:ext cx="882581" cy="67108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5714" t="-3704" r="-21429" b="-92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6" name="Picture 15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A859372F-35B5-5FA7-5094-D3F2CAF0F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221591" y="2776413"/>
              <a:ext cx="1359447" cy="1359406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9CF28B7-4996-88BD-E18F-986C7D54CBC3}"/>
                </a:ext>
              </a:extLst>
            </p:cNvPr>
            <p:cNvCxnSpPr/>
            <p:nvPr/>
          </p:nvCxnSpPr>
          <p:spPr>
            <a:xfrm>
              <a:off x="2776328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7D26D8C-6DD3-8661-1407-E2B702940CEE}"/>
                </a:ext>
              </a:extLst>
            </p:cNvPr>
            <p:cNvGrpSpPr/>
            <p:nvPr/>
          </p:nvGrpSpPr>
          <p:grpSpPr>
            <a:xfrm>
              <a:off x="5893245" y="2724293"/>
              <a:ext cx="457200" cy="1463647"/>
              <a:chOff x="5446986" y="3171415"/>
              <a:chExt cx="457200" cy="1463647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4653B93-DECF-2E2A-ECAC-CD24D847D577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2FDB1D68-4FA2-D21D-00C5-010903CDE426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2FDB1D68-4FA2-D21D-00C5-010903CDE4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9524" t="-11111" r="-80952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4CED80A-4FC8-6D56-192C-80592F546B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5735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30A03DDA-6539-BCE6-1971-6C798D0EAF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2654" y="2776393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14E24D6-D734-FB07-D757-E38F4E60FA3F}"/>
                </a:ext>
              </a:extLst>
            </p:cNvPr>
            <p:cNvCxnSpPr/>
            <p:nvPr/>
          </p:nvCxnSpPr>
          <p:spPr>
            <a:xfrm>
              <a:off x="8954874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BBF8CB7-DACF-EC2E-5B86-9BA4CB1FC240}"/>
                </a:ext>
              </a:extLst>
            </p:cNvPr>
            <p:cNvGrpSpPr/>
            <p:nvPr/>
          </p:nvGrpSpPr>
          <p:grpSpPr>
            <a:xfrm>
              <a:off x="7253513" y="2403800"/>
              <a:ext cx="1506071" cy="2104632"/>
              <a:chOff x="7367859" y="2403800"/>
              <a:chExt cx="1506071" cy="21046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032A4B79-DCFF-E290-00F2-778DFA2F6FA6}"/>
                      </a:ext>
                    </a:extLst>
                  </p:cNvPr>
                  <p:cNvSpPr txBox="1"/>
                  <p:nvPr/>
                </p:nvSpPr>
                <p:spPr>
                  <a:xfrm>
                    <a:off x="7727870" y="3132950"/>
                    <a:ext cx="930063" cy="646331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Decoder</a:t>
                    </a: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032A4B79-DCFF-E290-00F2-778DFA2F6F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7870" y="3132950"/>
                    <a:ext cx="930063" cy="64633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865" t="-3846" r="-17568" b="-134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FF4280DD-4B9D-0F82-144B-729413E32CD0}"/>
                  </a:ext>
                </a:extLst>
              </p:cNvPr>
              <p:cNvSpPr/>
              <p:nvPr/>
            </p:nvSpPr>
            <p:spPr>
              <a:xfrm rot="16200000">
                <a:off x="7068579" y="270308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12163FA-43CF-EEE5-5BF8-99E2F662AA1E}"/>
                </a:ext>
              </a:extLst>
            </p:cNvPr>
            <p:cNvCxnSpPr>
              <a:cxnSpLocks/>
            </p:cNvCxnSpPr>
            <p:nvPr/>
          </p:nvCxnSpPr>
          <p:spPr>
            <a:xfrm>
              <a:off x="5185467" y="3456116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472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4FCFD-52F5-9F49-7395-167624678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1A24A2-4208-8993-C6D3-523428057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ACB282-E547-E277-8F84-DA2A3A7DA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911019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29D0D7-D623-882F-AEFF-54893CD7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92AACD-F307-62F6-C2F8-A5360DF89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6956B-AC68-4932-2BC9-B4C5A2CE9443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FCF1D8-1916-67A0-A1E7-6070511D1051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FCF1D8-1916-67A0-A1E7-6070511D1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5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2CEC151-1D4C-6896-1309-F9036E1A6472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8D99E9-3C24-02FA-68BD-0F2D4FEE96E2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E16D954-4B5B-E83A-01FA-B0E41D52D0CB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E16D954-4B5B-E83A-01FA-B0E41D52D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BA3C8D-25D3-ABA4-93DC-34BE27858A06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84C0C79F-B4E1-99F4-B593-00171F29B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2763707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D0B8DBE-D465-47CA-2133-90217EB8C572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25C0FF-859F-CDF3-65CA-8DF446FFF6D5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93B65A-186D-B008-3A9C-F8C05ED960EE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93B65A-186D-B008-3A9C-F8C05ED960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8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706261ED-0A9F-3777-D5D1-028BF3751AD5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9700861-0E06-842D-3587-A997723C1DE5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717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E1C49-6083-9970-DAA2-D72638FF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47A104-C78D-A360-0F30-2870C692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7D907D-D20C-6C13-DB57-DE45D4512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254C0D-AC67-DE72-C966-9704DC47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DBADFB-38A5-DB93-E532-DA0F05A091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8687DE-700B-8FB8-413D-5DC43254BF13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A3C9D4C-E97D-8EFB-758B-91B8660EEEF9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FCF1D8-1916-67A0-A1E7-6070511D1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5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9E6AD02-9AA7-AD0F-1285-37358DE5D281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A5E2B3D-0329-6605-46CD-E3AFC99193AD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37DC376-AB72-5EDB-3732-DC8981F75596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E16D954-4B5B-E83A-01FA-B0E41D52D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718B87-C424-3569-6DE2-A1097A78AA82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83639FE6-3CFF-F1B9-BDBC-DA6C36695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2763707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63E270-DBAE-93E2-253C-EEFCA74511CE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D2AF922-E0D7-65E0-868D-7C6C6C8D884C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178823F-5CB3-3156-68BB-1B5CC15B95D6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93B65A-186D-B008-3A9C-F8C05ED960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8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787873D9-D3AF-901B-1F94-6FF62936C99E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AC7C6DF-DF99-95D7-5A5C-9344E939AE31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148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C8554-FC87-399F-2221-96E0AC94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E2DC6A-7CE8-C753-7C28-2018D4D7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F0CC05-44AA-6816-CCCA-56F378DBF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6FC4BA-38ED-977D-9F5D-ED43E903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81D2A6-AE0D-F426-2D9C-EA2F747726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12180-7CAF-9A44-5EF8-2895D75144FB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9E18BE1-29DC-9592-DBED-AEC65F447B59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9E18BE1-29DC-9592-DBED-AEC65F447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5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47C0FA8-4343-6A6B-53A6-9E4CB6448971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39E2DC6-2FC2-35E7-3CC2-9C3F14AC8A4E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07F123A-ACDA-F7A1-64C0-0D5373563A20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07F123A-ACDA-F7A1-64C0-0D5373563A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D225DA6-9006-93E8-CEEA-C246FF0F534E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3D54DC46-EB02-6817-9813-9DACAFBC9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2763707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ADCE1FE-A1F6-61B7-2BE1-23457D8DCEC0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C6A3D9D-6AEB-9055-8FBB-1261867AF8D2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7A821A9-BDE8-3577-C70A-4F90BD1F896B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7A821A9-BDE8-3577-C70A-4F90BD1F89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8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80AD62B9-41CE-0888-7561-75EFF27F7BFF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4169A24-A89F-6E02-DA49-AD2241F7D3B5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6ADD8-CAAF-6192-0679-93C06A48C73F}"/>
              </a:ext>
            </a:extLst>
          </p:cNvPr>
          <p:cNvSpPr txBox="1"/>
          <p:nvPr/>
        </p:nvSpPr>
        <p:spPr>
          <a:xfrm>
            <a:off x="975917" y="3242757"/>
            <a:ext cx="3574697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However, we do not know </a:t>
            </a:r>
          </a:p>
          <a:p>
            <a:pPr algn="l"/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the probability distribution of z</a:t>
            </a:r>
          </a:p>
        </p:txBody>
      </p:sp>
    </p:spTree>
    <p:extLst>
      <p:ext uri="{BB962C8B-B14F-4D97-AF65-F5344CB8AC3E}">
        <p14:creationId xmlns:p14="http://schemas.microsoft.com/office/powerpoint/2010/main" val="380117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971BF-4C8E-36D4-B5E3-D18A7262C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BE4808-3C29-BED1-A4A3-F9D79655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0C0916-51F1-F435-AAC2-1AC38B4D0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B3C859-16E6-AF1F-C278-BDE04C68E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5E4C3B-FFA7-A2A0-165A-DD2B2FF5A3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45B37-2DBF-C92F-9613-A0A2E34BA9C0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70EC4ED-9CF8-90F5-49EC-8F3FACB483BF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70EC4ED-9CF8-90F5-49EC-8F3FACB48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5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60DD3B3-45C3-0FB1-70B7-90277DFC150D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8313FD1-AE52-7BBE-3482-0D82FEEF053D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CBA7C70-779F-A44A-424D-67EC8241CCF3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CBA7C70-779F-A44A-424D-67EC8241C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4F1FCF-D8DC-259D-57F5-BCB1F86FA3EB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257ABD39-5E88-C972-7FB5-3A8420F0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2763707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42AB15D-19D6-48A9-09CE-DF8FBE4ECF8E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F683400-B630-F0F5-9E55-E73E37FEDC59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589A0BC-001C-AB2E-2FD5-707BE5F80E3A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589A0BC-001C-AB2E-2FD5-707BE5F80E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8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F77B172A-2858-4396-34B4-12BD48821096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6226BE7-74C4-FECC-776F-18607C56A7AF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083BB-6BC9-6CD5-BF2D-A6E09BE594E1}"/>
              </a:ext>
            </a:extLst>
          </p:cNvPr>
          <p:cNvSpPr txBox="1"/>
          <p:nvPr/>
        </p:nvSpPr>
        <p:spPr>
          <a:xfrm>
            <a:off x="975917" y="3242757"/>
            <a:ext cx="3574697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However, we do not know </a:t>
            </a:r>
          </a:p>
          <a:p>
            <a:pPr algn="l"/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the probability distribution of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F5F7EC-3D86-B530-5581-B940652C5261}"/>
              </a:ext>
            </a:extLst>
          </p:cNvPr>
          <p:cNvSpPr txBox="1"/>
          <p:nvPr/>
        </p:nvSpPr>
        <p:spPr>
          <a:xfrm>
            <a:off x="975917" y="3980688"/>
            <a:ext cx="3321422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Can we make the P(z) nicer?</a:t>
            </a:r>
          </a:p>
        </p:txBody>
      </p:sp>
    </p:spTree>
    <p:extLst>
      <p:ext uri="{BB962C8B-B14F-4D97-AF65-F5344CB8AC3E}">
        <p14:creationId xmlns:p14="http://schemas.microsoft.com/office/powerpoint/2010/main" val="166180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518D-B073-7C61-DC6A-56D3F4D4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84C20C-3137-CD33-A05C-58FA5A00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1466C8-5678-AEF5-C37A-6BB833C21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B9D5D-673B-33C1-6C32-9223BA51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3D41C7-39A0-4427-7450-6160DE38FD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0C71F-D918-7602-84E4-EF28556D1E2F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D95E57C-922E-44F7-B988-94C651892D30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D95E57C-922E-44F7-B988-94C651892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5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94CFAB9-8B32-31ED-09F2-3C5C9C8500EC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5FAE65-4A04-0E0A-3129-67C60AECEB1D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68338BB-9EB0-0188-65AC-6E35880F87B4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68338BB-9EB0-0188-65AC-6E35880F87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A62512-0833-BA37-A086-775EAF1BDE2D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06724C28-5DEE-79FB-91B8-1A76C05DC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2763707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296979-39F3-AE53-46F9-AC7151E7DF87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9F40D7A-C741-B146-49C2-D98BF14A39A7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45FA06F-4595-65E8-32EA-EBC34B619A59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45FA06F-4595-65E8-32EA-EBC34B619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8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17B1605F-9255-0527-623E-BCA5C037645E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70A81C6-E822-5365-62B8-D17C11E23E01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FBAF17-6FD7-A967-0C66-A1AACEE80AB3}"/>
              </a:ext>
            </a:extLst>
          </p:cNvPr>
          <p:cNvSpPr txBox="1"/>
          <p:nvPr/>
        </p:nvSpPr>
        <p:spPr>
          <a:xfrm>
            <a:off x="975917" y="3242757"/>
            <a:ext cx="3574697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However, we do not know </a:t>
            </a:r>
          </a:p>
          <a:p>
            <a:pPr algn="l"/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the probability distribution of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CF998-6EAA-7B56-C871-EFE20200ACD7}"/>
              </a:ext>
            </a:extLst>
          </p:cNvPr>
          <p:cNvSpPr txBox="1"/>
          <p:nvPr/>
        </p:nvSpPr>
        <p:spPr>
          <a:xfrm>
            <a:off x="975917" y="3980688"/>
            <a:ext cx="3321422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Can we make the P(z) nicer?</a:t>
            </a:r>
          </a:p>
          <a:p>
            <a:pPr marL="342900" indent="-342900" algn="l">
              <a:buFontTx/>
              <a:buChar char="-"/>
            </a:pPr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e.g., p(z)=N(0,I)</a:t>
            </a:r>
          </a:p>
        </p:txBody>
      </p:sp>
    </p:spTree>
    <p:extLst>
      <p:ext uri="{BB962C8B-B14F-4D97-AF65-F5344CB8AC3E}">
        <p14:creationId xmlns:p14="http://schemas.microsoft.com/office/powerpoint/2010/main" val="143362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6B95-BFEA-6B8B-E57C-186E54295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EA38BB-439D-F50A-8BFB-3B3E8D66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2896D5-CF1E-82A9-98F8-4E1F11673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500E2C-85F3-C889-1D3E-4698A848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9B1927-3F9C-EFA6-55F7-043073146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553D9-F47B-6241-7B82-1211A9230E73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CCA8434-5F10-187B-83C8-D355E1BB86B1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CCA8434-5F10-187B-83C8-D355E1BB8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5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CB7C8FE-15C4-5609-79E6-FE0756360FE0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82B4B41-ED5B-8B77-1397-D75F91999420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46C333D-2ABB-25BF-89AF-92CC97D42AC0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46C333D-2ABB-25BF-89AF-92CC97D42A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2D8AEF-A3D0-28A8-45BF-B0C6ED0A7D6A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400D1B20-ABEA-355A-7DD4-FA27F5F94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2763707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F85E46-6ED3-2443-FE99-80C77B1BCE89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B356C5-8179-8A00-38D6-BD796D339BCC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0D39BA4-6DFF-5F10-EAE4-191C86375495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0D39BA4-6DFF-5F10-EAE4-191C863754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8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9C5C4558-0843-8053-FDAA-C8EC81D792AB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542EB33-E926-BAE6-AFD8-B856D1F8668C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31A35-DEC8-5487-B52A-D754638068F9}"/>
              </a:ext>
            </a:extLst>
          </p:cNvPr>
          <p:cNvSpPr txBox="1"/>
          <p:nvPr/>
        </p:nvSpPr>
        <p:spPr>
          <a:xfrm>
            <a:off x="975917" y="3242757"/>
            <a:ext cx="3574697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However, we do not know </a:t>
            </a:r>
          </a:p>
          <a:p>
            <a:pPr algn="l"/>
            <a:r>
              <a:rPr lang="en-US" sz="20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the probability distribution of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E6381-6A16-7051-3145-61BCED39FAB5}"/>
              </a:ext>
            </a:extLst>
          </p:cNvPr>
          <p:cNvSpPr txBox="1"/>
          <p:nvPr/>
        </p:nvSpPr>
        <p:spPr>
          <a:xfrm>
            <a:off x="975917" y="3980688"/>
            <a:ext cx="4522072" cy="101566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Can we make the P(z) nicer?</a:t>
            </a:r>
          </a:p>
          <a:p>
            <a:pPr marL="342900" indent="-342900" algn="l">
              <a:buFontTx/>
              <a:buChar char="-"/>
            </a:pPr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e.g., p(z)=N(0,I)</a:t>
            </a:r>
          </a:p>
          <a:p>
            <a:pPr marL="342900" indent="-342900" algn="l">
              <a:buFontTx/>
              <a:buChar char="-"/>
            </a:pPr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It is easy to sample from a Gaussian</a:t>
            </a:r>
          </a:p>
        </p:txBody>
      </p:sp>
    </p:spTree>
    <p:extLst>
      <p:ext uri="{BB962C8B-B14F-4D97-AF65-F5344CB8AC3E}">
        <p14:creationId xmlns:p14="http://schemas.microsoft.com/office/powerpoint/2010/main" val="262504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DFDB-8450-B420-0E6B-394EA57EF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D1D076-37A2-51DB-3DC5-22AB5694A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19A129-9EB1-85E4-A720-1B6BF900B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7FC93-EB76-F4A3-C373-9AB516FE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FCD956-2977-5E99-E04B-F029A9A902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50F0C0-645F-88A0-B597-D732983A43C0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37D81F4-91E8-903F-B30F-C8E7D700A42D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E54A071-A8DE-7204-8144-988D914E3068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E54A071-A8DE-7204-8144-988D914E3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420916-3011-B085-FD99-CCE6E7DA69BE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A42F75-1F03-E85D-E382-4FE3CEFA39DE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9C6E077-6A22-F032-6A10-E388D2E1DA67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9C6E077-6A22-F032-6A10-E388D2E1D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55B1A2C0-CD1B-DB4D-F181-319F89462E9B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CF706FA-2C8E-221E-7633-01AF2BC98AB5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6E01-1DAB-5629-DF71-A8C217EE6040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6E01-1DAB-5629-DF71-A8C217EE6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400110"/>
              </a:xfrm>
              <a:prstGeom prst="rect">
                <a:avLst/>
              </a:prstGeom>
              <a:blipFill>
                <a:blip r:embed="rId7"/>
                <a:stretch>
                  <a:fillRect l="-2532" t="-9375" r="-2743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43404430-33FC-6E35-08EF-47D566122C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5A02B-2E92-8EEB-611C-EF33890E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27D658-E318-ED19-86E8-7ABE7BB2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4C6782-A177-0287-4135-B5A686589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55A8C5-B65C-F894-A614-EEFAD5C1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2DAAEB-A6E6-53F0-9D1E-CDB6D5AA38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CA00E7-CE62-6DC1-6406-8F27F29FED7F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6DF8E89-FAD1-F418-6C58-4AE70459F23E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0A652E4-F963-25EA-F231-44C26772C60A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E54A071-A8DE-7204-8144-988D914E3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E95BD0-ED25-1407-C947-0C0E4BF45904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BB8437-C58C-9891-9BA6-2AAF491844A1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5DA2A3-2F8C-8909-9892-F4495BDC2EEF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ABCAAF5-9207-3D7F-4152-398B7785BBC5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9C6E077-6A22-F032-6A10-E388D2E1D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E010C395-28A0-9596-A4F3-A10CEF81815A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2B06C23-182D-7CA0-99C4-7F69F564439F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D4502B3E-03D6-BDAF-04F3-483E4780C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79CEA5-94C7-F3E8-DC5D-1CE2C7991F91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6E01-1DAB-5629-DF71-A8C217EE6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8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71E11135-99FF-1F23-7E9C-3AAE2FEDEE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5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B8E8-A2B7-B425-A71A-5B7CC4D8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383F94-EFC6-7190-8247-303DA6611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803DF9-60B3-AA5B-75ED-E26917B7A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02D40F-F455-A07B-89D9-6035066E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D82691-A89F-595D-557D-46B5687DB2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840563-D90D-6E3D-A0AC-C2A38AEB18C0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D1D5B2D-8A57-63F4-8B04-BA81BF202E46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24BADA2-53C8-FBE5-89F3-A28301FB5B47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E54A071-A8DE-7204-8144-988D914E3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B35A9E-E944-E570-692E-884FC732DD36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F99A526-48D0-DC5D-B8E3-FE7C0F1775D0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8871A2D-296F-FD84-4DC0-F7A8E85C384F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6E6326B-994A-A4B1-3C96-375BF3D024C5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9C6E077-6A22-F032-6A10-E388D2E1D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402E29CB-67D1-2E07-C72A-A3CA1D69DEC3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4E5E959-36BE-15A4-12A4-A63D2B27AC23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88312BEB-3619-52A5-4D21-7268A1274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1E3B0A-EB3C-6C26-FDA2-D39D89B53146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6E01-1DAB-5629-DF71-A8C217EE6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8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F3A84B-CA07-4191-71B4-FDF4CAA46F34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B1D009-32D5-4F81-25CC-3E991CDFD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9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C5F81C52-EF02-08B9-7399-DE1D748510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6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CEC2-75E8-10A3-6019-41F1626B9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66C18F-6009-1A31-2E68-B21FD6590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6F3EE8-DEE4-C406-74DB-1E14C5D73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20B02C-1E19-7C06-E5FC-B7EAD22A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8194C5-E707-3393-783C-1DA024F629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10503F-18CF-3051-182C-137EC427FD9D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CC01810-AA3B-5250-4FEB-2ED9F80F8171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D7F12E-6896-5DEB-9B64-FD3364C9217C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17C172E-BE12-45BD-C166-B0A39C740E0F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E54A071-A8DE-7204-8144-988D914E3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A1374E4-B7E7-FC4D-64A3-D1655B1AC42B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EF195D-C284-379E-50BA-3B29431D5F61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4D0E92-4A9A-9A4C-5536-611C6CF076D1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D03926D-BC1A-DCAE-17AE-22D9D1F16FC2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9C6E077-6A22-F032-6A10-E388D2E1D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185D2279-3178-EC8A-245D-7AF6D616BBD0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5736D7E-BBFF-B67A-9E99-6FA7BD700A63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DD0D016A-2260-308A-2CCC-1B3758983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4A6955-21FD-89F8-EF60-BE7B766DD93E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6E01-1DAB-5629-DF71-A8C217EE6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8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C4B59F-7A38-0046-C62C-E02CD0326C6A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B1D009-32D5-4F81-25CC-3E991CDFD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9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E7BBFE-2926-5AD2-89E9-1F56E0858BB2}"/>
                  </a:ext>
                </a:extLst>
              </p:cNvPr>
              <p:cNvSpPr txBox="1"/>
              <p:nvPr/>
            </p:nvSpPr>
            <p:spPr>
              <a:xfrm>
                <a:off x="4363108" y="5311650"/>
                <a:ext cx="3008581" cy="72167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0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E7BBFE-2926-5AD2-89E9-1F56E0858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108" y="5311650"/>
                <a:ext cx="3008581" cy="721672"/>
              </a:xfrm>
              <a:prstGeom prst="rect">
                <a:avLst/>
              </a:prstGeom>
              <a:blipFill>
                <a:blip r:embed="rId10"/>
                <a:stretch>
                  <a:fillRect l="-1681" t="-174138" r="-5462" b="-248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8907B8F9-0B12-8FA9-83BD-362CF4877F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D7BC1-ECF5-8CBC-90CA-4E68DBB3B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CC56B6-F661-F055-320F-2DFAB6C2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A0A838-A791-406C-909E-1A0E191A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C0E033-840B-DA26-8E2E-ADC26E38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22FB7F-0C64-23B8-FFF3-CCF01803C8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2A6875-18D5-227B-112D-166449B6E4F1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563EF70-D061-C067-80AF-0036202B987A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D96D13C-71D5-02C6-8254-8B88A9B4BD95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9720388-8592-4E6F-9FB1-7A97130AE14E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E54A071-A8DE-7204-8144-988D914E3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8F61021-581C-2E10-0EE8-E5A53C7341EA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3291BD-4DC2-0D0E-ADB3-89A9925B73BF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568D4D-9E45-DAFB-1E3E-C9511C372BF8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B90AF18-1AEC-8B20-9583-30EF03519D94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9C6E077-6A22-F032-6A10-E388D2E1D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9471FE53-AB94-E084-B194-242FA036A080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616AA60-6B49-3C6F-ED1C-0C1611D1006A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458E5319-32B2-876B-6989-87FC2C390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B4C22C-69B4-4073-FB90-085863C951A0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6E01-1DAB-5629-DF71-A8C217EE6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8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AF2DBB-49BA-E0DD-03C6-B539F8112D91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B1D009-32D5-4F81-25CC-3E991CDFD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9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960C65-D798-8EA5-F7BD-206959FF288D}"/>
                  </a:ext>
                </a:extLst>
              </p:cNvPr>
              <p:cNvSpPr txBox="1"/>
              <p:nvPr/>
            </p:nvSpPr>
            <p:spPr>
              <a:xfrm>
                <a:off x="4363108" y="5311650"/>
                <a:ext cx="3008581" cy="72167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FCC43D-ADCB-1928-BA3B-30BF12361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108" y="5311650"/>
                <a:ext cx="3008581" cy="721672"/>
              </a:xfrm>
              <a:prstGeom prst="rect">
                <a:avLst/>
              </a:prstGeom>
              <a:blipFill>
                <a:blip r:embed="rId10"/>
                <a:stretch>
                  <a:fillRect l="-1681" t="-174138" r="-5462" b="-248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0041DC94-30BB-2932-C0DF-3F9D21D6CB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1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2DF19-FC24-7AD3-7234-B28E80F4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E22246-03FC-E10C-24B7-21C0AB04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1B673F-2281-7D2A-3B96-973653B9F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7A51AC-EBEE-64AE-36A5-7775DE30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38C9A3-0BB3-8E4E-CC04-1C656B0E71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2F114-2CF8-00A7-608A-B878DDD99318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4759AA-5FFD-AB9E-131A-D8229994725A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22701CE-97AF-BDF4-6DC7-7BA2B0E6192F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472234B-E792-6EB9-518D-648543B21DA1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E54A071-A8DE-7204-8144-988D914E3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1F4D6C-0339-C941-C5CE-240CE57C19A4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F239B01-3F1D-1F90-4F55-2F83F3B28EC8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60AEC41-35E9-1068-12C1-30EB2D9D2AEC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ACAFCBB-3680-238C-496E-370107FFE0ED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9C6E077-6A22-F032-6A10-E388D2E1D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A8A396EF-0E86-7FFD-D41B-0AE8E01E5A98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858E402-8C44-E22E-A2D1-D03038CE3B71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72F14A35-CF05-2A99-D953-B6EF1885B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FD942C-35A0-6A45-7012-73FC5CCA2060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6E01-1DAB-5629-DF71-A8C217EE6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8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55B6D7-C60B-3707-535C-16D56373CBF8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B1D009-32D5-4F81-25CC-3E991CDFD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9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6D4B92-A93B-9EF1-2095-E20B7C767B4B}"/>
                  </a:ext>
                </a:extLst>
              </p:cNvPr>
              <p:cNvSpPr txBox="1"/>
              <p:nvPr/>
            </p:nvSpPr>
            <p:spPr>
              <a:xfrm>
                <a:off x="4363108" y="5311650"/>
                <a:ext cx="3008581" cy="72167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FCC43D-ADCB-1928-BA3B-30BF12361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108" y="5311650"/>
                <a:ext cx="3008581" cy="721672"/>
              </a:xfrm>
              <a:prstGeom prst="rect">
                <a:avLst/>
              </a:prstGeom>
              <a:blipFill>
                <a:blip r:embed="rId10"/>
                <a:stretch>
                  <a:fillRect l="-1681" t="-174138" r="-5462" b="-248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5C4A087-F1AF-2824-C354-F5C7D3BB0AEF}"/>
              </a:ext>
            </a:extLst>
          </p:cNvPr>
          <p:cNvSpPr txBox="1"/>
          <p:nvPr/>
        </p:nvSpPr>
        <p:spPr>
          <a:xfrm>
            <a:off x="4803602" y="6244066"/>
            <a:ext cx="283571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Gaussian; easy to compute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33E38-82B9-0DF6-C724-A07B1D65FC40}"/>
              </a:ext>
            </a:extLst>
          </p:cNvPr>
          <p:cNvCxnSpPr/>
          <p:nvPr/>
        </p:nvCxnSpPr>
        <p:spPr>
          <a:xfrm>
            <a:off x="5779698" y="5925220"/>
            <a:ext cx="0" cy="364280"/>
          </a:xfrm>
          <a:prstGeom prst="straightConnector1">
            <a:avLst/>
          </a:prstGeom>
          <a:ln w="38100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C66F88-13F2-54E3-5E83-B07D296BA462}"/>
              </a:ext>
            </a:extLst>
          </p:cNvPr>
          <p:cNvCxnSpPr>
            <a:cxnSpLocks/>
          </p:cNvCxnSpPr>
          <p:nvPr/>
        </p:nvCxnSpPr>
        <p:spPr>
          <a:xfrm>
            <a:off x="5641675" y="5925220"/>
            <a:ext cx="225723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B2B3227F-AC48-46E2-B8F5-263ED36D64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9979-BF71-83CC-5B9D-0D2CC10E8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EA4E2A-4029-2D78-4606-66DD5833B846}"/>
                  </a:ext>
                </a:extLst>
              </p:cNvPr>
              <p:cNvSpPr txBox="1"/>
              <p:nvPr/>
            </p:nvSpPr>
            <p:spPr>
              <a:xfrm>
                <a:off x="4363108" y="5311650"/>
                <a:ext cx="3008581" cy="72167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EA4E2A-4029-2D78-4606-66DD5833B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108" y="5311650"/>
                <a:ext cx="3008581" cy="721672"/>
              </a:xfrm>
              <a:prstGeom prst="rect">
                <a:avLst/>
              </a:prstGeom>
              <a:blipFill>
                <a:blip r:embed="rId5"/>
                <a:stretch>
                  <a:fillRect l="-1681" t="-174138" r="-5462" b="-248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8390978E-22A4-7314-CEED-F17FC747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850E25-16BE-C942-9762-5E6E17835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C6EA1F-8AE7-EFCF-6B3F-200DA45F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0BBE00-0CF9-2D27-33D1-91584D9A2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29B36-7DB5-EFAC-C02C-52A2A3C3D83A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E9CB09-5AD3-C4BA-75DE-7A64DA70CBA1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BC64F38-7192-17B0-AB49-BB6BBA1E51E9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552F278-A833-8A78-14AE-367A4C7209E2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552F278-A833-8A78-14AE-367A4C720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1F0B85D-3A71-0CBC-20C0-2877B6CF249A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9A5BC92-5434-2E55-ECE0-6A182F8DE40A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8E629DC-CAF7-03FE-A545-5F391CD3D0C1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307F699-318D-B8E9-DC33-DC3B6AEB6719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307F699-318D-B8E9-DC33-DC3B6AEB6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7DA234BD-684B-F22F-16DC-44E638CDC215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87F13B-170B-5BCC-2026-DB89C5BDC25E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07C07CC3-A8BC-E172-CF96-F4B675808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B209AA-C1A5-41C4-5507-EBE22ACCC0E3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B209AA-C1A5-41C4-5507-EBE22ACCC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9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9C230EF-DF38-7F93-8C0A-8AEBB30D39AF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9C230EF-DF38-7F93-8C0A-8AEBB30D3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10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2D27831-9064-C43A-8176-A3A0DC36E10A}"/>
              </a:ext>
            </a:extLst>
          </p:cNvPr>
          <p:cNvSpPr txBox="1"/>
          <p:nvPr/>
        </p:nvSpPr>
        <p:spPr>
          <a:xfrm>
            <a:off x="5010371" y="6277560"/>
            <a:ext cx="3507370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We can compute it using decoder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7ECF7B-CFC6-134F-86FB-E482187AAD8A}"/>
              </a:ext>
            </a:extLst>
          </p:cNvPr>
          <p:cNvCxnSpPr/>
          <p:nvPr/>
        </p:nvCxnSpPr>
        <p:spPr>
          <a:xfrm>
            <a:off x="6556243" y="5838956"/>
            <a:ext cx="0" cy="364280"/>
          </a:xfrm>
          <a:prstGeom prst="straightConnector1">
            <a:avLst/>
          </a:prstGeom>
          <a:ln w="38100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0473BD-1B9A-31CD-65F7-2CAC0E496F33}"/>
              </a:ext>
            </a:extLst>
          </p:cNvPr>
          <p:cNvCxnSpPr>
            <a:cxnSpLocks/>
          </p:cNvCxnSpPr>
          <p:nvPr/>
        </p:nvCxnSpPr>
        <p:spPr>
          <a:xfrm>
            <a:off x="6262600" y="5838956"/>
            <a:ext cx="769777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EAD25BB6-A2AC-59F3-8641-2FDC735823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2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A1793-D66A-5052-70F3-FD082774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C82F90-CAB8-2CA7-059C-56EBFBE8FE59}"/>
                  </a:ext>
                </a:extLst>
              </p:cNvPr>
              <p:cNvSpPr txBox="1"/>
              <p:nvPr/>
            </p:nvSpPr>
            <p:spPr>
              <a:xfrm>
                <a:off x="4363108" y="5311650"/>
                <a:ext cx="3008581" cy="72167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EA4E2A-4029-2D78-4606-66DD5833B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108" y="5311650"/>
                <a:ext cx="3008581" cy="721672"/>
              </a:xfrm>
              <a:prstGeom prst="rect">
                <a:avLst/>
              </a:prstGeom>
              <a:blipFill>
                <a:blip r:embed="rId5"/>
                <a:stretch>
                  <a:fillRect l="-1681" t="-174138" r="-5462" b="-248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1D333AFF-9B00-C8DB-E601-ABB22B99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2BAC50-10B4-EF16-2F87-99EA414C3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600E6F-4F6B-DB87-93F1-079EC869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7D757A-8A91-F01C-E606-C1A838C32B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F456B-7B76-D655-333A-AA9E4B33D6A5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44E600-1EBA-D170-AE58-35564EC0EFBF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0D18F2B-6CEB-A66F-CDC6-2DAE3502CFF2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A262E80-1190-47ED-59D1-541159DE76D0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552F278-A833-8A78-14AE-367A4C720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207E58-0C3A-A980-0584-5B04F9B20CF9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AFFB028-F913-5AB0-5706-C02B93435D5E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FE4F44-3711-E545-0363-2A7016661EF6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4EF8BE5-3F20-C1A4-4C07-62C645C02B42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307F699-318D-B8E9-DC33-DC3B6AEB6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401DE2EC-19B4-5753-25AD-8A69B4031B41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25D595D-E996-76F4-4A73-D27AC836A39D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5C7BE8BA-030E-6D9E-AAA5-942688786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A06153-4ECD-76EF-F6B5-F79ECE1A6A6C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B209AA-C1A5-41C4-5507-EBE22ACCC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9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4580B5-CB80-E121-F084-3CB87C467786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9C230EF-DF38-7F93-8C0A-8AEBB30D3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10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1806E24-655C-7420-6930-D9154D6E7397}"/>
              </a:ext>
            </a:extLst>
          </p:cNvPr>
          <p:cNvSpPr txBox="1"/>
          <p:nvPr/>
        </p:nvSpPr>
        <p:spPr>
          <a:xfrm>
            <a:off x="5484677" y="6219222"/>
            <a:ext cx="309860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Intractable to integrate over z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A2F04E-EE3D-96B5-CEDD-9A446583042F}"/>
              </a:ext>
            </a:extLst>
          </p:cNvPr>
          <p:cNvCxnSpPr/>
          <p:nvPr/>
        </p:nvCxnSpPr>
        <p:spPr>
          <a:xfrm>
            <a:off x="7196843" y="5851182"/>
            <a:ext cx="0" cy="364280"/>
          </a:xfrm>
          <a:prstGeom prst="straightConnector1">
            <a:avLst/>
          </a:prstGeom>
          <a:ln w="38100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CBDF46-2E79-A653-994D-BD77F6216594}"/>
              </a:ext>
            </a:extLst>
          </p:cNvPr>
          <p:cNvCxnSpPr>
            <a:cxnSpLocks/>
          </p:cNvCxnSpPr>
          <p:nvPr/>
        </p:nvCxnSpPr>
        <p:spPr>
          <a:xfrm>
            <a:off x="7032377" y="5838956"/>
            <a:ext cx="326777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7C2B9F3B-8DE5-9959-D3CE-DC0D6EE6D6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1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01DC-C91B-37DF-948B-ED88B4B5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81D3E6-987D-4619-EBB2-107039E9F9CD}"/>
                  </a:ext>
                </a:extLst>
              </p:cNvPr>
              <p:cNvSpPr txBox="1"/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81D3E6-987D-4619-EBB2-107039E9F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blipFill>
                <a:blip r:embed="rId5"/>
                <a:stretch>
                  <a:fillRect l="-2000" r="-6500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1873490C-8FCF-CC2D-E0FF-E4ECEB7E2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FA4707-F7C6-BFE4-A257-0FCDBF90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E69316-D6CA-653B-B9E3-26824B8D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C9E0B-1213-3E9D-7268-BD4A0DBCCA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EB6D61-BD54-BBDD-7B7F-14BF339876CB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5355E0-4BD8-C034-60FD-AAA8123548A7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CAB528D-F9D8-6935-23D7-E4304B6567C3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F90D0CF-7919-93B4-B51F-58530B6E3250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F90D0CF-7919-93B4-B51F-58530B6E32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9D2DD7-80C8-B107-F060-C8DEFAFC8D42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8CC93A7-6D7E-04C4-3C1F-97F0E53B7364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49E6C1F-E232-00EF-B92E-4DE10A98088C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AF6B309-2C72-C665-327D-2A9C85A9861B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AF6B309-2C72-C665-327D-2A9C85A98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5A02B886-BAD0-324C-EBA0-BCDF09493AE8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318949-77F2-78FB-AC18-A4EB97564E66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BCE1C1A8-F658-BC85-0018-3900255B1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2E8871-0B5D-408E-4CA3-89BEE17E848E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2E8871-0B5D-408E-4CA3-89BEE17E8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9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088E13-A64C-C0DD-294A-ECF1BA18F30B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088E13-A64C-C0DD-294A-ECF1BA18F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10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4532EB81-65DC-D760-04A3-86BA3F6056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3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6F12F-366A-69DB-FB80-C73AE960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DF2E79-DA6F-C11D-7911-8910AA0F4330}"/>
                  </a:ext>
                </a:extLst>
              </p:cNvPr>
              <p:cNvSpPr txBox="1"/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81D3E6-987D-4619-EBB2-107039E9F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blipFill>
                <a:blip r:embed="rId5"/>
                <a:stretch>
                  <a:fillRect l="-2000" r="-6500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6F160943-8671-46AF-BE65-C48DD4D9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BDB753-F437-AEE3-9EF8-5DC7199B6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CE9B74-EDE2-AA6F-A869-58A3C3D3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9C4432-5E92-27DE-D2CE-03319BD8E9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1397B-9B40-8C72-80DF-967AC71733C8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9CBC19-3D01-DB98-5EE2-EE02E9FBBD7D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19BF18A-CAD0-F706-B87B-95B32B2A4272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C083A67-D03E-BF53-9E1B-66DC3158E0EC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F90D0CF-7919-93B4-B51F-58530B6E32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4A8FA2-5609-5995-1FA3-732C7E715A77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AB1D5F-2239-6220-B5D5-9A9A23473CAD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F7FAAA2-6E16-988C-4B46-C56FC53B8308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2EF77D2-8A56-EE1B-0B4B-AB831FCC73BC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AF6B309-2C72-C665-327D-2A9C85A98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C3639A30-79D9-60EE-D32B-E39C795DEB9F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08D675-BAD6-1518-DE90-18D43BAF5CD3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812985B7-DCB9-C2A7-D7AE-073933C9E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E70F2A-D5BF-E3CA-0ED9-EE2791F72838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2E8871-0B5D-408E-4CA3-89BEE17E8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9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BA95C6-EA01-A6CE-4E99-1C025231DA6D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088E13-A64C-C0DD-294A-ECF1BA18F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10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14249C-5DEF-A0CB-733C-D025B60A06BF}"/>
              </a:ext>
            </a:extLst>
          </p:cNvPr>
          <p:cNvCxnSpPr>
            <a:cxnSpLocks/>
          </p:cNvCxnSpPr>
          <p:nvPr/>
        </p:nvCxnSpPr>
        <p:spPr>
          <a:xfrm>
            <a:off x="6888276" y="5468031"/>
            <a:ext cx="339391" cy="0"/>
          </a:xfrm>
          <a:prstGeom prst="straightConnector1">
            <a:avLst/>
          </a:prstGeom>
          <a:ln w="38100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0DA28B-2A9D-361C-7E43-4D86E2EC73E1}"/>
              </a:ext>
            </a:extLst>
          </p:cNvPr>
          <p:cNvSpPr txBox="1"/>
          <p:nvPr/>
        </p:nvSpPr>
        <p:spPr>
          <a:xfrm>
            <a:off x="7430357" y="5322720"/>
            <a:ext cx="17536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easy to compute</a:t>
            </a:r>
          </a:p>
        </p:txBody>
      </p:sp>
      <p:pic>
        <p:nvPicPr>
          <p:cNvPr id="9" name="Picture 8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DA30DD4D-4B2E-DC03-CDB7-C3641BBA69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0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381D8-4C9E-4EC5-B8F5-A25B33A8C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12DB4A-974E-AB10-1BAA-EED901FE11B9}"/>
                  </a:ext>
                </a:extLst>
              </p:cNvPr>
              <p:cNvSpPr txBox="1"/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12DB4A-974E-AB10-1BAA-EED901FE1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blipFill>
                <a:blip r:embed="rId5"/>
                <a:stretch>
                  <a:fillRect l="-2000" r="-6500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EB2BA456-A9C8-384A-0CB8-89ECE92D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1E82DC-E55E-C6B2-88E5-30C8E7C06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42855-3EB1-3BD6-FF3C-E4E7C0F6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771E52-CF20-177E-4D1F-C86B35084C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3D57A-426B-8D92-2098-A51C2FCDEA31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B2A6347-7605-9164-531B-697FBFE30DD8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D2433EF-4D27-B549-48F3-BA6ED0CE1423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C51EDA8-1783-0956-DF6A-9263F07DD9F1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C51EDA8-1783-0956-DF6A-9263F07DD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24137FA-990B-9ED5-1A58-46E34BE40677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F01DCF-036C-FB19-69BA-7FE055EC5BFF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51277EA-CBD0-CCA5-3C98-663AB0743BE9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64AF4B1-6E6C-3767-B89A-50F05DD3ACD2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64AF4B1-6E6C-3767-B89A-50F05DD3AC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966AA306-204C-40B5-E6A1-CE9D0977AD97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BA0D1DE-D1CC-84CB-F47C-145DC92F2B1D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F3E57D20-2104-35D9-7AAA-2D175802D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8E937-D9A4-7C94-894E-D888D69C8DC7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8E937-D9A4-7C94-894E-D888D69C8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9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94B023-1F8C-7ACA-C050-F5260E2CB70F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94B023-1F8C-7ACA-C050-F5260E2CB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10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C8140B1-6C6C-70D3-4205-932845E835D9}"/>
              </a:ext>
            </a:extLst>
          </p:cNvPr>
          <p:cNvSpPr txBox="1"/>
          <p:nvPr/>
        </p:nvSpPr>
        <p:spPr>
          <a:xfrm>
            <a:off x="3900109" y="6177542"/>
            <a:ext cx="313226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However, we do not know this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8154D8-AF3F-D8BC-4DCD-E76D34EE53DA}"/>
              </a:ext>
            </a:extLst>
          </p:cNvPr>
          <p:cNvCxnSpPr>
            <a:cxnSpLocks/>
          </p:cNvCxnSpPr>
          <p:nvPr/>
        </p:nvCxnSpPr>
        <p:spPr>
          <a:xfrm>
            <a:off x="6140326" y="6026360"/>
            <a:ext cx="0" cy="182140"/>
          </a:xfrm>
          <a:prstGeom prst="straightConnector1">
            <a:avLst/>
          </a:prstGeom>
          <a:ln w="38100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B9CF2F-0BEE-39B3-19ED-DF6F219ADBFA}"/>
              </a:ext>
            </a:extLst>
          </p:cNvPr>
          <p:cNvCxnSpPr>
            <a:cxnSpLocks/>
          </p:cNvCxnSpPr>
          <p:nvPr/>
        </p:nvCxnSpPr>
        <p:spPr>
          <a:xfrm>
            <a:off x="5711111" y="6006417"/>
            <a:ext cx="769777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BC064EC1-9105-0874-1A07-BD0CEF537C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6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5931C-A245-E8EF-F065-DCCD18DC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CC9345-B2B6-2169-48AD-C9E64F2CB9AE}"/>
                  </a:ext>
                </a:extLst>
              </p:cNvPr>
              <p:cNvSpPr txBox="1"/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CC9345-B2B6-2169-48AD-C9E64F2CB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blipFill>
                <a:blip r:embed="rId5"/>
                <a:stretch>
                  <a:fillRect l="-2000" r="-6500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5CF1E539-0C46-1116-22C3-8920F4BA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8BC460-A809-A120-386E-BF3B7DBE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6D8B61-7BDD-0AAF-9A97-2140CFBD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EAEC55-706C-5CF1-AAA2-BBE7F7600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A3A3A1-CBB9-63FF-1486-FD026A424C61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657387A-E9C6-5E72-4609-7049CBAEB205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682D349-C50A-C879-8FF0-F85C3DC86712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A127213-BC0E-8585-D32D-6ABC3175DE86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A127213-BC0E-8585-D32D-6ABC3175D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5EAF9A0-FFE5-F4DB-3AAF-49C8A4CC1B0B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A98F81D-7608-4C06-9B5F-18281F8348F2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80CF01F-21B0-5B70-C3B5-874C5B61AE09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5C01688-7611-4D95-20EA-37994D6B3E09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5C01688-7611-4D95-20EA-37994D6B3E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A12A6AA2-E691-CCC0-B198-97F81FA40DAC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635CFBA-283E-1098-DEB6-3F2C53965643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30357A10-1196-9D7E-D0AD-70A492DF3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791CED-5A52-9F0F-820D-1704C1C79B2A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791CED-5A52-9F0F-820D-1704C1C79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9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CC6F4B-7AF0-A4E7-FCA2-91EE0E916FCE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CC6F4B-7AF0-A4E7-FCA2-91EE0E916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10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F466FCD-19E8-1E03-F74F-D8DD696964C4}"/>
              </a:ext>
            </a:extLst>
          </p:cNvPr>
          <p:cNvSpPr txBox="1"/>
          <p:nvPr/>
        </p:nvSpPr>
        <p:spPr>
          <a:xfrm>
            <a:off x="3900109" y="6177542"/>
            <a:ext cx="313226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However, we do not know this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85E425-62A2-0B9E-07D6-4A32285324D3}"/>
              </a:ext>
            </a:extLst>
          </p:cNvPr>
          <p:cNvCxnSpPr>
            <a:cxnSpLocks/>
          </p:cNvCxnSpPr>
          <p:nvPr/>
        </p:nvCxnSpPr>
        <p:spPr>
          <a:xfrm>
            <a:off x="6140326" y="6026360"/>
            <a:ext cx="0" cy="182140"/>
          </a:xfrm>
          <a:prstGeom prst="straightConnector1">
            <a:avLst/>
          </a:prstGeom>
          <a:ln w="38100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5B71B9-1B0E-57AE-3356-E6771938C0E9}"/>
              </a:ext>
            </a:extLst>
          </p:cNvPr>
          <p:cNvCxnSpPr>
            <a:cxnSpLocks/>
          </p:cNvCxnSpPr>
          <p:nvPr/>
        </p:nvCxnSpPr>
        <p:spPr>
          <a:xfrm>
            <a:off x="5711111" y="6006417"/>
            <a:ext cx="769777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E82C56-0D01-A0BC-CB7A-1D63891E9DD8}"/>
                  </a:ext>
                </a:extLst>
              </p:cNvPr>
              <p:cNvSpPr txBox="1"/>
              <p:nvPr/>
            </p:nvSpPr>
            <p:spPr>
              <a:xfrm>
                <a:off x="7575579" y="5031549"/>
                <a:ext cx="2983702" cy="39408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Approximate it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E82C56-0D01-A0BC-CB7A-1D63891E9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579" y="5031549"/>
                <a:ext cx="2983702" cy="394082"/>
              </a:xfrm>
              <a:prstGeom prst="rect">
                <a:avLst/>
              </a:prstGeom>
              <a:blipFill>
                <a:blip r:embed="rId11"/>
                <a:stretch>
                  <a:fillRect l="-4661" t="-6250" r="-5508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3B169533-10EF-7C93-F960-86BB985FC3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07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4F959-351C-6B1A-6914-0764182C0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DFC37F-CB8B-06C5-7977-F0BC9F4C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787374-BCBB-49D7-9F27-72999A9EF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312C61-70F3-6D21-DED1-2CC9890D0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8016C1-BF82-907E-AEFF-8A06AFA97C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439ED-82F3-EA41-92AC-87EA5E20CBE5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F8084AB-0801-150E-7F79-1677C72615CB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7150F8-8A83-1006-F689-093B14CC7FC4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30E8090-2CB6-73A8-C45C-228A7CC62B5A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30E8090-2CB6-73A8-C45C-228A7CC62B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BE218FA-3A82-48D2-22C1-933A5C479289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C014B35-AC51-EB03-E515-381BC453A2FA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82E90C3-1946-1829-BB33-04B7773F7F34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82230BC-BC38-91D8-B69E-E718AD8FABF9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82230BC-BC38-91D8-B69E-E718AD8FA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58CF2D5B-18CB-6153-FE14-E30CAF92FF33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7F12051-DD51-C7C9-DA50-0A3378DBDC4C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D5A93D16-F4AF-CD29-FD0C-FBE2EF5B2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91847B-6112-2B0E-F4B8-E79832133C39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91847B-6112-2B0E-F4B8-E79832133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8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B4C40D-4728-AE06-52F3-E21D8068AFF5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B4C40D-4728-AE06-52F3-E21D8068A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9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68918B-A7D0-82BF-AE05-77ECA648BC93}"/>
                  </a:ext>
                </a:extLst>
              </p:cNvPr>
              <p:cNvSpPr txBox="1"/>
              <p:nvPr/>
            </p:nvSpPr>
            <p:spPr>
              <a:xfrm>
                <a:off x="7575579" y="5031549"/>
                <a:ext cx="2983702" cy="39408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Approximate it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68918B-A7D0-82BF-AE05-77ECA648B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579" y="5031549"/>
                <a:ext cx="2983702" cy="394082"/>
              </a:xfrm>
              <a:prstGeom prst="rect">
                <a:avLst/>
              </a:prstGeom>
              <a:blipFill>
                <a:blip r:embed="rId10"/>
                <a:stretch>
                  <a:fillRect l="-4661" t="-6250" r="-5508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22AF8FE-3673-40AB-C9F5-E5F7330E1502}"/>
              </a:ext>
            </a:extLst>
          </p:cNvPr>
          <p:cNvSpPr txBox="1"/>
          <p:nvPr/>
        </p:nvSpPr>
        <p:spPr>
          <a:xfrm>
            <a:off x="7587678" y="5510721"/>
            <a:ext cx="283891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do we approximate 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A47D7A-9354-C027-FCEC-D268859095E1}"/>
                  </a:ext>
                </a:extLst>
              </p:cNvPr>
              <p:cNvSpPr txBox="1"/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A47D7A-9354-C027-FCEC-D26885909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blipFill>
                <a:blip r:embed="rId11"/>
                <a:stretch>
                  <a:fillRect l="-2000" r="-6500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296A697F-3F8A-0428-FAAE-63490EE4C7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8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CC073-56B0-A19D-01DB-C6CB2D15A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C46A69-359F-9DB6-765D-B77C04E3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D5F57C-DE21-5436-30D6-9E4900541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14206"/>
          </a:xfrm>
        </p:spPr>
        <p:txBody>
          <a:bodyPr/>
          <a:lstStyle/>
          <a:p>
            <a:r>
              <a:rPr lang="en-US" dirty="0"/>
              <a:t>How can we </a:t>
            </a:r>
            <a:r>
              <a:rPr lang="en-US" dirty="0">
                <a:solidFill>
                  <a:srgbClr val="C00000"/>
                </a:solidFill>
              </a:rPr>
              <a:t>generate new data </a:t>
            </a:r>
            <a:r>
              <a:rPr lang="en-US" dirty="0"/>
              <a:t>from this?</a:t>
            </a:r>
          </a:p>
          <a:p>
            <a:pPr lvl="1"/>
            <a:r>
              <a:rPr lang="en-US" sz="1800" dirty="0"/>
              <a:t>Generate a new z to use decoder to generate images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F9DF05-8DBA-C5B6-54B0-3761E660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C4EE1D-73F4-A1F4-B995-86925249E3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6951E-02C4-8F17-1A12-0F8D27011EAD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D3E183-3286-8642-4BC8-F83A2B35E04A}"/>
              </a:ext>
            </a:extLst>
          </p:cNvPr>
          <p:cNvGrpSpPr/>
          <p:nvPr/>
        </p:nvGrpSpPr>
        <p:grpSpPr>
          <a:xfrm>
            <a:off x="5867399" y="2711607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360BD5B-6A92-E71A-5910-327D1805A4A9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D2110D9-21AD-9E0D-7868-5D9A219D5E66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D2110D9-21AD-9E0D-7868-5D9A219D5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9524" t="-11111" r="-8095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D40ABC-5AA8-E54E-F51D-B3DB51D7F90B}"/>
              </a:ext>
            </a:extLst>
          </p:cNvPr>
          <p:cNvCxnSpPr>
            <a:cxnSpLocks/>
          </p:cNvCxnSpPr>
          <p:nvPr/>
        </p:nvCxnSpPr>
        <p:spPr>
          <a:xfrm>
            <a:off x="6519889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99A0E0-623C-775B-BEFD-39EF1A83A583}"/>
              </a:ext>
            </a:extLst>
          </p:cNvPr>
          <p:cNvCxnSpPr/>
          <p:nvPr/>
        </p:nvCxnSpPr>
        <p:spPr>
          <a:xfrm>
            <a:off x="8929028" y="3443430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5DD936A-8897-7E6F-D1CA-4DA092486277}"/>
              </a:ext>
            </a:extLst>
          </p:cNvPr>
          <p:cNvGrpSpPr/>
          <p:nvPr/>
        </p:nvGrpSpPr>
        <p:grpSpPr>
          <a:xfrm>
            <a:off x="7227667" y="2391114"/>
            <a:ext cx="1506071" cy="2104632"/>
            <a:chOff x="7367859" y="2403800"/>
            <a:chExt cx="1506071" cy="210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229B6A5-2FDE-2DD3-2D37-AF3BC11C896A}"/>
                    </a:ext>
                  </a:extLst>
                </p:cNvPr>
                <p:cNvSpPr txBox="1"/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229B6A5-2FDE-2DD3-2D37-AF3BC11C8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870" y="3132950"/>
                  <a:ext cx="930063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4865" t="-3846" r="-17568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1F6DA741-67F5-810D-E75D-D3C6BD40BE0C}"/>
                </a:ext>
              </a:extLst>
            </p:cNvPr>
            <p:cNvSpPr/>
            <p:nvPr/>
          </p:nvSpPr>
          <p:spPr>
            <a:xfrm rot="16200000">
              <a:off x="7068579" y="270308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337BBCA-8F08-E217-0BD5-BFC8FDE3EBD8}"/>
              </a:ext>
            </a:extLst>
          </p:cNvPr>
          <p:cNvSpPr txBox="1"/>
          <p:nvPr/>
        </p:nvSpPr>
        <p:spPr>
          <a:xfrm>
            <a:off x="899032" y="364991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24580" name="Picture 4" descr="Build the MNIST model with your own handwritten digits using TensorFlow,  Keras, and Python | by Ashok Tankala | Medium">
            <a:extLst>
              <a:ext uri="{FF2B5EF4-FFF2-40B4-BE49-F238E27FC236}">
                <a16:creationId xmlns:a16="http://schemas.microsoft.com/office/drawing/2014/main" id="{9331B96D-5FB3-D5D5-DE1A-8FA05FAAE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5" y="2522817"/>
            <a:ext cx="1844953" cy="18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07C0A2-1090-28C1-D54D-7E85BD90A835}"/>
                  </a:ext>
                </a:extLst>
              </p:cNvPr>
              <p:cNvSpPr txBox="1"/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(0,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I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we can sample latent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Then, we can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07C0A2-1090-28C1-D54D-7E85BD90A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74776"/>
                <a:ext cx="6015365" cy="707886"/>
              </a:xfrm>
              <a:prstGeom prst="rect">
                <a:avLst/>
              </a:prstGeom>
              <a:blipFill>
                <a:blip r:embed="rId8"/>
                <a:stretch>
                  <a:fillRect l="-2532" t="-5263" r="-27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64C1DF-D2AF-A62E-29A0-082DB8B7E22A}"/>
                  </a:ext>
                </a:extLst>
              </p:cNvPr>
              <p:cNvSpPr txBox="1"/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to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?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64C1DF-D2AF-A62E-29A0-082DB8B7E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51416"/>
                <a:ext cx="2504468" cy="400110"/>
              </a:xfrm>
              <a:prstGeom prst="rect">
                <a:avLst/>
              </a:prstGeom>
              <a:blipFill>
                <a:blip r:embed="rId9"/>
                <a:stretch>
                  <a:fillRect l="-6061" t="-6061" r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211727-5334-E67E-10F7-924631E6D452}"/>
                  </a:ext>
                </a:extLst>
              </p:cNvPr>
              <p:cNvSpPr txBox="1"/>
              <p:nvPr/>
            </p:nvSpPr>
            <p:spPr>
              <a:xfrm>
                <a:off x="7575579" y="5031549"/>
                <a:ext cx="2983702" cy="39408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Approximate it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211727-5334-E67E-10F7-924631E6D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579" y="5031549"/>
                <a:ext cx="2983702" cy="394082"/>
              </a:xfrm>
              <a:prstGeom prst="rect">
                <a:avLst/>
              </a:prstGeom>
              <a:blipFill>
                <a:blip r:embed="rId10"/>
                <a:stretch>
                  <a:fillRect l="-4661" t="-6250" r="-5508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1070F2-08CB-CDCB-F0E1-FCCFF192B829}"/>
                  </a:ext>
                </a:extLst>
              </p:cNvPr>
              <p:cNvSpPr txBox="1"/>
              <p:nvPr/>
            </p:nvSpPr>
            <p:spPr>
              <a:xfrm>
                <a:off x="7587678" y="5510721"/>
                <a:ext cx="2838919" cy="67108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 do we approximate it?</a:t>
                </a:r>
              </a:p>
              <a:p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Use </a:t>
                </a:r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1070F2-08CB-CDCB-F0E1-FCCFF192B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678" y="5510721"/>
                <a:ext cx="2838919" cy="671081"/>
              </a:xfrm>
              <a:prstGeom prst="rect">
                <a:avLst/>
              </a:prstGeom>
              <a:blipFill>
                <a:blip r:embed="rId11"/>
                <a:stretch>
                  <a:fillRect l="-4911" t="-1852" r="-6250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021EC3-02A2-DF8E-A812-C4761C5F1BE2}"/>
                  </a:ext>
                </a:extLst>
              </p:cNvPr>
              <p:cNvSpPr txBox="1"/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021EC3-02A2-DF8E-A812-C4761C5F1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482" y="5264932"/>
                <a:ext cx="2524794" cy="741485"/>
              </a:xfrm>
              <a:prstGeom prst="rect">
                <a:avLst/>
              </a:prstGeom>
              <a:blipFill>
                <a:blip r:embed="rId12"/>
                <a:stretch>
                  <a:fillRect l="-2000" r="-6500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29DFBAEF-88C1-03A3-B5C1-7701D55F9D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2759826"/>
            <a:ext cx="2164772" cy="1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0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B50F-61ED-13E9-89A7-0199C5AD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3DA41C-787E-A6C5-763F-AE24A156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1D27EB-6733-806D-5814-6AA168A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0874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0E5CD0-973F-0C46-488F-DEF8D6839A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61058-C315-1A30-E077-6E2F0D86F26D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3F2337-555D-25C6-C808-2A975ACABE7F}"/>
                  </a:ext>
                </a:extLst>
              </p:cNvPr>
              <p:cNvSpPr txBox="1"/>
              <p:nvPr/>
            </p:nvSpPr>
            <p:spPr>
              <a:xfrm>
                <a:off x="1460001" y="4139292"/>
                <a:ext cx="83093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3F2337-555D-25C6-C808-2A975ACAB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01" y="4139292"/>
                <a:ext cx="830933" cy="369332"/>
              </a:xfrm>
              <a:prstGeom prst="rect">
                <a:avLst/>
              </a:prstGeom>
              <a:blipFill>
                <a:blip r:embed="rId5"/>
                <a:stretch>
                  <a:fillRect l="-18182" t="-3226" r="-2272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9CF28F67-C33A-33B2-9A33-BD82CF8597FC}"/>
              </a:ext>
            </a:extLst>
          </p:cNvPr>
          <p:cNvGrpSpPr/>
          <p:nvPr/>
        </p:nvGrpSpPr>
        <p:grpSpPr>
          <a:xfrm>
            <a:off x="3231782" y="2402560"/>
            <a:ext cx="1506071" cy="2104632"/>
            <a:chOff x="3242434" y="2402560"/>
            <a:chExt cx="1506071" cy="2104632"/>
          </a:xfrm>
        </p:grpSpPr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58391348-A841-A76D-4BD4-C3161C480669}"/>
                </a:ext>
              </a:extLst>
            </p:cNvPr>
            <p:cNvSpPr/>
            <p:nvPr/>
          </p:nvSpPr>
          <p:spPr>
            <a:xfrm rot="5400000">
              <a:off x="2943154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B93C2E8-2577-85C2-0F3C-D44CAD7A0CCA}"/>
                    </a:ext>
                  </a:extLst>
                </p:cNvPr>
                <p:cNvSpPr txBox="1"/>
                <p:nvPr/>
              </p:nvSpPr>
              <p:spPr>
                <a:xfrm>
                  <a:off x="3322702" y="3017298"/>
                  <a:ext cx="1382858" cy="94808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Encoder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𝐳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B93C2E8-2577-85C2-0F3C-D44CAD7A0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2702" y="3017298"/>
                  <a:ext cx="1382858" cy="948080"/>
                </a:xfrm>
                <a:prstGeom prst="rect">
                  <a:avLst/>
                </a:prstGeom>
                <a:blipFill>
                  <a:blip r:embed="rId6"/>
                  <a:stretch>
                    <a:fillRect l="-6364" t="-2667" r="-1090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" name="Picture 15" descr="A duck swimming in the water&#10;&#10;AI-generated content may be incorrect.">
            <a:extLst>
              <a:ext uri="{FF2B5EF4-FFF2-40B4-BE49-F238E27FC236}">
                <a16:creationId xmlns:a16="http://schemas.microsoft.com/office/drawing/2014/main" id="{FDFAC100-2151-B8C6-A9DA-77B2BA87F9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5" r="386" b="11247"/>
          <a:stretch>
            <a:fillRect/>
          </a:stretch>
        </p:blipFill>
        <p:spPr>
          <a:xfrm>
            <a:off x="1195745" y="2762078"/>
            <a:ext cx="1359447" cy="135940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F05297-331D-7CC6-CD1B-5F6124FFA03D}"/>
              </a:ext>
            </a:extLst>
          </p:cNvPr>
          <p:cNvCxnSpPr/>
          <p:nvPr/>
        </p:nvCxnSpPr>
        <p:spPr>
          <a:xfrm>
            <a:off x="2637243" y="3445175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C8CD0AB-F99A-77B3-9A54-076FDBACFA84}"/>
              </a:ext>
            </a:extLst>
          </p:cNvPr>
          <p:cNvGrpSpPr/>
          <p:nvPr/>
        </p:nvGrpSpPr>
        <p:grpSpPr>
          <a:xfrm>
            <a:off x="6428925" y="2777341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BE867FA-1939-68EE-1D8D-843B2839E263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03943F-8BC4-9283-4EE9-11491FFBBBF0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03943F-8BC4-9283-4EE9-11491FFBB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0000" t="-10526" r="-85000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54D799-ED43-F8C7-9A2A-B7A5A90510C0}"/>
              </a:ext>
            </a:extLst>
          </p:cNvPr>
          <p:cNvCxnSpPr>
            <a:cxnSpLocks/>
          </p:cNvCxnSpPr>
          <p:nvPr/>
        </p:nvCxnSpPr>
        <p:spPr>
          <a:xfrm>
            <a:off x="6968176" y="3509165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DF7B2AFA-478B-8A20-1691-A876EE05C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2759574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9578CDF-EFE3-4065-C488-DB8D4A7315E3}"/>
              </a:ext>
            </a:extLst>
          </p:cNvPr>
          <p:cNvCxnSpPr/>
          <p:nvPr/>
        </p:nvCxnSpPr>
        <p:spPr>
          <a:xfrm>
            <a:off x="9042265" y="3469449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DB11E3-B600-D8D5-BE43-8D735F46DB33}"/>
                  </a:ext>
                </a:extLst>
              </p:cNvPr>
              <p:cNvSpPr txBox="1"/>
              <p:nvPr/>
            </p:nvSpPr>
            <p:spPr>
              <a:xfrm>
                <a:off x="7476008" y="3063401"/>
                <a:ext cx="1470383" cy="92333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Probabilistic</a:t>
                </a:r>
              </a:p>
              <a:p>
                <a:pPr algn="ctr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acc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𝐱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DB11E3-B600-D8D5-BE43-8D735F46D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008" y="3063401"/>
                <a:ext cx="1470383" cy="923330"/>
              </a:xfrm>
              <a:prstGeom prst="rect">
                <a:avLst/>
              </a:prstGeom>
              <a:blipFill>
                <a:blip r:embed="rId10"/>
                <a:stretch>
                  <a:fillRect l="-2564" t="-2740" r="-6838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rapezoid 20">
            <a:extLst>
              <a:ext uri="{FF2B5EF4-FFF2-40B4-BE49-F238E27FC236}">
                <a16:creationId xmlns:a16="http://schemas.microsoft.com/office/drawing/2014/main" id="{AECAFC46-BE4D-B1F0-6D82-EB947127BCEC}"/>
              </a:ext>
            </a:extLst>
          </p:cNvPr>
          <p:cNvSpPr/>
          <p:nvPr/>
        </p:nvSpPr>
        <p:spPr>
          <a:xfrm rot="16200000">
            <a:off x="7154863" y="2701840"/>
            <a:ext cx="2104632" cy="1506071"/>
          </a:xfrm>
          <a:prstGeom prst="trapezoid">
            <a:avLst>
              <a:gd name="adj" fmla="val 2698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73083-89BE-817F-3CE9-D328E2856EB7}"/>
              </a:ext>
            </a:extLst>
          </p:cNvPr>
          <p:cNvCxnSpPr>
            <a:cxnSpLocks/>
          </p:cNvCxnSpPr>
          <p:nvPr/>
        </p:nvCxnSpPr>
        <p:spPr>
          <a:xfrm>
            <a:off x="4819904" y="3491338"/>
            <a:ext cx="400001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F4E6A9-2EC3-0A63-579A-60A0BEF12370}"/>
              </a:ext>
            </a:extLst>
          </p:cNvPr>
          <p:cNvCxnSpPr>
            <a:cxnSpLocks/>
          </p:cNvCxnSpPr>
          <p:nvPr/>
        </p:nvCxnSpPr>
        <p:spPr>
          <a:xfrm>
            <a:off x="5946873" y="3509164"/>
            <a:ext cx="400001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7CD0F5C-34A7-FA28-98BC-4B6DB19BF7AA}"/>
              </a:ext>
            </a:extLst>
          </p:cNvPr>
          <p:cNvGrpSpPr/>
          <p:nvPr/>
        </p:nvGrpSpPr>
        <p:grpSpPr>
          <a:xfrm>
            <a:off x="5301956" y="2965190"/>
            <a:ext cx="562866" cy="1148224"/>
            <a:chOff x="5240068" y="2965190"/>
            <a:chExt cx="562866" cy="1148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EBD20A-9ED1-2785-1DE1-31A6CA690176}"/>
                    </a:ext>
                  </a:extLst>
                </p:cNvPr>
                <p:cNvSpPr txBox="1"/>
                <p:nvPr/>
              </p:nvSpPr>
              <p:spPr>
                <a:xfrm>
                  <a:off x="5290446" y="2973164"/>
                  <a:ext cx="309401" cy="49481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EBD20A-9ED1-2785-1DE1-31A6CA6901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0446" y="2973164"/>
                  <a:ext cx="309401" cy="494815"/>
                </a:xfrm>
                <a:prstGeom prst="rect">
                  <a:avLst/>
                </a:prstGeom>
                <a:blipFill>
                  <a:blip r:embed="rId11"/>
                  <a:stretch>
                    <a:fillRect l="-32000" t="-10000" r="-148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094F9F3-7180-644F-5C06-007AF56517A2}"/>
                    </a:ext>
                  </a:extLst>
                </p:cNvPr>
                <p:cNvSpPr txBox="1"/>
                <p:nvPr/>
              </p:nvSpPr>
              <p:spPr>
                <a:xfrm>
                  <a:off x="5298585" y="3546867"/>
                  <a:ext cx="309401" cy="49481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094F9F3-7180-644F-5C06-007AF56517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585" y="3546867"/>
                  <a:ext cx="309401" cy="494815"/>
                </a:xfrm>
                <a:prstGeom prst="rect">
                  <a:avLst/>
                </a:prstGeom>
                <a:blipFill>
                  <a:blip r:embed="rId12"/>
                  <a:stretch>
                    <a:fillRect l="-30769" t="-10000" r="-138462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A7538-5D1F-AB89-7CC4-32F22EE2B5D6}"/>
                </a:ext>
              </a:extLst>
            </p:cNvPr>
            <p:cNvSpPr/>
            <p:nvPr/>
          </p:nvSpPr>
          <p:spPr>
            <a:xfrm>
              <a:off x="5240068" y="2965190"/>
              <a:ext cx="562866" cy="53466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EEB2594-2FB3-9FE4-7E27-610BC4AE77FA}"/>
                </a:ext>
              </a:extLst>
            </p:cNvPr>
            <p:cNvSpPr/>
            <p:nvPr/>
          </p:nvSpPr>
          <p:spPr>
            <a:xfrm>
              <a:off x="5240068" y="3578746"/>
              <a:ext cx="562866" cy="53466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4B3FD69-2181-CBC3-9B03-590125A8E90D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4B3FD69-2181-CBC3-9B03-590125A8E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13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9E4514A-33E2-58FF-53C5-7FC0B2DDAFD3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</p:spTree>
    <p:extLst>
      <p:ext uri="{BB962C8B-B14F-4D97-AF65-F5344CB8AC3E}">
        <p14:creationId xmlns:p14="http://schemas.microsoft.com/office/powerpoint/2010/main" val="156336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18BDA-992F-6DDA-5FAE-FAC2DE1C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3EE630-9433-8CAD-A258-70B20D07A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951D0C-14C2-CF83-CB1F-1100F809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0874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E6C18B-1B3C-874E-EF58-4FF0D61C8E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ED71A-EE2F-FDD0-4141-4001F0F703AA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1EC6E1-36EE-67B7-3F3E-DBB8959555F6}"/>
                  </a:ext>
                </a:extLst>
              </p:cNvPr>
              <p:cNvSpPr txBox="1"/>
              <p:nvPr/>
            </p:nvSpPr>
            <p:spPr>
              <a:xfrm>
                <a:off x="1460001" y="4139292"/>
                <a:ext cx="83093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3F2337-555D-25C6-C808-2A975ACAB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01" y="4139292"/>
                <a:ext cx="830933" cy="369332"/>
              </a:xfrm>
              <a:prstGeom prst="rect">
                <a:avLst/>
              </a:prstGeom>
              <a:blipFill>
                <a:blip r:embed="rId5"/>
                <a:stretch>
                  <a:fillRect l="-18182" t="-3226" r="-2272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193AAAA0-D6FB-68C4-1E4F-E2EBEFE2B5F7}"/>
              </a:ext>
            </a:extLst>
          </p:cNvPr>
          <p:cNvGrpSpPr/>
          <p:nvPr/>
        </p:nvGrpSpPr>
        <p:grpSpPr>
          <a:xfrm>
            <a:off x="3231782" y="2402560"/>
            <a:ext cx="1506071" cy="2104632"/>
            <a:chOff x="3242434" y="2402560"/>
            <a:chExt cx="1506071" cy="2104632"/>
          </a:xfrm>
        </p:grpSpPr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87ED68D8-0CFF-AFCE-E049-70E710AA2C85}"/>
                </a:ext>
              </a:extLst>
            </p:cNvPr>
            <p:cNvSpPr/>
            <p:nvPr/>
          </p:nvSpPr>
          <p:spPr>
            <a:xfrm rot="5400000">
              <a:off x="2943154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C7E8F7A-B3E2-0233-1156-867D44C1603D}"/>
                    </a:ext>
                  </a:extLst>
                </p:cNvPr>
                <p:cNvSpPr txBox="1"/>
                <p:nvPr/>
              </p:nvSpPr>
              <p:spPr>
                <a:xfrm>
                  <a:off x="3322702" y="3017298"/>
                  <a:ext cx="1382858" cy="94808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Encoder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𝐳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B93C2E8-2577-85C2-0F3C-D44CAD7A0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2702" y="3017298"/>
                  <a:ext cx="1382858" cy="948080"/>
                </a:xfrm>
                <a:prstGeom prst="rect">
                  <a:avLst/>
                </a:prstGeom>
                <a:blipFill>
                  <a:blip r:embed="rId6"/>
                  <a:stretch>
                    <a:fillRect l="-6364" t="-2667" r="-1090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" name="Picture 15" descr="A duck swimming in the water&#10;&#10;AI-generated content may be incorrect.">
            <a:extLst>
              <a:ext uri="{FF2B5EF4-FFF2-40B4-BE49-F238E27FC236}">
                <a16:creationId xmlns:a16="http://schemas.microsoft.com/office/drawing/2014/main" id="{4D8D94AC-493B-8F1E-6DDA-F3B918B849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5" r="386" b="11247"/>
          <a:stretch>
            <a:fillRect/>
          </a:stretch>
        </p:blipFill>
        <p:spPr>
          <a:xfrm>
            <a:off x="1195745" y="2762078"/>
            <a:ext cx="1359447" cy="135940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EFEA95-D8C1-3901-9C83-0B58C5D95190}"/>
              </a:ext>
            </a:extLst>
          </p:cNvPr>
          <p:cNvCxnSpPr/>
          <p:nvPr/>
        </p:nvCxnSpPr>
        <p:spPr>
          <a:xfrm>
            <a:off x="2637243" y="3445175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9B0AFB-EAD3-D543-7E2D-697C61BADF34}"/>
              </a:ext>
            </a:extLst>
          </p:cNvPr>
          <p:cNvGrpSpPr/>
          <p:nvPr/>
        </p:nvGrpSpPr>
        <p:grpSpPr>
          <a:xfrm>
            <a:off x="6428925" y="2777341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180F24-67B6-0BB3-0272-55BB458D62C7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75C707B-4414-6E33-A01C-08334DD4A5BF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03943F-8BC4-9283-4EE9-11491FFBB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0000" t="-10526" r="-85000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29D8AF7-1570-2E4C-BEB2-F7A364262D03}"/>
              </a:ext>
            </a:extLst>
          </p:cNvPr>
          <p:cNvCxnSpPr>
            <a:cxnSpLocks/>
          </p:cNvCxnSpPr>
          <p:nvPr/>
        </p:nvCxnSpPr>
        <p:spPr>
          <a:xfrm>
            <a:off x="6968176" y="3509165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4AD1683A-05C5-ACAC-985F-9D45142C2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2759574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CE59688-D7C9-5980-5760-8F03B87854BF}"/>
              </a:ext>
            </a:extLst>
          </p:cNvPr>
          <p:cNvCxnSpPr/>
          <p:nvPr/>
        </p:nvCxnSpPr>
        <p:spPr>
          <a:xfrm>
            <a:off x="9042265" y="3469449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A320792-6A94-D29C-3ABA-B82CD24630D3}"/>
                  </a:ext>
                </a:extLst>
              </p:cNvPr>
              <p:cNvSpPr txBox="1"/>
              <p:nvPr/>
            </p:nvSpPr>
            <p:spPr>
              <a:xfrm>
                <a:off x="7476008" y="3063401"/>
                <a:ext cx="1470383" cy="92333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Probabilistic</a:t>
                </a:r>
              </a:p>
              <a:p>
                <a:pPr algn="ctr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acc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𝐱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DB11E3-B600-D8D5-BE43-8D735F46D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008" y="3063401"/>
                <a:ext cx="1470383" cy="923330"/>
              </a:xfrm>
              <a:prstGeom prst="rect">
                <a:avLst/>
              </a:prstGeom>
              <a:blipFill>
                <a:blip r:embed="rId10"/>
                <a:stretch>
                  <a:fillRect l="-2564" t="-2740" r="-6838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rapezoid 20">
            <a:extLst>
              <a:ext uri="{FF2B5EF4-FFF2-40B4-BE49-F238E27FC236}">
                <a16:creationId xmlns:a16="http://schemas.microsoft.com/office/drawing/2014/main" id="{FE019E20-62CA-2172-BD41-DE00935960BF}"/>
              </a:ext>
            </a:extLst>
          </p:cNvPr>
          <p:cNvSpPr/>
          <p:nvPr/>
        </p:nvSpPr>
        <p:spPr>
          <a:xfrm rot="16200000">
            <a:off x="7154863" y="2701840"/>
            <a:ext cx="2104632" cy="1506071"/>
          </a:xfrm>
          <a:prstGeom prst="trapezoid">
            <a:avLst>
              <a:gd name="adj" fmla="val 2698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AED166-AD01-4C4D-FC0F-F72184DFB315}"/>
              </a:ext>
            </a:extLst>
          </p:cNvPr>
          <p:cNvCxnSpPr>
            <a:cxnSpLocks/>
          </p:cNvCxnSpPr>
          <p:nvPr/>
        </p:nvCxnSpPr>
        <p:spPr>
          <a:xfrm>
            <a:off x="4819904" y="3491338"/>
            <a:ext cx="400001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31308E-C674-E75D-7368-022C6A36D812}"/>
              </a:ext>
            </a:extLst>
          </p:cNvPr>
          <p:cNvCxnSpPr>
            <a:cxnSpLocks/>
          </p:cNvCxnSpPr>
          <p:nvPr/>
        </p:nvCxnSpPr>
        <p:spPr>
          <a:xfrm>
            <a:off x="5946873" y="3509164"/>
            <a:ext cx="400001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F5E7AA5-EE93-E1D7-A45C-D75CF212DB65}"/>
              </a:ext>
            </a:extLst>
          </p:cNvPr>
          <p:cNvGrpSpPr/>
          <p:nvPr/>
        </p:nvGrpSpPr>
        <p:grpSpPr>
          <a:xfrm>
            <a:off x="5301956" y="2965190"/>
            <a:ext cx="562866" cy="1148224"/>
            <a:chOff x="5240068" y="2965190"/>
            <a:chExt cx="562866" cy="1148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E697981-50E8-9496-788C-4C6E974A778C}"/>
                    </a:ext>
                  </a:extLst>
                </p:cNvPr>
                <p:cNvSpPr txBox="1"/>
                <p:nvPr/>
              </p:nvSpPr>
              <p:spPr>
                <a:xfrm>
                  <a:off x="5290446" y="2973164"/>
                  <a:ext cx="309401" cy="49481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EBD20A-9ED1-2785-1DE1-31A6CA6901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0446" y="2973164"/>
                  <a:ext cx="309401" cy="494815"/>
                </a:xfrm>
                <a:prstGeom prst="rect">
                  <a:avLst/>
                </a:prstGeom>
                <a:blipFill>
                  <a:blip r:embed="rId11"/>
                  <a:stretch>
                    <a:fillRect l="-32000" t="-10000" r="-148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B13EF5F-A73B-632F-75B6-87F22203052A}"/>
                    </a:ext>
                  </a:extLst>
                </p:cNvPr>
                <p:cNvSpPr txBox="1"/>
                <p:nvPr/>
              </p:nvSpPr>
              <p:spPr>
                <a:xfrm>
                  <a:off x="5298585" y="3546867"/>
                  <a:ext cx="309401" cy="49481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094F9F3-7180-644F-5C06-007AF56517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585" y="3546867"/>
                  <a:ext cx="309401" cy="494815"/>
                </a:xfrm>
                <a:prstGeom prst="rect">
                  <a:avLst/>
                </a:prstGeom>
                <a:blipFill>
                  <a:blip r:embed="rId12"/>
                  <a:stretch>
                    <a:fillRect l="-30769" t="-10000" r="-138462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1A07A0-FCCD-64BB-5199-9FAF0A847D9C}"/>
                </a:ext>
              </a:extLst>
            </p:cNvPr>
            <p:cNvSpPr/>
            <p:nvPr/>
          </p:nvSpPr>
          <p:spPr>
            <a:xfrm>
              <a:off x="5240068" y="2965190"/>
              <a:ext cx="562866" cy="53466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3961DA4-E8E8-B3CB-ABE5-31E936307BDB}"/>
                </a:ext>
              </a:extLst>
            </p:cNvPr>
            <p:cNvSpPr/>
            <p:nvPr/>
          </p:nvSpPr>
          <p:spPr>
            <a:xfrm>
              <a:off x="5240068" y="3578746"/>
              <a:ext cx="562866" cy="53466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FFEC140-07DF-C2C3-1F93-D0D272B15768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4B3FD69-2181-CBC3-9B03-590125A8E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13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195C012E-75C2-5D00-80D7-BED32259911A}"/>
              </a:ext>
            </a:extLst>
          </p:cNvPr>
          <p:cNvSpPr txBox="1"/>
          <p:nvPr/>
        </p:nvSpPr>
        <p:spPr>
          <a:xfrm>
            <a:off x="1002122" y="5248964"/>
            <a:ext cx="2571217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do we train this?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173D87-64F6-973B-4815-4AA00657BE55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</p:spTree>
    <p:extLst>
      <p:ext uri="{BB962C8B-B14F-4D97-AF65-F5344CB8AC3E}">
        <p14:creationId xmlns:p14="http://schemas.microsoft.com/office/powerpoint/2010/main" val="182468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C99B0-7A3F-05D5-644B-91494B284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7DF2B-4CF3-CDB4-498F-BB2A51DA0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0758A8-7057-F43F-8EA0-DDA29F9B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0874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F2A5AD-08A7-4AD7-2544-FE670D6935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296D8-9759-A361-9288-4A6973FFEC2C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EB898B5-D5AE-16DF-5B5D-F914A4379708}"/>
                  </a:ext>
                </a:extLst>
              </p:cNvPr>
              <p:cNvSpPr txBox="1"/>
              <p:nvPr/>
            </p:nvSpPr>
            <p:spPr>
              <a:xfrm>
                <a:off x="1460001" y="4139292"/>
                <a:ext cx="83093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3F2337-555D-25C6-C808-2A975ACAB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01" y="4139292"/>
                <a:ext cx="830933" cy="369332"/>
              </a:xfrm>
              <a:prstGeom prst="rect">
                <a:avLst/>
              </a:prstGeom>
              <a:blipFill>
                <a:blip r:embed="rId5"/>
                <a:stretch>
                  <a:fillRect l="-18182" t="-3226" r="-2272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7D8FE050-FC5D-6DDC-FE3D-EEF47D2A2AB1}"/>
              </a:ext>
            </a:extLst>
          </p:cNvPr>
          <p:cNvGrpSpPr/>
          <p:nvPr/>
        </p:nvGrpSpPr>
        <p:grpSpPr>
          <a:xfrm>
            <a:off x="3231782" y="2402560"/>
            <a:ext cx="1506071" cy="2104632"/>
            <a:chOff x="3242434" y="2402560"/>
            <a:chExt cx="1506071" cy="2104632"/>
          </a:xfrm>
        </p:grpSpPr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7C67947F-80E6-3575-53B8-8069AB6BB935}"/>
                </a:ext>
              </a:extLst>
            </p:cNvPr>
            <p:cNvSpPr/>
            <p:nvPr/>
          </p:nvSpPr>
          <p:spPr>
            <a:xfrm rot="5400000">
              <a:off x="2943154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57BFD0C-A636-EDE8-6646-3E57252B6420}"/>
                    </a:ext>
                  </a:extLst>
                </p:cNvPr>
                <p:cNvSpPr txBox="1"/>
                <p:nvPr/>
              </p:nvSpPr>
              <p:spPr>
                <a:xfrm>
                  <a:off x="3322702" y="3017298"/>
                  <a:ext cx="1382858" cy="94808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Encoder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𝐳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B93C2E8-2577-85C2-0F3C-D44CAD7A0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2702" y="3017298"/>
                  <a:ext cx="1382858" cy="948080"/>
                </a:xfrm>
                <a:prstGeom prst="rect">
                  <a:avLst/>
                </a:prstGeom>
                <a:blipFill>
                  <a:blip r:embed="rId6"/>
                  <a:stretch>
                    <a:fillRect l="-6364" t="-2667" r="-1090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" name="Picture 15" descr="A duck swimming in the water&#10;&#10;AI-generated content may be incorrect.">
            <a:extLst>
              <a:ext uri="{FF2B5EF4-FFF2-40B4-BE49-F238E27FC236}">
                <a16:creationId xmlns:a16="http://schemas.microsoft.com/office/drawing/2014/main" id="{F4B8B184-23FB-5300-1F37-A3A5121ACB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5" r="386" b="11247"/>
          <a:stretch>
            <a:fillRect/>
          </a:stretch>
        </p:blipFill>
        <p:spPr>
          <a:xfrm>
            <a:off x="1195745" y="2762078"/>
            <a:ext cx="1359447" cy="135940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891FB1-AB96-6D3E-CAF6-7814B2FDD711}"/>
              </a:ext>
            </a:extLst>
          </p:cNvPr>
          <p:cNvCxnSpPr/>
          <p:nvPr/>
        </p:nvCxnSpPr>
        <p:spPr>
          <a:xfrm>
            <a:off x="2637243" y="3445175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8CEA525-0C53-71BD-39D1-295CD4DCD035}"/>
              </a:ext>
            </a:extLst>
          </p:cNvPr>
          <p:cNvGrpSpPr/>
          <p:nvPr/>
        </p:nvGrpSpPr>
        <p:grpSpPr>
          <a:xfrm>
            <a:off x="6428925" y="2777341"/>
            <a:ext cx="457200" cy="1463647"/>
            <a:chOff x="5446986" y="3171415"/>
            <a:chExt cx="457200" cy="1463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9D7FD0-22CF-ED3C-2016-17A53F2DDCEE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56B88A2-0A83-55DF-DFFE-B6E208EF7278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03943F-8BC4-9283-4EE9-11491FFBB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0000" t="-10526" r="-85000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0B97F2-C08C-8FD3-2461-997DEA10EAFF}"/>
              </a:ext>
            </a:extLst>
          </p:cNvPr>
          <p:cNvCxnSpPr>
            <a:cxnSpLocks/>
          </p:cNvCxnSpPr>
          <p:nvPr/>
        </p:nvCxnSpPr>
        <p:spPr>
          <a:xfrm>
            <a:off x="6968176" y="3509165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45B64B15-F500-C3BE-95FE-E1567010F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2759574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91444D-94B3-6EBE-5336-DECF782E4D3D}"/>
              </a:ext>
            </a:extLst>
          </p:cNvPr>
          <p:cNvCxnSpPr/>
          <p:nvPr/>
        </p:nvCxnSpPr>
        <p:spPr>
          <a:xfrm>
            <a:off x="9042265" y="3469449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090BA28-8C93-F4DF-62E8-6447AC088D92}"/>
                  </a:ext>
                </a:extLst>
              </p:cNvPr>
              <p:cNvSpPr txBox="1"/>
              <p:nvPr/>
            </p:nvSpPr>
            <p:spPr>
              <a:xfrm>
                <a:off x="7476008" y="3063401"/>
                <a:ext cx="1470383" cy="92333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Probabilistic</a:t>
                </a:r>
              </a:p>
              <a:p>
                <a:pPr algn="ctr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acc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𝐱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DB11E3-B600-D8D5-BE43-8D735F46D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008" y="3063401"/>
                <a:ext cx="1470383" cy="923330"/>
              </a:xfrm>
              <a:prstGeom prst="rect">
                <a:avLst/>
              </a:prstGeom>
              <a:blipFill>
                <a:blip r:embed="rId10"/>
                <a:stretch>
                  <a:fillRect l="-2564" t="-2740" r="-6838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rapezoid 20">
            <a:extLst>
              <a:ext uri="{FF2B5EF4-FFF2-40B4-BE49-F238E27FC236}">
                <a16:creationId xmlns:a16="http://schemas.microsoft.com/office/drawing/2014/main" id="{A707DDE1-7C4F-A748-7185-31FE9C809962}"/>
              </a:ext>
            </a:extLst>
          </p:cNvPr>
          <p:cNvSpPr/>
          <p:nvPr/>
        </p:nvSpPr>
        <p:spPr>
          <a:xfrm rot="16200000">
            <a:off x="7154863" y="2701840"/>
            <a:ext cx="2104632" cy="1506071"/>
          </a:xfrm>
          <a:prstGeom prst="trapezoid">
            <a:avLst>
              <a:gd name="adj" fmla="val 2698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CFC2C9-24E9-CAFC-9D68-D250280D86FB}"/>
              </a:ext>
            </a:extLst>
          </p:cNvPr>
          <p:cNvCxnSpPr>
            <a:cxnSpLocks/>
          </p:cNvCxnSpPr>
          <p:nvPr/>
        </p:nvCxnSpPr>
        <p:spPr>
          <a:xfrm>
            <a:off x="4819904" y="3491338"/>
            <a:ext cx="400001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ED24C43-4930-0695-DE54-963034DB909E}"/>
              </a:ext>
            </a:extLst>
          </p:cNvPr>
          <p:cNvCxnSpPr>
            <a:cxnSpLocks/>
          </p:cNvCxnSpPr>
          <p:nvPr/>
        </p:nvCxnSpPr>
        <p:spPr>
          <a:xfrm>
            <a:off x="5946873" y="3509164"/>
            <a:ext cx="400001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04225B-5B86-82AA-C1DB-9511B2798500}"/>
              </a:ext>
            </a:extLst>
          </p:cNvPr>
          <p:cNvGrpSpPr/>
          <p:nvPr/>
        </p:nvGrpSpPr>
        <p:grpSpPr>
          <a:xfrm>
            <a:off x="5301956" y="2965190"/>
            <a:ext cx="562866" cy="1148224"/>
            <a:chOff x="5240068" y="2965190"/>
            <a:chExt cx="562866" cy="1148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69562AF-B4FB-F6EE-E6BB-1DD5D326B0C8}"/>
                    </a:ext>
                  </a:extLst>
                </p:cNvPr>
                <p:cNvSpPr txBox="1"/>
                <p:nvPr/>
              </p:nvSpPr>
              <p:spPr>
                <a:xfrm>
                  <a:off x="5290446" y="2973164"/>
                  <a:ext cx="309401" cy="49481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EBD20A-9ED1-2785-1DE1-31A6CA6901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0446" y="2973164"/>
                  <a:ext cx="309401" cy="494815"/>
                </a:xfrm>
                <a:prstGeom prst="rect">
                  <a:avLst/>
                </a:prstGeom>
                <a:blipFill>
                  <a:blip r:embed="rId11"/>
                  <a:stretch>
                    <a:fillRect l="-32000" t="-10000" r="-148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935ECD1-D3F9-F41C-BF2B-F8AADD898D86}"/>
                    </a:ext>
                  </a:extLst>
                </p:cNvPr>
                <p:cNvSpPr txBox="1"/>
                <p:nvPr/>
              </p:nvSpPr>
              <p:spPr>
                <a:xfrm>
                  <a:off x="5298585" y="3546867"/>
                  <a:ext cx="309401" cy="49481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094F9F3-7180-644F-5C06-007AF56517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585" y="3546867"/>
                  <a:ext cx="309401" cy="494815"/>
                </a:xfrm>
                <a:prstGeom prst="rect">
                  <a:avLst/>
                </a:prstGeom>
                <a:blipFill>
                  <a:blip r:embed="rId12"/>
                  <a:stretch>
                    <a:fillRect l="-30769" t="-10000" r="-138462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5750802-5D7B-B616-B008-38CC1D3411B8}"/>
                </a:ext>
              </a:extLst>
            </p:cNvPr>
            <p:cNvSpPr/>
            <p:nvPr/>
          </p:nvSpPr>
          <p:spPr>
            <a:xfrm>
              <a:off x="5240068" y="2965190"/>
              <a:ext cx="562866" cy="53466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90BFC63-C9EF-F816-7CC0-397E2F4952E2}"/>
                </a:ext>
              </a:extLst>
            </p:cNvPr>
            <p:cNvSpPr/>
            <p:nvPr/>
          </p:nvSpPr>
          <p:spPr>
            <a:xfrm>
              <a:off x="5240068" y="3578746"/>
              <a:ext cx="562866" cy="53466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68F1C24-DE84-886E-BF07-1C80BF17C181}"/>
                  </a:ext>
                </a:extLst>
              </p:cNvPr>
              <p:cNvSpPr txBox="1"/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4B3FD69-2181-CBC3-9B03-590125A8E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149965"/>
                <a:ext cx="2409314" cy="369332"/>
              </a:xfrm>
              <a:prstGeom prst="rect">
                <a:avLst/>
              </a:prstGeom>
              <a:blipFill>
                <a:blip r:embed="rId13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AC7FC47C-55EB-4EF9-0642-3345FC776C22}"/>
              </a:ext>
            </a:extLst>
          </p:cNvPr>
          <p:cNvSpPr txBox="1"/>
          <p:nvPr/>
        </p:nvSpPr>
        <p:spPr>
          <a:xfrm>
            <a:off x="1002122" y="5248964"/>
            <a:ext cx="2571217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do we train this?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E68A57B-30EB-8737-1972-A50CF9B68071}"/>
                  </a:ext>
                </a:extLst>
              </p:cNvPr>
              <p:cNvSpPr txBox="1"/>
              <p:nvPr/>
            </p:nvSpPr>
            <p:spPr>
              <a:xfrm>
                <a:off x="3834140" y="5259764"/>
                <a:ext cx="1708481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sz="20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𝑝</m:t>
                    </m:r>
                    <m:d>
                      <m:d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>
                  <a:solidFill>
                    <a:srgbClr val="C00000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E68A57B-30EB-8737-1972-A50CF9B68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140" y="5259764"/>
                <a:ext cx="1708481" cy="400110"/>
              </a:xfrm>
              <a:prstGeom prst="rect">
                <a:avLst/>
              </a:prstGeom>
              <a:blipFill>
                <a:blip r:embed="rId14"/>
                <a:stretch>
                  <a:fillRect l="-8824" t="-9375" r="-9559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4955B3-F649-BAF4-687B-F86814DF5AB5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</p:spTree>
    <p:extLst>
      <p:ext uri="{BB962C8B-B14F-4D97-AF65-F5344CB8AC3E}">
        <p14:creationId xmlns:p14="http://schemas.microsoft.com/office/powerpoint/2010/main" val="270716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CBDCF-3D23-EC3E-953C-D57EED3A7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9D547C-2ED5-98D6-EB5F-A8C5931D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C68CEA-3A90-C796-6459-7F4CC02AC6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99675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C68CEA-3A90-C796-6459-7F4CC02AC6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996752"/>
              </a:xfrm>
              <a:blipFill>
                <a:blip r:embed="rId5"/>
                <a:stretch>
                  <a:fillRect l="-1734" b="-2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8BFBBA-F9A5-1029-4377-8038B9DC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4061A2-21D2-EAE4-D3C3-A107F36C53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A52CF7-8E81-B279-F2D6-BB7862C456C9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2B373-ACA8-CF3B-5464-8C7C98E6DFF9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</p:spTree>
    <p:extLst>
      <p:ext uri="{BB962C8B-B14F-4D97-AF65-F5344CB8AC3E}">
        <p14:creationId xmlns:p14="http://schemas.microsoft.com/office/powerpoint/2010/main" val="196481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45141-B93D-95DF-BD43-94715E25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218E46-075C-B9A9-8DA8-DF986594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E89980-7C83-1372-02F8-5DB900F896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99675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E89980-7C83-1372-02F8-5DB900F896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996752"/>
              </a:xfrm>
              <a:blipFill>
                <a:blip r:embed="rId5"/>
                <a:stretch>
                  <a:fillRect l="-1734" b="-2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4C3EE3-C3D7-1E8B-4015-7FF4DCD6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A5D0F3-E26E-03F5-09E8-218B1C3AD0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74E69-6EA6-A7E6-34CA-5763F9D706AD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40737-AA42-EAC1-AE94-4534A8EFBAFF}"/>
              </a:ext>
            </a:extLst>
          </p:cNvPr>
          <p:cNvSpPr txBox="1"/>
          <p:nvPr/>
        </p:nvSpPr>
        <p:spPr>
          <a:xfrm>
            <a:off x="5928360" y="1920240"/>
            <a:ext cx="1695977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By Bayes’ Rule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E3483-C4E7-6CB2-9B7C-C53C3F433F04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</p:spTree>
    <p:extLst>
      <p:ext uri="{BB962C8B-B14F-4D97-AF65-F5344CB8AC3E}">
        <p14:creationId xmlns:p14="http://schemas.microsoft.com/office/powerpoint/2010/main" val="399991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9AED5-57CF-108F-8133-026C81A43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CD69A-C548-6D2D-88FC-C83CAA73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6E1E7B-809C-82F3-CA23-6ADBF6F3AA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96031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6E1E7B-809C-82F3-CA23-6ADBF6F3AA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960315"/>
              </a:xfrm>
              <a:blipFill>
                <a:blip r:embed="rId5"/>
                <a:stretch>
                  <a:fillRect l="-1734" t="-639" b="-2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1663EB-CED2-4C37-0BB6-685261EF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E72B52-E7CE-0249-3CD8-43C2D1194F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E7F822-1B25-9253-2B0F-6A2F7670F985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E11C44-2D5A-14A2-2CDE-C9C945AAB7D5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</p:spTree>
    <p:extLst>
      <p:ext uri="{BB962C8B-B14F-4D97-AF65-F5344CB8AC3E}">
        <p14:creationId xmlns:p14="http://schemas.microsoft.com/office/powerpoint/2010/main" val="52609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CCC16-520F-9657-C655-656DD911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2B7AB-AF65-42BA-93E0-EDAFEF1E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4B84C9D-C4B3-9490-93D1-763252BCD9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29271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5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4B84C9D-C4B3-9490-93D1-763252BCD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292714"/>
              </a:xfrm>
              <a:blipFill>
                <a:blip r:embed="rId5"/>
                <a:stretch>
                  <a:fillRect l="-1734" t="-590" b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143FDC-4506-E7F2-1329-180ABF12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30920A-CA6F-BA9D-7613-9C1EE1DD72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A30B77-63B2-2646-0555-47DEC00E6EF9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34EE4-C1D6-3A59-B54A-68207B900DA0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</p:spTree>
    <p:extLst>
      <p:ext uri="{BB962C8B-B14F-4D97-AF65-F5344CB8AC3E}">
        <p14:creationId xmlns:p14="http://schemas.microsoft.com/office/powerpoint/2010/main" val="71024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8BEC6-28A3-A5B7-45D9-70996317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EB2396-4E47-6CCF-DB71-492A2AE0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2E72BC-C013-1184-B8B8-ADA2C7C1B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62511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2E72BC-C013-1184-B8B8-ADA2C7C1B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625112"/>
              </a:xfrm>
              <a:blipFill>
                <a:blip r:embed="rId5"/>
                <a:stretch>
                  <a:fillRect l="-1734" b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7E91BA-2B71-FD65-AD54-66C71F47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36FD96-37D8-4ACB-3BC2-102E1A1034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B7484-63AC-554E-1DA7-A36063C09434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B5B3F-5F16-E3B0-2869-1258055D6A66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1502C3-00C8-28F4-4427-52844F64CBA3}"/>
                  </a:ext>
                </a:extLst>
              </p:cNvPr>
              <p:cNvSpPr txBox="1"/>
              <p:nvPr/>
            </p:nvSpPr>
            <p:spPr>
              <a:xfrm>
                <a:off x="3009668" y="3634548"/>
                <a:ext cx="5602816" cy="39408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Average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~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does not depend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1502C3-00C8-28F4-4427-52844F64C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668" y="3634548"/>
                <a:ext cx="5602816" cy="394082"/>
              </a:xfrm>
              <a:prstGeom prst="rect">
                <a:avLst/>
              </a:prstGeom>
              <a:blipFill>
                <a:blip r:embed="rId6"/>
                <a:stretch>
                  <a:fillRect l="-2715" t="-6250" r="-2489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108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F9D3-6374-266B-F050-A1F47107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F80405-BC63-FE1F-2F90-D1CB95CF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3467F0-0D8B-7C84-925B-F9D69A5A73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62511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2E72BC-C013-1184-B8B8-ADA2C7C1B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625112"/>
              </a:xfrm>
              <a:blipFill>
                <a:blip r:embed="rId5"/>
                <a:stretch>
                  <a:fillRect l="-1734" b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92791-323F-3D6D-B641-ADFFBDEBB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BA4E4F-4EC0-C247-8EEB-4EA21B266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038C2-436B-FE7D-2E70-80D9B22E6D3F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330C3-7621-6426-E87D-B602F69C4A23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</p:spTree>
    <p:extLst>
      <p:ext uri="{BB962C8B-B14F-4D97-AF65-F5344CB8AC3E}">
        <p14:creationId xmlns:p14="http://schemas.microsoft.com/office/powerpoint/2010/main" val="145145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D66F-60C6-DF33-D78D-3B7834D5C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0F42CA-959D-C400-E733-D1897DFB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6F604D8-7EF9-E631-9F0E-021A2B4467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548182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6F604D8-7EF9-E631-9F0E-021A2B4467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5481822"/>
              </a:xfrm>
              <a:blipFill>
                <a:blip r:embed="rId5"/>
                <a:stretch>
                  <a:fillRect l="-1734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B17F6-BA53-C904-E7A2-B210DD744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2F4D39-E72A-E1A4-F8CA-90FBBC066D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2C6EE-E1D6-74AA-D0FA-AE3FF1B767FA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43C94E-EA4C-312E-E37F-6B280477DD17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</p:spTree>
    <p:extLst>
      <p:ext uri="{BB962C8B-B14F-4D97-AF65-F5344CB8AC3E}">
        <p14:creationId xmlns:p14="http://schemas.microsoft.com/office/powerpoint/2010/main" val="322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46DFE-F67D-0C81-2583-BE818260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C0D44E-5A0C-1BE2-0647-9C1CE7E7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ED2C790-D1D0-9C81-5BC8-0D79C9381A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548182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6F604D8-7EF9-E631-9F0E-021A2B4467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5481822"/>
              </a:xfrm>
              <a:blipFill>
                <a:blip r:embed="rId5"/>
                <a:stretch>
                  <a:fillRect l="-1734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7CE64-E73B-95B2-F27E-B46400E6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AD1BDA-1902-81F1-207C-CED5A88AB3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D42E4-D062-2BEC-49E5-D9113694B31F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DCEEB-DC0B-4F49-DC8A-3024AB16C059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C07D6-87AE-1C79-DEE3-E1BE7D48653F}"/>
              </a:ext>
            </a:extLst>
          </p:cNvPr>
          <p:cNvSpPr txBox="1"/>
          <p:nvPr/>
        </p:nvSpPr>
        <p:spPr>
          <a:xfrm>
            <a:off x="1507699" y="5529730"/>
            <a:ext cx="270907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Data Reconstruction Error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9408CD-2E8C-BB7C-785E-A1CC96B5593B}"/>
              </a:ext>
            </a:extLst>
          </p:cNvPr>
          <p:cNvCxnSpPr>
            <a:cxnSpLocks/>
          </p:cNvCxnSpPr>
          <p:nvPr/>
        </p:nvCxnSpPr>
        <p:spPr>
          <a:xfrm>
            <a:off x="1804024" y="5458012"/>
            <a:ext cx="2412750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5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D15E0-0FAD-4CB3-B072-A0023DC5A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801B3E-08CB-4F75-7436-17F4D5A0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684BFC6-F685-39BB-BFE3-65D7ED96CF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548182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684BFC6-F685-39BB-BFE3-65D7ED96CF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5481822"/>
              </a:xfrm>
              <a:blipFill>
                <a:blip r:embed="rId5"/>
                <a:stretch>
                  <a:fillRect l="-1734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047879-E482-B173-EFDC-E40DA069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D013D3-A15E-F883-4192-D628C2840F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AD0BF5-6CED-34CD-EA22-BE0186D0BB02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8415C-70EE-D94E-4AEF-4E2558D6DCCA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398DA-454E-97B1-5344-0660115A380F}"/>
              </a:ext>
            </a:extLst>
          </p:cNvPr>
          <p:cNvSpPr txBox="1"/>
          <p:nvPr/>
        </p:nvSpPr>
        <p:spPr>
          <a:xfrm>
            <a:off x="4617146" y="5555888"/>
            <a:ext cx="276678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Distribution KL divergence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9E98D8-99CF-AE7D-8BA8-D4F4318B59FF}"/>
              </a:ext>
            </a:extLst>
          </p:cNvPr>
          <p:cNvCxnSpPr>
            <a:cxnSpLocks/>
          </p:cNvCxnSpPr>
          <p:nvPr/>
        </p:nvCxnSpPr>
        <p:spPr>
          <a:xfrm>
            <a:off x="4617146" y="5503782"/>
            <a:ext cx="2574829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42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28341-5EA8-FEE8-85C0-54B84DB8B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9B9AC9-DCCC-2D59-5E48-94BD8A7E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CAD2C37-8688-834E-68DA-F9ADD421F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548182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CAD2C37-8688-834E-68DA-F9ADD421F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5481822"/>
              </a:xfrm>
              <a:blipFill>
                <a:blip r:embed="rId5"/>
                <a:stretch>
                  <a:fillRect l="-1734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F10E7D-298A-019D-2157-A3F455863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8E09DF-5F77-7D42-08C1-CDD9D16A04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4172C-C43F-8D01-13A1-287E29EFB81C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A67AC-033A-EFA5-427A-79F48B8EE6B0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0A2AB2-A752-6CA9-660D-F7E0A75D3B07}"/>
              </a:ext>
            </a:extLst>
          </p:cNvPr>
          <p:cNvCxnSpPr>
            <a:cxnSpLocks/>
          </p:cNvCxnSpPr>
          <p:nvPr/>
        </p:nvCxnSpPr>
        <p:spPr>
          <a:xfrm>
            <a:off x="7654230" y="5469915"/>
            <a:ext cx="2951390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782291-F1CF-4597-AEF3-8EFD77B69DA5}"/>
                  </a:ext>
                </a:extLst>
              </p:cNvPr>
              <p:cNvSpPr txBox="1"/>
              <p:nvPr/>
            </p:nvSpPr>
            <p:spPr>
              <a:xfrm>
                <a:off x="7788752" y="5469915"/>
                <a:ext cx="216136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is intractable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782291-F1CF-4597-AEF3-8EFD77B69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752" y="5469915"/>
                <a:ext cx="2161361" cy="369332"/>
              </a:xfrm>
              <a:prstGeom prst="rect">
                <a:avLst/>
              </a:prstGeom>
              <a:blipFill>
                <a:blip r:embed="rId6"/>
                <a:stretch>
                  <a:fillRect l="-4094" t="-6667" r="-81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4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0D874-2893-832F-3B92-6DD48DDF5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7DE4D0-76FD-2990-656C-51A940822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D9E18AC-D9DF-67B4-3B30-2C429B78DA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31964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D9E18AC-D9DF-67B4-3B30-2C429B78DA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319644"/>
              </a:xfrm>
              <a:blipFill>
                <a:blip r:embed="rId5"/>
                <a:stretch>
                  <a:fillRect l="-1734" b="-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05EC21-EB83-99AA-52F4-B253ACD3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382F89-3BB9-FB1A-2114-965C1BE65A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47930-D20F-B361-819F-0DA3B794302E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CB6C1-DBD2-3513-7A18-070AF142E2D9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A6E44-46AE-1D84-FBFB-058B35AEDE1F}"/>
              </a:ext>
            </a:extLst>
          </p:cNvPr>
          <p:cNvCxnSpPr>
            <a:cxnSpLocks/>
          </p:cNvCxnSpPr>
          <p:nvPr/>
        </p:nvCxnSpPr>
        <p:spPr>
          <a:xfrm>
            <a:off x="7654230" y="5469915"/>
            <a:ext cx="2951390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23E02B-6BA9-DB76-DF1C-09B1974302B5}"/>
                  </a:ext>
                </a:extLst>
              </p:cNvPr>
              <p:cNvSpPr txBox="1"/>
              <p:nvPr/>
            </p:nvSpPr>
            <p:spPr>
              <a:xfrm>
                <a:off x="7788752" y="5469915"/>
                <a:ext cx="216136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is intractable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23E02B-6BA9-DB76-DF1C-09B197430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752" y="5469915"/>
                <a:ext cx="2161361" cy="369332"/>
              </a:xfrm>
              <a:prstGeom prst="rect">
                <a:avLst/>
              </a:prstGeom>
              <a:blipFill>
                <a:blip r:embed="rId6"/>
                <a:stretch>
                  <a:fillRect l="-4094" t="-6667" r="-81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3F3793-9379-0B29-0F47-0406A76A67AD}"/>
                  </a:ext>
                </a:extLst>
              </p:cNvPr>
              <p:cNvSpPr txBox="1"/>
              <p:nvPr/>
            </p:nvSpPr>
            <p:spPr>
              <a:xfrm>
                <a:off x="7788752" y="5760720"/>
                <a:ext cx="2416174" cy="6765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C00000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3F3793-9379-0B29-0F47-0406A76A6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752" y="5760720"/>
                <a:ext cx="2416174" cy="676532"/>
              </a:xfrm>
              <a:prstGeom prst="rect">
                <a:avLst/>
              </a:prstGeom>
              <a:blipFill>
                <a:blip r:embed="rId7"/>
                <a:stretch>
                  <a:fillRect l="-2094" r="-680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210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FAAA9-22EB-9428-BF85-4520281C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051B2B-AC38-09AB-ED05-BC14542B2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3760EC8-A570-A98D-EFD0-363FE2C2A3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548182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3760EC8-A570-A98D-EFD0-363FE2C2A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5481822"/>
              </a:xfrm>
              <a:blipFill>
                <a:blip r:embed="rId5"/>
                <a:stretch>
                  <a:fillRect l="-1734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3FFF9F-E77A-AA2E-631F-6FFECC68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95E990-E47A-8BD9-F84D-DD1EED747E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E80DA-AF70-0F78-8310-87EB58DEFF21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28F60-41AC-CD55-EE72-CA9979A3841D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2B22CC-4B9B-A8AE-0218-5EA0D8FD4A71}"/>
              </a:ext>
            </a:extLst>
          </p:cNvPr>
          <p:cNvCxnSpPr>
            <a:cxnSpLocks/>
          </p:cNvCxnSpPr>
          <p:nvPr/>
        </p:nvCxnSpPr>
        <p:spPr>
          <a:xfrm>
            <a:off x="7654230" y="5469915"/>
            <a:ext cx="2951390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E8CFF0-CEF3-8476-8A20-708001A7C95E}"/>
                  </a:ext>
                </a:extLst>
              </p:cNvPr>
              <p:cNvSpPr txBox="1"/>
              <p:nvPr/>
            </p:nvSpPr>
            <p:spPr>
              <a:xfrm>
                <a:off x="7788752" y="5469915"/>
                <a:ext cx="2854692" cy="92333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is intractable</a:t>
                </a:r>
              </a:p>
              <a:p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but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≥0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</a:t>
                </a:r>
                <a:b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is lower-bounded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E8CFF0-CEF3-8476-8A20-708001A7C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752" y="5469915"/>
                <a:ext cx="2854692" cy="923330"/>
              </a:xfrm>
              <a:prstGeom prst="rect">
                <a:avLst/>
              </a:prstGeom>
              <a:blipFill>
                <a:blip r:embed="rId6"/>
                <a:stretch>
                  <a:fillRect l="-5310" t="-2703" r="-3982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66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3DAD-6276-95F6-ADCD-175240C7D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417500-18F5-3E13-2E19-B5713FCC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D2A464D-F722-BE28-839C-9D02DB5005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65204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D2A464D-F722-BE28-839C-9D02DB500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652043"/>
              </a:xfrm>
              <a:blipFill>
                <a:blip r:embed="rId5"/>
                <a:stretch>
                  <a:fillRect l="-1734" b="-3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A07011-2B1F-C8A5-CCE0-5B444F12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BC55B0-4D02-F004-7A35-A2F7353CAA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B35712-66B6-D757-D38B-B994D6E1A444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0CCC6-9BBE-9B06-3D9D-791F47C43D31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</p:spTree>
    <p:extLst>
      <p:ext uri="{BB962C8B-B14F-4D97-AF65-F5344CB8AC3E}">
        <p14:creationId xmlns:p14="http://schemas.microsoft.com/office/powerpoint/2010/main" val="65756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E50D5-E111-3776-736E-385814B5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8D8988-62B2-00F6-F659-1C4822132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C2219A2-EBB6-2EFD-0689-A8AA4D7C0F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65204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C2219A2-EBB6-2EFD-0689-A8AA4D7C0F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652043"/>
              </a:xfrm>
              <a:blipFill>
                <a:blip r:embed="rId5"/>
                <a:stretch>
                  <a:fillRect l="-1734" b="-3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2E8889-5D99-A19A-2D53-0B5C1A105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E4DB7A-73C2-6EEA-8F55-68A3B71182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C30FC-294A-995D-E69C-A13B68E45C51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D3F21-ACF9-480B-EA17-F24CDCDA188C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0A34C-65FF-951C-4C46-90D39C9A6A75}"/>
              </a:ext>
            </a:extLst>
          </p:cNvPr>
          <p:cNvSpPr txBox="1"/>
          <p:nvPr/>
        </p:nvSpPr>
        <p:spPr>
          <a:xfrm>
            <a:off x="7406640" y="5864049"/>
            <a:ext cx="318997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ELBO (Evidence Lower Bound)</a:t>
            </a:r>
          </a:p>
        </p:txBody>
      </p:sp>
    </p:spTree>
    <p:extLst>
      <p:ext uri="{BB962C8B-B14F-4D97-AF65-F5344CB8AC3E}">
        <p14:creationId xmlns:p14="http://schemas.microsoft.com/office/powerpoint/2010/main" val="258801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6F5A-BCFE-565A-DA18-71EDD13C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684D87-07FA-F2C9-9453-FE74D7850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64541AA-A5F1-40FE-6A66-1EF5DD6B24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65204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64541AA-A5F1-40FE-6A66-1EF5DD6B2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652043"/>
              </a:xfrm>
              <a:blipFill>
                <a:blip r:embed="rId5"/>
                <a:stretch>
                  <a:fillRect l="-1734" b="-3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4FDAF2-406D-1E7A-953C-D1382A8A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8D1ADE-34C6-1348-7BE6-FD4F4A65D6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3DA27-29B8-CD50-45A4-886CC0718295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ED5F2-778E-A463-AFDB-DFC3039AC643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  <p:pic>
        <p:nvPicPr>
          <p:cNvPr id="1026" name="Picture 2" descr="Improving VAEs with Normalizing Flows | Emory REU Computational Mathematics  for Data Science">
            <a:extLst>
              <a:ext uri="{FF2B5EF4-FFF2-40B4-BE49-F238E27FC236}">
                <a16:creationId xmlns:a16="http://schemas.microsoft.com/office/drawing/2014/main" id="{E9933B4A-A539-3C31-513E-79D4EC94D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483" y="5484267"/>
            <a:ext cx="2371363" cy="112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E47182-7994-7134-0E19-A40E66082846}"/>
              </a:ext>
            </a:extLst>
          </p:cNvPr>
          <p:cNvSpPr txBox="1"/>
          <p:nvPr/>
        </p:nvSpPr>
        <p:spPr>
          <a:xfrm>
            <a:off x="7363787" y="6631111"/>
            <a:ext cx="3590727" cy="21544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8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Image from: https://</a:t>
            </a:r>
            <a:r>
              <a:rPr lang="en-US" sz="8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www.math.emory.edu</a:t>
            </a:r>
            <a:r>
              <a:rPr lang="en-US" sz="8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/site/</a:t>
            </a:r>
            <a:r>
              <a:rPr lang="en-US" sz="8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cmds-reuret</a:t>
            </a:r>
            <a:r>
              <a:rPr lang="en-US" sz="8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/projects/2024-vae/</a:t>
            </a:r>
          </a:p>
        </p:txBody>
      </p:sp>
    </p:spTree>
    <p:extLst>
      <p:ext uri="{BB962C8B-B14F-4D97-AF65-F5344CB8AC3E}">
        <p14:creationId xmlns:p14="http://schemas.microsoft.com/office/powerpoint/2010/main" val="116797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B904-3D2A-2470-4F00-3847A4B0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13E20F-16C3-C8F8-1F02-ADD1B2533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VAE Generated Samples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57A014-563E-36C1-78E3-6AC582DD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4AB62D-86EF-88BA-C577-26565822E0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13DE4E-20DA-0645-31E1-7EA75D88A7C3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A1EA4-69DD-0BBA-DD44-4B510DB32CF6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2E5F61-0719-1D81-F562-501C8FA38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14743" y="1703382"/>
            <a:ext cx="4362513" cy="4332668"/>
          </a:xfrm>
        </p:spPr>
      </p:pic>
    </p:spTree>
    <p:extLst>
      <p:ext uri="{BB962C8B-B14F-4D97-AF65-F5344CB8AC3E}">
        <p14:creationId xmlns:p14="http://schemas.microsoft.com/office/powerpoint/2010/main" val="182715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C011-39CB-F61F-D41C-56214F505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8AEB24-8E07-9347-1536-3855E9A27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space interpolation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C79978-7B08-5B9B-F6CF-3BB5FEF4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C31B06-D043-BCEA-EF54-BC9EAA75F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Variational Autoencoder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7261E-E065-989C-3916-CAB77CFE589A}"/>
              </a:ext>
            </a:extLst>
          </p:cNvPr>
          <p:cNvSpPr txBox="1"/>
          <p:nvPr/>
        </p:nvSpPr>
        <p:spPr>
          <a:xfrm>
            <a:off x="7589454" y="5555888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14432-93F5-E3D0-2365-D4D82F211938}"/>
              </a:ext>
            </a:extLst>
          </p:cNvPr>
          <p:cNvSpPr txBox="1"/>
          <p:nvPr/>
        </p:nvSpPr>
        <p:spPr>
          <a:xfrm>
            <a:off x="78828" y="6607328"/>
            <a:ext cx="340638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Kingma et al., “Auto-encoding Variational Bayes”, ICLR 2014.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DBFCD5A-1786-CD8D-4616-30A8F9A69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60747" y="1639203"/>
            <a:ext cx="3248925" cy="4461026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3D9478-B6D7-75C8-7C89-489A4C1A4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630" y="1632588"/>
            <a:ext cx="4489140" cy="446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9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2C17-544C-C909-414A-026D8967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6"/>
            <a:ext cx="9448800" cy="1421928"/>
          </a:xfrm>
        </p:spPr>
        <p:txBody>
          <a:bodyPr/>
          <a:lstStyle/>
          <a:p>
            <a:r>
              <a:rPr lang="en-US" dirty="0"/>
              <a:t>Generative Adversarial Networks (GANs)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E128AD-A64E-DAD0-382B-4C46DE33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94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D16F-E5CF-0A5C-2E2F-4ACB8D961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13EF178-E1CF-0513-EB42-C3518D9556A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Generate without Explicit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13EF178-E1CF-0513-EB42-C3518D9556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312" t="-25581" b="-34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303AA6D-BA77-E753-6E1F-733FACFD6A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24732"/>
              </a:xfrm>
            </p:spPr>
            <p:txBody>
              <a:bodyPr/>
              <a:lstStyle/>
              <a:p>
                <a:r>
                  <a:rPr lang="en-US" dirty="0"/>
                  <a:t>Idea: Generate x directly from a simple prior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303AA6D-BA77-E753-6E1F-733FACFD6A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24732"/>
              </a:xfrm>
              <a:blipFill>
                <a:blip r:embed="rId6"/>
                <a:stretch>
                  <a:fillRect l="-1387" t="-17143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FE2EF4-9180-3D07-5893-9466265B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110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976A81-5443-8DF4-59A4-4FF2AE86B0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5CC1D7C-6CE5-0FBF-5CE8-955877CA9BB4}"/>
              </a:ext>
            </a:extLst>
          </p:cNvPr>
          <p:cNvGrpSpPr/>
          <p:nvPr/>
        </p:nvGrpSpPr>
        <p:grpSpPr>
          <a:xfrm>
            <a:off x="2366533" y="3950006"/>
            <a:ext cx="457200" cy="1053648"/>
            <a:chOff x="2530144" y="3862661"/>
            <a:chExt cx="457200" cy="10536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596AAFC-5E5F-1765-9BF1-CC2304D455A6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15A3A3E-0109-25BF-E879-22D0F42DD023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15A3A3E-0109-25BF-E879-22D0F42DD0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9524" t="-10811" r="-76190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Picture 8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F1F55878-2A7E-D353-45A8-1AA8651547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970267"/>
            <a:ext cx="1580474" cy="103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1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99E53-CAE2-0D1E-31D6-BD852B011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FA0D1B8-75D1-1B85-26E9-BF81294030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Generate without Explicit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FA0D1B8-75D1-1B85-26E9-BF81294030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312" t="-25581" b="-34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AD00CB3-D899-9577-C479-0344570E8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911019"/>
              </a:xfrm>
            </p:spPr>
            <p:txBody>
              <a:bodyPr/>
              <a:lstStyle/>
              <a:p>
                <a:r>
                  <a:rPr lang="en-US" dirty="0"/>
                  <a:t>Idea: Generate x directly from a simple prior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e.g., use a neural network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to generate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AD00CB3-D899-9577-C479-0344570E8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911019"/>
              </a:xfrm>
              <a:blipFill>
                <a:blip r:embed="rId6"/>
                <a:stretch>
                  <a:fillRect l="-1387" t="-8219" b="-15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D7169-68B2-A2A7-5102-0A19AE03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4108F8-CBE8-D4D6-550F-89A9317C62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B943F43-141E-F03F-32F0-2BF544BC53AB}"/>
              </a:ext>
            </a:extLst>
          </p:cNvPr>
          <p:cNvGrpSpPr/>
          <p:nvPr/>
        </p:nvGrpSpPr>
        <p:grpSpPr>
          <a:xfrm>
            <a:off x="2366533" y="3950006"/>
            <a:ext cx="457200" cy="1053648"/>
            <a:chOff x="2530144" y="3862661"/>
            <a:chExt cx="457200" cy="10536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86A80F-62A8-558F-3306-B6B2827E1E38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B43C75F-587F-1FC2-EA76-0C15B09C69A3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B43C75F-587F-1FC2-EA76-0C15B09C6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9524" t="-10811" r="-76190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A51B6A-51BB-7438-B507-C7416B329FD0}"/>
              </a:ext>
            </a:extLst>
          </p:cNvPr>
          <p:cNvCxnSpPr>
            <a:cxnSpLocks/>
          </p:cNvCxnSpPr>
          <p:nvPr/>
        </p:nvCxnSpPr>
        <p:spPr>
          <a:xfrm>
            <a:off x="2936257" y="447016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E283B44-FE91-554E-C5DE-15CCB5722646}"/>
              </a:ext>
            </a:extLst>
          </p:cNvPr>
          <p:cNvSpPr txBox="1"/>
          <p:nvPr/>
        </p:nvSpPr>
        <p:spPr>
          <a:xfrm>
            <a:off x="3452697" y="4634322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3A016B-79EB-44E1-A0D3-AEB031202B7C}"/>
              </a:ext>
            </a:extLst>
          </p:cNvPr>
          <p:cNvCxnSpPr>
            <a:cxnSpLocks/>
          </p:cNvCxnSpPr>
          <p:nvPr/>
        </p:nvCxnSpPr>
        <p:spPr>
          <a:xfrm>
            <a:off x="5224714" y="4476830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947A84FF-4BCA-E3FC-E5EE-D042F9BB366A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741154" y="4098988"/>
            <a:ext cx="720000" cy="72000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2E50E8D8-3640-00B3-0FBF-DCAE2FEE7BC9}"/>
              </a:ext>
            </a:extLst>
          </p:cNvPr>
          <p:cNvGrpSpPr/>
          <p:nvPr/>
        </p:nvGrpSpPr>
        <p:grpSpPr>
          <a:xfrm>
            <a:off x="3565286" y="3886543"/>
            <a:ext cx="1546904" cy="1053648"/>
            <a:chOff x="3450493" y="3799198"/>
            <a:chExt cx="1546904" cy="105364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2F336D-2C06-D6B4-4EDA-19CA8E0E3984}"/>
                </a:ext>
              </a:extLst>
            </p:cNvPr>
            <p:cNvSpPr txBox="1"/>
            <p:nvPr/>
          </p:nvSpPr>
          <p:spPr>
            <a:xfrm>
              <a:off x="3695372" y="4141356"/>
              <a:ext cx="1061188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Generator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26892F3-9DB3-65AE-5936-D171E80083FA}"/>
                </a:ext>
              </a:extLst>
            </p:cNvPr>
            <p:cNvSpPr/>
            <p:nvPr/>
          </p:nvSpPr>
          <p:spPr>
            <a:xfrm>
              <a:off x="3450493" y="3799198"/>
              <a:ext cx="1546904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pic>
        <p:nvPicPr>
          <p:cNvPr id="2" name="Picture 1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7BA5732E-235E-A9EA-7F65-5D88673032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970267"/>
            <a:ext cx="1580474" cy="103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2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931D-B212-A2D3-3AC9-B08A7E758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45F9D1D9-5118-4BFB-08C7-FC83F46C023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Generate without Explicit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45F9D1D9-5118-4BFB-08C7-FC83F46C02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312" t="-25581" b="-34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D5C74F-06AC-3E3A-F744-2FE2229F0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397306"/>
              </a:xfrm>
            </p:spPr>
            <p:txBody>
              <a:bodyPr/>
              <a:lstStyle/>
              <a:p>
                <a:r>
                  <a:rPr lang="en-US" dirty="0"/>
                  <a:t>Idea: Generate x directly from a simple prior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e.g., use a neural network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to generate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Problem: how do we know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realistic without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D5C74F-06AC-3E3A-F744-2FE2229F0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397306"/>
              </a:xfrm>
              <a:blipFill>
                <a:blip r:embed="rId6"/>
                <a:stretch>
                  <a:fillRect l="-1387" t="-5405" b="-9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29D074-C063-BA3C-396E-F76A5EAF3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71B888-F274-1B26-0E32-261222399B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26B0C89-17AD-26AE-9ECE-D6B1C0A60735}"/>
              </a:ext>
            </a:extLst>
          </p:cNvPr>
          <p:cNvGrpSpPr/>
          <p:nvPr/>
        </p:nvGrpSpPr>
        <p:grpSpPr>
          <a:xfrm>
            <a:off x="2366533" y="3950006"/>
            <a:ext cx="457200" cy="1053648"/>
            <a:chOff x="2530144" y="3862661"/>
            <a:chExt cx="457200" cy="10536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2A03FA-FCC1-5A7A-AE45-E481348A3501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EE57DE1-7942-EBEC-8213-A2033C031D6F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EE57DE1-7942-EBEC-8213-A2033C031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9524" t="-10811" r="-76190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6B7F7E-6637-AD29-257B-755CCE73C564}"/>
              </a:ext>
            </a:extLst>
          </p:cNvPr>
          <p:cNvCxnSpPr>
            <a:cxnSpLocks/>
          </p:cNvCxnSpPr>
          <p:nvPr/>
        </p:nvCxnSpPr>
        <p:spPr>
          <a:xfrm>
            <a:off x="2936257" y="447016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CD4FC4-A690-3115-187E-89D181F19B1F}"/>
              </a:ext>
            </a:extLst>
          </p:cNvPr>
          <p:cNvSpPr txBox="1"/>
          <p:nvPr/>
        </p:nvSpPr>
        <p:spPr>
          <a:xfrm>
            <a:off x="3452697" y="4634322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A21E62-64A3-4295-B1BF-6C2D3BAFE264}"/>
              </a:ext>
            </a:extLst>
          </p:cNvPr>
          <p:cNvCxnSpPr>
            <a:cxnSpLocks/>
          </p:cNvCxnSpPr>
          <p:nvPr/>
        </p:nvCxnSpPr>
        <p:spPr>
          <a:xfrm>
            <a:off x="5224714" y="4476830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2C24D8C5-8727-DAE6-109C-2D636DC1AEAD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741154" y="4098988"/>
            <a:ext cx="720000" cy="72000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01D7D650-9911-578C-618E-152BC0CA708F}"/>
              </a:ext>
            </a:extLst>
          </p:cNvPr>
          <p:cNvGrpSpPr/>
          <p:nvPr/>
        </p:nvGrpSpPr>
        <p:grpSpPr>
          <a:xfrm>
            <a:off x="3565286" y="3886543"/>
            <a:ext cx="1546904" cy="1053648"/>
            <a:chOff x="3450493" y="3799198"/>
            <a:chExt cx="1546904" cy="105364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A9FF67-C3DD-5650-01D6-4DB7AAB44F7F}"/>
                </a:ext>
              </a:extLst>
            </p:cNvPr>
            <p:cNvSpPr txBox="1"/>
            <p:nvPr/>
          </p:nvSpPr>
          <p:spPr>
            <a:xfrm>
              <a:off x="3695372" y="4141356"/>
              <a:ext cx="1061188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Generator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1CDF5E9-3456-4034-EC37-6348431DF325}"/>
                </a:ext>
              </a:extLst>
            </p:cNvPr>
            <p:cNvSpPr/>
            <p:nvPr/>
          </p:nvSpPr>
          <p:spPr>
            <a:xfrm>
              <a:off x="3450493" y="3799198"/>
              <a:ext cx="1546904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pic>
        <p:nvPicPr>
          <p:cNvPr id="2" name="Picture 1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FFC1565C-8E98-B711-A7E6-5138BA6016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970267"/>
            <a:ext cx="1580474" cy="103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4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F9F0F-CA91-034B-5F46-ED53ABB45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50A6FE-7E65-7CB3-49DD-58E5151428E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Generate without Explicit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50A6FE-7E65-7CB3-49DD-58E515142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312" t="-25581" b="-34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0A427CE-A77F-E60B-4223-82CC27BB62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883593"/>
              </a:xfrm>
            </p:spPr>
            <p:txBody>
              <a:bodyPr/>
              <a:lstStyle/>
              <a:p>
                <a:r>
                  <a:rPr lang="en-US" dirty="0"/>
                  <a:t>Idea: Generate x directly from a simple prior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e.g., use a neural network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to generate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Problem: how do we know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realistic without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?</a:t>
                </a:r>
              </a:p>
              <a:p>
                <a:pPr lvl="1"/>
                <a:r>
                  <a:rPr lang="en-US" dirty="0">
                    <a:solidFill>
                      <a:schemeClr val="bg2"/>
                    </a:solidFill>
                  </a:rPr>
                  <a:t>Use another network to </a:t>
                </a:r>
                <a:r>
                  <a:rPr lang="en-US" dirty="0"/>
                  <a:t>distinguish it from real data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0A427CE-A77F-E60B-4223-82CC27BB6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883593"/>
              </a:xfrm>
              <a:blipFill>
                <a:blip r:embed="rId6"/>
                <a:stretch>
                  <a:fillRect l="-1387" t="-4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8D614B-3C10-30DC-CC3C-A5BDDC4A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781EE3-1ECA-4D7B-6259-BD70833242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A852972-E95F-E03A-77C6-1C4DF3063C5B}"/>
              </a:ext>
            </a:extLst>
          </p:cNvPr>
          <p:cNvCxnSpPr>
            <a:cxnSpLocks/>
          </p:cNvCxnSpPr>
          <p:nvPr/>
        </p:nvCxnSpPr>
        <p:spPr>
          <a:xfrm>
            <a:off x="9245630" y="5053951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DE2BDB2-3538-6B6B-A052-6C0209B16100}"/>
              </a:ext>
            </a:extLst>
          </p:cNvPr>
          <p:cNvSpPr txBox="1"/>
          <p:nvPr/>
        </p:nvSpPr>
        <p:spPr>
          <a:xfrm>
            <a:off x="9762067" y="4889135"/>
            <a:ext cx="127759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or Fake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D390B91-45E9-0CBB-88F3-054923080729}"/>
              </a:ext>
            </a:extLst>
          </p:cNvPr>
          <p:cNvGrpSpPr/>
          <p:nvPr/>
        </p:nvGrpSpPr>
        <p:grpSpPr>
          <a:xfrm>
            <a:off x="2366533" y="3950006"/>
            <a:ext cx="457200" cy="1053648"/>
            <a:chOff x="2530144" y="3862661"/>
            <a:chExt cx="457200" cy="10536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13D5075-F42A-8552-4254-58821960C982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5B8CF0C-264B-2908-4E10-157C37E9B891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5B8CF0C-264B-2908-4E10-157C37E9B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9524" t="-10811" r="-76190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2A9AC6-AAC4-0C40-9C18-1183715ED6A4}"/>
              </a:ext>
            </a:extLst>
          </p:cNvPr>
          <p:cNvCxnSpPr>
            <a:cxnSpLocks/>
          </p:cNvCxnSpPr>
          <p:nvPr/>
        </p:nvCxnSpPr>
        <p:spPr>
          <a:xfrm>
            <a:off x="2936257" y="447016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D439B3-43E2-6307-8B08-B04666CB9BF2}"/>
              </a:ext>
            </a:extLst>
          </p:cNvPr>
          <p:cNvSpPr txBox="1"/>
          <p:nvPr/>
        </p:nvSpPr>
        <p:spPr>
          <a:xfrm>
            <a:off x="3452697" y="4634322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C168A8-4A98-291A-A9BA-D36607747102}"/>
              </a:ext>
            </a:extLst>
          </p:cNvPr>
          <p:cNvCxnSpPr>
            <a:cxnSpLocks/>
          </p:cNvCxnSpPr>
          <p:nvPr/>
        </p:nvCxnSpPr>
        <p:spPr>
          <a:xfrm>
            <a:off x="5224714" y="4476830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78041028-0E22-8868-8847-704BD656C08C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741154" y="4098988"/>
            <a:ext cx="720000" cy="72000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03B215C8-13F1-057B-1D9B-EEC8E9AAABF5}"/>
              </a:ext>
            </a:extLst>
          </p:cNvPr>
          <p:cNvGrpSpPr/>
          <p:nvPr/>
        </p:nvGrpSpPr>
        <p:grpSpPr>
          <a:xfrm>
            <a:off x="3565286" y="3886543"/>
            <a:ext cx="1546904" cy="1053648"/>
            <a:chOff x="3450493" y="3799198"/>
            <a:chExt cx="1546904" cy="105364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54D5960-3EDD-9988-8DA1-F0516408A950}"/>
                </a:ext>
              </a:extLst>
            </p:cNvPr>
            <p:cNvSpPr txBox="1"/>
            <p:nvPr/>
          </p:nvSpPr>
          <p:spPr>
            <a:xfrm>
              <a:off x="3695372" y="4141356"/>
              <a:ext cx="1061188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Generator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84DBF20-29C5-3A09-CF10-7B477DBAD74C}"/>
                </a:ext>
              </a:extLst>
            </p:cNvPr>
            <p:cNvSpPr/>
            <p:nvPr/>
          </p:nvSpPr>
          <p:spPr>
            <a:xfrm>
              <a:off x="3450493" y="3799198"/>
              <a:ext cx="1546904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DD815A5-63A2-BF10-121B-D53F1CD00580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741154" y="5408015"/>
            <a:ext cx="720000" cy="72125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59B2475-9CD3-FF3B-79C7-5F8306B02AC8}"/>
              </a:ext>
            </a:extLst>
          </p:cNvPr>
          <p:cNvSpPr txBox="1"/>
          <p:nvPr/>
        </p:nvSpPr>
        <p:spPr>
          <a:xfrm>
            <a:off x="3705552" y="5583975"/>
            <a:ext cx="126637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Images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8E71B2D-CC7B-AC4C-22AE-5B2B4AB4B009}"/>
              </a:ext>
            </a:extLst>
          </p:cNvPr>
          <p:cNvCxnSpPr>
            <a:cxnSpLocks/>
          </p:cNvCxnSpPr>
          <p:nvPr/>
        </p:nvCxnSpPr>
        <p:spPr>
          <a:xfrm>
            <a:off x="5224714" y="5768641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BA4D723-00D7-27A3-CCB7-D489AF92A61C}"/>
              </a:ext>
            </a:extLst>
          </p:cNvPr>
          <p:cNvCxnSpPr>
            <a:cxnSpLocks/>
          </p:cNvCxnSpPr>
          <p:nvPr/>
        </p:nvCxnSpPr>
        <p:spPr>
          <a:xfrm>
            <a:off x="6573678" y="4413367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3B6D87-9FB2-BA61-DA6E-A80B8CA8B9A3}"/>
              </a:ext>
            </a:extLst>
          </p:cNvPr>
          <p:cNvCxnSpPr>
            <a:cxnSpLocks/>
          </p:cNvCxnSpPr>
          <p:nvPr/>
        </p:nvCxnSpPr>
        <p:spPr>
          <a:xfrm flipV="1">
            <a:off x="6573678" y="5228641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DAF18751-275B-FF2C-4A0A-D3658AB5CB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970267"/>
            <a:ext cx="1580474" cy="103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4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CB402-871C-71E8-AA33-CA86B2678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D15261C6-2CE6-73DC-D5A9-3DBD9C66F8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Generate without Explicit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D15261C6-2CE6-73DC-D5A9-3DBD9C66F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312" t="-25581" b="-34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BF25EF5-F3A4-226F-EE41-9A5A6CDB44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883593"/>
              </a:xfrm>
            </p:spPr>
            <p:txBody>
              <a:bodyPr/>
              <a:lstStyle/>
              <a:p>
                <a:r>
                  <a:rPr lang="en-US" dirty="0"/>
                  <a:t>Idea: Generate x directly from a simple prior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e.g., use a neural network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to generate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Problem: how do we know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realistic without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?</a:t>
                </a:r>
              </a:p>
              <a:p>
                <a:pPr lvl="1"/>
                <a:r>
                  <a:rPr lang="en-US" dirty="0"/>
                  <a:t>Use another network to distinguish it from real data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BF25EF5-F3A4-226F-EE41-9A5A6CDB4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883593"/>
              </a:xfrm>
              <a:blipFill>
                <a:blip r:embed="rId6"/>
                <a:stretch>
                  <a:fillRect l="-1387" t="-4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1264AD-CA3F-517A-488B-0D923559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766A37-C95A-251B-8843-71B40365C8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73D57D-ABCF-37F7-D2FD-A858C0894189}"/>
              </a:ext>
            </a:extLst>
          </p:cNvPr>
          <p:cNvGrpSpPr/>
          <p:nvPr/>
        </p:nvGrpSpPr>
        <p:grpSpPr>
          <a:xfrm>
            <a:off x="7586202" y="4546977"/>
            <a:ext cx="1546904" cy="1053648"/>
            <a:chOff x="7382296" y="4546977"/>
            <a:chExt cx="1546904" cy="105364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0E6F1DB-72A7-2DD8-FC32-D447A6094E81}"/>
                </a:ext>
              </a:extLst>
            </p:cNvPr>
            <p:cNvSpPr/>
            <p:nvPr/>
          </p:nvSpPr>
          <p:spPr>
            <a:xfrm>
              <a:off x="7382296" y="4546977"/>
              <a:ext cx="1546904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7F75937-E6E8-8C41-28A9-CCAA5986D2D0}"/>
                </a:ext>
              </a:extLst>
            </p:cNvPr>
            <p:cNvSpPr txBox="1"/>
            <p:nvPr/>
          </p:nvSpPr>
          <p:spPr>
            <a:xfrm>
              <a:off x="7462700" y="4893003"/>
              <a:ext cx="1391407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Discriminator</a:t>
              </a:r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50E6C-9734-13C8-83EF-7DD43380A4A8}"/>
              </a:ext>
            </a:extLst>
          </p:cNvPr>
          <p:cNvCxnSpPr>
            <a:cxnSpLocks/>
          </p:cNvCxnSpPr>
          <p:nvPr/>
        </p:nvCxnSpPr>
        <p:spPr>
          <a:xfrm>
            <a:off x="9245630" y="5053951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8E11A8B-9A23-4656-3D2F-CF9AE1552CC7}"/>
              </a:ext>
            </a:extLst>
          </p:cNvPr>
          <p:cNvSpPr txBox="1"/>
          <p:nvPr/>
        </p:nvSpPr>
        <p:spPr>
          <a:xfrm>
            <a:off x="9762067" y="4889135"/>
            <a:ext cx="127759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or Fake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1437CA6-F001-B449-8613-D84E5312A77F}"/>
              </a:ext>
            </a:extLst>
          </p:cNvPr>
          <p:cNvGrpSpPr/>
          <p:nvPr/>
        </p:nvGrpSpPr>
        <p:grpSpPr>
          <a:xfrm>
            <a:off x="2366533" y="3950006"/>
            <a:ext cx="457200" cy="1053648"/>
            <a:chOff x="2530144" y="3862661"/>
            <a:chExt cx="457200" cy="10536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69C4C2-EC8C-6712-D428-2CABBDE744B7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17C5588-4A0A-7022-1002-36FEBFBB352B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17C5588-4A0A-7022-1002-36FEBFBB35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9524" t="-10811" r="-76190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CFE67E-7A72-7C68-7695-C0995BFE1A60}"/>
              </a:ext>
            </a:extLst>
          </p:cNvPr>
          <p:cNvCxnSpPr>
            <a:cxnSpLocks/>
          </p:cNvCxnSpPr>
          <p:nvPr/>
        </p:nvCxnSpPr>
        <p:spPr>
          <a:xfrm>
            <a:off x="2936257" y="447016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655642-DA33-3F50-04C1-DB74F3DE656E}"/>
              </a:ext>
            </a:extLst>
          </p:cNvPr>
          <p:cNvSpPr txBox="1"/>
          <p:nvPr/>
        </p:nvSpPr>
        <p:spPr>
          <a:xfrm>
            <a:off x="3452697" y="4634322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3DBFB8-C639-F2EA-A519-163995626D6A}"/>
              </a:ext>
            </a:extLst>
          </p:cNvPr>
          <p:cNvCxnSpPr>
            <a:cxnSpLocks/>
          </p:cNvCxnSpPr>
          <p:nvPr/>
        </p:nvCxnSpPr>
        <p:spPr>
          <a:xfrm>
            <a:off x="5224714" y="4476830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AC36F1D1-7B76-7D6F-A978-057932CF4236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741154" y="4098988"/>
            <a:ext cx="720000" cy="72000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C99375B-FF6D-CB9A-7CD2-6A16E1EFDDA7}"/>
              </a:ext>
            </a:extLst>
          </p:cNvPr>
          <p:cNvCxnSpPr>
            <a:cxnSpLocks/>
          </p:cNvCxnSpPr>
          <p:nvPr/>
        </p:nvCxnSpPr>
        <p:spPr>
          <a:xfrm>
            <a:off x="6573678" y="4413367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D7EDD6D-E83D-AD49-E488-CB029998A9D7}"/>
              </a:ext>
            </a:extLst>
          </p:cNvPr>
          <p:cNvGrpSpPr/>
          <p:nvPr/>
        </p:nvGrpSpPr>
        <p:grpSpPr>
          <a:xfrm>
            <a:off x="3565286" y="3886543"/>
            <a:ext cx="1546904" cy="1053648"/>
            <a:chOff x="3450493" y="3799198"/>
            <a:chExt cx="1546904" cy="105364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2DDF018-D93E-7B04-A8AA-9CF5841A69B2}"/>
                </a:ext>
              </a:extLst>
            </p:cNvPr>
            <p:cNvSpPr txBox="1"/>
            <p:nvPr/>
          </p:nvSpPr>
          <p:spPr>
            <a:xfrm>
              <a:off x="3695372" y="4141356"/>
              <a:ext cx="1061188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Generator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090AE78-3827-B67E-7333-53BF267EE953}"/>
                </a:ext>
              </a:extLst>
            </p:cNvPr>
            <p:cNvSpPr/>
            <p:nvPr/>
          </p:nvSpPr>
          <p:spPr>
            <a:xfrm>
              <a:off x="3450493" y="3799198"/>
              <a:ext cx="1546904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2802D56-B0E8-3524-2B0B-BF263B181D03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741154" y="5408015"/>
            <a:ext cx="720000" cy="721252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72382AF-EF0C-52D4-0C28-91DEF8834C2D}"/>
              </a:ext>
            </a:extLst>
          </p:cNvPr>
          <p:cNvCxnSpPr>
            <a:cxnSpLocks/>
          </p:cNvCxnSpPr>
          <p:nvPr/>
        </p:nvCxnSpPr>
        <p:spPr>
          <a:xfrm flipV="1">
            <a:off x="6573678" y="5228641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1433D3E-CF1A-BF45-01E8-DFACB086DB51}"/>
              </a:ext>
            </a:extLst>
          </p:cNvPr>
          <p:cNvSpPr txBox="1"/>
          <p:nvPr/>
        </p:nvSpPr>
        <p:spPr>
          <a:xfrm>
            <a:off x="3705552" y="5583975"/>
            <a:ext cx="126637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Images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282C4DF-3D14-7DD9-ECAA-F0227E8F341B}"/>
              </a:ext>
            </a:extLst>
          </p:cNvPr>
          <p:cNvCxnSpPr>
            <a:cxnSpLocks/>
          </p:cNvCxnSpPr>
          <p:nvPr/>
        </p:nvCxnSpPr>
        <p:spPr>
          <a:xfrm>
            <a:off x="5224714" y="5768641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5D417F73-9546-C162-1597-A2CD7039A4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970267"/>
            <a:ext cx="1580474" cy="103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0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1E5CA-D54C-94CB-79E4-5FAC08D3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38372-A8D4-5783-DBC5-BF05A690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1E9CF0-0011-58F3-1F01-50016FF2E1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87473-BFA9-60C2-2B95-75784BFAC39B}"/>
              </a:ext>
            </a:extLst>
          </p:cNvPr>
          <p:cNvSpPr/>
          <p:nvPr/>
        </p:nvSpPr>
        <p:spPr>
          <a:xfrm>
            <a:off x="7858367" y="2495582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A4E81B-65A3-E260-8DE4-78DF4960AD18}"/>
                  </a:ext>
                </a:extLst>
              </p:cNvPr>
              <p:cNvSpPr txBox="1"/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𝑑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A4E81B-65A3-E260-8DE4-78DF4960A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blipFill>
                <a:blip r:embed="rId5"/>
                <a:stretch>
                  <a:fillRect l="-9910" t="-5660" r="-12613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5A3118-794B-B0C7-8207-60CCDC479B0E}"/>
              </a:ext>
            </a:extLst>
          </p:cNvPr>
          <p:cNvCxnSpPr>
            <a:cxnSpLocks/>
          </p:cNvCxnSpPr>
          <p:nvPr/>
        </p:nvCxnSpPr>
        <p:spPr>
          <a:xfrm>
            <a:off x="9517795" y="300255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CFF354-F86E-3570-DE8E-7931760D5B03}"/>
              </a:ext>
            </a:extLst>
          </p:cNvPr>
          <p:cNvSpPr txBox="1"/>
          <p:nvPr/>
        </p:nvSpPr>
        <p:spPr>
          <a:xfrm>
            <a:off x="10034232" y="2837740"/>
            <a:ext cx="127759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or Fake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478C55-8BFF-D62C-7E5D-90EEFA1D6CD0}"/>
              </a:ext>
            </a:extLst>
          </p:cNvPr>
          <p:cNvGrpSpPr/>
          <p:nvPr/>
        </p:nvGrpSpPr>
        <p:grpSpPr>
          <a:xfrm>
            <a:off x="2208140" y="1840469"/>
            <a:ext cx="457200" cy="1053648"/>
            <a:chOff x="2530144" y="3862661"/>
            <a:chExt cx="457200" cy="105364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21FC4-BBAB-4BB6-C42B-F482A85F51B1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FDC0E53-60B3-9270-9416-A689D70858F2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FDC0E53-60B3-9270-9416-A689D7085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0811" r="-80952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A36D13-57F4-92CD-A20F-6A5D9436B7D0}"/>
              </a:ext>
            </a:extLst>
          </p:cNvPr>
          <p:cNvCxnSpPr>
            <a:cxnSpLocks/>
          </p:cNvCxnSpPr>
          <p:nvPr/>
        </p:nvCxnSpPr>
        <p:spPr>
          <a:xfrm>
            <a:off x="2835889" y="239042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B82EEC-4131-011B-A134-B7541F2B9B8C}"/>
              </a:ext>
            </a:extLst>
          </p:cNvPr>
          <p:cNvSpPr txBox="1"/>
          <p:nvPr/>
        </p:nvSpPr>
        <p:spPr>
          <a:xfrm>
            <a:off x="3724862" y="258292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9C0141-E76F-256E-85C2-B6C0FFA7D3E0}"/>
              </a:ext>
            </a:extLst>
          </p:cNvPr>
          <p:cNvCxnSpPr>
            <a:cxnSpLocks/>
          </p:cNvCxnSpPr>
          <p:nvPr/>
        </p:nvCxnSpPr>
        <p:spPr>
          <a:xfrm>
            <a:off x="5158213" y="242225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726AD6F-8185-0CF6-356F-ECE7DED3AE49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709581" y="2053575"/>
            <a:ext cx="720000" cy="7200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4F0401-BDA7-A12E-604C-C393000FBF58}"/>
              </a:ext>
            </a:extLst>
          </p:cNvPr>
          <p:cNvCxnSpPr>
            <a:cxnSpLocks/>
          </p:cNvCxnSpPr>
          <p:nvPr/>
        </p:nvCxnSpPr>
        <p:spPr>
          <a:xfrm>
            <a:off x="6845843" y="2361972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9B81311-6C17-9D91-5B5A-76B70D764223}"/>
                  </a:ext>
                </a:extLst>
              </p:cNvPr>
              <p:cNvSpPr txBox="1"/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9B81311-6C17-9D91-5B5A-76B70D764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blipFill>
                <a:blip r:embed="rId8"/>
                <a:stretch>
                  <a:fillRect l="-12941" t="-3571" r="-16471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3FC911F-770D-6FE0-F9E8-E4BAABE4EB40}"/>
              </a:ext>
            </a:extLst>
          </p:cNvPr>
          <p:cNvSpPr/>
          <p:nvPr/>
        </p:nvSpPr>
        <p:spPr>
          <a:xfrm>
            <a:off x="3410354" y="1840469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FE27A32-1A34-6FD7-833C-2F5B95403A62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709581" y="3373270"/>
            <a:ext cx="720000" cy="72125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FF03B8-05EC-F5E9-5F63-504BE484F49A}"/>
              </a:ext>
            </a:extLst>
          </p:cNvPr>
          <p:cNvCxnSpPr>
            <a:cxnSpLocks/>
          </p:cNvCxnSpPr>
          <p:nvPr/>
        </p:nvCxnSpPr>
        <p:spPr>
          <a:xfrm flipV="1">
            <a:off x="6845843" y="3177246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7DEE07-33FD-1AF3-4B07-FC85EDD99879}"/>
              </a:ext>
            </a:extLst>
          </p:cNvPr>
          <p:cNvSpPr txBox="1"/>
          <p:nvPr/>
        </p:nvSpPr>
        <p:spPr>
          <a:xfrm>
            <a:off x="3550620" y="3549230"/>
            <a:ext cx="125354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Training Set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8F7063-D21E-9F25-1275-C4B7443593E3}"/>
              </a:ext>
            </a:extLst>
          </p:cNvPr>
          <p:cNvCxnSpPr>
            <a:cxnSpLocks/>
          </p:cNvCxnSpPr>
          <p:nvPr/>
        </p:nvCxnSpPr>
        <p:spPr>
          <a:xfrm>
            <a:off x="5158213" y="373389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F02FB8-0BE5-788A-A99A-4C89205A48E4}"/>
                  </a:ext>
                </a:extLst>
              </p:cNvPr>
              <p:cNvSpPr txBox="1"/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Random noise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I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F02FB8-0BE5-788A-A99A-4C89205A4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blipFill>
                <a:blip r:embed="rId10"/>
                <a:stretch>
                  <a:fillRect l="-10169" t="-3846" r="-11864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36E644C6-E605-D3BC-D100-603002939B47}"/>
              </a:ext>
            </a:extLst>
          </p:cNvPr>
          <p:cNvSpPr txBox="1"/>
          <p:nvPr/>
        </p:nvSpPr>
        <p:spPr>
          <a:xfrm>
            <a:off x="5506099" y="1630546"/>
            <a:ext cx="137377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Fake Images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C37FB6-7965-B3AA-FCDC-93F54E7EC74A}"/>
              </a:ext>
            </a:extLst>
          </p:cNvPr>
          <p:cNvSpPr txBox="1"/>
          <p:nvPr/>
        </p:nvSpPr>
        <p:spPr>
          <a:xfrm>
            <a:off x="5382694" y="4107958"/>
            <a:ext cx="132247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Images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979D4D-3D47-6348-4D4B-B311E5ECF4FE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</p:spTree>
    <p:extLst>
      <p:ext uri="{BB962C8B-B14F-4D97-AF65-F5344CB8AC3E}">
        <p14:creationId xmlns:p14="http://schemas.microsoft.com/office/powerpoint/2010/main" val="759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0650E-BE81-B295-CBEC-B98DBFDF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E4E6-8AB0-B910-F7ED-89ACE2B1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C4B9B-A0C7-CDFE-C5D8-ABA5EB32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4EBA1-597B-1EC6-3DF7-5833E92D95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448C2-EAFB-5C69-9DBA-E073A947FF9C}"/>
              </a:ext>
            </a:extLst>
          </p:cNvPr>
          <p:cNvSpPr/>
          <p:nvPr/>
        </p:nvSpPr>
        <p:spPr>
          <a:xfrm>
            <a:off x="7858367" y="2495582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700DC3-401C-2983-262E-CF5667724FFE}"/>
                  </a:ext>
                </a:extLst>
              </p:cNvPr>
              <p:cNvSpPr txBox="1"/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𝑑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700DC3-401C-2983-262E-CF5667724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blipFill>
                <a:blip r:embed="rId5"/>
                <a:stretch>
                  <a:fillRect l="-9910" t="-5660" r="-12613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75CD15-A6DA-A705-A341-B812F6AED597}"/>
              </a:ext>
            </a:extLst>
          </p:cNvPr>
          <p:cNvCxnSpPr>
            <a:cxnSpLocks/>
          </p:cNvCxnSpPr>
          <p:nvPr/>
        </p:nvCxnSpPr>
        <p:spPr>
          <a:xfrm>
            <a:off x="9517795" y="300255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69653B3-C8D6-1E5F-0701-82729711442A}"/>
              </a:ext>
            </a:extLst>
          </p:cNvPr>
          <p:cNvSpPr txBox="1"/>
          <p:nvPr/>
        </p:nvSpPr>
        <p:spPr>
          <a:xfrm>
            <a:off x="10034232" y="2837740"/>
            <a:ext cx="127759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or Fake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3EBAB34-35ED-9DC1-EB84-C5B4AB32810D}"/>
              </a:ext>
            </a:extLst>
          </p:cNvPr>
          <p:cNvGrpSpPr/>
          <p:nvPr/>
        </p:nvGrpSpPr>
        <p:grpSpPr>
          <a:xfrm>
            <a:off x="2208140" y="1840469"/>
            <a:ext cx="457200" cy="1053648"/>
            <a:chOff x="2530144" y="3862661"/>
            <a:chExt cx="457200" cy="105364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9B8E1E-6DC1-696B-B37B-47145CB266C1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0838F22-3959-60DD-973E-435511D74162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0838F22-3959-60DD-973E-435511D741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0811" r="-80952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299D1C-8A38-4296-13AD-A78F0E331C6F}"/>
              </a:ext>
            </a:extLst>
          </p:cNvPr>
          <p:cNvCxnSpPr>
            <a:cxnSpLocks/>
          </p:cNvCxnSpPr>
          <p:nvPr/>
        </p:nvCxnSpPr>
        <p:spPr>
          <a:xfrm>
            <a:off x="2835889" y="239042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EFCEDC-F707-D94A-3A30-69042117A929}"/>
              </a:ext>
            </a:extLst>
          </p:cNvPr>
          <p:cNvSpPr txBox="1"/>
          <p:nvPr/>
        </p:nvSpPr>
        <p:spPr>
          <a:xfrm>
            <a:off x="3724862" y="258292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0A1AC4-05AB-EE4C-4F3A-71946AEA3860}"/>
              </a:ext>
            </a:extLst>
          </p:cNvPr>
          <p:cNvCxnSpPr>
            <a:cxnSpLocks/>
          </p:cNvCxnSpPr>
          <p:nvPr/>
        </p:nvCxnSpPr>
        <p:spPr>
          <a:xfrm>
            <a:off x="5158213" y="242225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0E4E51F5-68CD-E878-2673-56A9F7D25C66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709581" y="2053575"/>
            <a:ext cx="720000" cy="7200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59BA9A-E3E9-0412-4A4C-250DC8879578}"/>
              </a:ext>
            </a:extLst>
          </p:cNvPr>
          <p:cNvCxnSpPr>
            <a:cxnSpLocks/>
          </p:cNvCxnSpPr>
          <p:nvPr/>
        </p:nvCxnSpPr>
        <p:spPr>
          <a:xfrm>
            <a:off x="6845843" y="2361972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292F1B-2913-FBD0-ADFF-37226CA9E537}"/>
                  </a:ext>
                </a:extLst>
              </p:cNvPr>
              <p:cNvSpPr txBox="1"/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292F1B-2913-FBD0-ADFF-37226CA9E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blipFill>
                <a:blip r:embed="rId8"/>
                <a:stretch>
                  <a:fillRect l="-12941" t="-3571" r="-16471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59BD78A1-C8BE-C8F6-E60F-BAFB91C27D10}"/>
              </a:ext>
            </a:extLst>
          </p:cNvPr>
          <p:cNvSpPr/>
          <p:nvPr/>
        </p:nvSpPr>
        <p:spPr>
          <a:xfrm>
            <a:off x="3410354" y="1840469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4658B8F-4736-AD67-475C-BE651CF07F39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709581" y="3373270"/>
            <a:ext cx="720000" cy="72125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938302-D82D-F709-1F9B-4B6FE79A0BDE}"/>
              </a:ext>
            </a:extLst>
          </p:cNvPr>
          <p:cNvCxnSpPr>
            <a:cxnSpLocks/>
          </p:cNvCxnSpPr>
          <p:nvPr/>
        </p:nvCxnSpPr>
        <p:spPr>
          <a:xfrm flipV="1">
            <a:off x="6845843" y="3177246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35F1416-FC49-AC06-A071-0B81F5FE103B}"/>
              </a:ext>
            </a:extLst>
          </p:cNvPr>
          <p:cNvSpPr txBox="1"/>
          <p:nvPr/>
        </p:nvSpPr>
        <p:spPr>
          <a:xfrm>
            <a:off x="3550620" y="3549230"/>
            <a:ext cx="125354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Training Set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A58B73-5CF7-C36F-D4D2-56624C391679}"/>
              </a:ext>
            </a:extLst>
          </p:cNvPr>
          <p:cNvCxnSpPr>
            <a:cxnSpLocks/>
          </p:cNvCxnSpPr>
          <p:nvPr/>
        </p:nvCxnSpPr>
        <p:spPr>
          <a:xfrm>
            <a:off x="5158213" y="373389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DC54D3-E013-3B25-5071-2E986C79E603}"/>
                  </a:ext>
                </a:extLst>
              </p:cNvPr>
              <p:cNvSpPr txBox="1"/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Random noise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I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DC54D3-E013-3B25-5071-2E986C79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blipFill>
                <a:blip r:embed="rId10"/>
                <a:stretch>
                  <a:fillRect l="-10169" t="-3846" r="-11864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AC7AB72A-0BDB-B178-39CA-FE0D7B753D6E}"/>
              </a:ext>
            </a:extLst>
          </p:cNvPr>
          <p:cNvSpPr txBox="1"/>
          <p:nvPr/>
        </p:nvSpPr>
        <p:spPr>
          <a:xfrm>
            <a:off x="5506099" y="1630546"/>
            <a:ext cx="137377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Fake Images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8AD670-7BD0-4011-29CB-ECDBEB86063E}"/>
              </a:ext>
            </a:extLst>
          </p:cNvPr>
          <p:cNvSpPr txBox="1"/>
          <p:nvPr/>
        </p:nvSpPr>
        <p:spPr>
          <a:xfrm>
            <a:off x="5382694" y="4107958"/>
            <a:ext cx="132247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Images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7538F7-E879-C735-6203-88B0AA222149}"/>
              </a:ext>
            </a:extLst>
          </p:cNvPr>
          <p:cNvSpPr txBox="1"/>
          <p:nvPr/>
        </p:nvSpPr>
        <p:spPr>
          <a:xfrm>
            <a:off x="2692753" y="4476399"/>
            <a:ext cx="72279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9CEAB8-63D6-6F07-2989-22A9D768240F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</p:spTree>
    <p:extLst>
      <p:ext uri="{BB962C8B-B14F-4D97-AF65-F5344CB8AC3E}">
        <p14:creationId xmlns:p14="http://schemas.microsoft.com/office/powerpoint/2010/main" val="116751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A92D-C6BE-6862-AD89-A41B4364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A7E3-16FA-704C-B29A-0455666D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08368-CB53-FA3F-7E32-BA62A2ECE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E3F89-F9D8-9B13-5775-2702F76E9E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4E4B55-9086-D87A-34A4-2FB8B1181DEE}"/>
              </a:ext>
            </a:extLst>
          </p:cNvPr>
          <p:cNvSpPr/>
          <p:nvPr/>
        </p:nvSpPr>
        <p:spPr>
          <a:xfrm>
            <a:off x="7858367" y="2495582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B792B-9AE0-6888-0744-9DC5E54534EF}"/>
                  </a:ext>
                </a:extLst>
              </p:cNvPr>
              <p:cNvSpPr txBox="1"/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𝑑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B792B-9AE0-6888-0744-9DC5E5453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blipFill>
                <a:blip r:embed="rId5"/>
                <a:stretch>
                  <a:fillRect l="-9910" t="-5660" r="-12613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67758DA-E6FF-410D-F602-F1C7898270E4}"/>
              </a:ext>
            </a:extLst>
          </p:cNvPr>
          <p:cNvCxnSpPr>
            <a:cxnSpLocks/>
          </p:cNvCxnSpPr>
          <p:nvPr/>
        </p:nvCxnSpPr>
        <p:spPr>
          <a:xfrm>
            <a:off x="9517795" y="300255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5E924F-168F-DACB-B393-D7876890F719}"/>
              </a:ext>
            </a:extLst>
          </p:cNvPr>
          <p:cNvSpPr txBox="1"/>
          <p:nvPr/>
        </p:nvSpPr>
        <p:spPr>
          <a:xfrm>
            <a:off x="10034232" y="2837740"/>
            <a:ext cx="127759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or Fake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EC77D79-00CB-DBDD-CBC7-77090909E2E4}"/>
              </a:ext>
            </a:extLst>
          </p:cNvPr>
          <p:cNvGrpSpPr/>
          <p:nvPr/>
        </p:nvGrpSpPr>
        <p:grpSpPr>
          <a:xfrm>
            <a:off x="2208140" y="1840469"/>
            <a:ext cx="457200" cy="1053648"/>
            <a:chOff x="2530144" y="3862661"/>
            <a:chExt cx="457200" cy="105364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958F86-CA03-3A76-B8EB-536192C414D2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432141-4D2B-C4DB-7693-89FBEC34BB9D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432141-4D2B-C4DB-7693-89FBEC34B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0811" r="-80952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43AEBF-9BA8-5355-2FFD-951D1DFBE6E7}"/>
              </a:ext>
            </a:extLst>
          </p:cNvPr>
          <p:cNvCxnSpPr>
            <a:cxnSpLocks/>
          </p:cNvCxnSpPr>
          <p:nvPr/>
        </p:nvCxnSpPr>
        <p:spPr>
          <a:xfrm>
            <a:off x="2835889" y="239042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E3E3625-139D-714E-9544-1C48A01224D0}"/>
              </a:ext>
            </a:extLst>
          </p:cNvPr>
          <p:cNvSpPr txBox="1"/>
          <p:nvPr/>
        </p:nvSpPr>
        <p:spPr>
          <a:xfrm>
            <a:off x="3724862" y="258292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C49BB5-2D05-76F3-2A90-64310609BF3A}"/>
              </a:ext>
            </a:extLst>
          </p:cNvPr>
          <p:cNvCxnSpPr>
            <a:cxnSpLocks/>
          </p:cNvCxnSpPr>
          <p:nvPr/>
        </p:nvCxnSpPr>
        <p:spPr>
          <a:xfrm>
            <a:off x="5158213" y="242225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116C47FE-C338-176E-866D-6F409F4519B2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709581" y="2053575"/>
            <a:ext cx="720000" cy="7200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79DD85-42A3-44AF-FA6D-34B3BD2DE7C9}"/>
              </a:ext>
            </a:extLst>
          </p:cNvPr>
          <p:cNvCxnSpPr>
            <a:cxnSpLocks/>
          </p:cNvCxnSpPr>
          <p:nvPr/>
        </p:nvCxnSpPr>
        <p:spPr>
          <a:xfrm>
            <a:off x="6845843" y="2361972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50A576-EDEC-31EA-EB8E-F75675A6A2F6}"/>
                  </a:ext>
                </a:extLst>
              </p:cNvPr>
              <p:cNvSpPr txBox="1"/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50A576-EDEC-31EA-EB8E-F75675A6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blipFill>
                <a:blip r:embed="rId8"/>
                <a:stretch>
                  <a:fillRect l="-12941" t="-3571" r="-16471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432DC22-B4F2-18BC-DE89-048BCB8141AC}"/>
              </a:ext>
            </a:extLst>
          </p:cNvPr>
          <p:cNvSpPr/>
          <p:nvPr/>
        </p:nvSpPr>
        <p:spPr>
          <a:xfrm>
            <a:off x="3410354" y="1840469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1D45FD2-EF96-0936-9479-C17FF9D2986F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709581" y="3373270"/>
            <a:ext cx="720000" cy="72125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68331B-70C1-DE48-CBC0-CE46F16FE556}"/>
              </a:ext>
            </a:extLst>
          </p:cNvPr>
          <p:cNvCxnSpPr>
            <a:cxnSpLocks/>
          </p:cNvCxnSpPr>
          <p:nvPr/>
        </p:nvCxnSpPr>
        <p:spPr>
          <a:xfrm flipV="1">
            <a:off x="6845843" y="3177246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EDF0BF1-897B-D4C5-B973-6FC52F484FCA}"/>
              </a:ext>
            </a:extLst>
          </p:cNvPr>
          <p:cNvSpPr txBox="1"/>
          <p:nvPr/>
        </p:nvSpPr>
        <p:spPr>
          <a:xfrm>
            <a:off x="3550620" y="3549230"/>
            <a:ext cx="125354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Training Set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90E7B22-9279-965F-3699-66007AA924CF}"/>
              </a:ext>
            </a:extLst>
          </p:cNvPr>
          <p:cNvCxnSpPr>
            <a:cxnSpLocks/>
          </p:cNvCxnSpPr>
          <p:nvPr/>
        </p:nvCxnSpPr>
        <p:spPr>
          <a:xfrm>
            <a:off x="5158213" y="373389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3740DA4-CFEB-7AE8-51F6-9DE9AE137DEA}"/>
                  </a:ext>
                </a:extLst>
              </p:cNvPr>
              <p:cNvSpPr txBox="1"/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Random noise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I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3740DA4-CFEB-7AE8-51F6-9DE9AE137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blipFill>
                <a:blip r:embed="rId10"/>
                <a:stretch>
                  <a:fillRect l="-10169" t="-3846" r="-11864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899AEA4-D6F8-E8F9-0C00-62990BADA513}"/>
              </a:ext>
            </a:extLst>
          </p:cNvPr>
          <p:cNvSpPr txBox="1"/>
          <p:nvPr/>
        </p:nvSpPr>
        <p:spPr>
          <a:xfrm>
            <a:off x="5506099" y="1630546"/>
            <a:ext cx="137377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Fake Images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37C7C1-FB72-3786-B558-D24A83D0E454}"/>
              </a:ext>
            </a:extLst>
          </p:cNvPr>
          <p:cNvSpPr txBox="1"/>
          <p:nvPr/>
        </p:nvSpPr>
        <p:spPr>
          <a:xfrm>
            <a:off x="5382694" y="4107958"/>
            <a:ext cx="132247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Images 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F0A955A5-1256-2DCC-E5D5-916C98E0FC33}"/>
              </a:ext>
            </a:extLst>
          </p:cNvPr>
          <p:cNvSpPr/>
          <p:nvPr/>
        </p:nvSpPr>
        <p:spPr>
          <a:xfrm>
            <a:off x="9702800" y="3293533"/>
            <a:ext cx="1439333" cy="8467"/>
          </a:xfrm>
          <a:custGeom>
            <a:avLst/>
            <a:gdLst>
              <a:gd name="connsiteX0" fmla="*/ 1439333 w 1439333"/>
              <a:gd name="connsiteY0" fmla="*/ 0 h 8467"/>
              <a:gd name="connsiteX1" fmla="*/ 0 w 1439333"/>
              <a:gd name="connsiteY1" fmla="*/ 8467 h 8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39333" h="8467">
                <a:moveTo>
                  <a:pt x="1439333" y="0"/>
                </a:moveTo>
                <a:lnTo>
                  <a:pt x="0" y="8467"/>
                </a:lnTo>
              </a:path>
            </a:pathLst>
          </a:custGeom>
          <a:noFill/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183775-AFB6-6857-17A7-9C3ACC68DA95}"/>
              </a:ext>
            </a:extLst>
          </p:cNvPr>
          <p:cNvSpPr txBox="1"/>
          <p:nvPr/>
        </p:nvSpPr>
        <p:spPr>
          <a:xfrm>
            <a:off x="9695569" y="3386593"/>
            <a:ext cx="1453924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</a:t>
            </a:r>
          </a:p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Gradient Flow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65C634-5E71-6837-65C1-760381C5DCFA}"/>
              </a:ext>
            </a:extLst>
          </p:cNvPr>
          <p:cNvSpPr txBox="1"/>
          <p:nvPr/>
        </p:nvSpPr>
        <p:spPr>
          <a:xfrm>
            <a:off x="2692753" y="4476399"/>
            <a:ext cx="72279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859CE0-F2FA-CDDF-29A6-8C62238A0E4B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</p:spTree>
    <p:extLst>
      <p:ext uri="{BB962C8B-B14F-4D97-AF65-F5344CB8AC3E}">
        <p14:creationId xmlns:p14="http://schemas.microsoft.com/office/powerpoint/2010/main" val="406236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3F8B-E86A-CC8A-E825-BC993BCA5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42E9-09EC-E6A5-97B9-6BAF4B0E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154B6-2DB8-4DB7-F3B5-5FA520BC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151B9-9BD7-A269-4ED9-78120C5ED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68CA24-4F34-8ABC-D932-B7575B9FDC7D}"/>
              </a:ext>
            </a:extLst>
          </p:cNvPr>
          <p:cNvSpPr/>
          <p:nvPr/>
        </p:nvSpPr>
        <p:spPr>
          <a:xfrm>
            <a:off x="7858367" y="2495582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0DD460-BAA4-65C9-C12F-CFE71502C7F5}"/>
                  </a:ext>
                </a:extLst>
              </p:cNvPr>
              <p:cNvSpPr txBox="1"/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𝑑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0DD460-BAA4-65C9-C12F-CFE71502C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blipFill>
                <a:blip r:embed="rId5"/>
                <a:stretch>
                  <a:fillRect l="-9910" t="-5660" r="-12613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E3A834-CF5A-6F52-4888-27B5E2FDBFD0}"/>
              </a:ext>
            </a:extLst>
          </p:cNvPr>
          <p:cNvCxnSpPr>
            <a:cxnSpLocks/>
          </p:cNvCxnSpPr>
          <p:nvPr/>
        </p:nvCxnSpPr>
        <p:spPr>
          <a:xfrm>
            <a:off x="9517795" y="300255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3FD453-071C-AABB-4443-242706644D84}"/>
              </a:ext>
            </a:extLst>
          </p:cNvPr>
          <p:cNvSpPr txBox="1"/>
          <p:nvPr/>
        </p:nvSpPr>
        <p:spPr>
          <a:xfrm>
            <a:off x="10034232" y="2837740"/>
            <a:ext cx="127759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or Fake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BAE659-0270-8E9A-A333-D2780801D7C2}"/>
              </a:ext>
            </a:extLst>
          </p:cNvPr>
          <p:cNvGrpSpPr/>
          <p:nvPr/>
        </p:nvGrpSpPr>
        <p:grpSpPr>
          <a:xfrm>
            <a:off x="2208140" y="1840469"/>
            <a:ext cx="457200" cy="1053648"/>
            <a:chOff x="2530144" y="3862661"/>
            <a:chExt cx="457200" cy="105364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23E368-4DA3-2E1D-A60E-9869EBC41224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FEB90AB-FD50-6F5F-FE36-7936F9B1CBF9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FEB90AB-FD50-6F5F-FE36-7936F9B1C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0811" r="-80952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A4A148-EC1D-FBA0-4663-DBBE3CDA0750}"/>
              </a:ext>
            </a:extLst>
          </p:cNvPr>
          <p:cNvCxnSpPr>
            <a:cxnSpLocks/>
          </p:cNvCxnSpPr>
          <p:nvPr/>
        </p:nvCxnSpPr>
        <p:spPr>
          <a:xfrm>
            <a:off x="2835889" y="239042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233398B-2BF2-C13B-C97D-F4B2D36DB706}"/>
              </a:ext>
            </a:extLst>
          </p:cNvPr>
          <p:cNvSpPr txBox="1"/>
          <p:nvPr/>
        </p:nvSpPr>
        <p:spPr>
          <a:xfrm>
            <a:off x="3724862" y="258292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2CE5A1-DD66-C02F-5C47-229C10679332}"/>
              </a:ext>
            </a:extLst>
          </p:cNvPr>
          <p:cNvCxnSpPr>
            <a:cxnSpLocks/>
          </p:cNvCxnSpPr>
          <p:nvPr/>
        </p:nvCxnSpPr>
        <p:spPr>
          <a:xfrm>
            <a:off x="5158213" y="242225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8E888FD-8085-BBB3-25BD-3670DBE53BA5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709581" y="2053575"/>
            <a:ext cx="720000" cy="7200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186FBF-DB3D-F450-BBC0-6A98F07C8056}"/>
              </a:ext>
            </a:extLst>
          </p:cNvPr>
          <p:cNvCxnSpPr>
            <a:cxnSpLocks/>
          </p:cNvCxnSpPr>
          <p:nvPr/>
        </p:nvCxnSpPr>
        <p:spPr>
          <a:xfrm>
            <a:off x="6845843" y="2361972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7A272AC-681A-72E7-0CF6-8CBD1E2A1A55}"/>
                  </a:ext>
                </a:extLst>
              </p:cNvPr>
              <p:cNvSpPr txBox="1"/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7A272AC-681A-72E7-0CF6-8CBD1E2A1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blipFill>
                <a:blip r:embed="rId8"/>
                <a:stretch>
                  <a:fillRect l="-12941" t="-3571" r="-16471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26195F50-56BF-BCE9-F893-040BB0C8A3B6}"/>
              </a:ext>
            </a:extLst>
          </p:cNvPr>
          <p:cNvSpPr/>
          <p:nvPr/>
        </p:nvSpPr>
        <p:spPr>
          <a:xfrm>
            <a:off x="3410354" y="1840469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AC9103B-C21C-2F40-5C2D-1B180581ED13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709581" y="3373270"/>
            <a:ext cx="720000" cy="72125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707D5C-A317-D2F1-983F-ED71B77E04AF}"/>
              </a:ext>
            </a:extLst>
          </p:cNvPr>
          <p:cNvCxnSpPr>
            <a:cxnSpLocks/>
          </p:cNvCxnSpPr>
          <p:nvPr/>
        </p:nvCxnSpPr>
        <p:spPr>
          <a:xfrm flipV="1">
            <a:off x="6845843" y="3177246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81DF7B9-7746-C2E5-F344-DE4AE9435FBA}"/>
              </a:ext>
            </a:extLst>
          </p:cNvPr>
          <p:cNvSpPr txBox="1"/>
          <p:nvPr/>
        </p:nvSpPr>
        <p:spPr>
          <a:xfrm>
            <a:off x="3550620" y="3549230"/>
            <a:ext cx="125354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Training Set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1D1D40-89A9-8B36-DE30-8AC95082E492}"/>
              </a:ext>
            </a:extLst>
          </p:cNvPr>
          <p:cNvCxnSpPr>
            <a:cxnSpLocks/>
          </p:cNvCxnSpPr>
          <p:nvPr/>
        </p:nvCxnSpPr>
        <p:spPr>
          <a:xfrm>
            <a:off x="5158213" y="373389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D6183D-28C0-9671-7AB2-9A8FAEEB43CF}"/>
                  </a:ext>
                </a:extLst>
              </p:cNvPr>
              <p:cNvSpPr txBox="1"/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Random noise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I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D6183D-28C0-9671-7AB2-9A8FAEEB4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blipFill>
                <a:blip r:embed="rId10"/>
                <a:stretch>
                  <a:fillRect l="-10169" t="-3846" r="-11864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1CC05159-4330-53BA-5731-182E39A59782}"/>
              </a:ext>
            </a:extLst>
          </p:cNvPr>
          <p:cNvSpPr txBox="1"/>
          <p:nvPr/>
        </p:nvSpPr>
        <p:spPr>
          <a:xfrm>
            <a:off x="5506099" y="1630546"/>
            <a:ext cx="137377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Fake Images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BC23D6-3C20-ED3A-FF8D-109161B4C43B}"/>
              </a:ext>
            </a:extLst>
          </p:cNvPr>
          <p:cNvSpPr txBox="1"/>
          <p:nvPr/>
        </p:nvSpPr>
        <p:spPr>
          <a:xfrm>
            <a:off x="5382694" y="4107958"/>
            <a:ext cx="132247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Images 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75EFE62-40EA-4116-AD65-4F4E4213FE52}"/>
              </a:ext>
            </a:extLst>
          </p:cNvPr>
          <p:cNvSpPr/>
          <p:nvPr/>
        </p:nvSpPr>
        <p:spPr>
          <a:xfrm>
            <a:off x="9702800" y="3293533"/>
            <a:ext cx="1439333" cy="8467"/>
          </a:xfrm>
          <a:custGeom>
            <a:avLst/>
            <a:gdLst>
              <a:gd name="connsiteX0" fmla="*/ 1439333 w 1439333"/>
              <a:gd name="connsiteY0" fmla="*/ 0 h 8467"/>
              <a:gd name="connsiteX1" fmla="*/ 0 w 1439333"/>
              <a:gd name="connsiteY1" fmla="*/ 8467 h 8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39333" h="8467">
                <a:moveTo>
                  <a:pt x="1439333" y="0"/>
                </a:moveTo>
                <a:lnTo>
                  <a:pt x="0" y="8467"/>
                </a:lnTo>
              </a:path>
            </a:pathLst>
          </a:custGeom>
          <a:noFill/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523765-7A65-77C3-04D3-BB914C478506}"/>
              </a:ext>
            </a:extLst>
          </p:cNvPr>
          <p:cNvSpPr txBox="1"/>
          <p:nvPr/>
        </p:nvSpPr>
        <p:spPr>
          <a:xfrm>
            <a:off x="9695569" y="3386593"/>
            <a:ext cx="1453924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</a:t>
            </a:r>
          </a:p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Gradient Flow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5BAF2C-2CB6-5B57-B875-E0EDB08C2CD5}"/>
              </a:ext>
            </a:extLst>
          </p:cNvPr>
          <p:cNvSpPr txBox="1"/>
          <p:nvPr/>
        </p:nvSpPr>
        <p:spPr>
          <a:xfrm>
            <a:off x="2692753" y="4476399"/>
            <a:ext cx="7226337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 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Objective	: Fool the discriminator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A5E1EE-64CC-BE52-6E2C-C5E610521E3F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</p:spTree>
    <p:extLst>
      <p:ext uri="{BB962C8B-B14F-4D97-AF65-F5344CB8AC3E}">
        <p14:creationId xmlns:p14="http://schemas.microsoft.com/office/powerpoint/2010/main" val="55254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5FA66-7D19-EC7C-A89A-90ACA0BC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636F-234A-9C4F-D63A-BD9BB8C2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7BDC-3BD8-F308-9F5F-0EA7BC91E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4E288-B49A-4313-2655-8CF9BA69A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F70D43-0257-A3A7-E5F2-5EEABE1DC8B8}"/>
              </a:ext>
            </a:extLst>
          </p:cNvPr>
          <p:cNvSpPr/>
          <p:nvPr/>
        </p:nvSpPr>
        <p:spPr>
          <a:xfrm>
            <a:off x="7858367" y="2495582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26AA5E-4138-509A-285E-8722ED885533}"/>
                  </a:ext>
                </a:extLst>
              </p:cNvPr>
              <p:cNvSpPr txBox="1"/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𝑑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26AA5E-4138-509A-285E-8722ED885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blipFill>
                <a:blip r:embed="rId5"/>
                <a:stretch>
                  <a:fillRect l="-9910" t="-5660" r="-12613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C1FCA59-60B4-5E50-31CE-736E14470ADC}"/>
              </a:ext>
            </a:extLst>
          </p:cNvPr>
          <p:cNvCxnSpPr>
            <a:cxnSpLocks/>
          </p:cNvCxnSpPr>
          <p:nvPr/>
        </p:nvCxnSpPr>
        <p:spPr>
          <a:xfrm>
            <a:off x="9517795" y="300255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4E76E0-DB9E-15AD-35C0-B2FE26EDBA55}"/>
              </a:ext>
            </a:extLst>
          </p:cNvPr>
          <p:cNvSpPr txBox="1"/>
          <p:nvPr/>
        </p:nvSpPr>
        <p:spPr>
          <a:xfrm>
            <a:off x="10034232" y="2837740"/>
            <a:ext cx="127759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or Fake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CCA512-65E8-E094-1A5E-CB9A25C7E1B8}"/>
              </a:ext>
            </a:extLst>
          </p:cNvPr>
          <p:cNvGrpSpPr/>
          <p:nvPr/>
        </p:nvGrpSpPr>
        <p:grpSpPr>
          <a:xfrm>
            <a:off x="2208140" y="1840469"/>
            <a:ext cx="457200" cy="1053648"/>
            <a:chOff x="2530144" y="3862661"/>
            <a:chExt cx="457200" cy="105364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6DE45B-6EF0-EDD9-D55A-0F853130EB53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EC1181F-7CC7-5851-AF58-296203583BEB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EC1181F-7CC7-5851-AF58-296203583B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0811" r="-80952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0ADA549-246E-2E61-6D37-25154C12EA52}"/>
              </a:ext>
            </a:extLst>
          </p:cNvPr>
          <p:cNvCxnSpPr>
            <a:cxnSpLocks/>
          </p:cNvCxnSpPr>
          <p:nvPr/>
        </p:nvCxnSpPr>
        <p:spPr>
          <a:xfrm>
            <a:off x="2835889" y="239042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B8DF9D-F2EF-7E9B-A7AF-DB1415F8571B}"/>
              </a:ext>
            </a:extLst>
          </p:cNvPr>
          <p:cNvSpPr txBox="1"/>
          <p:nvPr/>
        </p:nvSpPr>
        <p:spPr>
          <a:xfrm>
            <a:off x="3724862" y="258292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58B376-66EC-2220-3ED6-4B4AF21A7038}"/>
              </a:ext>
            </a:extLst>
          </p:cNvPr>
          <p:cNvCxnSpPr>
            <a:cxnSpLocks/>
          </p:cNvCxnSpPr>
          <p:nvPr/>
        </p:nvCxnSpPr>
        <p:spPr>
          <a:xfrm>
            <a:off x="5158213" y="242225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9D8912C0-E3D0-E2FC-FE76-EE482EFA197E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709581" y="2053575"/>
            <a:ext cx="720000" cy="7200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AED2AE-4FEF-D107-E3D2-28508F077DA9}"/>
              </a:ext>
            </a:extLst>
          </p:cNvPr>
          <p:cNvCxnSpPr>
            <a:cxnSpLocks/>
          </p:cNvCxnSpPr>
          <p:nvPr/>
        </p:nvCxnSpPr>
        <p:spPr>
          <a:xfrm>
            <a:off x="6845843" y="2361972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262049-5195-02FE-6ECE-513C83F381D4}"/>
                  </a:ext>
                </a:extLst>
              </p:cNvPr>
              <p:cNvSpPr txBox="1"/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262049-5195-02FE-6ECE-513C83F38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blipFill>
                <a:blip r:embed="rId8"/>
                <a:stretch>
                  <a:fillRect l="-12941" t="-3571" r="-16471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47376D72-F529-FE31-D83A-AE46A9CE4D48}"/>
              </a:ext>
            </a:extLst>
          </p:cNvPr>
          <p:cNvSpPr/>
          <p:nvPr/>
        </p:nvSpPr>
        <p:spPr>
          <a:xfrm>
            <a:off x="3410354" y="1840469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87DF245-7DAC-16C0-02A8-6ACA7552C5A7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709581" y="3373270"/>
            <a:ext cx="720000" cy="72125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7BF664-1C91-A012-C43B-12E6761E8AAA}"/>
              </a:ext>
            </a:extLst>
          </p:cNvPr>
          <p:cNvCxnSpPr>
            <a:cxnSpLocks/>
          </p:cNvCxnSpPr>
          <p:nvPr/>
        </p:nvCxnSpPr>
        <p:spPr>
          <a:xfrm flipV="1">
            <a:off x="6845843" y="3177246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071A344-09F1-E138-07E0-039BF3B3AD77}"/>
              </a:ext>
            </a:extLst>
          </p:cNvPr>
          <p:cNvSpPr txBox="1"/>
          <p:nvPr/>
        </p:nvSpPr>
        <p:spPr>
          <a:xfrm>
            <a:off x="3550620" y="3549230"/>
            <a:ext cx="125354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Training Set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6231CE-BDAE-B06E-F0DC-DF8E0733B7CA}"/>
              </a:ext>
            </a:extLst>
          </p:cNvPr>
          <p:cNvCxnSpPr>
            <a:cxnSpLocks/>
          </p:cNvCxnSpPr>
          <p:nvPr/>
        </p:nvCxnSpPr>
        <p:spPr>
          <a:xfrm>
            <a:off x="5158213" y="373389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E066A9F-77DF-45A1-1E26-DE7230EB4C35}"/>
                  </a:ext>
                </a:extLst>
              </p:cNvPr>
              <p:cNvSpPr txBox="1"/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Random noise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I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E066A9F-77DF-45A1-1E26-DE7230EB4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blipFill>
                <a:blip r:embed="rId10"/>
                <a:stretch>
                  <a:fillRect l="-10169" t="-3846" r="-11864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2F73290-3323-42DC-9DB7-A0E6594DE698}"/>
              </a:ext>
            </a:extLst>
          </p:cNvPr>
          <p:cNvSpPr txBox="1"/>
          <p:nvPr/>
        </p:nvSpPr>
        <p:spPr>
          <a:xfrm>
            <a:off x="5506099" y="1630546"/>
            <a:ext cx="137377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Fake Images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0A91A3-8744-CBE0-F8DE-8897475A781E}"/>
              </a:ext>
            </a:extLst>
          </p:cNvPr>
          <p:cNvSpPr txBox="1"/>
          <p:nvPr/>
        </p:nvSpPr>
        <p:spPr>
          <a:xfrm>
            <a:off x="5382694" y="4107958"/>
            <a:ext cx="132247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Images 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876E1331-09F8-7542-43FB-D5CE64DF04E5}"/>
              </a:ext>
            </a:extLst>
          </p:cNvPr>
          <p:cNvSpPr/>
          <p:nvPr/>
        </p:nvSpPr>
        <p:spPr>
          <a:xfrm>
            <a:off x="5028908" y="1944808"/>
            <a:ext cx="6096292" cy="781207"/>
          </a:xfrm>
          <a:custGeom>
            <a:avLst/>
            <a:gdLst>
              <a:gd name="connsiteX0" fmla="*/ 4089400 w 4089400"/>
              <a:gd name="connsiteY0" fmla="*/ 601133 h 650105"/>
              <a:gd name="connsiteX1" fmla="*/ 3191933 w 4089400"/>
              <a:gd name="connsiteY1" fmla="*/ 609600 h 650105"/>
              <a:gd name="connsiteX2" fmla="*/ 2455333 w 4089400"/>
              <a:gd name="connsiteY2" fmla="*/ 160867 h 650105"/>
              <a:gd name="connsiteX3" fmla="*/ 0 w 4089400"/>
              <a:gd name="connsiteY3" fmla="*/ 0 h 65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9400" h="650105">
                <a:moveTo>
                  <a:pt x="4089400" y="601133"/>
                </a:moveTo>
                <a:cubicBezTo>
                  <a:pt x="3776838" y="642055"/>
                  <a:pt x="3464277" y="682978"/>
                  <a:pt x="3191933" y="609600"/>
                </a:cubicBezTo>
                <a:cubicBezTo>
                  <a:pt x="2919589" y="536222"/>
                  <a:pt x="2987322" y="262467"/>
                  <a:pt x="2455333" y="160867"/>
                </a:cubicBezTo>
                <a:cubicBezTo>
                  <a:pt x="1923344" y="59267"/>
                  <a:pt x="961672" y="29633"/>
                  <a:pt x="0" y="0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E3246F-17AC-9692-6E27-BDC3D14B018A}"/>
              </a:ext>
            </a:extLst>
          </p:cNvPr>
          <p:cNvSpPr txBox="1"/>
          <p:nvPr/>
        </p:nvSpPr>
        <p:spPr>
          <a:xfrm>
            <a:off x="7872167" y="1666197"/>
            <a:ext cx="262732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Gradient Flow 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5ACA259E-A5B5-6D78-0016-B8860F6B6782}"/>
              </a:ext>
            </a:extLst>
          </p:cNvPr>
          <p:cNvSpPr/>
          <p:nvPr/>
        </p:nvSpPr>
        <p:spPr>
          <a:xfrm>
            <a:off x="9702800" y="3293533"/>
            <a:ext cx="1439333" cy="8467"/>
          </a:xfrm>
          <a:custGeom>
            <a:avLst/>
            <a:gdLst>
              <a:gd name="connsiteX0" fmla="*/ 1439333 w 1439333"/>
              <a:gd name="connsiteY0" fmla="*/ 0 h 8467"/>
              <a:gd name="connsiteX1" fmla="*/ 0 w 1439333"/>
              <a:gd name="connsiteY1" fmla="*/ 8467 h 8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39333" h="8467">
                <a:moveTo>
                  <a:pt x="1439333" y="0"/>
                </a:moveTo>
                <a:lnTo>
                  <a:pt x="0" y="8467"/>
                </a:lnTo>
              </a:path>
            </a:pathLst>
          </a:custGeom>
          <a:noFill/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A138D5-DB24-0469-6B70-5E24801F1E16}"/>
              </a:ext>
            </a:extLst>
          </p:cNvPr>
          <p:cNvSpPr txBox="1"/>
          <p:nvPr/>
        </p:nvSpPr>
        <p:spPr>
          <a:xfrm>
            <a:off x="9695569" y="3386593"/>
            <a:ext cx="1453924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</a:t>
            </a:r>
          </a:p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Gradient Flow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A9216F-9184-9171-4F82-0D596D2D0715}"/>
              </a:ext>
            </a:extLst>
          </p:cNvPr>
          <p:cNvSpPr txBox="1"/>
          <p:nvPr/>
        </p:nvSpPr>
        <p:spPr>
          <a:xfrm>
            <a:off x="2692753" y="4476399"/>
            <a:ext cx="7226337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 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Objective	: Fool the discriminator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4ADFDA-B8E4-1885-BB02-863D9C5DC99B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</p:spTree>
    <p:extLst>
      <p:ext uri="{BB962C8B-B14F-4D97-AF65-F5344CB8AC3E}">
        <p14:creationId xmlns:p14="http://schemas.microsoft.com/office/powerpoint/2010/main" val="415839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A8680-E60F-04FC-DBF9-636A50F0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EF92-722C-3DF5-82DE-79F564D09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998D8-A2B8-1DEA-B1E6-E3C2BDAC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9578C0-894D-4DAA-A37C-5B9EA5483D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E3C312-A847-1BFC-9E17-CB38F6BD58BE}"/>
              </a:ext>
            </a:extLst>
          </p:cNvPr>
          <p:cNvSpPr/>
          <p:nvPr/>
        </p:nvSpPr>
        <p:spPr>
          <a:xfrm>
            <a:off x="7858367" y="2495582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032FD1-6771-38DE-84C1-32D12A580546}"/>
                  </a:ext>
                </a:extLst>
              </p:cNvPr>
              <p:cNvSpPr txBox="1"/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𝑑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032FD1-6771-38DE-84C1-32D12A580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115" y="2740609"/>
                <a:ext cx="1391407" cy="672428"/>
              </a:xfrm>
              <a:prstGeom prst="rect">
                <a:avLst/>
              </a:prstGeom>
              <a:blipFill>
                <a:blip r:embed="rId5"/>
                <a:stretch>
                  <a:fillRect l="-9910" t="-5660" r="-12613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7CC812-6E90-79E5-F77D-51092D9B37A9}"/>
              </a:ext>
            </a:extLst>
          </p:cNvPr>
          <p:cNvCxnSpPr>
            <a:cxnSpLocks/>
          </p:cNvCxnSpPr>
          <p:nvPr/>
        </p:nvCxnSpPr>
        <p:spPr>
          <a:xfrm>
            <a:off x="9517795" y="300255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F0AD10-C372-DAE5-C4B8-B7B263E94971}"/>
              </a:ext>
            </a:extLst>
          </p:cNvPr>
          <p:cNvSpPr txBox="1"/>
          <p:nvPr/>
        </p:nvSpPr>
        <p:spPr>
          <a:xfrm>
            <a:off x="10034232" y="2837740"/>
            <a:ext cx="127759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or Fake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CF80DF-8E11-04FA-0639-1825A3E69C91}"/>
              </a:ext>
            </a:extLst>
          </p:cNvPr>
          <p:cNvGrpSpPr/>
          <p:nvPr/>
        </p:nvGrpSpPr>
        <p:grpSpPr>
          <a:xfrm>
            <a:off x="2208140" y="1840469"/>
            <a:ext cx="457200" cy="1053648"/>
            <a:chOff x="2530144" y="3862661"/>
            <a:chExt cx="457200" cy="105364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0F2D351-50BE-C1CE-CB57-4426D7723C1C}"/>
                </a:ext>
              </a:extLst>
            </p:cNvPr>
            <p:cNvSpPr/>
            <p:nvPr/>
          </p:nvSpPr>
          <p:spPr>
            <a:xfrm>
              <a:off x="2530144" y="3862661"/>
              <a:ext cx="457200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A24168D-985E-67BC-2551-9241B531E133}"/>
                    </a:ext>
                  </a:extLst>
                </p:cNvPr>
                <p:cNvSpPr txBox="1"/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A24168D-985E-67BC-2551-9241B531E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586" y="4158783"/>
                  <a:ext cx="24702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9524" t="-10811" r="-80952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366FE5-950E-9D3D-E4D8-0312516EA74D}"/>
              </a:ext>
            </a:extLst>
          </p:cNvPr>
          <p:cNvCxnSpPr>
            <a:cxnSpLocks/>
          </p:cNvCxnSpPr>
          <p:nvPr/>
        </p:nvCxnSpPr>
        <p:spPr>
          <a:xfrm>
            <a:off x="2835889" y="239042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6C3256-A5D9-A159-33F6-54C942B9A845}"/>
              </a:ext>
            </a:extLst>
          </p:cNvPr>
          <p:cNvSpPr txBox="1"/>
          <p:nvPr/>
        </p:nvSpPr>
        <p:spPr>
          <a:xfrm>
            <a:off x="3724862" y="258292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3DF88C-AB43-1895-8B40-80272E918DB8}"/>
              </a:ext>
            </a:extLst>
          </p:cNvPr>
          <p:cNvCxnSpPr>
            <a:cxnSpLocks/>
          </p:cNvCxnSpPr>
          <p:nvPr/>
        </p:nvCxnSpPr>
        <p:spPr>
          <a:xfrm>
            <a:off x="5158213" y="2422252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3368F36-9725-65BD-66C9-7D946B1F525E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709581" y="2053575"/>
            <a:ext cx="720000" cy="7200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BC8990B-4ADF-B01A-830A-E540945A2764}"/>
              </a:ext>
            </a:extLst>
          </p:cNvPr>
          <p:cNvCxnSpPr>
            <a:cxnSpLocks/>
          </p:cNvCxnSpPr>
          <p:nvPr/>
        </p:nvCxnSpPr>
        <p:spPr>
          <a:xfrm>
            <a:off x="6845843" y="2361972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E46171-0C34-2E4E-2258-CD8772F87A30}"/>
                  </a:ext>
                </a:extLst>
              </p:cNvPr>
              <p:cNvSpPr txBox="1"/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Generator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E46171-0C34-2E4E-2258-CD8772F87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212" y="2072577"/>
                <a:ext cx="1061188" cy="699935"/>
              </a:xfrm>
              <a:prstGeom prst="rect">
                <a:avLst/>
              </a:prstGeom>
              <a:blipFill>
                <a:blip r:embed="rId8"/>
                <a:stretch>
                  <a:fillRect l="-12941" t="-3571" r="-16471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FE86252F-B5A3-DB39-6485-591568E06A5A}"/>
              </a:ext>
            </a:extLst>
          </p:cNvPr>
          <p:cNvSpPr/>
          <p:nvPr/>
        </p:nvSpPr>
        <p:spPr>
          <a:xfrm>
            <a:off x="3410354" y="1840469"/>
            <a:ext cx="1546904" cy="1053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31F8690-8971-4232-DF21-C0792F8897FA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709581" y="3373270"/>
            <a:ext cx="720000" cy="72125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76DECE-CA78-91E0-825D-07D1B1016FE4}"/>
              </a:ext>
            </a:extLst>
          </p:cNvPr>
          <p:cNvCxnSpPr>
            <a:cxnSpLocks/>
          </p:cNvCxnSpPr>
          <p:nvPr/>
        </p:nvCxnSpPr>
        <p:spPr>
          <a:xfrm flipV="1">
            <a:off x="6845843" y="3177246"/>
            <a:ext cx="900000" cy="54000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3B4D334-16C7-44BB-D1F4-EE1D5E01E841}"/>
              </a:ext>
            </a:extLst>
          </p:cNvPr>
          <p:cNvSpPr txBox="1"/>
          <p:nvPr/>
        </p:nvSpPr>
        <p:spPr>
          <a:xfrm>
            <a:off x="3550620" y="3549230"/>
            <a:ext cx="125354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Training Set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665C1E-7F49-74BD-5932-9454533EDF1E}"/>
              </a:ext>
            </a:extLst>
          </p:cNvPr>
          <p:cNvCxnSpPr>
            <a:cxnSpLocks/>
          </p:cNvCxnSpPr>
          <p:nvPr/>
        </p:nvCxnSpPr>
        <p:spPr>
          <a:xfrm>
            <a:off x="5158213" y="3733896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3AC0E96-34EB-215E-36F8-6A6C1698E75E}"/>
                  </a:ext>
                </a:extLst>
              </p:cNvPr>
              <p:cNvSpPr txBox="1"/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Random noise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I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3AC0E96-34EB-215E-36F8-6A6C1698E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90410"/>
                <a:ext cx="1485984" cy="646331"/>
              </a:xfrm>
              <a:prstGeom prst="rect">
                <a:avLst/>
              </a:prstGeom>
              <a:blipFill>
                <a:blip r:embed="rId10"/>
                <a:stretch>
                  <a:fillRect l="-10169" t="-3846" r="-11864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F7F49825-9A31-A662-517C-EAB098760317}"/>
              </a:ext>
            </a:extLst>
          </p:cNvPr>
          <p:cNvSpPr txBox="1"/>
          <p:nvPr/>
        </p:nvSpPr>
        <p:spPr>
          <a:xfrm>
            <a:off x="5506099" y="1630546"/>
            <a:ext cx="137377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Fake Images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E72CA1-D611-B0FD-99E4-6F34FE5331A9}"/>
              </a:ext>
            </a:extLst>
          </p:cNvPr>
          <p:cNvSpPr txBox="1"/>
          <p:nvPr/>
        </p:nvSpPr>
        <p:spPr>
          <a:xfrm>
            <a:off x="5382694" y="4107958"/>
            <a:ext cx="132247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Images 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4803450A-DF94-44E4-6EAC-0DC3FFDEB0BA}"/>
              </a:ext>
            </a:extLst>
          </p:cNvPr>
          <p:cNvSpPr/>
          <p:nvPr/>
        </p:nvSpPr>
        <p:spPr>
          <a:xfrm>
            <a:off x="5028908" y="1944808"/>
            <a:ext cx="6096292" cy="781207"/>
          </a:xfrm>
          <a:custGeom>
            <a:avLst/>
            <a:gdLst>
              <a:gd name="connsiteX0" fmla="*/ 4089400 w 4089400"/>
              <a:gd name="connsiteY0" fmla="*/ 601133 h 650105"/>
              <a:gd name="connsiteX1" fmla="*/ 3191933 w 4089400"/>
              <a:gd name="connsiteY1" fmla="*/ 609600 h 650105"/>
              <a:gd name="connsiteX2" fmla="*/ 2455333 w 4089400"/>
              <a:gd name="connsiteY2" fmla="*/ 160867 h 650105"/>
              <a:gd name="connsiteX3" fmla="*/ 0 w 4089400"/>
              <a:gd name="connsiteY3" fmla="*/ 0 h 65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9400" h="650105">
                <a:moveTo>
                  <a:pt x="4089400" y="601133"/>
                </a:moveTo>
                <a:cubicBezTo>
                  <a:pt x="3776838" y="642055"/>
                  <a:pt x="3464277" y="682978"/>
                  <a:pt x="3191933" y="609600"/>
                </a:cubicBezTo>
                <a:cubicBezTo>
                  <a:pt x="2919589" y="536222"/>
                  <a:pt x="2987322" y="262467"/>
                  <a:pt x="2455333" y="160867"/>
                </a:cubicBezTo>
                <a:cubicBezTo>
                  <a:pt x="1923344" y="59267"/>
                  <a:pt x="961672" y="29633"/>
                  <a:pt x="0" y="0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ABA9AC-EB63-150E-7B20-9DE373CECB6B}"/>
              </a:ext>
            </a:extLst>
          </p:cNvPr>
          <p:cNvSpPr txBox="1"/>
          <p:nvPr/>
        </p:nvSpPr>
        <p:spPr>
          <a:xfrm>
            <a:off x="7872167" y="1666197"/>
            <a:ext cx="262732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Gradient Flow 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51603C8-406A-6FD8-0777-9926B624CE3E}"/>
              </a:ext>
            </a:extLst>
          </p:cNvPr>
          <p:cNvSpPr/>
          <p:nvPr/>
        </p:nvSpPr>
        <p:spPr>
          <a:xfrm>
            <a:off x="9702800" y="3293533"/>
            <a:ext cx="1439333" cy="8467"/>
          </a:xfrm>
          <a:custGeom>
            <a:avLst/>
            <a:gdLst>
              <a:gd name="connsiteX0" fmla="*/ 1439333 w 1439333"/>
              <a:gd name="connsiteY0" fmla="*/ 0 h 8467"/>
              <a:gd name="connsiteX1" fmla="*/ 0 w 1439333"/>
              <a:gd name="connsiteY1" fmla="*/ 8467 h 8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39333" h="8467">
                <a:moveTo>
                  <a:pt x="1439333" y="0"/>
                </a:moveTo>
                <a:lnTo>
                  <a:pt x="0" y="8467"/>
                </a:lnTo>
              </a:path>
            </a:pathLst>
          </a:custGeom>
          <a:noFill/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5F32F9-9E24-7E79-8E6E-399232AA8AEA}"/>
              </a:ext>
            </a:extLst>
          </p:cNvPr>
          <p:cNvSpPr txBox="1"/>
          <p:nvPr/>
        </p:nvSpPr>
        <p:spPr>
          <a:xfrm>
            <a:off x="9695569" y="3386593"/>
            <a:ext cx="1453924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</a:t>
            </a:r>
          </a:p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Gradient Flow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A1A313-5D2D-0868-0E06-0067175DCB34}"/>
              </a:ext>
            </a:extLst>
          </p:cNvPr>
          <p:cNvSpPr txBox="1"/>
          <p:nvPr/>
        </p:nvSpPr>
        <p:spPr>
          <a:xfrm>
            <a:off x="2692753" y="4476399"/>
            <a:ext cx="7226337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 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Objective	: Fool the discriminator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D8EFEC4-1C58-1DE0-72E8-8858BF6D3CA6}"/>
                  </a:ext>
                </a:extLst>
              </p:cNvPr>
              <p:cNvSpPr txBox="1"/>
              <p:nvPr/>
            </p:nvSpPr>
            <p:spPr>
              <a:xfrm>
                <a:off x="1940251" y="5062224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D8EFEC4-1C58-1DE0-72E8-8858BF6D3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251" y="5062224"/>
                <a:ext cx="8505470" cy="922176"/>
              </a:xfrm>
              <a:prstGeom prst="rect">
                <a:avLst/>
              </a:prstGeom>
              <a:blipFill>
                <a:blip r:embed="rId11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7F7BC1A7-2DCB-4F7F-6F85-81FC81846427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</p:spTree>
    <p:extLst>
      <p:ext uri="{BB962C8B-B14F-4D97-AF65-F5344CB8AC3E}">
        <p14:creationId xmlns:p14="http://schemas.microsoft.com/office/powerpoint/2010/main" val="282202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88F47-07AB-FDD4-FA78-A0CA9A7B1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1128E-1257-A3CF-58BD-4D8C7E32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43514-0CC2-AD37-76DB-3FC252F249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4EA32-3416-8B4F-2E1C-04C2924FE3A2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E994BB-8727-CB28-FE66-D6B284120D80}"/>
                  </a:ext>
                </a:extLst>
              </p:cNvPr>
              <p:cNvSpPr txBox="1"/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E994BB-8727-CB28-FE66-D6B28412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blipFill>
                <a:blip r:embed="rId5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67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77D0-6C18-A5AD-E693-03A4BBC8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A906-3C67-B5C4-15E8-C48BFBD90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698E3-85AA-DF2C-AD23-859ED70A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8771B9-F5F2-1D6A-74C8-E1D695EFB9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AD792-8129-047F-23B2-92C7FCF382FF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782C8-B37C-A3D0-5696-D9BDFA99FF56}"/>
              </a:ext>
            </a:extLst>
          </p:cNvPr>
          <p:cNvSpPr txBox="1"/>
          <p:nvPr/>
        </p:nvSpPr>
        <p:spPr>
          <a:xfrm>
            <a:off x="2582686" y="1645553"/>
            <a:ext cx="72279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556970-D6AE-D353-BC83-E68DDFEAFA3C}"/>
                  </a:ext>
                </a:extLst>
              </p:cNvPr>
              <p:cNvSpPr txBox="1"/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E994BB-8727-CB28-FE66-D6B28412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blipFill>
                <a:blip r:embed="rId5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72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8053-DA69-B12E-AA27-CC682CBD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EF8E9-49EC-CCC5-5F65-A45BB150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0E16C-4ECC-25CD-5D08-EF40BCDB9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D7E30-1279-667D-2DB2-E0E01F9F90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B08D6-41ED-9C10-3B9B-243AEA7F5E86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63937B-1070-608B-9E98-81F814D7C680}"/>
              </a:ext>
            </a:extLst>
          </p:cNvPr>
          <p:cNvSpPr txBox="1"/>
          <p:nvPr/>
        </p:nvSpPr>
        <p:spPr>
          <a:xfrm>
            <a:off x="2582686" y="1645553"/>
            <a:ext cx="72279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7AEB9B-0E00-B2BB-C072-AFCC763ABBFB}"/>
                  </a:ext>
                </a:extLst>
              </p:cNvPr>
              <p:cNvSpPr txBox="1"/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7AEB9B-0E00-B2BB-C072-AFCC763AB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blipFill>
                <a:blip r:embed="rId5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FB4EBD2-760C-0624-696E-48095A9D7CFA}"/>
              </a:ext>
            </a:extLst>
          </p:cNvPr>
          <p:cNvSpPr txBox="1"/>
          <p:nvPr/>
        </p:nvSpPr>
        <p:spPr>
          <a:xfrm>
            <a:off x="4555067" y="3838586"/>
            <a:ext cx="990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maximize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D15140-E44C-EECE-A47A-5C7E02581C2F}"/>
              </a:ext>
            </a:extLst>
          </p:cNvPr>
          <p:cNvSpPr txBox="1"/>
          <p:nvPr/>
        </p:nvSpPr>
        <p:spPr>
          <a:xfrm>
            <a:off x="8644467" y="3833305"/>
            <a:ext cx="92813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minimize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2D9E24-3424-8E92-D331-E8F803B7A97D}"/>
              </a:ext>
            </a:extLst>
          </p:cNvPr>
          <p:cNvCxnSpPr>
            <a:cxnSpLocks/>
          </p:cNvCxnSpPr>
          <p:nvPr/>
        </p:nvCxnSpPr>
        <p:spPr>
          <a:xfrm>
            <a:off x="4950746" y="3649134"/>
            <a:ext cx="772721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117F8D-23B5-0AD9-6916-5C62AA407E8A}"/>
              </a:ext>
            </a:extLst>
          </p:cNvPr>
          <p:cNvCxnSpPr>
            <a:cxnSpLocks/>
          </p:cNvCxnSpPr>
          <p:nvPr/>
        </p:nvCxnSpPr>
        <p:spPr>
          <a:xfrm>
            <a:off x="8335815" y="3759201"/>
            <a:ext cx="1474812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35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DDA9-729A-57C2-56BF-E98D9214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6B5F-A7EA-6BC3-81E1-02264E0D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71039-1285-423D-AF23-570B36CA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2035F-4CFF-8590-3918-4E1577132E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D40F64-FB84-78EC-5D98-ADB85515D3DB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190706-AD16-F800-868F-63022C612BC7}"/>
              </a:ext>
            </a:extLst>
          </p:cNvPr>
          <p:cNvSpPr txBox="1"/>
          <p:nvPr/>
        </p:nvSpPr>
        <p:spPr>
          <a:xfrm>
            <a:off x="2582686" y="1645553"/>
            <a:ext cx="72279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935450-084F-AA86-2323-61161493D7E1}"/>
                  </a:ext>
                </a:extLst>
              </p:cNvPr>
              <p:cNvSpPr txBox="1"/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935450-084F-AA86-2323-61161493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blipFill>
                <a:blip r:embed="rId5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86C4B32-E641-82D3-BF90-3D287494B5E2}"/>
              </a:ext>
            </a:extLst>
          </p:cNvPr>
          <p:cNvSpPr txBox="1"/>
          <p:nvPr/>
        </p:nvSpPr>
        <p:spPr>
          <a:xfrm>
            <a:off x="4555067" y="3838586"/>
            <a:ext cx="990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maximize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A345A-6AE8-BA7D-8B94-1F92DC2B563E}"/>
              </a:ext>
            </a:extLst>
          </p:cNvPr>
          <p:cNvSpPr txBox="1"/>
          <p:nvPr/>
        </p:nvSpPr>
        <p:spPr>
          <a:xfrm>
            <a:off x="8644467" y="3833305"/>
            <a:ext cx="92813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minimize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E27299-5E5A-A398-D6BD-6AD053A3B013}"/>
              </a:ext>
            </a:extLst>
          </p:cNvPr>
          <p:cNvCxnSpPr>
            <a:cxnSpLocks/>
          </p:cNvCxnSpPr>
          <p:nvPr/>
        </p:nvCxnSpPr>
        <p:spPr>
          <a:xfrm>
            <a:off x="4950746" y="3649134"/>
            <a:ext cx="772721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8D88AB-2A7E-6A19-4801-FCA0D8E096F9}"/>
              </a:ext>
            </a:extLst>
          </p:cNvPr>
          <p:cNvCxnSpPr>
            <a:cxnSpLocks/>
          </p:cNvCxnSpPr>
          <p:nvPr/>
        </p:nvCxnSpPr>
        <p:spPr>
          <a:xfrm>
            <a:off x="8335815" y="3759201"/>
            <a:ext cx="1474812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9681C7-45AD-D338-0C7C-D1CB953D0FF6}"/>
              </a:ext>
            </a:extLst>
          </p:cNvPr>
          <p:cNvSpPr txBox="1"/>
          <p:nvPr/>
        </p:nvSpPr>
        <p:spPr>
          <a:xfrm>
            <a:off x="4700676" y="5861346"/>
            <a:ext cx="50013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log 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FF5119-810A-B261-BA28-1A7BB8E07BB3}"/>
              </a:ext>
            </a:extLst>
          </p:cNvPr>
          <p:cNvSpPr txBox="1"/>
          <p:nvPr/>
        </p:nvSpPr>
        <p:spPr>
          <a:xfrm>
            <a:off x="8703778" y="5809654"/>
            <a:ext cx="86882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log (1-x)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D0DCA1-6361-C8E1-DE31-CEB133B948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181" t="35239" r="14534"/>
          <a:stretch>
            <a:fillRect/>
          </a:stretch>
        </p:blipFill>
        <p:spPr>
          <a:xfrm>
            <a:off x="8466084" y="4262968"/>
            <a:ext cx="1518743" cy="14863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D545D9-3D1F-197C-D850-8D1E658B7E5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369" t="33018" r="24943"/>
          <a:stretch>
            <a:fillRect/>
          </a:stretch>
        </p:blipFill>
        <p:spPr>
          <a:xfrm>
            <a:off x="4382155" y="4262968"/>
            <a:ext cx="1276442" cy="153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62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62B20-6A72-562D-6CCE-26E8A053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7E9CE-B016-3BEA-69A1-AEC90DDB7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33694-C27E-0ED1-B784-BB3740FB1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718F2-1578-D3C0-2F0B-AB924C9182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058B3-0789-0424-2E32-EDAB6A9D91C2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FD0C1C-31E4-74B0-E0F5-240719E8E1D0}"/>
              </a:ext>
            </a:extLst>
          </p:cNvPr>
          <p:cNvSpPr txBox="1"/>
          <p:nvPr/>
        </p:nvSpPr>
        <p:spPr>
          <a:xfrm>
            <a:off x="2582686" y="1645553"/>
            <a:ext cx="72279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E99BF1-97FD-EE38-12AF-790F362AF92F}"/>
                  </a:ext>
                </a:extLst>
              </p:cNvPr>
              <p:cNvSpPr txBox="1"/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E99BF1-97FD-EE38-12AF-790F362AF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blipFill>
                <a:blip r:embed="rId5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32C33CC-38B8-C89C-6ACD-49CCC438591C}"/>
              </a:ext>
            </a:extLst>
          </p:cNvPr>
          <p:cNvSpPr txBox="1"/>
          <p:nvPr/>
        </p:nvSpPr>
        <p:spPr>
          <a:xfrm>
            <a:off x="4555067" y="3838586"/>
            <a:ext cx="990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maximize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6BF25-04D5-221B-61FD-EEA632D21504}"/>
              </a:ext>
            </a:extLst>
          </p:cNvPr>
          <p:cNvSpPr txBox="1"/>
          <p:nvPr/>
        </p:nvSpPr>
        <p:spPr>
          <a:xfrm>
            <a:off x="8644467" y="3833305"/>
            <a:ext cx="92813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minimize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3269B3-DE2E-51E1-A67C-8078E6C0F74B}"/>
              </a:ext>
            </a:extLst>
          </p:cNvPr>
          <p:cNvCxnSpPr>
            <a:cxnSpLocks/>
          </p:cNvCxnSpPr>
          <p:nvPr/>
        </p:nvCxnSpPr>
        <p:spPr>
          <a:xfrm>
            <a:off x="4950746" y="3649134"/>
            <a:ext cx="772721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3AC343-61FC-9D34-BE1D-9E151F1B0AE4}"/>
              </a:ext>
            </a:extLst>
          </p:cNvPr>
          <p:cNvCxnSpPr>
            <a:cxnSpLocks/>
          </p:cNvCxnSpPr>
          <p:nvPr/>
        </p:nvCxnSpPr>
        <p:spPr>
          <a:xfrm>
            <a:off x="8335815" y="3759201"/>
            <a:ext cx="1474812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43C01FA-CD05-F124-C9DC-F1FC91DEEDDA}"/>
              </a:ext>
            </a:extLst>
          </p:cNvPr>
          <p:cNvSpPr txBox="1"/>
          <p:nvPr/>
        </p:nvSpPr>
        <p:spPr>
          <a:xfrm>
            <a:off x="5249333" y="2353733"/>
            <a:ext cx="102912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data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29253A-1847-9EEF-71A7-BCC73568E196}"/>
              </a:ext>
            </a:extLst>
          </p:cNvPr>
          <p:cNvCxnSpPr/>
          <p:nvPr/>
        </p:nvCxnSpPr>
        <p:spPr>
          <a:xfrm>
            <a:off x="5621866" y="2723065"/>
            <a:ext cx="0" cy="465666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3DCA957-80D0-1F36-85D1-B3EE450C1D6C}"/>
              </a:ext>
            </a:extLst>
          </p:cNvPr>
          <p:cNvSpPr txBox="1"/>
          <p:nvPr/>
        </p:nvSpPr>
        <p:spPr>
          <a:xfrm>
            <a:off x="4700676" y="5861346"/>
            <a:ext cx="50013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log 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DE0208-B999-9EA2-71E2-6F3519021A0A}"/>
              </a:ext>
            </a:extLst>
          </p:cNvPr>
          <p:cNvSpPr txBox="1"/>
          <p:nvPr/>
        </p:nvSpPr>
        <p:spPr>
          <a:xfrm>
            <a:off x="8703778" y="5809654"/>
            <a:ext cx="86882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log (1-x)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637979-2F76-D7FF-8F18-F983FB2B28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369" t="33018" r="24943"/>
          <a:stretch>
            <a:fillRect/>
          </a:stretch>
        </p:blipFill>
        <p:spPr>
          <a:xfrm>
            <a:off x="4382155" y="4262968"/>
            <a:ext cx="1276442" cy="153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D56D6FE-3947-0FAF-0B29-CEED4137501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181" t="35239" r="14534"/>
          <a:stretch>
            <a:fillRect/>
          </a:stretch>
        </p:blipFill>
        <p:spPr>
          <a:xfrm>
            <a:off x="8466084" y="4262968"/>
            <a:ext cx="1518743" cy="148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8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39274-446A-CB75-2DD1-3EA96696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E71A-13FF-8F46-C403-2FB1743D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C3F8A-AD41-06A8-6FF6-43E0BCBE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CFEC1-3B3D-CFE2-4770-0FD9B6C04B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57F8F-87C0-1D26-C4E2-26D64BC1182D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5E70C-DC2D-1571-3459-A5FBE106FA0D}"/>
              </a:ext>
            </a:extLst>
          </p:cNvPr>
          <p:cNvSpPr txBox="1"/>
          <p:nvPr/>
        </p:nvSpPr>
        <p:spPr>
          <a:xfrm>
            <a:off x="2582686" y="1645553"/>
            <a:ext cx="72279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DE583C-EBE1-CE85-2243-15A018566B75}"/>
                  </a:ext>
                </a:extLst>
              </p:cNvPr>
              <p:cNvSpPr txBox="1"/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DE583C-EBE1-CE85-2243-15A018566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blipFill>
                <a:blip r:embed="rId5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7003C24-0E49-A7E6-8591-E06B749E8524}"/>
              </a:ext>
            </a:extLst>
          </p:cNvPr>
          <p:cNvSpPr txBox="1"/>
          <p:nvPr/>
        </p:nvSpPr>
        <p:spPr>
          <a:xfrm>
            <a:off x="4555067" y="3838586"/>
            <a:ext cx="990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maximize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8E565-43D1-A24C-240F-3225AE03D9B2}"/>
              </a:ext>
            </a:extLst>
          </p:cNvPr>
          <p:cNvSpPr txBox="1"/>
          <p:nvPr/>
        </p:nvSpPr>
        <p:spPr>
          <a:xfrm>
            <a:off x="8644467" y="3833305"/>
            <a:ext cx="92813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minimize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9714BC-906D-F217-42E3-CF46AAEF8303}"/>
              </a:ext>
            </a:extLst>
          </p:cNvPr>
          <p:cNvCxnSpPr>
            <a:cxnSpLocks/>
          </p:cNvCxnSpPr>
          <p:nvPr/>
        </p:nvCxnSpPr>
        <p:spPr>
          <a:xfrm>
            <a:off x="4950746" y="3649134"/>
            <a:ext cx="772721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F49C26-F427-F83C-DE8B-964D66588B3C}"/>
              </a:ext>
            </a:extLst>
          </p:cNvPr>
          <p:cNvCxnSpPr>
            <a:cxnSpLocks/>
          </p:cNvCxnSpPr>
          <p:nvPr/>
        </p:nvCxnSpPr>
        <p:spPr>
          <a:xfrm>
            <a:off x="8335815" y="3759201"/>
            <a:ext cx="1474812" cy="0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3F26EE-456B-CCDB-636D-D2F1B7EDC690}"/>
              </a:ext>
            </a:extLst>
          </p:cNvPr>
          <p:cNvSpPr txBox="1"/>
          <p:nvPr/>
        </p:nvSpPr>
        <p:spPr>
          <a:xfrm>
            <a:off x="5249333" y="2353733"/>
            <a:ext cx="102912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Real data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5705D3-42F7-E9CF-6411-21D1A9755C03}"/>
              </a:ext>
            </a:extLst>
          </p:cNvPr>
          <p:cNvCxnSpPr/>
          <p:nvPr/>
        </p:nvCxnSpPr>
        <p:spPr>
          <a:xfrm>
            <a:off x="5621866" y="2723065"/>
            <a:ext cx="0" cy="465666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5EED66-A9AA-EF47-A914-C605C1167B66}"/>
              </a:ext>
            </a:extLst>
          </p:cNvPr>
          <p:cNvSpPr txBox="1"/>
          <p:nvPr/>
        </p:nvSpPr>
        <p:spPr>
          <a:xfrm>
            <a:off x="9058042" y="2274531"/>
            <a:ext cx="108042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Fake data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3E7464-6265-5D26-B688-284D13A036AA}"/>
              </a:ext>
            </a:extLst>
          </p:cNvPr>
          <p:cNvCxnSpPr/>
          <p:nvPr/>
        </p:nvCxnSpPr>
        <p:spPr>
          <a:xfrm>
            <a:off x="9430575" y="2643863"/>
            <a:ext cx="0" cy="465666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A8735AD-F49E-E1A5-4FE2-64202F21A63A}"/>
              </a:ext>
            </a:extLst>
          </p:cNvPr>
          <p:cNvSpPr txBox="1"/>
          <p:nvPr/>
        </p:nvSpPr>
        <p:spPr>
          <a:xfrm>
            <a:off x="4700676" y="5861346"/>
            <a:ext cx="50013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log 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5E664F-1F7C-E767-D7FD-3BD7E1873100}"/>
              </a:ext>
            </a:extLst>
          </p:cNvPr>
          <p:cNvSpPr txBox="1"/>
          <p:nvPr/>
        </p:nvSpPr>
        <p:spPr>
          <a:xfrm>
            <a:off x="8703778" y="5809654"/>
            <a:ext cx="86882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log (1-x)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7AD757A-9963-DB2C-0041-7320F7C94D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181" t="35239" r="14534"/>
          <a:stretch>
            <a:fillRect/>
          </a:stretch>
        </p:blipFill>
        <p:spPr>
          <a:xfrm>
            <a:off x="8466084" y="4262968"/>
            <a:ext cx="1518743" cy="14863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44303E7-0E09-64E9-FDC0-611B2CD9E8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369" t="33018" r="24943"/>
          <a:stretch>
            <a:fillRect/>
          </a:stretch>
        </p:blipFill>
        <p:spPr>
          <a:xfrm>
            <a:off x="4382155" y="4262968"/>
            <a:ext cx="1276442" cy="153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6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268A7-7BA7-212C-49C0-3497037A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D6AA-2327-CF11-9FE2-589A9D59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8470D-D73B-5BA3-F8B3-AAA105CC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096362-A91F-0495-3E0B-87103EE283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8B2C9-418F-0AB4-4929-1FA08D0689B4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E3C9A-94BD-B750-6E88-D1474AF6C50D}"/>
              </a:ext>
            </a:extLst>
          </p:cNvPr>
          <p:cNvSpPr txBox="1"/>
          <p:nvPr/>
        </p:nvSpPr>
        <p:spPr>
          <a:xfrm>
            <a:off x="2582686" y="1645553"/>
            <a:ext cx="7171835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</a:t>
            </a:r>
          </a:p>
          <a:p>
            <a:r>
              <a:rPr lang="en-US" dirty="0">
                <a:solidFill>
                  <a:srgbClr val="0070C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Objective	: Fool the discriminator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BB5F22-FFAA-76B6-F6DE-A32CFDDA11C2}"/>
                  </a:ext>
                </a:extLst>
              </p:cNvPr>
              <p:cNvSpPr txBox="1"/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BB5F22-FFAA-76B6-F6DE-A32CFDDA1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blipFill>
                <a:blip r:embed="rId5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64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EBF1-95F3-4561-4B56-D18159F3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6976-0358-2E2E-FD3D-23A7C5231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D8998-0468-F810-0F66-8F1A738B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BA88D-F787-C07A-F797-0EDBD0C5CA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39053-3B21-7885-6E29-230710E7EFB7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30D90-5BF9-3CFE-0392-AD6B5876CC7E}"/>
              </a:ext>
            </a:extLst>
          </p:cNvPr>
          <p:cNvSpPr txBox="1"/>
          <p:nvPr/>
        </p:nvSpPr>
        <p:spPr>
          <a:xfrm>
            <a:off x="2582686" y="1645553"/>
            <a:ext cx="7171835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</a:t>
            </a:r>
          </a:p>
          <a:p>
            <a:r>
              <a:rPr lang="en-US" dirty="0">
                <a:solidFill>
                  <a:srgbClr val="0070C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Objective	: Fool the discriminator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728372-5F4B-5FD2-EE17-4294C1A2B496}"/>
                  </a:ext>
                </a:extLst>
              </p:cNvPr>
              <p:cNvSpPr txBox="1"/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728372-5F4B-5FD2-EE17-4294C1A2B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blipFill>
                <a:blip r:embed="rId5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A0A470-2DC8-1D7E-CE33-D40F08B7FB1C}"/>
              </a:ext>
            </a:extLst>
          </p:cNvPr>
          <p:cNvCxnSpPr>
            <a:cxnSpLocks/>
          </p:cNvCxnSpPr>
          <p:nvPr/>
        </p:nvCxnSpPr>
        <p:spPr>
          <a:xfrm>
            <a:off x="4563533" y="2836333"/>
            <a:ext cx="0" cy="378938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BC4C5B5-1324-651B-201A-21BC6991928E}"/>
              </a:ext>
            </a:extLst>
          </p:cNvPr>
          <p:cNvSpPr txBox="1"/>
          <p:nvPr/>
        </p:nvSpPr>
        <p:spPr>
          <a:xfrm>
            <a:off x="3285067" y="2444028"/>
            <a:ext cx="26914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Independent of generator</a:t>
            </a:r>
          </a:p>
        </p:txBody>
      </p:sp>
    </p:spTree>
    <p:extLst>
      <p:ext uri="{BB962C8B-B14F-4D97-AF65-F5344CB8AC3E}">
        <p14:creationId xmlns:p14="http://schemas.microsoft.com/office/powerpoint/2010/main" val="261195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09958-7D2A-A53E-27B3-25D9DDC9C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5C27-E881-821E-D4AB-5EC2A7EEB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49940-C4FB-4BC4-9FDE-ADD7BE4B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E5B3C-9715-1CAD-2312-879FA5D2E3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0AF183-90A1-2976-4D82-E7F3CCC9D640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98D71-2119-601C-4CFD-41881DCC1619}"/>
              </a:ext>
            </a:extLst>
          </p:cNvPr>
          <p:cNvSpPr txBox="1"/>
          <p:nvPr/>
        </p:nvSpPr>
        <p:spPr>
          <a:xfrm>
            <a:off x="2582686" y="1645553"/>
            <a:ext cx="7171835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</a:t>
            </a:r>
          </a:p>
          <a:p>
            <a:r>
              <a:rPr lang="en-US" dirty="0">
                <a:solidFill>
                  <a:srgbClr val="0070C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Objective	: Fool the discriminator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221876-302E-D507-2EAB-5DC22F607796}"/>
                  </a:ext>
                </a:extLst>
              </p:cNvPr>
              <p:cNvSpPr txBox="1"/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221876-302E-D507-2EAB-5DC22F607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blipFill>
                <a:blip r:embed="rId5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876D63-DEBA-7A3E-9D75-DCE35CBF818F}"/>
              </a:ext>
            </a:extLst>
          </p:cNvPr>
          <p:cNvCxnSpPr>
            <a:cxnSpLocks/>
          </p:cNvCxnSpPr>
          <p:nvPr/>
        </p:nvCxnSpPr>
        <p:spPr>
          <a:xfrm>
            <a:off x="4563533" y="2836333"/>
            <a:ext cx="0" cy="378938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9CF12BD-FC6E-9F2D-7C85-993125BC77DA}"/>
              </a:ext>
            </a:extLst>
          </p:cNvPr>
          <p:cNvSpPr txBox="1"/>
          <p:nvPr/>
        </p:nvSpPr>
        <p:spPr>
          <a:xfrm>
            <a:off x="3285067" y="2444028"/>
            <a:ext cx="26914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Independent of generator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70FA0-8D2D-67FB-EFF2-81574DBFC830}"/>
              </a:ext>
            </a:extLst>
          </p:cNvPr>
          <p:cNvSpPr txBox="1"/>
          <p:nvPr/>
        </p:nvSpPr>
        <p:spPr>
          <a:xfrm>
            <a:off x="8703778" y="5809654"/>
            <a:ext cx="86882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log (1-x)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E398D2-98B5-6435-22FB-41F640B5F0B6}"/>
              </a:ext>
            </a:extLst>
          </p:cNvPr>
          <p:cNvCxnSpPr>
            <a:cxnSpLocks/>
          </p:cNvCxnSpPr>
          <p:nvPr/>
        </p:nvCxnSpPr>
        <p:spPr>
          <a:xfrm>
            <a:off x="8335815" y="3759201"/>
            <a:ext cx="1578652" cy="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89F77AE-C853-BF3B-4629-8AEF40FADD1E}"/>
              </a:ext>
            </a:extLst>
          </p:cNvPr>
          <p:cNvSpPr txBox="1"/>
          <p:nvPr/>
        </p:nvSpPr>
        <p:spPr>
          <a:xfrm>
            <a:off x="8763865" y="3759201"/>
            <a:ext cx="990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chemeClr val="accent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maximize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D532B2-08A6-C858-E041-F91118C9979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181" t="35239" r="14534"/>
          <a:stretch>
            <a:fillRect/>
          </a:stretch>
        </p:blipFill>
        <p:spPr>
          <a:xfrm>
            <a:off x="8466084" y="4262968"/>
            <a:ext cx="1518743" cy="148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6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03585-511B-3019-32F7-645D99A0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F5F29-9939-6055-8A5E-4E572D33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B4994-BD65-6389-94C3-8BB52886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8D6BB-2BBE-F6F3-D2BD-7E1907192B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15451-E245-0E00-EE15-6F0A458B8A59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1B219-C52C-CCEE-7262-BFBEB57ED696}"/>
              </a:ext>
            </a:extLst>
          </p:cNvPr>
          <p:cNvSpPr txBox="1"/>
          <p:nvPr/>
        </p:nvSpPr>
        <p:spPr>
          <a:xfrm>
            <a:off x="2582686" y="1645553"/>
            <a:ext cx="7171835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Objective	: Distinguish fake images from real images</a:t>
            </a:r>
          </a:p>
          <a:p>
            <a:r>
              <a:rPr lang="en-US" dirty="0">
                <a:solidFill>
                  <a:srgbClr val="0070C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Objective	: Fool the discriminator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32EE5B-A9F8-5082-4818-CC0BD3C7DFEB}"/>
                  </a:ext>
                </a:extLst>
              </p:cNvPr>
              <p:cNvSpPr txBox="1"/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𝑔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𝑑𝑎𝑡𝑎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~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Pretendard Variable Medium" panose="02000003000000020004" pitchFamily="2" charset="-127"/>
                                                  <a:cs typeface="Pretendard Variable Medium" panose="02000003000000020004" pitchFamily="2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400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Pretendard Variable Medium" panose="02000003000000020004" pitchFamily="2" charset="-127"/>
                                                          <a:cs typeface="Pretendard Variable Medium" panose="02000003000000020004" pitchFamily="2" charset="-127"/>
                                                        </a:rPr>
                                                        <m:t>𝑔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Pretendard Variable Medium" panose="02000003000000020004" pitchFamily="2" charset="-127"/>
                                                      <a:cs typeface="Pretendard Variable Medium" panose="02000003000000020004" pitchFamily="2" charset="-127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32EE5B-A9F8-5082-4818-CC0BD3C7D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50" y="2947540"/>
                <a:ext cx="8505470" cy="922176"/>
              </a:xfrm>
              <a:prstGeom prst="rect">
                <a:avLst/>
              </a:prstGeom>
              <a:blipFill>
                <a:blip r:embed="rId5"/>
                <a:stretch>
                  <a:fillRect l="-298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57F18B-4C1E-F8ED-CA90-FCC475461124}"/>
              </a:ext>
            </a:extLst>
          </p:cNvPr>
          <p:cNvCxnSpPr>
            <a:cxnSpLocks/>
          </p:cNvCxnSpPr>
          <p:nvPr/>
        </p:nvCxnSpPr>
        <p:spPr>
          <a:xfrm>
            <a:off x="4563533" y="2836333"/>
            <a:ext cx="0" cy="378938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20EFFBF-D33D-BD71-519B-5C53A81E6CB0}"/>
              </a:ext>
            </a:extLst>
          </p:cNvPr>
          <p:cNvSpPr txBox="1"/>
          <p:nvPr/>
        </p:nvSpPr>
        <p:spPr>
          <a:xfrm>
            <a:off x="3285067" y="2444028"/>
            <a:ext cx="26914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Independent of generator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8653D6C-1F8C-A1D6-45CB-50CD96B66FB4}"/>
              </a:ext>
            </a:extLst>
          </p:cNvPr>
          <p:cNvCxnSpPr>
            <a:cxnSpLocks/>
          </p:cNvCxnSpPr>
          <p:nvPr/>
        </p:nvCxnSpPr>
        <p:spPr>
          <a:xfrm>
            <a:off x="9423399" y="2813360"/>
            <a:ext cx="0" cy="260404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6FF7F9-3ABF-978F-E642-C7843E41EC8A}"/>
              </a:ext>
            </a:extLst>
          </p:cNvPr>
          <p:cNvSpPr txBox="1"/>
          <p:nvPr/>
        </p:nvSpPr>
        <p:spPr>
          <a:xfrm>
            <a:off x="8703778" y="5809654"/>
            <a:ext cx="86882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log (1-x)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9C663-4B8D-EA5E-C1E6-9F0CEB0FBA89}"/>
              </a:ext>
            </a:extLst>
          </p:cNvPr>
          <p:cNvSpPr txBox="1"/>
          <p:nvPr/>
        </p:nvSpPr>
        <p:spPr>
          <a:xfrm>
            <a:off x="7324594" y="2467001"/>
            <a:ext cx="320921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Minimize by making D(G(z))-&gt;1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2F8818-3CA5-1D6B-271E-CC56E37A2BA9}"/>
              </a:ext>
            </a:extLst>
          </p:cNvPr>
          <p:cNvCxnSpPr>
            <a:cxnSpLocks/>
          </p:cNvCxnSpPr>
          <p:nvPr/>
        </p:nvCxnSpPr>
        <p:spPr>
          <a:xfrm>
            <a:off x="8335815" y="3759201"/>
            <a:ext cx="1578652" cy="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FD5359-3E2C-296B-0011-5679828E57CF}"/>
              </a:ext>
            </a:extLst>
          </p:cNvPr>
          <p:cNvSpPr txBox="1"/>
          <p:nvPr/>
        </p:nvSpPr>
        <p:spPr>
          <a:xfrm>
            <a:off x="8763865" y="3759201"/>
            <a:ext cx="990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chemeClr val="accent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maximize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B4FE57-CFA8-9D92-C618-4513E7B1652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181" t="35239" r="14534"/>
          <a:stretch>
            <a:fillRect/>
          </a:stretch>
        </p:blipFill>
        <p:spPr>
          <a:xfrm>
            <a:off x="8466084" y="4262968"/>
            <a:ext cx="1518743" cy="148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C63C6-C946-2C72-4148-C70C7AAC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EC6B-E177-637C-7450-B4BAB8DA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Dynamics of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4FA4C-0F32-3D1D-7AF5-9043A133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1CF84A-65AE-7AC1-5443-A35546045C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94A45-20DA-F309-1E78-5814BC0D0019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8AC7B59-1A81-5552-DC01-C9B554D71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78" y="2160579"/>
            <a:ext cx="2505609" cy="297573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DAE94D5-3B8B-E1C1-4BFD-A91D4B4BA007}"/>
              </a:ext>
            </a:extLst>
          </p:cNvPr>
          <p:cNvSpPr txBox="1"/>
          <p:nvPr/>
        </p:nvSpPr>
        <p:spPr>
          <a:xfrm>
            <a:off x="759278" y="5366170"/>
            <a:ext cx="3762248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      : Blue dashed line</a:t>
            </a:r>
          </a:p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            : Green solid line</a:t>
            </a:r>
          </a:p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Data distribution : black dotted line  </a:t>
            </a:r>
          </a:p>
        </p:txBody>
      </p:sp>
    </p:spTree>
    <p:extLst>
      <p:ext uri="{BB962C8B-B14F-4D97-AF65-F5344CB8AC3E}">
        <p14:creationId xmlns:p14="http://schemas.microsoft.com/office/powerpoint/2010/main" val="290173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D3588-3926-A377-8C7F-089F73F5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7D4B-6317-689A-B856-8FB84ABC3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Dynamics of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0A27B-34E9-DDDC-C687-BBFE90C4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9463A-5E5A-83B2-083F-1432738812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FF4E7-0105-5073-4AB6-FDD9E8F0F9A6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1294474-DD4F-2C27-CEA4-59C7AE19A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78" y="2160579"/>
            <a:ext cx="2505609" cy="297573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CDBB93A-2805-1901-0F27-585491D04709}"/>
              </a:ext>
            </a:extLst>
          </p:cNvPr>
          <p:cNvSpPr txBox="1"/>
          <p:nvPr/>
        </p:nvSpPr>
        <p:spPr>
          <a:xfrm>
            <a:off x="759278" y="5366170"/>
            <a:ext cx="3762248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      : Blue dashed line</a:t>
            </a:r>
          </a:p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            : Green solid line</a:t>
            </a:r>
          </a:p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Data distribution : black dotted line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7A71A-8B64-4C10-A70B-18582536D93C}"/>
              </a:ext>
            </a:extLst>
          </p:cNvPr>
          <p:cNvSpPr txBox="1"/>
          <p:nvPr/>
        </p:nvSpPr>
        <p:spPr>
          <a:xfrm>
            <a:off x="3098307" y="4339068"/>
            <a:ext cx="4368183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Transformation from distribution p(z) </a:t>
            </a:r>
          </a:p>
        </p:txBody>
      </p:sp>
    </p:spTree>
    <p:extLst>
      <p:ext uri="{BB962C8B-B14F-4D97-AF65-F5344CB8AC3E}">
        <p14:creationId xmlns:p14="http://schemas.microsoft.com/office/powerpoint/2010/main" val="210453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9FAE-F717-EC84-FBAB-ABC7DA593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8128-3697-0786-3EEA-B5F50B70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Dynamics of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95A2-2FB0-6B32-C6D4-4B3A68D9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3124D-B9BF-0D6E-AC00-CC8190EE0A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7187C-4024-4446-F019-A32719C7E8BD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0FD7FBC-C2D0-40D7-C10D-40BCE0AFF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78" y="2160579"/>
            <a:ext cx="2505609" cy="297573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46BA8E3-8B02-BEED-1CF4-CA502CE6B7D1}"/>
              </a:ext>
            </a:extLst>
          </p:cNvPr>
          <p:cNvSpPr txBox="1"/>
          <p:nvPr/>
        </p:nvSpPr>
        <p:spPr>
          <a:xfrm>
            <a:off x="759278" y="5366170"/>
            <a:ext cx="3762248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      : Blue dashed line</a:t>
            </a:r>
          </a:p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            : Green solid line</a:t>
            </a:r>
          </a:p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Data distribution : black dotted line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7CF122-FE35-C75A-A6A7-85988162D040}"/>
                  </a:ext>
                </a:extLst>
              </p:cNvPr>
              <p:cNvSpPr txBox="1"/>
              <p:nvPr/>
            </p:nvSpPr>
            <p:spPr>
              <a:xfrm>
                <a:off x="3657600" y="2458400"/>
                <a:ext cx="3745897" cy="425053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At first,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is different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𝑑𝑎𝑡𝑎</m:t>
                        </m:r>
                      </m:sub>
                    </m:sSub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7CF122-FE35-C75A-A6A7-85988162D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458400"/>
                <a:ext cx="3745897" cy="425053"/>
              </a:xfrm>
              <a:prstGeom prst="rect">
                <a:avLst/>
              </a:prstGeom>
              <a:blipFill>
                <a:blip r:embed="rId6"/>
                <a:stretch>
                  <a:fillRect l="-4068" t="-5714" r="-5085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589AECC-39AA-E6F0-E8A6-58FBC927E6B4}"/>
              </a:ext>
            </a:extLst>
          </p:cNvPr>
          <p:cNvSpPr txBox="1"/>
          <p:nvPr/>
        </p:nvSpPr>
        <p:spPr>
          <a:xfrm>
            <a:off x="3098307" y="4339068"/>
            <a:ext cx="4368183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Transformation from distribution p(z)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9A8CF2-8027-4B67-414D-1BFE5CAA6AA9}"/>
              </a:ext>
            </a:extLst>
          </p:cNvPr>
          <p:cNvCxnSpPr/>
          <p:nvPr/>
        </p:nvCxnSpPr>
        <p:spPr>
          <a:xfrm flipH="1">
            <a:off x="2831977" y="2689934"/>
            <a:ext cx="656947" cy="739066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58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29773-4A80-3BD7-2FF9-A1B46E82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B80A-C0D9-4E0A-8E27-D95A2554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Dynamics of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56984-128F-830F-FA25-7AA0F7B9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F5596-C5DC-CE00-9624-E11A406558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20D5B-D553-08EA-9FA9-9FB48CEAC24A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9614660-BC9E-EDE6-31C1-D6320C656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78" y="2160579"/>
            <a:ext cx="2505609" cy="297573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43B2A7A-8328-DC37-BB14-165676B4B2AD}"/>
              </a:ext>
            </a:extLst>
          </p:cNvPr>
          <p:cNvSpPr txBox="1"/>
          <p:nvPr/>
        </p:nvSpPr>
        <p:spPr>
          <a:xfrm>
            <a:off x="759278" y="5366170"/>
            <a:ext cx="3762248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Discriminator       : Blue dashed line</a:t>
            </a:r>
          </a:p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Generator             : Green solid line</a:t>
            </a:r>
          </a:p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Data distribution : black dotted line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74C9B76-7932-A266-663D-638A18608784}"/>
                  </a:ext>
                </a:extLst>
              </p:cNvPr>
              <p:cNvSpPr txBox="1"/>
              <p:nvPr/>
            </p:nvSpPr>
            <p:spPr>
              <a:xfrm>
                <a:off x="3657600" y="2458400"/>
                <a:ext cx="6471323" cy="732829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At first,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is different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𝑑𝑎𝑡𝑎</m:t>
                        </m:r>
                      </m:sub>
                    </m:sSub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Discriminator can easily distinguish generated samples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74C9B76-7932-A266-663D-638A18608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458400"/>
                <a:ext cx="6471323" cy="732829"/>
              </a:xfrm>
              <a:prstGeom prst="rect">
                <a:avLst/>
              </a:prstGeom>
              <a:blipFill>
                <a:blip r:embed="rId6"/>
                <a:stretch>
                  <a:fillRect l="-2353" t="-3390" r="-2353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8DAD212-DB80-9721-EFA2-621509C5298C}"/>
              </a:ext>
            </a:extLst>
          </p:cNvPr>
          <p:cNvSpPr txBox="1"/>
          <p:nvPr/>
        </p:nvSpPr>
        <p:spPr>
          <a:xfrm>
            <a:off x="3098307" y="4339068"/>
            <a:ext cx="4368183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Transformation from distribution p(z)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FA723AF-5581-DCE8-29E2-2CC0F8D284BF}"/>
              </a:ext>
            </a:extLst>
          </p:cNvPr>
          <p:cNvCxnSpPr>
            <a:cxnSpLocks/>
          </p:cNvCxnSpPr>
          <p:nvPr/>
        </p:nvCxnSpPr>
        <p:spPr>
          <a:xfrm flipH="1">
            <a:off x="2805344" y="2982897"/>
            <a:ext cx="790112" cy="807868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12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6AA83-42B3-7310-CF2B-C5216F1EF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75A9-65F1-7EAB-ED71-8319CB7C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Dynamics of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63C7C-10D2-81C5-47E2-F66C8ABA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5B7C10-FA7D-B9E1-1176-271B336A40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945EF-1C9B-EC57-EA74-F5CF01027F03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C066D50-A863-EE5C-4807-B17C81EB4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78" y="2160579"/>
            <a:ext cx="2505609" cy="29757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FB32CFB-8C58-8EDF-45AF-89A83F870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889" y="2160581"/>
            <a:ext cx="2505609" cy="29757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44BBAF-E7C7-9641-B0FC-A63879436CCE}"/>
                  </a:ext>
                </a:extLst>
              </p:cNvPr>
              <p:cNvSpPr txBox="1"/>
              <p:nvPr/>
            </p:nvSpPr>
            <p:spPr>
              <a:xfrm>
                <a:off x="6204500" y="2835397"/>
                <a:ext cx="4946162" cy="425053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is trained to map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to resemble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𝑑𝑎𝑡𝑎</m:t>
                        </m:r>
                      </m:sub>
                    </m:sSub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44BBAF-E7C7-9641-B0FC-A63879436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500" y="2835397"/>
                <a:ext cx="4946162" cy="425053"/>
              </a:xfrm>
              <a:prstGeom prst="rect">
                <a:avLst/>
              </a:prstGeom>
              <a:blipFill>
                <a:blip r:embed="rId7"/>
                <a:stretch>
                  <a:fillRect l="-1795" t="-8824" r="-3590" b="-2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96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8BE40-9993-7E42-FBAF-23C9C7E4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D1F4-2798-43E9-A731-E6A9E756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Dynamics of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CBD9C-B0AC-A42C-973D-2663E37F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DC76F-FDC6-8436-DA6C-DB6881BD26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B1802-A86D-8364-4C28-3B64C7436D4A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90E2833-48D2-1020-B7B0-DD569F2B6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78" y="2160579"/>
            <a:ext cx="2505609" cy="29757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51C7AB-D7D8-28D0-2E31-74C142062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889" y="2160581"/>
            <a:ext cx="2505609" cy="297573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D0C0DB9-1A04-0C4B-90C0-748E34607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500" y="2160581"/>
            <a:ext cx="2505609" cy="297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8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7A3BD-9B06-4B74-2A55-0992D1FAF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8A77-C3D1-3FB1-F5AC-B534966D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Dynamics of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B139B-2319-B864-62B5-D0A986FB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D2CB6-43A8-B440-C234-29B4D8963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E1B87-E739-98E9-D382-2280D81AC7F8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9E73277-C507-EF05-C4EA-A31F36A48CB9}"/>
              </a:ext>
            </a:extLst>
          </p:cNvPr>
          <p:cNvGrpSpPr/>
          <p:nvPr/>
        </p:nvGrpSpPr>
        <p:grpSpPr>
          <a:xfrm>
            <a:off x="759278" y="2160579"/>
            <a:ext cx="10673443" cy="2975736"/>
            <a:chOff x="609600" y="2228312"/>
            <a:chExt cx="10673443" cy="2975736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4D24BA4-EAB5-077B-4B5B-52290D99E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2228312"/>
              <a:ext cx="2505609" cy="297573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AC7C2A2-7A8E-7FEF-244D-9B8D44103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2211" y="2228314"/>
              <a:ext cx="2505609" cy="297573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1354799-9604-3F19-A945-D7926F097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54822" y="2228314"/>
              <a:ext cx="2505609" cy="297573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2990037-3A94-4BD4-3484-77568DDA0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77433" y="2228312"/>
              <a:ext cx="2505610" cy="297573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7524BB-85A2-F482-4C9F-C8045A3BF1CB}"/>
                  </a:ext>
                </a:extLst>
              </p:cNvPr>
              <p:cNvSpPr txBox="1"/>
              <p:nvPr/>
            </p:nvSpPr>
            <p:spPr>
              <a:xfrm>
                <a:off x="5987498" y="5396568"/>
                <a:ext cx="5066259" cy="425053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Finally,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𝐷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cannot discriminate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</a:t>
                </a:r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7524BB-85A2-F482-4C9F-C8045A3BF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498" y="5396568"/>
                <a:ext cx="5066259" cy="425053"/>
              </a:xfrm>
              <a:prstGeom prst="rect">
                <a:avLst/>
              </a:prstGeom>
              <a:blipFill>
                <a:blip r:embed="rId9"/>
                <a:stretch>
                  <a:fillRect l="-3000" t="-5714" r="-3250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25BDBF-0CAB-4CF0-65DA-BC5D6CB4BC1A}"/>
              </a:ext>
            </a:extLst>
          </p:cNvPr>
          <p:cNvCxnSpPr>
            <a:cxnSpLocks/>
          </p:cNvCxnSpPr>
          <p:nvPr/>
        </p:nvCxnSpPr>
        <p:spPr>
          <a:xfrm flipV="1">
            <a:off x="8202967" y="3542190"/>
            <a:ext cx="1464816" cy="1775534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74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EAD8D-CB18-C5A4-932A-BB61616B7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B04A-279F-022E-62D4-E6DA968A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Dynamics of 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2F127-1D13-5E61-502B-6CC0A554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B2A81-E01A-B6DE-DCF3-110229E1BF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589C4-6DC2-93C8-3E6E-4FC866198080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1C90819-6399-493B-C32B-5912F53DA786}"/>
              </a:ext>
            </a:extLst>
          </p:cNvPr>
          <p:cNvGrpSpPr/>
          <p:nvPr/>
        </p:nvGrpSpPr>
        <p:grpSpPr>
          <a:xfrm>
            <a:off x="759278" y="2160579"/>
            <a:ext cx="10673443" cy="2975736"/>
            <a:chOff x="609600" y="2228312"/>
            <a:chExt cx="10673443" cy="2975736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414F0F3-4172-2F9C-BA0D-E92E522EF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2228312"/>
              <a:ext cx="2505609" cy="297573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8E7D37B-8CB6-0EC5-7089-16A5CBD68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2211" y="2228314"/>
              <a:ext cx="2505609" cy="297573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7C900F4-002A-F14F-6AF9-D326D1BD3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54822" y="2228314"/>
              <a:ext cx="2505609" cy="297573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4EE3372-D84E-A35B-7792-2346072CB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77433" y="2228312"/>
              <a:ext cx="2505610" cy="297573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732390-C567-EB24-F6E5-A7C8096E6A77}"/>
                  </a:ext>
                </a:extLst>
              </p:cNvPr>
              <p:cNvSpPr txBox="1"/>
              <p:nvPr/>
            </p:nvSpPr>
            <p:spPr>
              <a:xfrm>
                <a:off x="5987498" y="5396568"/>
                <a:ext cx="5066259" cy="95346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Finally,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𝐷</m:t>
                    </m:r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cannot discriminate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</a:t>
                </a:r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r>
                  <a:rPr lang="en-US" sz="20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converging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𝐷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𝑑𝑎𝑡𝑎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𝑑𝑎𝑡𝑎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𝑔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732390-C567-EB24-F6E5-A7C8096E6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498" y="5396568"/>
                <a:ext cx="5066259" cy="953466"/>
              </a:xfrm>
              <a:prstGeom prst="rect">
                <a:avLst/>
              </a:prstGeom>
              <a:blipFill>
                <a:blip r:embed="rId9"/>
                <a:stretch>
                  <a:fillRect l="-3000" t="-2597" r="-3250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0BF2FD-84AD-A4C5-B1ED-B9C8656DF914}"/>
              </a:ext>
            </a:extLst>
          </p:cNvPr>
          <p:cNvCxnSpPr>
            <a:cxnSpLocks/>
          </p:cNvCxnSpPr>
          <p:nvPr/>
        </p:nvCxnSpPr>
        <p:spPr>
          <a:xfrm flipV="1">
            <a:off x="8202967" y="3542190"/>
            <a:ext cx="1464816" cy="1775534"/>
          </a:xfrm>
          <a:prstGeom prst="straightConnector1">
            <a:avLst/>
          </a:prstGeom>
          <a:ln w="38100" cap="sq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5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DC27C-45A2-CC5D-9898-824E04DC3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7B02-F586-AE67-BBE6-27108E31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Generated Samples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11EE4-2428-7804-1705-9107D4F7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6D568-5B60-209C-F46A-BD9AA045F2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7E7DED-0615-BA76-21E0-DDED5DD6CBEC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pic>
        <p:nvPicPr>
          <p:cNvPr id="17" name="Picture 16" descr="A screenshot of numbers&#10;&#10;AI-generated content may be incorrect.">
            <a:extLst>
              <a:ext uri="{FF2B5EF4-FFF2-40B4-BE49-F238E27FC236}">
                <a16:creationId xmlns:a16="http://schemas.microsoft.com/office/drawing/2014/main" id="{478F3F7F-770A-568E-F319-D2640E9A0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814" y="2198109"/>
            <a:ext cx="3901016" cy="2626427"/>
          </a:xfrm>
          <a:prstGeom prst="rect">
            <a:avLst/>
          </a:prstGeom>
        </p:spPr>
      </p:pic>
      <p:pic>
        <p:nvPicPr>
          <p:cNvPr id="19" name="Picture 18" descr="A collage of different faces&#10;&#10;AI-generated content may be incorrect.">
            <a:extLst>
              <a:ext uri="{FF2B5EF4-FFF2-40B4-BE49-F238E27FC236}">
                <a16:creationId xmlns:a16="http://schemas.microsoft.com/office/drawing/2014/main" id="{566978E2-5615-5C81-CC46-8AE3E5A14D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402" y="2198109"/>
            <a:ext cx="3915323" cy="26264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9C54F1-4D33-F81D-FE6C-97A750AAD5B9}"/>
              </a:ext>
            </a:extLst>
          </p:cNvPr>
          <p:cNvSpPr txBox="1"/>
          <p:nvPr/>
        </p:nvSpPr>
        <p:spPr>
          <a:xfrm>
            <a:off x="2313830" y="4824536"/>
            <a:ext cx="223298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MNIST Digits Dataset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1F466-2518-90C6-3D24-37E8C4498136}"/>
              </a:ext>
            </a:extLst>
          </p:cNvPr>
          <p:cNvSpPr txBox="1"/>
          <p:nvPr/>
        </p:nvSpPr>
        <p:spPr>
          <a:xfrm>
            <a:off x="7247444" y="4824536"/>
            <a:ext cx="236923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Toronto Faces Dataset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F203E1-9635-F8E8-C7A3-9B0D5F5763E5}"/>
              </a:ext>
            </a:extLst>
          </p:cNvPr>
          <p:cNvSpPr txBox="1"/>
          <p:nvPr/>
        </p:nvSpPr>
        <p:spPr>
          <a:xfrm>
            <a:off x="894291" y="5857908"/>
            <a:ext cx="578523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Rightmost column shows the nearest training example</a:t>
            </a:r>
          </a:p>
        </p:txBody>
      </p:sp>
    </p:spTree>
    <p:extLst>
      <p:ext uri="{BB962C8B-B14F-4D97-AF65-F5344CB8AC3E}">
        <p14:creationId xmlns:p14="http://schemas.microsoft.com/office/powerpoint/2010/main" val="860243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1C4DC-E8E8-2EB2-E3EF-C783D50C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BF730-178C-E163-C7A9-B7D5A197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Interpolating Latent Variables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079FBE9-CF13-3A3C-D06B-88069990C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24732"/>
          </a:xfrm>
        </p:spPr>
        <p:txBody>
          <a:bodyPr/>
          <a:lstStyle/>
          <a:p>
            <a:r>
              <a:rPr lang="en-US" dirty="0"/>
              <a:t>Interpolating z visualizes transitions in high-level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CD505-377E-9BA3-7548-600844DB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6A2D1-BBF4-9DF3-FB8E-BE5D76EE76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4415E-5EFA-0C86-6F00-6E660BD3E67E}"/>
              </a:ext>
            </a:extLst>
          </p:cNvPr>
          <p:cNvSpPr txBox="1"/>
          <p:nvPr/>
        </p:nvSpPr>
        <p:spPr>
          <a:xfrm>
            <a:off x="93591" y="6596572"/>
            <a:ext cx="369331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Goodfellow, Ian J., et al. "Generative adversarial nets." NIPS 2014.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E4B807-C489-58C6-2414-41BEA4E0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093" y="4140406"/>
            <a:ext cx="6217814" cy="707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AFD094-46C0-3EAB-BB11-D5DABE142D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093" y="2698728"/>
            <a:ext cx="6217814" cy="70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7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46EAF-6981-FE9C-6D15-B30B4E21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0BEAA-D6A1-5EC7-9874-01DF7F19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Interpolating Latent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A7021-7AB5-9D25-1511-297E3BC9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87375-1433-A0F6-D1E2-71736543CD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674100-8478-DD6D-2AE9-500C0ABE3CEF}"/>
              </a:ext>
            </a:extLst>
          </p:cNvPr>
          <p:cNvSpPr txBox="1"/>
          <p:nvPr/>
        </p:nvSpPr>
        <p:spPr>
          <a:xfrm>
            <a:off x="93591" y="6596572"/>
            <a:ext cx="524823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Brock et al., ”Large Scale GAN Training For High Fidelity Natural Image Synthesis." ICLR 2019.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57B104-C530-284A-1672-B4BF519A8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429" y="1449932"/>
            <a:ext cx="6441141" cy="495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6D1B-A871-7E19-C1E6-9C30A4BC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A1FD0-E4CC-73C9-AF12-70A42D67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Resolution Image Generation </a:t>
            </a:r>
          </a:p>
        </p:txBody>
      </p:sp>
      <p:pic>
        <p:nvPicPr>
          <p:cNvPr id="9" name="Content Placeholder 8" descr="A collage of a group of people&#10;&#10;AI-generated content may be incorrect.">
            <a:extLst>
              <a:ext uri="{FF2B5EF4-FFF2-40B4-BE49-F238E27FC236}">
                <a16:creationId xmlns:a16="http://schemas.microsoft.com/office/drawing/2014/main" id="{311057F1-3122-80B1-0A32-6B634CDEC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907" y="1449932"/>
            <a:ext cx="3752185" cy="50029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0420A-8DDF-A9A7-B98F-D0C1742B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2302B-ACBB-62B7-04D5-EFD8D2FF3C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67A64-21C4-525D-776A-27E16615B221}"/>
              </a:ext>
            </a:extLst>
          </p:cNvPr>
          <p:cNvSpPr txBox="1"/>
          <p:nvPr/>
        </p:nvSpPr>
        <p:spPr>
          <a:xfrm>
            <a:off x="93591" y="6596572"/>
            <a:ext cx="583012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Karrase</a:t>
            </a:r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et al. ” A Style-Based Generator Architecture for Generative Adversarial Networks." CVPR 2019.</a:t>
            </a:r>
          </a:p>
        </p:txBody>
      </p:sp>
    </p:spTree>
    <p:extLst>
      <p:ext uri="{BB962C8B-B14F-4D97-AF65-F5344CB8AC3E}">
        <p14:creationId xmlns:p14="http://schemas.microsoft.com/office/powerpoint/2010/main" val="172513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1933C-307D-B4BE-8944-84296211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Transfer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33989-3AAD-D3FD-A23C-28F519EF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67606C-6BB7-0CE1-1013-DF102D6D37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E6214D-DBBD-6BA6-2CE7-44842299E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314" y="1367069"/>
            <a:ext cx="4485372" cy="51647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A64AA7-65B6-55AA-50DD-CA798B0EA4C0}"/>
              </a:ext>
            </a:extLst>
          </p:cNvPr>
          <p:cNvSpPr txBox="1"/>
          <p:nvPr/>
        </p:nvSpPr>
        <p:spPr>
          <a:xfrm>
            <a:off x="93591" y="6596572"/>
            <a:ext cx="5830122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Karrase</a:t>
            </a:r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et al. ” A Style-Based Generator Architecture for Generative Adversarial Networks." CVPR 2019.</a:t>
            </a:r>
          </a:p>
        </p:txBody>
      </p:sp>
    </p:spTree>
    <p:extLst>
      <p:ext uri="{BB962C8B-B14F-4D97-AF65-F5344CB8AC3E}">
        <p14:creationId xmlns:p14="http://schemas.microsoft.com/office/powerpoint/2010/main" val="225972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EAE9-7E1F-3A86-2888-2431F8DA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7C25-1306-F9B4-A49C-3C91E5A33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Transfer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A8ADB-9BF6-8AAC-4247-9D791F9E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831CE7-354F-6771-A1F7-DACF4476E3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2046F-87E4-FB26-6C18-78991ADAF3A2}"/>
              </a:ext>
            </a:extLst>
          </p:cNvPr>
          <p:cNvSpPr txBox="1"/>
          <p:nvPr/>
        </p:nvSpPr>
        <p:spPr>
          <a:xfrm>
            <a:off x="93591" y="6596572"/>
            <a:ext cx="608980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Zhu et al. ”Unpaired Image-to-Image Translation using Cycle-Consistent Adversarial Networks." CVPR 2019.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E7EF65-6C89-EA65-F0BF-5A3E4D573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209" y="1638380"/>
            <a:ext cx="9175581" cy="420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5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3D468-5A99-277F-3E99-134B2024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53333-B6BC-2C54-9EC4-AF03D1D7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FFEC2-ECDA-C3B8-93F4-7568A44D7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Generative Modeling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A51D06-A0E6-D142-0AA2-5D646C6829B8}"/>
              </a:ext>
            </a:extLst>
          </p:cNvPr>
          <p:cNvGrpSpPr>
            <a:grpSpLocks noChangeAspect="1"/>
          </p:cNvGrpSpPr>
          <p:nvPr/>
        </p:nvGrpSpPr>
        <p:grpSpPr>
          <a:xfrm>
            <a:off x="857672" y="1494215"/>
            <a:ext cx="10476655" cy="2116737"/>
            <a:chOff x="1195745" y="2402560"/>
            <a:chExt cx="10476655" cy="21167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F589F3B-A1B1-EE9E-4BE0-BC2F8EA278B7}"/>
                    </a:ext>
                  </a:extLst>
                </p:cNvPr>
                <p:cNvSpPr txBox="1"/>
                <p:nvPr/>
              </p:nvSpPr>
              <p:spPr>
                <a:xfrm>
                  <a:off x="1460001" y="4139292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F589F3B-A1B1-EE9E-4BE0-BC2F8EA27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39292"/>
                  <a:ext cx="83093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6667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410DD3-4A63-A169-9608-AA9A4C8F1829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8" name="Trapezoid 7">
                <a:extLst>
                  <a:ext uri="{FF2B5EF4-FFF2-40B4-BE49-F238E27FC236}">
                    <a16:creationId xmlns:a16="http://schemas.microsoft.com/office/drawing/2014/main" id="{A36CF087-0E27-1DFC-82C8-6CBE7474393B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A6FCFBD-95C9-32CE-BD70-C20574F6BEC7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" name="Picture 9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9600B627-2FB2-FF9F-7576-4A1925DD7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06EF827-AFCA-9AC8-543C-ED11235480F5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03D5AC5-B41F-DEF4-F7F5-4BD440F4ACC2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7EA459C-87F6-6D94-C066-1D7A9E2DD594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80A0E45-4C84-DF14-B55F-8D34D6F62E9D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7DF4B42-6B8F-730E-EC60-7DF3DD7ABE4D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BFED88F4-97CF-4906-8A7E-2BC3AF64D2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6918B33-AA66-9C90-5066-9876605603D6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6F06744-FACC-FB11-6939-45BC9920E313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6F06744-FACC-FB11-6939-45BC9920E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10"/>
                  <a:stretch>
                    <a:fillRect l="-3448" t="-2703" r="-6897" b="-81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60A8F3B0-7D8E-42F9-BF72-C7E22255337C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0D0CEF4-07D4-B180-0461-EF95C7EBF2B2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2E40096-40AE-8142-1BD5-F218974A817B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9F1FD94-B75B-A11A-2C0F-1F9B4A64C238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6ED366EF-C3FB-F193-4766-2B01119CBC82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51D721B-A173-CA36-1A3C-0974F8CF6E28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094F9F3-7180-644F-5C06-007AF5651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8AED802-9B06-96B8-E8ED-0BFB4CA14C83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CE5B64D-F6F9-0D13-6493-150D9CF48787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8E5B17B-72D0-6360-0B19-8FACAAA689EC}"/>
                    </a:ext>
                  </a:extLst>
                </p:cNvPr>
                <p:cNvSpPr txBox="1"/>
                <p:nvPr/>
              </p:nvSpPr>
              <p:spPr>
                <a:xfrm>
                  <a:off x="9263086" y="4149965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8E5B17B-72D0-6360-0B19-8FACAAA68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9965"/>
                  <a:ext cx="2409314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5759" t="-10000" r="-7853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55802B8-EAF1-3BE5-3A65-F74B63B29AA2}"/>
              </a:ext>
            </a:extLst>
          </p:cNvPr>
          <p:cNvGrpSpPr>
            <a:grpSpLocks noChangeAspect="1"/>
          </p:cNvGrpSpPr>
          <p:nvPr/>
        </p:nvGrpSpPr>
        <p:grpSpPr>
          <a:xfrm>
            <a:off x="857672" y="3805400"/>
            <a:ext cx="10702226" cy="2846744"/>
            <a:chOff x="609600" y="1630546"/>
            <a:chExt cx="10702226" cy="284674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42CD4B-C8B6-F26A-2EA5-441E83105872}"/>
                </a:ext>
              </a:extLst>
            </p:cNvPr>
            <p:cNvSpPr/>
            <p:nvPr/>
          </p:nvSpPr>
          <p:spPr>
            <a:xfrm>
              <a:off x="7858367" y="2495582"/>
              <a:ext cx="1546904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76421EE-6882-060A-0E4C-AE7738A511BC}"/>
                    </a:ext>
                  </a:extLst>
                </p:cNvPr>
                <p:cNvSpPr txBox="1"/>
                <p:nvPr/>
              </p:nvSpPr>
              <p:spPr>
                <a:xfrm>
                  <a:off x="7936115" y="2740609"/>
                  <a:ext cx="1391407" cy="672428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Discriminator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𝑑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76421EE-6882-060A-0E4C-AE7738A51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6115" y="2740609"/>
                  <a:ext cx="1391407" cy="672428"/>
                </a:xfrm>
                <a:prstGeom prst="rect">
                  <a:avLst/>
                </a:prstGeom>
                <a:blipFill>
                  <a:blip r:embed="rId14"/>
                  <a:stretch>
                    <a:fillRect l="-9910" t="-3636" r="-12613" b="-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888C6DB-1BFF-12E3-75C3-4EA770C9752D}"/>
                </a:ext>
              </a:extLst>
            </p:cNvPr>
            <p:cNvCxnSpPr>
              <a:cxnSpLocks/>
            </p:cNvCxnSpPr>
            <p:nvPr/>
          </p:nvCxnSpPr>
          <p:spPr>
            <a:xfrm>
              <a:off x="9517795" y="3002556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D878D0-88AD-5A45-4CE1-FC7AD62503C1}"/>
                </a:ext>
              </a:extLst>
            </p:cNvPr>
            <p:cNvSpPr txBox="1"/>
            <p:nvPr/>
          </p:nvSpPr>
          <p:spPr>
            <a:xfrm>
              <a:off x="10034232" y="2837740"/>
              <a:ext cx="1277594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Real or Fake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CAFBF72-47EA-508B-25C7-7C79F1100497}"/>
                </a:ext>
              </a:extLst>
            </p:cNvPr>
            <p:cNvGrpSpPr/>
            <p:nvPr/>
          </p:nvGrpSpPr>
          <p:grpSpPr>
            <a:xfrm>
              <a:off x="2208140" y="1840469"/>
              <a:ext cx="457200" cy="1053648"/>
              <a:chOff x="2530144" y="3862661"/>
              <a:chExt cx="457200" cy="105364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9A6751-B94A-1F70-FC8C-C713F444E984}"/>
                  </a:ext>
                </a:extLst>
              </p:cNvPr>
              <p:cNvSpPr/>
              <p:nvPr/>
            </p:nvSpPr>
            <p:spPr>
              <a:xfrm>
                <a:off x="2530144" y="3862661"/>
                <a:ext cx="457200" cy="105364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D6F54104-D80F-7350-A94C-0431B554C93B}"/>
                      </a:ext>
                    </a:extLst>
                  </p:cNvPr>
                  <p:cNvSpPr txBox="1"/>
                  <p:nvPr/>
                </p:nvSpPr>
                <p:spPr>
                  <a:xfrm>
                    <a:off x="2645586" y="4158783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D6F54104-D80F-7350-A94C-0431B554C9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5586" y="4158783"/>
                    <a:ext cx="247021" cy="46166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0000" t="-10811" r="-90000" b="-297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1990028-CE20-9A51-FF15-DF999C66A3A2}"/>
                </a:ext>
              </a:extLst>
            </p:cNvPr>
            <p:cNvCxnSpPr>
              <a:cxnSpLocks/>
            </p:cNvCxnSpPr>
            <p:nvPr/>
          </p:nvCxnSpPr>
          <p:spPr>
            <a:xfrm>
              <a:off x="2835889" y="2390422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BD2DDE7-AB4E-1883-F90D-7D57A5B7D585}"/>
                </a:ext>
              </a:extLst>
            </p:cNvPr>
            <p:cNvSpPr txBox="1"/>
            <p:nvPr/>
          </p:nvSpPr>
          <p:spPr>
            <a:xfrm>
              <a:off x="3724862" y="2582927"/>
              <a:ext cx="65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endPara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8EA671D-7AE4-80BF-EAD7-289B1DF1A858}"/>
                </a:ext>
              </a:extLst>
            </p:cNvPr>
            <p:cNvCxnSpPr>
              <a:cxnSpLocks/>
            </p:cNvCxnSpPr>
            <p:nvPr/>
          </p:nvCxnSpPr>
          <p:spPr>
            <a:xfrm>
              <a:off x="5158213" y="2422252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378C5BF-C995-1D16-B5E6-50D45E2BF31D}"/>
                </a:ext>
              </a:extLst>
            </p:cNvPr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709581" y="2053575"/>
              <a:ext cx="720000" cy="720000"/>
            </a:xfrm>
            <a:prstGeom prst="rect">
              <a:avLst/>
            </a:prstGeom>
          </p:spPr>
        </p:pic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3030645-3AFB-706A-7806-651E5632F903}"/>
                </a:ext>
              </a:extLst>
            </p:cNvPr>
            <p:cNvCxnSpPr>
              <a:cxnSpLocks/>
            </p:cNvCxnSpPr>
            <p:nvPr/>
          </p:nvCxnSpPr>
          <p:spPr>
            <a:xfrm>
              <a:off x="6845843" y="2361972"/>
              <a:ext cx="900000" cy="54000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AB08A1A-9EEB-7B37-A4B8-BB428C4FB474}"/>
                    </a:ext>
                  </a:extLst>
                </p:cNvPr>
                <p:cNvSpPr txBox="1"/>
                <p:nvPr/>
              </p:nvSpPr>
              <p:spPr>
                <a:xfrm>
                  <a:off x="3653212" y="2072577"/>
                  <a:ext cx="1061188" cy="699935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Generator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𝐺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𝑔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AB08A1A-9EEB-7B37-A4B8-BB428C4FB4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3212" y="2072577"/>
                  <a:ext cx="1061188" cy="699935"/>
                </a:xfrm>
                <a:prstGeom prst="rect">
                  <a:avLst/>
                </a:prstGeom>
                <a:blipFill>
                  <a:blip r:embed="rId17"/>
                  <a:stretch>
                    <a:fillRect l="-13095" t="-3571" r="-17857" b="-53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03641F8-35CB-C7E8-4A1E-A909FD9AB5BC}"/>
                </a:ext>
              </a:extLst>
            </p:cNvPr>
            <p:cNvSpPr/>
            <p:nvPr/>
          </p:nvSpPr>
          <p:spPr>
            <a:xfrm>
              <a:off x="3410354" y="1840469"/>
              <a:ext cx="1546904" cy="105364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7E1622D-FE76-DA7E-F23C-20DCFB55D2BF}"/>
                </a:ext>
              </a:extLst>
            </p:cNvPr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709581" y="3373270"/>
              <a:ext cx="720000" cy="721252"/>
            </a:xfrm>
            <a:prstGeom prst="rect">
              <a:avLst/>
            </a:prstGeom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93BF679-66AE-1176-7ADD-8B9AAF52E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5843" y="3177246"/>
              <a:ext cx="900000" cy="54000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157E94B-16E6-4CAF-97D8-18064FDF38A6}"/>
                </a:ext>
              </a:extLst>
            </p:cNvPr>
            <p:cNvSpPr txBox="1"/>
            <p:nvPr/>
          </p:nvSpPr>
          <p:spPr>
            <a:xfrm>
              <a:off x="3550620" y="3549230"/>
              <a:ext cx="1253548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Training Set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FACA463-B91A-EB7F-83E8-6B1075AA1490}"/>
                </a:ext>
              </a:extLst>
            </p:cNvPr>
            <p:cNvCxnSpPr>
              <a:cxnSpLocks/>
            </p:cNvCxnSpPr>
            <p:nvPr/>
          </p:nvCxnSpPr>
          <p:spPr>
            <a:xfrm>
              <a:off x="5158213" y="3733896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0B67C98-8EDB-5BBE-8C10-C24D24E98047}"/>
                    </a:ext>
                  </a:extLst>
                </p:cNvPr>
                <p:cNvSpPr txBox="1"/>
                <p:nvPr/>
              </p:nvSpPr>
              <p:spPr>
                <a:xfrm>
                  <a:off x="609600" y="2090410"/>
                  <a:ext cx="1485984" cy="646331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Random noise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~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(0,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I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0B67C98-8EDB-5BBE-8C10-C24D24E980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" y="2090410"/>
                  <a:ext cx="1485984" cy="646331"/>
                </a:xfrm>
                <a:prstGeom prst="rect">
                  <a:avLst/>
                </a:prstGeom>
                <a:blipFill>
                  <a:blip r:embed="rId19"/>
                  <a:stretch>
                    <a:fillRect l="-9322" t="-5882" r="-12712" b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B33F7AA-A13F-B423-8121-7EBD94205967}"/>
                </a:ext>
              </a:extLst>
            </p:cNvPr>
            <p:cNvSpPr txBox="1"/>
            <p:nvPr/>
          </p:nvSpPr>
          <p:spPr>
            <a:xfrm>
              <a:off x="5506099" y="1630546"/>
              <a:ext cx="1373774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Fake Images 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6E229C8-F6FF-C20F-3F5E-2E1DC3DC4334}"/>
                </a:ext>
              </a:extLst>
            </p:cNvPr>
            <p:cNvSpPr txBox="1"/>
            <p:nvPr/>
          </p:nvSpPr>
          <p:spPr>
            <a:xfrm>
              <a:off x="5382694" y="4107958"/>
              <a:ext cx="1322478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Real Images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038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00C5F-E017-A6D4-4140-946102AEF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5B7A6-500A-A030-18D1-43CE83FF0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3520964"/>
          </a:xfrm>
        </p:spPr>
        <p:txBody>
          <a:bodyPr/>
          <a:lstStyle/>
          <a:p>
            <a:r>
              <a:rPr lang="en-US" dirty="0"/>
              <a:t>Stanford cs231n Deep Learning for Computer Vision (</a:t>
            </a:r>
            <a:r>
              <a:rPr lang="en-US" dirty="0" err="1"/>
              <a:t>Feifei</a:t>
            </a:r>
            <a:r>
              <a:rPr lang="en-US" dirty="0"/>
              <a:t> Li et al.)</a:t>
            </a:r>
          </a:p>
          <a:p>
            <a:pPr lvl="1"/>
            <a:r>
              <a:rPr lang="en-US" dirty="0">
                <a:hlinkClick r:id="rId3"/>
              </a:rPr>
              <a:t>https://cs231n.stanford.edu/</a:t>
            </a:r>
            <a:endParaRPr lang="en-US" dirty="0"/>
          </a:p>
          <a:p>
            <a:r>
              <a:rPr lang="en-US" dirty="0"/>
              <a:t>Stanford cs236 Deep Generative Models (Stefano Ermon et al.)</a:t>
            </a:r>
          </a:p>
          <a:p>
            <a:pPr lvl="1"/>
            <a:r>
              <a:rPr lang="en-US" dirty="0">
                <a:hlinkClick r:id="rId4"/>
              </a:rPr>
              <a:t>https://deepgenerativemodels.github.io/</a:t>
            </a:r>
            <a:r>
              <a:rPr lang="en-US" dirty="0"/>
              <a:t> </a:t>
            </a:r>
          </a:p>
          <a:p>
            <a:r>
              <a:rPr lang="en-US" dirty="0"/>
              <a:t>Princeton COS597C Advanced Methods in Probabilistic Modeling, Variational Inference Lecture Note (David M. Blei)</a:t>
            </a:r>
          </a:p>
          <a:p>
            <a:pPr lvl="1"/>
            <a:r>
              <a:rPr lang="en-US" dirty="0">
                <a:hlinkClick r:id="rId5"/>
              </a:rPr>
              <a:t>https://www.cs.princeton.edu/courses/archive/fall11/cos597C/lectures/variational-inference-i.pdf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DD635-B22B-C4A1-DF05-4B49FE6D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80575-19C6-690D-E085-774B32895E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289" y="326168"/>
            <a:ext cx="10972800" cy="230832"/>
          </a:xfrm>
        </p:spPr>
        <p:txBody>
          <a:bodyPr/>
          <a:lstStyle/>
          <a:p>
            <a:r>
              <a:rPr lang="en-US" dirty="0"/>
              <a:t>Generative Modeling</a:t>
            </a:r>
          </a:p>
        </p:txBody>
      </p:sp>
    </p:spTree>
    <p:extLst>
      <p:ext uri="{BB962C8B-B14F-4D97-AF65-F5344CB8AC3E}">
        <p14:creationId xmlns:p14="http://schemas.microsoft.com/office/powerpoint/2010/main" val="295141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B4981B-A76D-0E2C-074D-FDD859975E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Jihwan Hong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3FE5C2F-CC4B-69D5-6C7D-8A76A017BB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9125" y="3990975"/>
            <a:ext cx="3490420" cy="834074"/>
          </a:xfrm>
        </p:spPr>
        <p:txBody>
          <a:bodyPr/>
          <a:lstStyle/>
          <a:p>
            <a:r>
              <a:rPr lang="en-US" dirty="0"/>
              <a:t>AIDAS Lab</a:t>
            </a:r>
          </a:p>
          <a:p>
            <a:r>
              <a:rPr lang="en-US" dirty="0"/>
              <a:t>Seoul National University</a:t>
            </a:r>
          </a:p>
        </p:txBody>
      </p:sp>
      <p:pic>
        <p:nvPicPr>
          <p:cNvPr id="2" name="Picture 1" descr="정장 - 대학상징 - 대학소개 - 서울대학교">
            <a:extLst>
              <a:ext uri="{FF2B5EF4-FFF2-40B4-BE49-F238E27FC236}">
                <a16:creationId xmlns:a16="http://schemas.microsoft.com/office/drawing/2014/main" id="{702E2321-423B-71D8-EEC4-9AD6CA66F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A86F8B-64E3-1646-059B-B68DFC881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13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AWS">
      <a:majorFont>
        <a:latin typeface="Amazon Ember Display"/>
        <a:ea typeface="Noto Sans KR"/>
        <a:cs typeface=""/>
      </a:majorFont>
      <a:minorFont>
        <a:latin typeface="Amazon Ember Display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>
          <a:defRPr b="0" i="0" dirty="0" err="1" smtClean="0">
            <a:latin typeface="Pretendard Variable Medium" panose="02000003000000020004" pitchFamily="2" charset="-127"/>
            <a:ea typeface="Pretendard Variable Medium" panose="02000003000000020004" pitchFamily="2" charset="-127"/>
            <a:cs typeface="Pretendard Variable Medium" panose="02000003000000020004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53BDB8A2-CD6C-C749-ABDC-265FF8736D9E}" vid="{EC413510-C8E7-EA4E-AA82-7C61127BDA43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8B642EF64ED0F47B920132EBB4BA1B1" ma:contentTypeVersion="19" ma:contentTypeDescription="새 문서를 만듭니다." ma:contentTypeScope="" ma:versionID="80e348e2e4ab8159d9dc33ee247191d0">
  <xsd:schema xmlns:xsd="http://www.w3.org/2001/XMLSchema" xmlns:xs="http://www.w3.org/2001/XMLSchema" xmlns:p="http://schemas.microsoft.com/office/2006/metadata/properties" xmlns:ns2="bcb2b4a5-cb44-4291-9886-2edaa9e85bdf" xmlns:ns3="e88e242b-24fc-4e0f-9d1e-ff21a8f51232" targetNamespace="http://schemas.microsoft.com/office/2006/metadata/properties" ma:root="true" ma:fieldsID="bb43ea3dc43c3bf6afd2e4364d3117d0" ns2:_="" ns3:_="">
    <xsd:import namespace="bcb2b4a5-cb44-4291-9886-2edaa9e85bdf"/>
    <xsd:import namespace="e88e242b-24fc-4e0f-9d1e-ff21a8f512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_xbbf8__xb9ac__xbcf4__xae3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2b4a5-cb44-4291-9886-2edaa9e85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2641299d-3420-4534-9c49-27313639e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bbf8__xb9ac__xbcf4__xae30_" ma:index="25" nillable="true" ma:displayName="미리보기" ma:format="Thumbnail" ma:internalName="_xbbf8__xb9ac__xbcf4__xae30_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e242b-24fc-4e0f-9d1e-ff21a8f5123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0543c7f-4928-4de1-899e-5400b04075d5}" ma:internalName="TaxCatchAll" ma:showField="CatchAllData" ma:web="e88e242b-24fc-4e0f-9d1e-ff21a8f512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D3ED33-DD31-4F1F-A409-9876B920A0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b2b4a5-cb44-4291-9886-2edaa9e85bdf"/>
    <ds:schemaRef ds:uri="e88e242b-24fc-4e0f-9d1e-ff21a8f512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14D744-C26F-4649-A6D6-5DDDD270EE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Light</Template>
  <TotalTime>3392</TotalTime>
  <Words>6568</Words>
  <Application>Microsoft Macintosh PowerPoint</Application>
  <PresentationFormat>Widescreen</PresentationFormat>
  <Paragraphs>1420</Paragraphs>
  <Slides>147</Slides>
  <Notes>147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147</vt:i4>
      </vt:variant>
    </vt:vector>
  </HeadingPairs>
  <TitlesOfParts>
    <vt:vector size="159" baseType="lpstr">
      <vt:lpstr>Arial</vt:lpstr>
      <vt:lpstr>Pretendard SemiBold</vt:lpstr>
      <vt:lpstr>Pretendard</vt:lpstr>
      <vt:lpstr>Pretendard Medium</vt:lpstr>
      <vt:lpstr>Cambria Math</vt:lpstr>
      <vt:lpstr>Amazon Ember</vt:lpstr>
      <vt:lpstr>Pretendard Variable Medium</vt:lpstr>
      <vt:lpstr>Wingdings</vt:lpstr>
      <vt:lpstr>Pretendard Variable Light</vt:lpstr>
      <vt:lpstr>Amazon Ember Display</vt:lpstr>
      <vt:lpstr>Pretendard Variable Black</vt:lpstr>
      <vt:lpstr>AWS Confidential Light</vt:lpstr>
      <vt:lpstr>Week 2 – Generative Modeling I</vt:lpstr>
      <vt:lpstr>Generative Modeling</vt:lpstr>
      <vt:lpstr>Generative Models</vt:lpstr>
      <vt:lpstr>Generative Models</vt:lpstr>
      <vt:lpstr>Generative Models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Discriminative vs. Generative </vt:lpstr>
      <vt:lpstr>Deep Generative Models </vt:lpstr>
      <vt:lpstr>Deep Generative Models </vt:lpstr>
      <vt:lpstr>Deep Generative Models </vt:lpstr>
      <vt:lpstr>Deep Generative Models </vt:lpstr>
      <vt:lpstr>Deep Generative Models </vt:lpstr>
      <vt:lpstr>Deep Generative Models </vt:lpstr>
      <vt:lpstr>Autoregressive Models</vt:lpstr>
      <vt:lpstr>Maximum Likelihood Estimation </vt:lpstr>
      <vt:lpstr>Maximum Likelihood Estimation </vt:lpstr>
      <vt:lpstr>Maximum Likelihood Estimation </vt:lpstr>
      <vt:lpstr>Maximum Likelihood Estimation </vt:lpstr>
      <vt:lpstr>Maximum Likelihood Estimation </vt:lpstr>
      <vt:lpstr>Autoregressive Models</vt:lpstr>
      <vt:lpstr>Autoregressive Models</vt:lpstr>
      <vt:lpstr>Autoregressive Models</vt:lpstr>
      <vt:lpstr>Autoregressive Models</vt:lpstr>
      <vt:lpstr>PixelRNN</vt:lpstr>
      <vt:lpstr>PixelRNN</vt:lpstr>
      <vt:lpstr>PixelRNN</vt:lpstr>
      <vt:lpstr>PixelRNN</vt:lpstr>
      <vt:lpstr>PixelRNN </vt:lpstr>
      <vt:lpstr>PixelRNN </vt:lpstr>
      <vt:lpstr>PixelRNN </vt:lpstr>
      <vt:lpstr>PixelRNN </vt:lpstr>
      <vt:lpstr>PixelRNN </vt:lpstr>
      <vt:lpstr>PixelRNN </vt:lpstr>
      <vt:lpstr>PixelCNN </vt:lpstr>
      <vt:lpstr>PixelCNN </vt:lpstr>
      <vt:lpstr>PixelCNN </vt:lpstr>
      <vt:lpstr>PixelCNN </vt:lpstr>
      <vt:lpstr>PixelCNN </vt:lpstr>
      <vt:lpstr>PixelCNN </vt:lpstr>
      <vt:lpstr>PixelCNN </vt:lpstr>
      <vt:lpstr>PixelRNN Generated Samples </vt:lpstr>
      <vt:lpstr>PixelCNN Generated Samples </vt:lpstr>
      <vt:lpstr>Transformer-based Image Generation</vt:lpstr>
      <vt:lpstr>Transformer-based Image Generation</vt:lpstr>
      <vt:lpstr>Variational Autoencoder (VAE)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Variational Autoencoder</vt:lpstr>
      <vt:lpstr>VAE Generated Samples</vt:lpstr>
      <vt:lpstr>Latent space interpolation</vt:lpstr>
      <vt:lpstr>Generative Adversarial Networks (GANs)</vt:lpstr>
      <vt:lpstr>Generate without Explicit p(x)</vt:lpstr>
      <vt:lpstr>Generate without Explicit p(x)</vt:lpstr>
      <vt:lpstr>Generate without Explicit p(x)</vt:lpstr>
      <vt:lpstr>Generate without Explicit p(x)</vt:lpstr>
      <vt:lpstr>Generate without Explicit p(x)</vt:lpstr>
      <vt:lpstr>Training GANs</vt:lpstr>
      <vt:lpstr>Training GANs</vt:lpstr>
      <vt:lpstr>Training GANs</vt:lpstr>
      <vt:lpstr>Training GANs</vt:lpstr>
      <vt:lpstr>Training GANs</vt:lpstr>
      <vt:lpstr>Training GANs</vt:lpstr>
      <vt:lpstr>Minimax Game</vt:lpstr>
      <vt:lpstr>Minimax Game</vt:lpstr>
      <vt:lpstr>Minimax Game</vt:lpstr>
      <vt:lpstr>Minimax Game</vt:lpstr>
      <vt:lpstr>Minimax Game</vt:lpstr>
      <vt:lpstr>Minimax Game</vt:lpstr>
      <vt:lpstr>Minimax Game</vt:lpstr>
      <vt:lpstr>Minimax Game</vt:lpstr>
      <vt:lpstr>Minimax Game</vt:lpstr>
      <vt:lpstr>Minimax Game</vt:lpstr>
      <vt:lpstr>Training Dynamics of GANs</vt:lpstr>
      <vt:lpstr>Training Dynamics of GANs</vt:lpstr>
      <vt:lpstr>Training Dynamics of GANs</vt:lpstr>
      <vt:lpstr>Training Dynamics of GANs</vt:lpstr>
      <vt:lpstr>Training Dynamics of GANs</vt:lpstr>
      <vt:lpstr>Training Dynamics of GANs</vt:lpstr>
      <vt:lpstr>Training Dynamics of GANs</vt:lpstr>
      <vt:lpstr>Training Dynamics of GANs</vt:lpstr>
      <vt:lpstr>Generated Samples</vt:lpstr>
      <vt:lpstr>Interpolating Latent Variables</vt:lpstr>
      <vt:lpstr>Interpolating Latent Variables</vt:lpstr>
      <vt:lpstr>High Resolution Image Generation </vt:lpstr>
      <vt:lpstr>Style Transfer</vt:lpstr>
      <vt:lpstr>Style Transfer</vt:lpstr>
      <vt:lpstr>Summary</vt:lpstr>
      <vt:lpstr>Further 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Jihwan Hong</cp:lastModifiedBy>
  <cp:revision>51</cp:revision>
  <dcterms:created xsi:type="dcterms:W3CDTF">2023-03-29T00:28:06Z</dcterms:created>
  <dcterms:modified xsi:type="dcterms:W3CDTF">2025-10-10T01:53:56Z</dcterms:modified>
</cp:coreProperties>
</file>