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embedTrueTypeFonts="1">
  <p:sldMasterIdLst>
    <p:sldMasterId id="2147483648" r:id="rId3"/>
  </p:sldMasterIdLst>
  <p:notesMasterIdLst>
    <p:notesMasterId r:id="rId51"/>
  </p:notesMasterIdLst>
  <p:handoutMasterIdLst>
    <p:handoutMasterId r:id="rId52"/>
  </p:handoutMasterIdLst>
  <p:sldIdLst>
    <p:sldId id="328" r:id="rId4"/>
    <p:sldId id="363" r:id="rId5"/>
    <p:sldId id="364" r:id="rId6"/>
    <p:sldId id="367" r:id="rId7"/>
    <p:sldId id="365" r:id="rId8"/>
    <p:sldId id="366" r:id="rId9"/>
    <p:sldId id="411" r:id="rId10"/>
    <p:sldId id="368" r:id="rId11"/>
    <p:sldId id="369" r:id="rId12"/>
    <p:sldId id="371" r:id="rId13"/>
    <p:sldId id="373" r:id="rId14"/>
    <p:sldId id="374" r:id="rId15"/>
    <p:sldId id="387" r:id="rId16"/>
    <p:sldId id="408" r:id="rId17"/>
    <p:sldId id="376" r:id="rId18"/>
    <p:sldId id="378" r:id="rId19"/>
    <p:sldId id="372" r:id="rId20"/>
    <p:sldId id="379" r:id="rId21"/>
    <p:sldId id="380" r:id="rId22"/>
    <p:sldId id="381" r:id="rId23"/>
    <p:sldId id="385" r:id="rId24"/>
    <p:sldId id="404" r:id="rId25"/>
    <p:sldId id="407" r:id="rId26"/>
    <p:sldId id="406" r:id="rId27"/>
    <p:sldId id="405" r:id="rId28"/>
    <p:sldId id="409" r:id="rId29"/>
    <p:sldId id="382" r:id="rId30"/>
    <p:sldId id="384" r:id="rId31"/>
    <p:sldId id="389" r:id="rId32"/>
    <p:sldId id="383" r:id="rId33"/>
    <p:sldId id="390" r:id="rId34"/>
    <p:sldId id="394" r:id="rId35"/>
    <p:sldId id="396" r:id="rId36"/>
    <p:sldId id="403" r:id="rId37"/>
    <p:sldId id="395" r:id="rId38"/>
    <p:sldId id="397" r:id="rId39"/>
    <p:sldId id="398" r:id="rId40"/>
    <p:sldId id="399" r:id="rId41"/>
    <p:sldId id="400" r:id="rId42"/>
    <p:sldId id="401" r:id="rId43"/>
    <p:sldId id="402" r:id="rId44"/>
    <p:sldId id="412" r:id="rId45"/>
    <p:sldId id="413" r:id="rId46"/>
    <p:sldId id="415" r:id="rId47"/>
    <p:sldId id="414" r:id="rId48"/>
    <p:sldId id="410" r:id="rId49"/>
    <p:sldId id="362" r:id="rId50"/>
  </p:sldIdLst>
  <p:sldSz cx="12192000" cy="6858000"/>
  <p:notesSz cx="6858000" cy="9144000"/>
  <p:embeddedFontLst>
    <p:embeddedFont>
      <p:font typeface="Amazon Ember" panose="020B0603020204020204" pitchFamily="34" charset="0"/>
      <p:regular r:id="rId53"/>
      <p:bold r:id="rId54"/>
      <p:italic r:id="rId55"/>
      <p:boldItalic r:id="rId56"/>
    </p:embeddedFont>
    <p:embeddedFont>
      <p:font typeface="Cambria Math" panose="02040503050406030204" pitchFamily="18" charset="0"/>
      <p:regular r:id="rId57"/>
    </p:embeddedFont>
    <p:embeddedFont>
      <p:font typeface="Pretendard" panose="02000503000000020004" pitchFamily="2" charset="-127"/>
      <p:regular r:id="rId58"/>
      <p:bold r:id="rId59"/>
    </p:embeddedFont>
    <p:embeddedFont>
      <p:font typeface="Pretendard Light" panose="02000403000000020004" pitchFamily="2" charset="-127"/>
      <p:regular r:id="rId60"/>
    </p:embeddedFont>
    <p:embeddedFont>
      <p:font typeface="Pretendard Medium" panose="02000503000000020004" pitchFamily="2" charset="-127"/>
      <p:regular r:id="rId61"/>
    </p:embeddedFont>
    <p:embeddedFont>
      <p:font typeface="Pretendard SemiBold" panose="02000503000000020004" pitchFamily="2" charset="-127"/>
      <p:regular r:id="rId62"/>
      <p:bold r:id="rId63"/>
    </p:embeddedFont>
    <p:embeddedFont>
      <p:font typeface="Pretendard Variable Black" panose="02000503000000020004" pitchFamily="2" charset="-127"/>
      <p:bold r:id="rId64"/>
    </p:embeddedFont>
    <p:embeddedFont>
      <p:font typeface="Pretendard Variable Medium" panose="02000503000000020004" pitchFamily="2" charset="-127"/>
      <p:regular r:id="rId6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7CE8F4"/>
    <a:srgbClr val="232F3E"/>
    <a:srgbClr val="FFFFFF"/>
    <a:srgbClr val="1F2F3F"/>
    <a:srgbClr val="1FA682"/>
    <a:srgbClr val="FFEDCF"/>
    <a:srgbClr val="FF9900"/>
    <a:srgbClr val="31B0C9"/>
    <a:srgbClr val="FFBBC6"/>
    <a:srgbClr val="FEDC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8B6F2D5-AB82-7441-94F2-8009F7CD1CA4}" v="1184" dt="2025-08-27T04:23:12.857"/>
  </p1510:revLst>
</p1510:revInfo>
</file>

<file path=ppt/tableStyles.xml><?xml version="1.0" encoding="utf-8"?>
<a:tblStyleLst xmlns:a="http://schemas.openxmlformats.org/drawingml/2006/main" def="{912C8C85-51F0-491E-9774-3900AFEF0FD7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17292A2E-F333-43FB-9621-5CBBE7FDCDCB}" styleName="Light Style 2 -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5266"/>
    <p:restoredTop sz="94640"/>
  </p:normalViewPr>
  <p:slideViewPr>
    <p:cSldViewPr snapToGrid="0">
      <p:cViewPr varScale="1">
        <p:scale>
          <a:sx n="102" d="100"/>
          <a:sy n="102" d="100"/>
        </p:scale>
        <p:origin x="1512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3.xml"/><Relationship Id="rId21" Type="http://schemas.openxmlformats.org/officeDocument/2006/relationships/slide" Target="slides/slide18.xml"/><Relationship Id="rId42" Type="http://schemas.openxmlformats.org/officeDocument/2006/relationships/slide" Target="slides/slide39.xml"/><Relationship Id="rId47" Type="http://schemas.openxmlformats.org/officeDocument/2006/relationships/slide" Target="slides/slide44.xml"/><Relationship Id="rId63" Type="http://schemas.openxmlformats.org/officeDocument/2006/relationships/font" Target="fonts/font11.fntdata"/><Relationship Id="rId68" Type="http://schemas.openxmlformats.org/officeDocument/2006/relationships/theme" Target="theme/theme1.xml"/><Relationship Id="rId7" Type="http://schemas.openxmlformats.org/officeDocument/2006/relationships/slide" Target="slides/slide4.xml"/><Relationship Id="rId2" Type="http://schemas.openxmlformats.org/officeDocument/2006/relationships/customXml" Target="../customXml/item2.xml"/><Relationship Id="rId16" Type="http://schemas.openxmlformats.org/officeDocument/2006/relationships/slide" Target="slides/slide13.xml"/><Relationship Id="rId29" Type="http://schemas.openxmlformats.org/officeDocument/2006/relationships/slide" Target="slides/slide26.xml"/><Relationship Id="rId11" Type="http://schemas.openxmlformats.org/officeDocument/2006/relationships/slide" Target="slides/slide8.xml"/><Relationship Id="rId24" Type="http://schemas.openxmlformats.org/officeDocument/2006/relationships/slide" Target="slides/slide21.xml"/><Relationship Id="rId32" Type="http://schemas.openxmlformats.org/officeDocument/2006/relationships/slide" Target="slides/slide29.xml"/><Relationship Id="rId37" Type="http://schemas.openxmlformats.org/officeDocument/2006/relationships/slide" Target="slides/slide34.xml"/><Relationship Id="rId40" Type="http://schemas.openxmlformats.org/officeDocument/2006/relationships/slide" Target="slides/slide37.xml"/><Relationship Id="rId45" Type="http://schemas.openxmlformats.org/officeDocument/2006/relationships/slide" Target="slides/slide42.xml"/><Relationship Id="rId53" Type="http://schemas.openxmlformats.org/officeDocument/2006/relationships/font" Target="fonts/font1.fntdata"/><Relationship Id="rId58" Type="http://schemas.openxmlformats.org/officeDocument/2006/relationships/font" Target="fonts/font6.fntdata"/><Relationship Id="rId66" Type="http://schemas.openxmlformats.org/officeDocument/2006/relationships/presProps" Target="presProps.xml"/><Relationship Id="rId5" Type="http://schemas.openxmlformats.org/officeDocument/2006/relationships/slide" Target="slides/slide2.xml"/><Relationship Id="rId61" Type="http://schemas.openxmlformats.org/officeDocument/2006/relationships/font" Target="fonts/font9.fntdata"/><Relationship Id="rId19" Type="http://schemas.openxmlformats.org/officeDocument/2006/relationships/slide" Target="slides/slide16.xml"/><Relationship Id="rId14" Type="http://schemas.openxmlformats.org/officeDocument/2006/relationships/slide" Target="slides/slide11.xml"/><Relationship Id="rId22" Type="http://schemas.openxmlformats.org/officeDocument/2006/relationships/slide" Target="slides/slide19.xml"/><Relationship Id="rId27" Type="http://schemas.openxmlformats.org/officeDocument/2006/relationships/slide" Target="slides/slide24.xml"/><Relationship Id="rId30" Type="http://schemas.openxmlformats.org/officeDocument/2006/relationships/slide" Target="slides/slide27.xml"/><Relationship Id="rId35" Type="http://schemas.openxmlformats.org/officeDocument/2006/relationships/slide" Target="slides/slide32.xml"/><Relationship Id="rId43" Type="http://schemas.openxmlformats.org/officeDocument/2006/relationships/slide" Target="slides/slide40.xml"/><Relationship Id="rId48" Type="http://schemas.openxmlformats.org/officeDocument/2006/relationships/slide" Target="slides/slide45.xml"/><Relationship Id="rId56" Type="http://schemas.openxmlformats.org/officeDocument/2006/relationships/font" Target="fonts/font4.fntdata"/><Relationship Id="rId64" Type="http://schemas.openxmlformats.org/officeDocument/2006/relationships/font" Target="fonts/font12.fntdata"/><Relationship Id="rId69" Type="http://schemas.openxmlformats.org/officeDocument/2006/relationships/tableStyles" Target="tableStyles.xml"/><Relationship Id="rId8" Type="http://schemas.openxmlformats.org/officeDocument/2006/relationships/slide" Target="slides/slide5.xml"/><Relationship Id="rId51" Type="http://schemas.openxmlformats.org/officeDocument/2006/relationships/notesMaster" Target="notesMasters/notesMaster1.xml"/><Relationship Id="rId3" Type="http://schemas.openxmlformats.org/officeDocument/2006/relationships/slideMaster" Target="slideMasters/slideMaster1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slide" Target="slides/slide22.xml"/><Relationship Id="rId33" Type="http://schemas.openxmlformats.org/officeDocument/2006/relationships/slide" Target="slides/slide30.xml"/><Relationship Id="rId38" Type="http://schemas.openxmlformats.org/officeDocument/2006/relationships/slide" Target="slides/slide35.xml"/><Relationship Id="rId46" Type="http://schemas.openxmlformats.org/officeDocument/2006/relationships/slide" Target="slides/slide43.xml"/><Relationship Id="rId59" Type="http://schemas.openxmlformats.org/officeDocument/2006/relationships/font" Target="fonts/font7.fntdata"/><Relationship Id="rId67" Type="http://schemas.openxmlformats.org/officeDocument/2006/relationships/viewProps" Target="viewProps.xml"/><Relationship Id="rId20" Type="http://schemas.openxmlformats.org/officeDocument/2006/relationships/slide" Target="slides/slide17.xml"/><Relationship Id="rId41" Type="http://schemas.openxmlformats.org/officeDocument/2006/relationships/slide" Target="slides/slide38.xml"/><Relationship Id="rId54" Type="http://schemas.openxmlformats.org/officeDocument/2006/relationships/font" Target="fonts/font2.fntdata"/><Relationship Id="rId62" Type="http://schemas.openxmlformats.org/officeDocument/2006/relationships/font" Target="fonts/font10.fntdata"/><Relationship Id="rId70" Type="http://schemas.microsoft.com/office/2015/10/relationships/revisionInfo" Target="revisionInfo.xml"/><Relationship Id="rId1" Type="http://schemas.openxmlformats.org/officeDocument/2006/relationships/customXml" Target="../customXml/item1.xml"/><Relationship Id="rId6" Type="http://schemas.openxmlformats.org/officeDocument/2006/relationships/slide" Target="slides/slide3.xml"/><Relationship Id="rId15" Type="http://schemas.openxmlformats.org/officeDocument/2006/relationships/slide" Target="slides/slide12.xml"/><Relationship Id="rId23" Type="http://schemas.openxmlformats.org/officeDocument/2006/relationships/slide" Target="slides/slide20.xml"/><Relationship Id="rId28" Type="http://schemas.openxmlformats.org/officeDocument/2006/relationships/slide" Target="slides/slide25.xml"/><Relationship Id="rId36" Type="http://schemas.openxmlformats.org/officeDocument/2006/relationships/slide" Target="slides/slide33.xml"/><Relationship Id="rId49" Type="http://schemas.openxmlformats.org/officeDocument/2006/relationships/slide" Target="slides/slide46.xml"/><Relationship Id="rId57" Type="http://schemas.openxmlformats.org/officeDocument/2006/relationships/font" Target="fonts/font5.fntdata"/><Relationship Id="rId10" Type="http://schemas.openxmlformats.org/officeDocument/2006/relationships/slide" Target="slides/slide7.xml"/><Relationship Id="rId31" Type="http://schemas.openxmlformats.org/officeDocument/2006/relationships/slide" Target="slides/slide28.xml"/><Relationship Id="rId44" Type="http://schemas.openxmlformats.org/officeDocument/2006/relationships/slide" Target="slides/slide41.xml"/><Relationship Id="rId52" Type="http://schemas.openxmlformats.org/officeDocument/2006/relationships/handoutMaster" Target="handoutMasters/handoutMaster1.xml"/><Relationship Id="rId60" Type="http://schemas.openxmlformats.org/officeDocument/2006/relationships/font" Target="fonts/font8.fntdata"/><Relationship Id="rId65" Type="http://schemas.openxmlformats.org/officeDocument/2006/relationships/font" Target="fonts/font13.fntdata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39" Type="http://schemas.openxmlformats.org/officeDocument/2006/relationships/slide" Target="slides/slide36.xml"/><Relationship Id="rId34" Type="http://schemas.openxmlformats.org/officeDocument/2006/relationships/slide" Target="slides/slide31.xml"/><Relationship Id="rId50" Type="http://schemas.openxmlformats.org/officeDocument/2006/relationships/slide" Target="slides/slide47.xml"/><Relationship Id="rId55" Type="http://schemas.openxmlformats.org/officeDocument/2006/relationships/font" Target="fonts/font3.fntdata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D30B3F9-42E9-426B-B3D2-D6012D7491A2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194310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algn="ctr"/>
            <a:fld id="{C71F7584-9745-40DA-BD49-9A41A97B2D2E}" type="slidenum">
              <a:rPr lang="en-US" sz="1000" smtClean="0"/>
              <a:pPr algn="ctr"/>
              <a:t>‹#›</a:t>
            </a:fld>
            <a:endParaRPr lang="en-US" sz="1000"/>
          </a:p>
        </p:txBody>
      </p:sp>
    </p:spTree>
    <p:extLst>
      <p:ext uri="{BB962C8B-B14F-4D97-AF65-F5344CB8AC3E}">
        <p14:creationId xmlns:p14="http://schemas.microsoft.com/office/powerpoint/2010/main" val="129253005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38150" y="457200"/>
            <a:ext cx="5981700" cy="3364706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419100" y="4197679"/>
            <a:ext cx="6000750" cy="4328803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194310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1000"/>
            </a:lvl1pPr>
          </a:lstStyle>
          <a:p>
            <a:fld id="{A3D89E5F-BEEF-42A1-A57B-E5A736D5119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48719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spcAft>
        <a:spcPts val="30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225425" indent="-106363" algn="l" defTabSz="914400" rtl="0" eaLnBrk="1" latinLnBrk="0" hangingPunct="1">
      <a:spcAft>
        <a:spcPts val="300"/>
      </a:spcAft>
      <a:buFont typeface="Arial" panose="020B0604020202020204" pitchFamily="34" charset="0"/>
      <a:buChar char="•"/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463550" indent="-119063" algn="l" defTabSz="914400" rtl="0" eaLnBrk="1" latinLnBrk="0" hangingPunct="1">
      <a:spcAft>
        <a:spcPts val="300"/>
      </a:spcAft>
      <a:buFont typeface="Arial" panose="020B0604020202020204" pitchFamily="34" charset="0"/>
      <a:buChar char="•"/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747713" indent="-119063" algn="l" defTabSz="914400" rtl="0" eaLnBrk="1" latinLnBrk="0" hangingPunct="1">
      <a:spcAft>
        <a:spcPts val="300"/>
      </a:spcAft>
      <a:buFont typeface="Arial" panose="020B0604020202020204" pitchFamily="34" charset="0"/>
      <a:buChar char="•"/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973138" indent="-117475" algn="l" defTabSz="914400" rtl="0" eaLnBrk="1" latinLnBrk="0" hangingPunct="1">
      <a:spcAft>
        <a:spcPts val="300"/>
      </a:spcAft>
      <a:buFont typeface="Arial" panose="020B0604020202020204" pitchFamily="34" charset="0"/>
      <a:buChar char="•"/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  <p:extLst>
    <p:ext uri="{620B2872-D7B9-4A21-9093-7833F8D536E1}">
      <p15:sldGuideLst xmlns:p15="http://schemas.microsoft.com/office/powerpoint/2012/main">
        <p15:guide id="1" pos="2160" userDrawn="1">
          <p15:clr>
            <a:srgbClr val="F26B43"/>
          </p15:clr>
        </p15:guide>
        <p15:guide id="2" orient="horz" pos="2880" userDrawn="1">
          <p15:clr>
            <a:srgbClr val="F26B43"/>
          </p15:clr>
        </p15:guide>
        <p15:guide id="3" pos="264" userDrawn="1">
          <p15:clr>
            <a:srgbClr val="F26B43"/>
          </p15:clr>
        </p15:guide>
        <p15:guide id="4" pos="4056" userDrawn="1">
          <p15:clr>
            <a:srgbClr val="F26B43"/>
          </p15:clr>
        </p15:guide>
        <p15:guide id="5" orient="horz" pos="288" userDrawn="1">
          <p15:clr>
            <a:srgbClr val="F26B43"/>
          </p15:clr>
        </p15:guide>
        <p15:guide id="6" orient="horz" pos="2640" userDrawn="1">
          <p15:clr>
            <a:srgbClr val="F26B43"/>
          </p15:clr>
        </p15:guide>
      </p15:sldGuideLst>
    </p:ext>
  </p:extLst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K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D89E5F-BEEF-42A1-A57B-E5A736D51194}" type="slidenum">
              <a:rPr lang="en-US" smtClean="0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991603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38150" y="457200"/>
            <a:ext cx="5981700" cy="3363913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K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D89E5F-BEEF-42A1-A57B-E5A736D51194}" type="slidenum">
              <a:rPr lang="en-US" smtClean="0"/>
              <a:pPr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433396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CA5F2A-3E04-3AE9-8884-508117425D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7C0E62D-CA6F-6BD5-153D-F1B791655DC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438150" y="457200"/>
            <a:ext cx="5981700" cy="3363913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F3BBED9-EE33-1309-F4A0-D8FA1AA80D8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KR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1C37A80-0E3F-3EA4-ADD9-B8605FDFCA2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D89E5F-BEEF-42A1-A57B-E5A736D51194}" type="slidenum">
              <a:rPr lang="en-US" smtClean="0"/>
              <a:pPr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463349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2.wdp"/><Relationship Id="rId4" Type="http://schemas.openxmlformats.org/officeDocument/2006/relationships/image" Target="../media/image5.png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 Option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 2">
            <a:extLst>
              <a:ext uri="{FF2B5EF4-FFF2-40B4-BE49-F238E27FC236}">
                <a16:creationId xmlns:a16="http://schemas.microsoft.com/office/drawing/2014/main" id="{019D5990-0C54-831D-96A4-1627FE9FCB07}"/>
              </a:ext>
            </a:extLst>
          </p:cNvPr>
          <p:cNvSpPr/>
          <p:nvPr userDrawn="1"/>
        </p:nvSpPr>
        <p:spPr>
          <a:xfrm>
            <a:off x="0" y="15433"/>
            <a:ext cx="12192000" cy="6853633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9222" b="-9222"/>
            </a:stretch>
          </a:blipFill>
        </p:spPr>
        <p:txBody>
          <a:bodyPr/>
          <a:lstStyle/>
          <a:p>
            <a:endParaRPr lang="en-KR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EFDF3A4-5795-4C3E-A626-E8705501F605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09598" y="2126159"/>
            <a:ext cx="6460999" cy="757130"/>
          </a:xfrm>
        </p:spPr>
        <p:txBody>
          <a:bodyPr wrap="square" anchor="t" anchorCtr="0"/>
          <a:lstStyle>
            <a:lvl1pPr algn="l">
              <a:defRPr sz="4800" b="1" i="0">
                <a:solidFill>
                  <a:schemeClr val="tx1"/>
                </a:solidFill>
                <a:latin typeface="Pretendard SemiBold" panose="02000503000000020004" pitchFamily="2" charset="-127"/>
                <a:ea typeface="Pretendard SemiBold" panose="02000503000000020004" pitchFamily="2" charset="-127"/>
                <a:cs typeface="Pretendard SemiBold" panose="02000503000000020004" pitchFamily="2" charset="-127"/>
              </a:defRPr>
            </a:lvl1pPr>
          </a:lstStyle>
          <a:p>
            <a:r>
              <a:rPr lang="en-US"/>
              <a:t>Enter title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8235E33B-41A5-4ACB-9AE6-2F3E7CAA442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09598" y="4349712"/>
            <a:ext cx="3797302" cy="369332"/>
          </a:xfrm>
        </p:spPr>
        <p:txBody>
          <a:bodyPr wrap="square"/>
          <a:lstStyle>
            <a:lvl1pPr marL="0" indent="0">
              <a:spcAft>
                <a:spcPts val="0"/>
              </a:spcAft>
              <a:buNone/>
              <a:defRPr sz="2000" b="0" i="0" cap="none" spc="0" baseline="0">
                <a:solidFill>
                  <a:schemeClr val="tx1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defRPr>
            </a:lvl1pPr>
          </a:lstStyle>
          <a:p>
            <a:pPr lvl="0"/>
            <a:r>
              <a:rPr lang="en-US"/>
              <a:t>Speaker name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E7D4CE88-F816-4273-A6C0-5D3F9D2E0519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09598" y="4762500"/>
            <a:ext cx="3797302" cy="535531"/>
          </a:xfrm>
        </p:spPr>
        <p:txBody>
          <a:bodyPr wrap="square"/>
          <a:lstStyle>
            <a:lvl1pPr marL="0" indent="0">
              <a:spcAft>
                <a:spcPts val="300"/>
              </a:spcAft>
              <a:buNone/>
              <a:defRPr sz="1600" b="0" i="0">
                <a:solidFill>
                  <a:schemeClr val="tx1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defRPr>
            </a:lvl1pPr>
          </a:lstStyle>
          <a:p>
            <a:pPr lvl="0"/>
            <a:r>
              <a:rPr lang="en-US"/>
              <a:t>Speaker job title</a:t>
            </a:r>
            <a:br>
              <a:rPr lang="en-US"/>
            </a:br>
            <a:r>
              <a:rPr lang="en-US"/>
              <a:t>Speaker company</a:t>
            </a:r>
          </a:p>
        </p:txBody>
      </p:sp>
      <p:pic>
        <p:nvPicPr>
          <p:cNvPr id="7" name="Picture 6" descr="정장 - 대학상징 - 대학소개 - 서울대학교">
            <a:extLst>
              <a:ext uri="{FF2B5EF4-FFF2-40B4-BE49-F238E27FC236}">
                <a16:creationId xmlns:a16="http://schemas.microsoft.com/office/drawing/2014/main" id="{1CEEA42D-03E6-42C5-DB73-A8862FA3379A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61088" y="5858852"/>
            <a:ext cx="617768" cy="6409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1495E115-D62C-AE0C-429A-CF37FB88955A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90451" y="5901343"/>
            <a:ext cx="949740" cy="5559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9514071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4464" userDrawn="1">
          <p15:clr>
            <a:srgbClr val="FBAE40"/>
          </p15:clr>
        </p15:guide>
        <p15:guide id="3" orient="horz" pos="2736" userDrawn="1">
          <p15:clr>
            <a:srgbClr val="FBAE40"/>
          </p15:clr>
        </p15:guide>
        <p15:guide id="4" orient="horz" pos="1272" userDrawn="1">
          <p15:clr>
            <a:srgbClr val="FBAE40"/>
          </p15:clr>
        </p15:guide>
        <p15:guide id="5" orient="horz" pos="1728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ection Header Option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 2">
            <a:extLst>
              <a:ext uri="{FF2B5EF4-FFF2-40B4-BE49-F238E27FC236}">
                <a16:creationId xmlns:a16="http://schemas.microsoft.com/office/drawing/2014/main" id="{5406E2F2-8AA5-3982-5D4F-A13EB9512525}"/>
              </a:ext>
            </a:extLst>
          </p:cNvPr>
          <p:cNvSpPr/>
          <p:nvPr userDrawn="1"/>
        </p:nvSpPr>
        <p:spPr>
          <a:xfrm>
            <a:off x="0" y="4367"/>
            <a:ext cx="12192000" cy="6853633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9222" b="-9222"/>
            </a:stretch>
          </a:blipFill>
        </p:spPr>
        <p:txBody>
          <a:bodyPr/>
          <a:lstStyle/>
          <a:p>
            <a:endParaRPr lang="en-KR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E915E6F-C631-449B-B22F-53FD20C9E89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600" y="2718036"/>
            <a:ext cx="7823200" cy="1421928"/>
          </a:xfrm>
        </p:spPr>
        <p:txBody>
          <a:bodyPr anchor="ctr" anchorCtr="0"/>
          <a:lstStyle>
            <a:lvl1pPr>
              <a:defRPr sz="4800" b="1" i="0">
                <a:solidFill>
                  <a:schemeClr val="tx1"/>
                </a:solidFill>
                <a:latin typeface="Pretendard SemiBold" panose="02000503000000020004" pitchFamily="2" charset="-127"/>
                <a:ea typeface="Pretendard SemiBold" panose="02000503000000020004" pitchFamily="2" charset="-127"/>
                <a:cs typeface="Pretendard SemiBold" panose="02000503000000020004" pitchFamily="2" charset="-127"/>
              </a:defRPr>
            </a:lvl1pPr>
          </a:lstStyle>
          <a:p>
            <a:r>
              <a:rPr lang="en-US"/>
              <a:t>Section layout: Enter section name here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25053DED-8B0A-4549-8967-4B01D5F3B8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4A1AE1-7907-F24D-8677-0B8F5F67234B}" type="datetime1">
              <a:rPr lang="en-US" smtClean="0"/>
              <a:t>8/27/25</a:t>
            </a:fld>
            <a:endParaRPr lang="en-US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3C84D5AC-C55E-442D-A261-2526AFE660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9BE13C20-A770-495A-BA36-0CE111A913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0" i="0">
                <a:solidFill>
                  <a:schemeClr val="tx1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defRPr>
            </a:lvl1pPr>
          </a:lstStyle>
          <a:p>
            <a:fld id="{EB4B8DE2-A4E8-46E4-8BBF-D75455EFF32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392087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1_Title Only Dark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2">
            <a:extLst>
              <a:ext uri="{FF2B5EF4-FFF2-40B4-BE49-F238E27FC236}">
                <a16:creationId xmlns:a16="http://schemas.microsoft.com/office/drawing/2014/main" id="{BBD02A2E-F04D-C9AF-9F9A-C610B110494F}"/>
              </a:ext>
            </a:extLst>
          </p:cNvPr>
          <p:cNvSpPr/>
          <p:nvPr userDrawn="1"/>
        </p:nvSpPr>
        <p:spPr>
          <a:xfrm>
            <a:off x="0" y="4367"/>
            <a:ext cx="12192000" cy="6853633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9222" b="-9222"/>
            </a:stretch>
          </a:blipFill>
        </p:spPr>
        <p:txBody>
          <a:bodyPr/>
          <a:lstStyle/>
          <a:p>
            <a:endParaRPr lang="en-KR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F3C8CF9-BF86-4458-BFA4-38F0F2DB984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="0" i="0">
                <a:solidFill>
                  <a:schemeClr val="bg1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defRPr>
            </a:lvl1pPr>
          </a:lstStyle>
          <a:p>
            <a:r>
              <a:rPr lang="en-US"/>
              <a:t>Title only layout with art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8A22A18-A983-4477-9CE2-E889A78034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BA4412-B7A6-5248-9101-6EE6DBC2D916}" type="datetime1">
              <a:rPr lang="en-US" smtClean="0"/>
              <a:t>8/27/25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16B6389-19E6-4677-81FB-25CCEB0E3D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D907AE9-2A8E-446F-AC5C-E522F1C023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0" i="0">
                <a:solidFill>
                  <a:schemeClr val="bg1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defRPr>
            </a:lvl1pPr>
          </a:lstStyle>
          <a:p>
            <a:fld id="{EB4B8DE2-A4E8-46E4-8BBF-D75455EFF32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512054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 Option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 2">
            <a:extLst>
              <a:ext uri="{FF2B5EF4-FFF2-40B4-BE49-F238E27FC236}">
                <a16:creationId xmlns:a16="http://schemas.microsoft.com/office/drawing/2014/main" id="{24E4CF3D-D908-926B-E2E0-16DC23B9AD70}"/>
              </a:ext>
            </a:extLst>
          </p:cNvPr>
          <p:cNvSpPr/>
          <p:nvPr userDrawn="1"/>
        </p:nvSpPr>
        <p:spPr>
          <a:xfrm>
            <a:off x="0" y="4367"/>
            <a:ext cx="12192000" cy="6853633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9222" b="-9222"/>
            </a:stretch>
          </a:blipFill>
        </p:spPr>
        <p:txBody>
          <a:bodyPr/>
          <a:lstStyle/>
          <a:p>
            <a:endParaRPr lang="en-KR"/>
          </a:p>
        </p:txBody>
      </p:sp>
      <p:sp>
        <p:nvSpPr>
          <p:cNvPr id="18" name="Text Placeholder 7">
            <a:extLst>
              <a:ext uri="{FF2B5EF4-FFF2-40B4-BE49-F238E27FC236}">
                <a16:creationId xmlns:a16="http://schemas.microsoft.com/office/drawing/2014/main" id="{41519F39-6580-C4C2-BB47-492DBFE4A89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19124" y="3621643"/>
            <a:ext cx="1981201" cy="369332"/>
          </a:xfrm>
        </p:spPr>
        <p:txBody>
          <a:bodyPr anchor="b" anchorCtr="0"/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Speaker name</a:t>
            </a:r>
          </a:p>
        </p:txBody>
      </p:sp>
      <p:sp>
        <p:nvSpPr>
          <p:cNvPr id="20" name="Text Placeholder 9">
            <a:extLst>
              <a:ext uri="{FF2B5EF4-FFF2-40B4-BE49-F238E27FC236}">
                <a16:creationId xmlns:a16="http://schemas.microsoft.com/office/drawing/2014/main" id="{219A95A1-B9DA-4AAF-6327-04E6E02C3367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19124" y="3990975"/>
            <a:ext cx="1981201" cy="535531"/>
          </a:xfrm>
        </p:spPr>
        <p:txBody>
          <a:bodyPr/>
          <a:lstStyle>
            <a:lvl1pPr marL="0" indent="0">
              <a:spcAft>
                <a:spcPts val="600"/>
              </a:spcAft>
              <a:buNone/>
              <a:defRPr sz="16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Speaker contact info (email or socials)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BABFCCCA-452D-9DA7-013E-E3237E8C1941}"/>
              </a:ext>
            </a:extLst>
          </p:cNvPr>
          <p:cNvSpPr txBox="1"/>
          <p:nvPr userDrawn="1"/>
        </p:nvSpPr>
        <p:spPr>
          <a:xfrm>
            <a:off x="609599" y="2461211"/>
            <a:ext cx="6867525" cy="923330"/>
          </a:xfrm>
          <a:prstGeom prst="rect">
            <a:avLst/>
          </a:prstGeom>
          <a:noFill/>
        </p:spPr>
        <p:txBody>
          <a:bodyPr wrap="square" lIns="0" rtlCol="0">
            <a:noAutofit/>
          </a:bodyPr>
          <a:lstStyle/>
          <a:p>
            <a:r>
              <a:rPr lang="en-US" sz="4800" b="1" i="0">
                <a:solidFill>
                  <a:schemeClr val="tx1"/>
                </a:solidFill>
                <a:latin typeface="Pretendard SemiBold" panose="02000503000000020004" pitchFamily="2" charset="-127"/>
                <a:ea typeface="Pretendard SemiBold" panose="02000503000000020004" pitchFamily="2" charset="-127"/>
                <a:cs typeface="Pretendard SemiBold" panose="02000503000000020004" pitchFamily="2" charset="-127"/>
              </a:rPr>
              <a:t>Thank you!</a:t>
            </a:r>
          </a:p>
        </p:txBody>
      </p:sp>
    </p:spTree>
    <p:extLst>
      <p:ext uri="{BB962C8B-B14F-4D97-AF65-F5344CB8AC3E}">
        <p14:creationId xmlns:p14="http://schemas.microsoft.com/office/powerpoint/2010/main" val="15967112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391CB6-D820-4A96-8204-600D7D95682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="0" i="0"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defRPr>
            </a:lvl1pPr>
          </a:lstStyle>
          <a:p>
            <a:r>
              <a:rPr lang="en-US"/>
              <a:t>Agenda layout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11750401-572B-4B45-BF07-5D528B05F88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09600" y="1714500"/>
            <a:ext cx="10972800" cy="3293209"/>
          </a:xfrm>
        </p:spPr>
        <p:txBody>
          <a:bodyPr/>
          <a:lstStyle>
            <a:lvl1pPr marL="0" indent="0">
              <a:spcAft>
                <a:spcPts val="3000"/>
              </a:spcAft>
              <a:buNone/>
              <a:defRPr sz="2400" b="0" i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1pPr>
            <a:lvl2pPr marL="0" indent="0">
              <a:spcAft>
                <a:spcPts val="3000"/>
              </a:spcAft>
              <a:buNone/>
              <a:defRPr sz="2400" b="0" i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2pPr>
            <a:lvl3pPr marL="0" indent="0">
              <a:spcAft>
                <a:spcPts val="3000"/>
              </a:spcAft>
              <a:buNone/>
              <a:defRPr sz="2400" b="0" i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3pPr>
            <a:lvl4pPr marL="0" indent="0">
              <a:spcAft>
                <a:spcPts val="3000"/>
              </a:spcAft>
              <a:buNone/>
              <a:defRPr sz="2400" b="0" i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4pPr>
            <a:lvl5pPr marL="0" indent="0">
              <a:spcAft>
                <a:spcPts val="3000"/>
              </a:spcAft>
              <a:buNone/>
              <a:defRPr sz="2400" b="0" i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5pPr>
          </a:lstStyle>
          <a:p>
            <a:pPr lvl="0"/>
            <a:r>
              <a:rPr lang="en-US"/>
              <a:t>Enter high-level agenda items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F5A1D86-6A7C-4718-BC8A-729563F7E07F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06736434-7E81-994B-854B-1BF33F160A0D}" type="datetime1">
              <a:rPr lang="en-US" smtClean="0"/>
              <a:t>8/27/25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C5447C4-003F-49F1-92D9-AA8E16018146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84C0F27-F073-46C5-99AA-D6BC67A40F51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>
            <a:lvl1pPr>
              <a:defRPr b="0" i="0"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defRPr>
            </a:lvl1pPr>
          </a:lstStyle>
          <a:p>
            <a:fld id="{EB4B8DE2-A4E8-46E4-8BBF-D75455EFF32C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C8ECC5E3-A750-915A-C712-EFAE0AEA2CC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09600" y="6423793"/>
            <a:ext cx="3508375" cy="230832"/>
          </a:xfrm>
        </p:spPr>
        <p:txBody>
          <a:bodyPr/>
          <a:lstStyle>
            <a:lvl1pPr marL="0" indent="0">
              <a:buNone/>
              <a:defRPr sz="1000" b="0" i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1pPr>
          </a:lstStyle>
          <a:p>
            <a:pPr lvl="0"/>
            <a:endParaRPr lang="en-KR" dirty="0"/>
          </a:p>
        </p:txBody>
      </p:sp>
    </p:spTree>
    <p:extLst>
      <p:ext uri="{BB962C8B-B14F-4D97-AF65-F5344CB8AC3E}">
        <p14:creationId xmlns:p14="http://schemas.microsoft.com/office/powerpoint/2010/main" val="706140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3C8CF9-BF86-4458-BFA4-38F0F2DB984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="0" i="0"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defRPr>
            </a:lvl1pPr>
          </a:lstStyle>
          <a:p>
            <a:r>
              <a:rPr lang="en-US"/>
              <a:t>Title only layout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8A22A18-A983-4477-9CE2-E889A78034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00D62F-E191-C046-B6EA-E79BE99AA24A}" type="datetime1">
              <a:rPr lang="en-US" smtClean="0"/>
              <a:t>8/27/25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16B6389-19E6-4677-81FB-25CCEB0E3D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D907AE9-2A8E-446F-AC5C-E522F1C023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4B8DE2-A4E8-46E4-8BBF-D75455EFF32C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Text Placeholder 7">
            <a:extLst>
              <a:ext uri="{FF2B5EF4-FFF2-40B4-BE49-F238E27FC236}">
                <a16:creationId xmlns:a16="http://schemas.microsoft.com/office/drawing/2014/main" id="{6A5E585F-89C7-A336-830B-E73C2F6ECD0B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09600" y="6423793"/>
            <a:ext cx="3508375" cy="230832"/>
          </a:xfrm>
        </p:spPr>
        <p:txBody>
          <a:bodyPr/>
          <a:lstStyle>
            <a:lvl1pPr marL="0" indent="0">
              <a:buNone/>
              <a:defRPr sz="1000" b="0" i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1pPr>
          </a:lstStyle>
          <a:p>
            <a:pPr lvl="0"/>
            <a:endParaRPr lang="en-KR" dirty="0"/>
          </a:p>
        </p:txBody>
      </p:sp>
    </p:spTree>
    <p:extLst>
      <p:ext uri="{BB962C8B-B14F-4D97-AF65-F5344CB8AC3E}">
        <p14:creationId xmlns:p14="http://schemas.microsoft.com/office/powerpoint/2010/main" val="14257953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3C8CF9-BF86-4458-BFA4-38F0F2DB984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="0" i="0"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defRPr>
            </a:lvl1pPr>
          </a:lstStyle>
          <a:p>
            <a:r>
              <a:rPr lang="en-US"/>
              <a:t>Title and subtitle layout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66213DF-CEC6-4F46-9CD4-5ED4A416AF5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09600" y="1455968"/>
            <a:ext cx="10972800" cy="258532"/>
          </a:xfrm>
        </p:spPr>
        <p:txBody>
          <a:bodyPr/>
          <a:lstStyle>
            <a:lvl1pPr marL="0" indent="0">
              <a:buNone/>
              <a:defRPr sz="1200" b="0" i="0" cap="all" spc="300" baseline="0"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defRPr>
            </a:lvl1pPr>
          </a:lstStyle>
          <a:p>
            <a:pPr lvl="0"/>
            <a:r>
              <a:rPr lang="en-US"/>
              <a:t>Enter subtitle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312CB8C-58A4-4758-8C91-E8641A9F6DCF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31D3B374-854B-EF47-9B56-0018B9F83111}" type="datetime1">
              <a:rPr lang="en-US" smtClean="0"/>
              <a:t>8/27/25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444248-408B-4052-8B56-17F469F98EA1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178479-5E5D-4B94-9958-5C40D64BED65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EB4B8DE2-A4E8-46E4-8BBF-D75455EFF32C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Text Placeholder 7">
            <a:extLst>
              <a:ext uri="{FF2B5EF4-FFF2-40B4-BE49-F238E27FC236}">
                <a16:creationId xmlns:a16="http://schemas.microsoft.com/office/drawing/2014/main" id="{9B16B2F1-DE14-647D-205E-8179048AFB4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09600" y="6423793"/>
            <a:ext cx="3508375" cy="230832"/>
          </a:xfrm>
        </p:spPr>
        <p:txBody>
          <a:bodyPr/>
          <a:lstStyle>
            <a:lvl1pPr marL="0" indent="0">
              <a:buNone/>
              <a:defRPr sz="1000" b="0" i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1pPr>
          </a:lstStyle>
          <a:p>
            <a:pPr lvl="0"/>
            <a:endParaRPr lang="en-KR" dirty="0"/>
          </a:p>
        </p:txBody>
      </p:sp>
    </p:spTree>
    <p:extLst>
      <p:ext uri="{BB962C8B-B14F-4D97-AF65-F5344CB8AC3E}">
        <p14:creationId xmlns:p14="http://schemas.microsoft.com/office/powerpoint/2010/main" val="102420473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40" userDrawn="1">
          <p15:clr>
            <a:srgbClr val="9FCC3B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F8ECA2-6D6E-4722-9B75-7468AE1E58A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="0" i="0"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defRPr>
            </a:lvl1pPr>
          </a:lstStyle>
          <a:p>
            <a:r>
              <a:rPr lang="en-US"/>
              <a:t>Title and content layout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25BCD8-5D1C-48DC-A21B-317A0B7D55A0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09600" y="1714500"/>
            <a:ext cx="10972800" cy="2511457"/>
          </a:xfrm>
        </p:spPr>
        <p:txBody>
          <a:bodyPr/>
          <a:lstStyle>
            <a:lvl1pPr marL="0" indent="0">
              <a:spcAft>
                <a:spcPts val="1800"/>
              </a:spcAft>
              <a:buNone/>
              <a:defRPr b="0" i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1pPr>
            <a:lvl2pPr marL="285750" indent="0">
              <a:spcAft>
                <a:spcPts val="1800"/>
              </a:spcAft>
              <a:buNone/>
              <a:defRPr b="0" i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2pPr>
            <a:lvl3pPr marL="628650" indent="0">
              <a:spcAft>
                <a:spcPts val="1800"/>
              </a:spcAft>
              <a:buNone/>
              <a:defRPr b="0" i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3pPr>
            <a:lvl4pPr marL="914400" indent="0">
              <a:spcAft>
                <a:spcPts val="1800"/>
              </a:spcAft>
              <a:buNone/>
              <a:defRPr b="0" i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4pPr>
            <a:lvl5pPr marL="1143000" indent="0">
              <a:spcAft>
                <a:spcPts val="1800"/>
              </a:spcAft>
              <a:buNone/>
              <a:defRPr b="0" i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5pPr>
          </a:lstStyle>
          <a:p>
            <a:pPr lvl="0"/>
            <a:r>
              <a:rPr lang="en-US"/>
              <a:t>Enter text or click icon to add media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B02A07-9279-4389-95B8-CFF5307F9E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026E32-37D5-A446-8A01-9B6BBEB5E690}" type="datetime1">
              <a:rPr lang="en-US" smtClean="0"/>
              <a:t>8/27/25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24D072-A634-4E51-88E3-AFF4BBF53F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391B74-659E-4EB1-8DB0-B962093F0B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4B8DE2-A4E8-46E4-8BBF-D75455EFF32C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Text Placeholder 7">
            <a:extLst>
              <a:ext uri="{FF2B5EF4-FFF2-40B4-BE49-F238E27FC236}">
                <a16:creationId xmlns:a16="http://schemas.microsoft.com/office/drawing/2014/main" id="{7A85CAF4-4388-2797-661E-B063368C1CF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09600" y="6423793"/>
            <a:ext cx="3508375" cy="230832"/>
          </a:xfrm>
        </p:spPr>
        <p:txBody>
          <a:bodyPr/>
          <a:lstStyle>
            <a:lvl1pPr marL="0" indent="0">
              <a:buNone/>
              <a:defRPr sz="1000" b="0" i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1pPr>
          </a:lstStyle>
          <a:p>
            <a:pPr lvl="0"/>
            <a:endParaRPr lang="en-KR" dirty="0"/>
          </a:p>
        </p:txBody>
      </p:sp>
    </p:spTree>
    <p:extLst>
      <p:ext uri="{BB962C8B-B14F-4D97-AF65-F5344CB8AC3E}">
        <p14:creationId xmlns:p14="http://schemas.microsoft.com/office/powerpoint/2010/main" val="25973222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Bullete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F8ECA2-6D6E-4722-9B75-7468AE1E58A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="1" i="0">
                <a:latin typeface="Pretendard SemiBold" panose="02000503000000020004" pitchFamily="2" charset="-127"/>
                <a:ea typeface="Pretendard SemiBold" panose="02000503000000020004" pitchFamily="2" charset="-127"/>
                <a:cs typeface="Pretendard SemiBold" panose="02000503000000020004" pitchFamily="2" charset="-127"/>
              </a:defRPr>
            </a:lvl1pPr>
          </a:lstStyle>
          <a:p>
            <a:r>
              <a:rPr lang="en-US"/>
              <a:t>Title and bulleted content layout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25BCD8-5D1C-48DC-A21B-317A0B7D55A0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09600" y="1714500"/>
            <a:ext cx="10972800" cy="2009781"/>
          </a:xfrm>
        </p:spPr>
        <p:txBody>
          <a:bodyPr/>
          <a:lstStyle>
            <a:lvl1pPr>
              <a:defRPr sz="2400" b="0" i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1pPr>
            <a:lvl2pPr>
              <a:defRPr sz="2000" b="0" i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2pPr>
            <a:lvl3pPr>
              <a:defRPr sz="1800" b="0" i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3pPr>
            <a:lvl4pPr>
              <a:defRPr sz="1600" b="0" i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4pPr>
            <a:lvl5pPr>
              <a:defRPr sz="1600" b="0" i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5pPr>
          </a:lstStyle>
          <a:p>
            <a:pPr lvl="0"/>
            <a:r>
              <a:rPr lang="en-US"/>
              <a:t>Enter text or click icon to add media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28ABEB-87DF-4979-B8D5-38D09C1582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8F78D1-9721-044C-B65C-A6FC97994CEC}" type="datetime1">
              <a:rPr lang="en-US" smtClean="0"/>
              <a:t>8/27/25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7DE3A9-1F3C-45F4-9F53-543C4B62D7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27DE2B-5658-4ECD-9AB5-497E1D05E0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4B8DE2-A4E8-46E4-8BBF-D75455EFF32C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Text Placeholder 7">
            <a:extLst>
              <a:ext uri="{FF2B5EF4-FFF2-40B4-BE49-F238E27FC236}">
                <a16:creationId xmlns:a16="http://schemas.microsoft.com/office/drawing/2014/main" id="{8DEA38E8-D4FB-7EBC-02B0-FCB90181935B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09600" y="6423793"/>
            <a:ext cx="3508375" cy="230832"/>
          </a:xfrm>
        </p:spPr>
        <p:txBody>
          <a:bodyPr/>
          <a:lstStyle>
            <a:lvl1pPr marL="0" indent="0">
              <a:buNone/>
              <a:defRPr sz="1000" b="0" i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1pPr>
          </a:lstStyle>
          <a:p>
            <a:pPr lvl="0"/>
            <a:endParaRPr lang="en-KR" dirty="0"/>
          </a:p>
        </p:txBody>
      </p:sp>
    </p:spTree>
    <p:extLst>
      <p:ext uri="{BB962C8B-B14F-4D97-AF65-F5344CB8AC3E}">
        <p14:creationId xmlns:p14="http://schemas.microsoft.com/office/powerpoint/2010/main" val="31741977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Subtitle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F8ECA2-6D6E-4722-9B75-7468AE1E58A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="0" i="0"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defRPr>
            </a:lvl1pPr>
          </a:lstStyle>
          <a:p>
            <a:r>
              <a:rPr lang="en-US"/>
              <a:t>Title, subtitle, and content layout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25BCD8-5D1C-48DC-A21B-317A0B7D55A0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09600" y="2133600"/>
            <a:ext cx="10972800" cy="2511457"/>
          </a:xfrm>
        </p:spPr>
        <p:txBody>
          <a:bodyPr/>
          <a:lstStyle>
            <a:lvl1pPr marL="0" indent="0">
              <a:spcAft>
                <a:spcPts val="1800"/>
              </a:spcAft>
              <a:buNone/>
              <a:defRPr b="0" i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1pPr>
            <a:lvl2pPr marL="285750" indent="0">
              <a:spcAft>
                <a:spcPts val="1800"/>
              </a:spcAft>
              <a:buNone/>
              <a:defRPr b="0" i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2pPr>
            <a:lvl3pPr marL="628650" indent="0">
              <a:spcAft>
                <a:spcPts val="1800"/>
              </a:spcAft>
              <a:buNone/>
              <a:defRPr b="0" i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3pPr>
            <a:lvl4pPr marL="914400" indent="0">
              <a:spcAft>
                <a:spcPts val="1800"/>
              </a:spcAft>
              <a:buNone/>
              <a:defRPr b="0" i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4pPr>
            <a:lvl5pPr marL="1143000" indent="0">
              <a:spcAft>
                <a:spcPts val="1800"/>
              </a:spcAft>
              <a:buNone/>
              <a:defRPr b="0" i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5pPr>
          </a:lstStyle>
          <a:p>
            <a:pPr lvl="0"/>
            <a:r>
              <a:rPr lang="en-US"/>
              <a:t>Enter text or click icon to add media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42CBB3C-A513-466E-B53F-E5E5781263E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09600" y="1455968"/>
            <a:ext cx="10972800" cy="258532"/>
          </a:xfrm>
        </p:spPr>
        <p:txBody>
          <a:bodyPr/>
          <a:lstStyle>
            <a:lvl1pPr marL="0" indent="0">
              <a:buNone/>
              <a:defRPr sz="1200" b="1" i="0" cap="all" spc="300" baseline="0"/>
            </a:lvl1pPr>
          </a:lstStyle>
          <a:p>
            <a:pPr lvl="0"/>
            <a:r>
              <a:rPr lang="en-US"/>
              <a:t>Enter subtitle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6D2500-AAFD-4464-92DE-45442731C6FD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C4422CFE-CB70-E144-AF43-F0FCE393742F}" type="datetime1">
              <a:rPr lang="en-US" smtClean="0"/>
              <a:t>8/27/25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7A7C935-E20D-482F-89A5-4255E88216F0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E19C1A1-91E5-46D2-97FB-94E48C63B96F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EB4B8DE2-A4E8-46E4-8BBF-D75455EFF32C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B7BB6B3B-EDFB-C634-C76D-89281187700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09600" y="6423793"/>
            <a:ext cx="3508375" cy="230832"/>
          </a:xfrm>
        </p:spPr>
        <p:txBody>
          <a:bodyPr/>
          <a:lstStyle>
            <a:lvl1pPr marL="0" indent="0">
              <a:buNone/>
              <a:defRPr sz="1000" b="0" i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1pPr>
          </a:lstStyle>
          <a:p>
            <a:pPr lvl="0"/>
            <a:endParaRPr lang="en-KR" dirty="0"/>
          </a:p>
        </p:txBody>
      </p:sp>
    </p:spTree>
    <p:extLst>
      <p:ext uri="{BB962C8B-B14F-4D97-AF65-F5344CB8AC3E}">
        <p14:creationId xmlns:p14="http://schemas.microsoft.com/office/powerpoint/2010/main" val="14164935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40" userDrawn="1">
          <p15:clr>
            <a:srgbClr val="9FCC3B"/>
          </p15:clr>
        </p15:guide>
        <p15:guide id="2" orient="horz" pos="1128" userDrawn="1">
          <p15:clr>
            <a:srgbClr val="9FCC3B"/>
          </p15:clr>
        </p15:guide>
        <p15:guide id="3" orient="horz" pos="1344" userDrawn="1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Subtitle, and Bullete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F8ECA2-6D6E-4722-9B75-7468AE1E58A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="0" i="0"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defRPr>
            </a:lvl1pPr>
          </a:lstStyle>
          <a:p>
            <a:r>
              <a:rPr lang="en-US"/>
              <a:t>Title, subtitle, and bulleted content layout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25BCD8-5D1C-48DC-A21B-317A0B7D55A0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09600" y="1981200"/>
            <a:ext cx="10972800" cy="2203680"/>
          </a:xfrm>
        </p:spPr>
        <p:txBody>
          <a:bodyPr/>
          <a:lstStyle>
            <a:lvl1pPr>
              <a:defRPr b="0" i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1pPr>
            <a:lvl2pPr>
              <a:defRPr b="0" i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2pPr>
            <a:lvl3pPr>
              <a:defRPr b="0" i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3pPr>
            <a:lvl4pPr>
              <a:defRPr b="0" i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4pPr>
            <a:lvl5pPr>
              <a:defRPr b="0" i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5pPr>
          </a:lstStyle>
          <a:p>
            <a:pPr lvl="0"/>
            <a:r>
              <a:rPr lang="en-US"/>
              <a:t>Enter text or click icon to add media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4">
            <a:extLst>
              <a:ext uri="{FF2B5EF4-FFF2-40B4-BE49-F238E27FC236}">
                <a16:creationId xmlns:a16="http://schemas.microsoft.com/office/drawing/2014/main" id="{C73DDF9C-7004-4F4E-8707-3F8553760CA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09600" y="1457034"/>
            <a:ext cx="10972800" cy="258532"/>
          </a:xfrm>
        </p:spPr>
        <p:txBody>
          <a:bodyPr/>
          <a:lstStyle>
            <a:lvl1pPr marL="0" indent="0">
              <a:buNone/>
              <a:defRPr sz="1200" b="1" i="0" cap="all" spc="300" baseline="0"/>
            </a:lvl1pPr>
          </a:lstStyle>
          <a:p>
            <a:pPr lvl="0"/>
            <a:r>
              <a:rPr lang="en-US"/>
              <a:t>Enter subtitle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1E9B8C3-36CA-4A97-B3FF-2FCDD97E1A02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F4FC2D43-256D-6645-BCF9-A844B8D70195}" type="datetime1">
              <a:rPr lang="en-US" smtClean="0"/>
              <a:t>8/27/25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AEEE534-0361-47D3-8F92-2D7522A226D4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34270F7-2BCA-4119-8F34-BD17AB29E14B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EB4B8DE2-A4E8-46E4-8BBF-D75455EFF32C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4242DB53-962C-9F5D-E9C1-1D1ABBE305A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09600" y="6423793"/>
            <a:ext cx="3508375" cy="230832"/>
          </a:xfrm>
        </p:spPr>
        <p:txBody>
          <a:bodyPr/>
          <a:lstStyle>
            <a:lvl1pPr marL="0" indent="0">
              <a:buNone/>
              <a:defRPr sz="1000" b="0" i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1pPr>
          </a:lstStyle>
          <a:p>
            <a:pPr lvl="0"/>
            <a:endParaRPr lang="en-KR" dirty="0"/>
          </a:p>
        </p:txBody>
      </p:sp>
    </p:spTree>
    <p:extLst>
      <p:ext uri="{BB962C8B-B14F-4D97-AF65-F5344CB8AC3E}">
        <p14:creationId xmlns:p14="http://schemas.microsoft.com/office/powerpoint/2010/main" val="409417368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40" userDrawn="1">
          <p15:clr>
            <a:srgbClr val="9FCC3B"/>
          </p15:clr>
        </p15:guide>
        <p15:guide id="2" orient="horz" pos="1128" userDrawn="1">
          <p15:clr>
            <a:srgbClr val="9FCC3B"/>
          </p15:clr>
        </p15:guide>
        <p15:guide id="3" orient="horz" pos="1248" userDrawn="1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, and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F8ECA2-6D6E-4722-9B75-7468AE1E58A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600" y="914401"/>
            <a:ext cx="5334000" cy="978729"/>
          </a:xfrm>
        </p:spPr>
        <p:txBody>
          <a:bodyPr/>
          <a:lstStyle>
            <a:lvl1pPr>
              <a:defRPr b="0" i="0"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defRPr>
            </a:lvl1pPr>
          </a:lstStyle>
          <a:p>
            <a:r>
              <a:rPr lang="en-US"/>
              <a:t>Title, content, and image layout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25BCD8-5D1C-48DC-A21B-317A0B7D55A0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09600" y="2171700"/>
            <a:ext cx="5334000" cy="1412694"/>
          </a:xfrm>
        </p:spPr>
        <p:txBody>
          <a:bodyPr/>
          <a:lstStyle>
            <a:lvl1pPr marL="0" indent="0">
              <a:spcAft>
                <a:spcPts val="1800"/>
              </a:spcAft>
              <a:buNone/>
              <a:defRPr sz="2400" b="0" i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1pPr>
            <a:lvl2pPr marL="285750" indent="0">
              <a:spcAft>
                <a:spcPts val="1800"/>
              </a:spcAft>
              <a:buNone/>
              <a:defRPr sz="2000" b="0" i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2pPr>
            <a:lvl3pPr marL="628650" indent="0">
              <a:spcAft>
                <a:spcPts val="1800"/>
              </a:spcAft>
              <a:buNone/>
              <a:defRPr sz="1800" b="0" i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3pPr>
            <a:lvl4pPr marL="914400" indent="0">
              <a:spcAft>
                <a:spcPts val="1800"/>
              </a:spcAft>
              <a:buNone/>
              <a:defRPr sz="1600"/>
            </a:lvl4pPr>
            <a:lvl5pPr marL="1143000" indent="0">
              <a:spcAft>
                <a:spcPts val="1800"/>
              </a:spcAft>
              <a:buNone/>
              <a:defRPr sz="1600"/>
            </a:lvl5pPr>
          </a:lstStyle>
          <a:p>
            <a:pPr lvl="0"/>
            <a:r>
              <a:rPr lang="en-US"/>
              <a:t>Enter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F3B2582F-3FE9-42AC-8572-5C27E1A8E55F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6248400" y="0"/>
            <a:ext cx="5943600" cy="6858000"/>
          </a:xfrm>
        </p:spPr>
        <p:txBody>
          <a:bodyPr anchor="ctr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US"/>
              <a:t>Click (or paste) to insert picture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C3FE715-EC87-4B8E-9C5A-5A9D588BB97F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08C0C526-AA41-9246-8D2F-123642CF358A}" type="datetime1">
              <a:rPr lang="en-US" smtClean="0"/>
              <a:t>8/27/25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8D5F6CD-847A-4EBE-9BAA-72269373CEED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1C972F2-75D0-4C1D-B2C9-D4DDBBA7EBAC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EB4B8DE2-A4E8-46E4-8BBF-D75455EFF32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291236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orient="horz" pos="1368" userDrawn="1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2A4C8A-667C-40C7-9A6D-BA3F977C5FD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="0" i="0"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defRPr>
            </a:lvl1pPr>
          </a:lstStyle>
          <a:p>
            <a:r>
              <a:rPr lang="en-US"/>
              <a:t>Two-column layout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10331E-4F8F-4DEC-91C1-F631560E6601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609600" y="1714500"/>
            <a:ext cx="5248274" cy="2317558"/>
          </a:xfrm>
        </p:spPr>
        <p:txBody>
          <a:bodyPr/>
          <a:lstStyle>
            <a:lvl1pPr marL="0" indent="0">
              <a:spcAft>
                <a:spcPts val="1800"/>
              </a:spcAft>
              <a:buNone/>
              <a:defRPr sz="2400" b="0" i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1pPr>
            <a:lvl2pPr marL="285750" indent="0">
              <a:spcAft>
                <a:spcPts val="1800"/>
              </a:spcAft>
              <a:buNone/>
              <a:defRPr sz="2000" b="0" i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2pPr>
            <a:lvl3pPr marL="628650" indent="0">
              <a:spcAft>
                <a:spcPts val="1800"/>
              </a:spcAft>
              <a:buNone/>
              <a:defRPr sz="1800" b="0" i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3pPr>
            <a:lvl4pPr marL="914400" indent="0">
              <a:spcAft>
                <a:spcPts val="1800"/>
              </a:spcAft>
              <a:buNone/>
              <a:defRPr sz="1600" b="0" i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4pPr>
            <a:lvl5pPr marL="1143000" indent="0">
              <a:spcAft>
                <a:spcPts val="1800"/>
              </a:spcAft>
              <a:buNone/>
              <a:defRPr sz="1600" b="0" i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5pPr>
          </a:lstStyle>
          <a:p>
            <a:pPr lvl="0"/>
            <a:r>
              <a:rPr lang="en-US"/>
              <a:t>Enter text or click icon to add media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F72257F-5E84-444A-B9C4-CCB856025EB2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6334125" y="1714499"/>
            <a:ext cx="5248276" cy="2317558"/>
          </a:xfrm>
        </p:spPr>
        <p:txBody>
          <a:bodyPr/>
          <a:lstStyle>
            <a:lvl1pPr marL="0" indent="0">
              <a:spcAft>
                <a:spcPts val="1800"/>
              </a:spcAft>
              <a:buNone/>
              <a:defRPr sz="2400" b="0" i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1pPr>
            <a:lvl2pPr marL="285750" indent="0">
              <a:spcAft>
                <a:spcPts val="1800"/>
              </a:spcAft>
              <a:buNone/>
              <a:defRPr sz="2000" b="0" i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2pPr>
            <a:lvl3pPr marL="628650" indent="0">
              <a:spcAft>
                <a:spcPts val="1800"/>
              </a:spcAft>
              <a:buNone/>
              <a:defRPr sz="1800" b="0" i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3pPr>
            <a:lvl4pPr marL="914400" indent="0">
              <a:spcAft>
                <a:spcPts val="1800"/>
              </a:spcAft>
              <a:buNone/>
              <a:defRPr sz="1600" b="0" i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4pPr>
            <a:lvl5pPr marL="1143000" indent="0">
              <a:spcAft>
                <a:spcPts val="1800"/>
              </a:spcAft>
              <a:buNone/>
              <a:defRPr sz="1600" b="0" i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5pPr>
          </a:lstStyle>
          <a:p>
            <a:pPr lvl="0"/>
            <a:r>
              <a:rPr lang="en-US"/>
              <a:t>Enter text or click icon to add media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B8530C4-DC55-4C62-84CC-692229E785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CBC29B-2875-A847-90DD-93F5B9D216F5}" type="datetime1">
              <a:rPr lang="en-US" smtClean="0"/>
              <a:t>8/27/25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64B8C68-5C05-4F96-9FF2-B531F83A53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6B81369-2E97-4C0B-9762-D765E28372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4B8DE2-A4E8-46E4-8BBF-D75455EFF32C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B7E0479-010A-AD1C-13C2-89BC5E175E9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09600" y="6423793"/>
            <a:ext cx="3508375" cy="230832"/>
          </a:xfrm>
        </p:spPr>
        <p:txBody>
          <a:bodyPr/>
          <a:lstStyle>
            <a:lvl1pPr marL="0" indent="0">
              <a:buNone/>
              <a:defRPr sz="1000" b="0" i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1pPr>
          </a:lstStyle>
          <a:p>
            <a:pPr lvl="0"/>
            <a:endParaRPr lang="en-KR" dirty="0"/>
          </a:p>
        </p:txBody>
      </p:sp>
    </p:spTree>
    <p:extLst>
      <p:ext uri="{BB962C8B-B14F-4D97-AF65-F5344CB8AC3E}">
        <p14:creationId xmlns:p14="http://schemas.microsoft.com/office/powerpoint/2010/main" val="234481334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AD5D51-461F-4BF3-B83C-3319F4FEFF7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600" y="917577"/>
            <a:ext cx="10972800" cy="535531"/>
          </a:xfrm>
        </p:spPr>
        <p:txBody>
          <a:bodyPr/>
          <a:lstStyle>
            <a:lvl1pPr>
              <a:defRPr b="0" i="0"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defRPr>
            </a:lvl1pPr>
          </a:lstStyle>
          <a:p>
            <a:r>
              <a:rPr lang="en-US"/>
              <a:t>Two-column layout with subheadings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C1CA65A-3F20-4CCD-AE7B-297E975BC0E8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609599" y="1743647"/>
            <a:ext cx="5248656" cy="369332"/>
          </a:xfrm>
        </p:spPr>
        <p:txBody>
          <a:bodyPr anchor="t"/>
          <a:lstStyle>
            <a:lvl1pPr marL="0" indent="0">
              <a:buNone/>
              <a:defRPr sz="2000" b="0" i="0">
                <a:solidFill>
                  <a:schemeClr val="accen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Enter heading here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DBED614-1324-4FC8-94DC-2BB58446A188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609598" y="2141554"/>
            <a:ext cx="5248656" cy="1064907"/>
          </a:xfrm>
        </p:spPr>
        <p:txBody>
          <a:bodyPr/>
          <a:lstStyle>
            <a:lvl1pPr marL="0" indent="0">
              <a:buNone/>
              <a:defRPr sz="1800" b="0" i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1pPr>
            <a:lvl2pPr marL="285750" indent="0">
              <a:buNone/>
              <a:defRPr sz="1600" b="0" i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2pPr>
            <a:lvl3pPr marL="628650" indent="0">
              <a:buNone/>
              <a:defRPr sz="1400" b="0" i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3pPr>
            <a:lvl4pPr marL="858838" indent="0">
              <a:buNone/>
              <a:defRPr sz="1200"/>
            </a:lvl4pPr>
            <a:lvl5pPr marL="1030288" indent="0">
              <a:buNone/>
              <a:defRPr sz="1200"/>
            </a:lvl5pPr>
          </a:lstStyle>
          <a:p>
            <a:pPr lvl="0"/>
            <a:r>
              <a:rPr lang="en-US"/>
              <a:t>Enter text or click icon to add media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BCE1A54-1330-4A91-B63D-5CFA63F9FFDF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6334125" y="1743647"/>
            <a:ext cx="5248656" cy="369332"/>
          </a:xfrm>
        </p:spPr>
        <p:txBody>
          <a:bodyPr anchor="t"/>
          <a:lstStyle>
            <a:lvl1pPr marL="0" indent="0">
              <a:buNone/>
              <a:defRPr sz="2000" b="0" i="0">
                <a:solidFill>
                  <a:schemeClr val="accen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Enter heading here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249DC76-96C3-408F-9627-4D642BE1BDD7}"/>
              </a:ext>
            </a:extLst>
          </p:cNvPr>
          <p:cNvSpPr>
            <a:spLocks noGrp="1"/>
          </p:cNvSpPr>
          <p:nvPr>
            <p:ph sz="quarter" idx="4" hasCustomPrompt="1"/>
          </p:nvPr>
        </p:nvSpPr>
        <p:spPr>
          <a:xfrm>
            <a:off x="6334125" y="2141554"/>
            <a:ext cx="5248656" cy="1064907"/>
          </a:xfrm>
        </p:spPr>
        <p:txBody>
          <a:bodyPr/>
          <a:lstStyle>
            <a:lvl1pPr marL="0" indent="0">
              <a:buNone/>
              <a:defRPr sz="1800" b="0" i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1pPr>
            <a:lvl2pPr marL="285750" indent="0">
              <a:buNone/>
              <a:defRPr sz="1600" b="0" i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2pPr>
            <a:lvl3pPr marL="628650" indent="0">
              <a:buNone/>
              <a:defRPr sz="1400" b="0" i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3pPr>
            <a:lvl4pPr marL="858838" indent="0">
              <a:buNone/>
              <a:defRPr sz="1200"/>
            </a:lvl4pPr>
            <a:lvl5pPr marL="1030288" indent="0">
              <a:buNone/>
              <a:defRPr sz="1200"/>
            </a:lvl5pPr>
          </a:lstStyle>
          <a:p>
            <a:pPr lvl="0"/>
            <a:r>
              <a:rPr lang="en-US"/>
              <a:t>Enter text or click icon to add media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96D1DC3-FE4E-4BC2-8CA3-4ED12B1380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67C09E-9944-944E-A974-7D6AA4E02B83}" type="datetime1">
              <a:rPr lang="en-US" smtClean="0"/>
              <a:t>8/27/25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24AE993-84F9-4B17-BB98-5AAAFAF3EA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E2CB0EC-BB93-4417-89BD-8704180EA2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4B8DE2-A4E8-46E4-8BBF-D75455EFF32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040978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344" userDrawn="1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Three column with subheading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AD5D51-461F-4BF3-B83C-3319F4FEFF7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600" y="917577"/>
            <a:ext cx="10972800" cy="535531"/>
          </a:xfrm>
        </p:spPr>
        <p:txBody>
          <a:bodyPr/>
          <a:lstStyle>
            <a:lvl1pPr>
              <a:defRPr b="0" i="0"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defRPr>
            </a:lvl1pPr>
          </a:lstStyle>
          <a:p>
            <a:r>
              <a:rPr lang="en-US"/>
              <a:t>Three-column layout with subheadings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C1CA65A-3F20-4CCD-AE7B-297E975BC0E8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609599" y="1743647"/>
            <a:ext cx="3483864" cy="369332"/>
          </a:xfrm>
        </p:spPr>
        <p:txBody>
          <a:bodyPr anchor="t"/>
          <a:lstStyle>
            <a:lvl1pPr marL="0" indent="0">
              <a:buNone/>
              <a:defRPr sz="2000" b="0" i="0">
                <a:solidFill>
                  <a:schemeClr val="accen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Enter heading here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DBED614-1324-4FC8-94DC-2BB58446A188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609598" y="2141554"/>
            <a:ext cx="3483864" cy="1314206"/>
          </a:xfrm>
        </p:spPr>
        <p:txBody>
          <a:bodyPr/>
          <a:lstStyle>
            <a:lvl1pPr marL="0" indent="0">
              <a:buNone/>
              <a:defRPr sz="1800" b="0" i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1pPr>
            <a:lvl2pPr marL="285750" indent="0">
              <a:buNone/>
              <a:defRPr sz="1600" b="0" i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2pPr>
            <a:lvl3pPr marL="628650" indent="0">
              <a:buNone/>
              <a:defRPr sz="1400" b="0" i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3pPr>
            <a:lvl4pPr marL="858838" indent="0">
              <a:buNone/>
              <a:defRPr sz="1200"/>
            </a:lvl4pPr>
            <a:lvl5pPr marL="1030288" indent="0">
              <a:buNone/>
              <a:defRPr sz="1200"/>
            </a:lvl5pPr>
          </a:lstStyle>
          <a:p>
            <a:pPr lvl="0"/>
            <a:r>
              <a:rPr lang="en-US"/>
              <a:t>Enter text or click icon to add media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BCE1A54-1330-4A91-B63D-5CFA63F9FFDF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4354068" y="1743647"/>
            <a:ext cx="3483864" cy="369332"/>
          </a:xfrm>
        </p:spPr>
        <p:txBody>
          <a:bodyPr anchor="t"/>
          <a:lstStyle>
            <a:lvl1pPr marL="0" indent="0">
              <a:buNone/>
              <a:defRPr sz="2000" b="0" i="0">
                <a:solidFill>
                  <a:schemeClr val="accen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Enter heading here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249DC76-96C3-408F-9627-4D642BE1BDD7}"/>
              </a:ext>
            </a:extLst>
          </p:cNvPr>
          <p:cNvSpPr>
            <a:spLocks noGrp="1"/>
          </p:cNvSpPr>
          <p:nvPr>
            <p:ph sz="quarter" idx="4" hasCustomPrompt="1"/>
          </p:nvPr>
        </p:nvSpPr>
        <p:spPr>
          <a:xfrm>
            <a:off x="4354067" y="2141554"/>
            <a:ext cx="3483864" cy="1314206"/>
          </a:xfrm>
        </p:spPr>
        <p:txBody>
          <a:bodyPr/>
          <a:lstStyle>
            <a:lvl1pPr marL="0" indent="0">
              <a:buNone/>
              <a:defRPr sz="1800" b="0" i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1pPr>
            <a:lvl2pPr marL="285750" indent="0">
              <a:buNone/>
              <a:defRPr sz="1600" b="0" i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2pPr>
            <a:lvl3pPr marL="628650" indent="0">
              <a:buNone/>
              <a:defRPr sz="1400" b="0" i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3pPr>
            <a:lvl4pPr marL="858838" indent="0">
              <a:buNone/>
              <a:defRPr sz="1200"/>
            </a:lvl4pPr>
            <a:lvl5pPr marL="1030288" indent="0">
              <a:buNone/>
              <a:defRPr sz="1200"/>
            </a:lvl5pPr>
          </a:lstStyle>
          <a:p>
            <a:pPr lvl="0"/>
            <a:r>
              <a:rPr lang="en-US"/>
              <a:t>Enter text or click icon to add media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EB7A6272-EB3F-49FE-8293-213DA74B26E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098536" y="1743647"/>
            <a:ext cx="3483864" cy="369332"/>
          </a:xfrm>
        </p:spPr>
        <p:txBody>
          <a:bodyPr anchor="t"/>
          <a:lstStyle>
            <a:lvl1pPr marL="0" indent="0">
              <a:buNone/>
              <a:defRPr sz="2000" b="0" i="0">
                <a:solidFill>
                  <a:schemeClr val="accen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Enter heading here</a:t>
            </a:r>
          </a:p>
        </p:txBody>
      </p:sp>
      <p:sp>
        <p:nvSpPr>
          <p:cNvPr id="8" name="Content Placeholder 5">
            <a:extLst>
              <a:ext uri="{FF2B5EF4-FFF2-40B4-BE49-F238E27FC236}">
                <a16:creationId xmlns:a16="http://schemas.microsoft.com/office/drawing/2014/main" id="{A4C7D216-B044-4089-8FA7-0E2598881E88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8098536" y="2141554"/>
            <a:ext cx="3483864" cy="1314206"/>
          </a:xfrm>
        </p:spPr>
        <p:txBody>
          <a:bodyPr/>
          <a:lstStyle>
            <a:lvl1pPr marL="0" indent="0">
              <a:buNone/>
              <a:defRPr sz="1800" b="0" i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1pPr>
            <a:lvl2pPr marL="285750" indent="0">
              <a:buNone/>
              <a:defRPr sz="1600" b="0" i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2pPr>
            <a:lvl3pPr marL="628650" indent="0">
              <a:buNone/>
              <a:defRPr sz="1400" b="0" i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3pPr>
            <a:lvl4pPr marL="858838" indent="0">
              <a:buNone/>
              <a:defRPr sz="1200"/>
            </a:lvl4pPr>
            <a:lvl5pPr marL="1030288" indent="0">
              <a:buNone/>
              <a:defRPr sz="1200"/>
            </a:lvl5pPr>
          </a:lstStyle>
          <a:p>
            <a:pPr lvl="0"/>
            <a:r>
              <a:rPr lang="en-US"/>
              <a:t>Enter text or click icon to add media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4B58E081-E30E-4521-AEC0-F25E96B2F80B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6F02E835-1245-C748-8E9F-651FE6B45587}" type="datetime1">
              <a:rPr lang="en-US" smtClean="0"/>
              <a:t>8/27/25</a:t>
            </a:fld>
            <a:endParaRPr lang="en-US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8E5D495B-454B-46AE-A85D-594A0B9FDDCC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7F05D547-F845-48C9-979D-DD2269BB9C80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EB4B8DE2-A4E8-46E4-8BBF-D75455EFF32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450332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344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hree column with subheading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AD5D51-461F-4BF3-B83C-3319F4FEFF7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600" y="917577"/>
            <a:ext cx="10972800" cy="535531"/>
          </a:xfrm>
        </p:spPr>
        <p:txBody>
          <a:bodyPr/>
          <a:lstStyle>
            <a:lvl1pPr>
              <a:defRPr b="0" i="0"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defRPr>
            </a:lvl1pPr>
          </a:lstStyle>
          <a:p>
            <a:r>
              <a:rPr lang="en-US"/>
              <a:t>Three-column layout with subheadings and images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C1CA65A-3F20-4CCD-AE7B-297E975BC0E8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609599" y="3286697"/>
            <a:ext cx="3483864" cy="369332"/>
          </a:xfrm>
        </p:spPr>
        <p:txBody>
          <a:bodyPr anchor="t"/>
          <a:lstStyle>
            <a:lvl1pPr marL="0" indent="0">
              <a:buNone/>
              <a:defRPr sz="2000" b="0" i="0">
                <a:solidFill>
                  <a:schemeClr val="accen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Enter heading here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DBED614-1324-4FC8-94DC-2BB58446A188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609598" y="3656030"/>
            <a:ext cx="3483864" cy="1064907"/>
          </a:xfrm>
        </p:spPr>
        <p:txBody>
          <a:bodyPr/>
          <a:lstStyle>
            <a:lvl1pPr marL="0" indent="0">
              <a:buNone/>
              <a:defRPr sz="1800" b="0" i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1pPr>
            <a:lvl2pPr marL="285750" indent="0">
              <a:buNone/>
              <a:defRPr sz="1600" b="0" i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2pPr>
            <a:lvl3pPr marL="628650" indent="0">
              <a:buNone/>
              <a:defRPr sz="1400" b="0" i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3pPr>
            <a:lvl4pPr marL="858838" indent="0">
              <a:buNone/>
              <a:defRPr sz="1200"/>
            </a:lvl4pPr>
            <a:lvl5pPr marL="1030288" indent="0">
              <a:buNone/>
              <a:defRPr sz="1200"/>
            </a:lvl5pPr>
          </a:lstStyle>
          <a:p>
            <a:pPr lvl="0"/>
            <a:r>
              <a:rPr lang="en-US"/>
              <a:t>Enter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BCE1A54-1330-4A91-B63D-5CFA63F9FFDF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4354068" y="3286697"/>
            <a:ext cx="3483864" cy="369332"/>
          </a:xfrm>
        </p:spPr>
        <p:txBody>
          <a:bodyPr anchor="t"/>
          <a:lstStyle>
            <a:lvl1pPr marL="0" indent="0">
              <a:buNone/>
              <a:defRPr sz="2000" b="0" i="0">
                <a:solidFill>
                  <a:schemeClr val="accen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Enter heading here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249DC76-96C3-408F-9627-4D642BE1BDD7}"/>
              </a:ext>
            </a:extLst>
          </p:cNvPr>
          <p:cNvSpPr>
            <a:spLocks noGrp="1"/>
          </p:cNvSpPr>
          <p:nvPr>
            <p:ph sz="quarter" idx="4" hasCustomPrompt="1"/>
          </p:nvPr>
        </p:nvSpPr>
        <p:spPr>
          <a:xfrm>
            <a:off x="4354067" y="3656030"/>
            <a:ext cx="3483864" cy="1064907"/>
          </a:xfrm>
        </p:spPr>
        <p:txBody>
          <a:bodyPr/>
          <a:lstStyle>
            <a:lvl1pPr marL="0" indent="0">
              <a:buNone/>
              <a:defRPr sz="1800" b="0" i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1pPr>
            <a:lvl2pPr marL="285750" indent="0">
              <a:buNone/>
              <a:defRPr sz="1600" b="0" i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2pPr>
            <a:lvl3pPr marL="628650" indent="0">
              <a:buNone/>
              <a:defRPr sz="1400" b="0" i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3pPr>
            <a:lvl4pPr marL="858838" indent="0">
              <a:buNone/>
              <a:defRPr sz="1200"/>
            </a:lvl4pPr>
            <a:lvl5pPr marL="1030288" indent="0">
              <a:buNone/>
              <a:defRPr sz="1200"/>
            </a:lvl5pPr>
          </a:lstStyle>
          <a:p>
            <a:pPr lvl="0"/>
            <a:r>
              <a:rPr lang="en-US"/>
              <a:t>Enter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EB7A6272-EB3F-49FE-8293-213DA74B26E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098536" y="3286697"/>
            <a:ext cx="3483864" cy="369332"/>
          </a:xfrm>
        </p:spPr>
        <p:txBody>
          <a:bodyPr anchor="t"/>
          <a:lstStyle>
            <a:lvl1pPr marL="0" indent="0">
              <a:buNone/>
              <a:defRPr sz="2000" b="0" i="0">
                <a:solidFill>
                  <a:schemeClr val="accen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Enter heading here</a:t>
            </a:r>
          </a:p>
        </p:txBody>
      </p:sp>
      <p:sp>
        <p:nvSpPr>
          <p:cNvPr id="8" name="Content Placeholder 5">
            <a:extLst>
              <a:ext uri="{FF2B5EF4-FFF2-40B4-BE49-F238E27FC236}">
                <a16:creationId xmlns:a16="http://schemas.microsoft.com/office/drawing/2014/main" id="{A4C7D216-B044-4089-8FA7-0E2598881E88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8098536" y="3656030"/>
            <a:ext cx="3483864" cy="1064907"/>
          </a:xfrm>
        </p:spPr>
        <p:txBody>
          <a:bodyPr/>
          <a:lstStyle>
            <a:lvl1pPr marL="0" indent="0">
              <a:buNone/>
              <a:defRPr sz="1800" b="0" i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1pPr>
            <a:lvl2pPr marL="285750" indent="0">
              <a:buNone/>
              <a:defRPr sz="1600" b="0" i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2pPr>
            <a:lvl3pPr marL="628650" indent="0">
              <a:buNone/>
              <a:defRPr sz="1400" b="0" i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3pPr>
            <a:lvl4pPr marL="858838" indent="0">
              <a:buNone/>
              <a:defRPr sz="1200"/>
            </a:lvl4pPr>
            <a:lvl5pPr marL="1030288" indent="0">
              <a:buNone/>
              <a:defRPr sz="1200"/>
            </a:lvl5pPr>
          </a:lstStyle>
          <a:p>
            <a:pPr lvl="0"/>
            <a:r>
              <a:rPr lang="en-US"/>
              <a:t>Enter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FFCFB8E8-C9F0-4143-9378-EA7F6C76665B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F96E8718-D810-5D42-BBA7-DBDBA7B074E9}" type="datetime1">
              <a:rPr lang="en-US" smtClean="0"/>
              <a:t>8/27/25</a:t>
            </a:fld>
            <a:endParaRPr lang="en-US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D7D1B458-DF75-45ED-B8CC-69A72676AB03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7BB1AFFF-5B96-4371-BCA2-F0CE04ECF7FC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EB4B8DE2-A4E8-46E4-8BBF-D75455EFF32C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E1FED918-02AD-4AE8-80A2-5FBE2CA7CD40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1500631" y="1553369"/>
            <a:ext cx="1701800" cy="1481931"/>
          </a:xfrm>
        </p:spPr>
        <p:txBody>
          <a:bodyPr>
            <a:noAutofit/>
          </a:bodyPr>
          <a:lstStyle>
            <a:lvl1pPr marL="0" indent="0">
              <a:buNone/>
              <a:defRPr sz="1800" b="0" i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1pPr>
          </a:lstStyle>
          <a:p>
            <a:r>
              <a:rPr lang="en-US"/>
              <a:t>Click icon to add image</a:t>
            </a:r>
          </a:p>
        </p:txBody>
      </p:sp>
      <p:sp>
        <p:nvSpPr>
          <p:cNvPr id="14" name="Picture Placeholder 12">
            <a:extLst>
              <a:ext uri="{FF2B5EF4-FFF2-40B4-BE49-F238E27FC236}">
                <a16:creationId xmlns:a16="http://schemas.microsoft.com/office/drawing/2014/main" id="{6A07340D-F35E-44B1-83E7-553D9B9F4A1B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5245099" y="1553369"/>
            <a:ext cx="1701800" cy="1481931"/>
          </a:xfrm>
        </p:spPr>
        <p:txBody>
          <a:bodyPr>
            <a:noAutofit/>
          </a:bodyPr>
          <a:lstStyle>
            <a:lvl1pPr marL="0" indent="0">
              <a:buNone/>
              <a:defRPr sz="1800" b="0" i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1pPr>
          </a:lstStyle>
          <a:p>
            <a:r>
              <a:rPr lang="en-US"/>
              <a:t>Click icon to add image</a:t>
            </a:r>
          </a:p>
        </p:txBody>
      </p:sp>
      <p:sp>
        <p:nvSpPr>
          <p:cNvPr id="15" name="Picture Placeholder 12">
            <a:extLst>
              <a:ext uri="{FF2B5EF4-FFF2-40B4-BE49-F238E27FC236}">
                <a16:creationId xmlns:a16="http://schemas.microsoft.com/office/drawing/2014/main" id="{0E39C743-124E-4ED1-8147-16B673DA194A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8989568" y="1553369"/>
            <a:ext cx="1701800" cy="1481931"/>
          </a:xfrm>
        </p:spPr>
        <p:txBody>
          <a:bodyPr>
            <a:noAutofit/>
          </a:bodyPr>
          <a:lstStyle>
            <a:lvl1pPr marL="0" indent="0">
              <a:buNone/>
              <a:defRPr sz="1800" b="0" i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1pPr>
          </a:lstStyle>
          <a:p>
            <a:r>
              <a:rPr lang="en-US"/>
              <a:t>Click icon to add image</a:t>
            </a:r>
          </a:p>
        </p:txBody>
      </p:sp>
    </p:spTree>
    <p:extLst>
      <p:ext uri="{BB962C8B-B14F-4D97-AF65-F5344CB8AC3E}">
        <p14:creationId xmlns:p14="http://schemas.microsoft.com/office/powerpoint/2010/main" val="154642237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064" userDrawn="1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Four column with subheading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AD5D51-461F-4BF3-B83C-3319F4FEFF7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600" y="917577"/>
            <a:ext cx="10972800" cy="535531"/>
          </a:xfrm>
        </p:spPr>
        <p:txBody>
          <a:bodyPr/>
          <a:lstStyle>
            <a:lvl1pPr>
              <a:defRPr b="0" i="0"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defRPr>
            </a:lvl1pPr>
          </a:lstStyle>
          <a:p>
            <a:r>
              <a:rPr lang="en-US"/>
              <a:t>Four-column layout with subheadings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C1CA65A-3F20-4CCD-AE7B-297E975BC0E8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609599" y="1743647"/>
            <a:ext cx="2377440" cy="369332"/>
          </a:xfrm>
        </p:spPr>
        <p:txBody>
          <a:bodyPr anchor="t"/>
          <a:lstStyle>
            <a:lvl1pPr marL="0" indent="0">
              <a:buNone/>
              <a:defRPr sz="2000" b="0" i="0">
                <a:solidFill>
                  <a:schemeClr val="accen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Enter heading here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DBED614-1324-4FC8-94DC-2BB58446A188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609598" y="2141554"/>
            <a:ext cx="2377440" cy="1064907"/>
          </a:xfrm>
        </p:spPr>
        <p:txBody>
          <a:bodyPr/>
          <a:lstStyle>
            <a:lvl1pPr marL="0" indent="0">
              <a:buNone/>
              <a:defRPr sz="1800" b="0" i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1pPr>
            <a:lvl2pPr marL="285750" indent="0">
              <a:buNone/>
              <a:defRPr sz="1600" b="0" i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2pPr>
            <a:lvl3pPr marL="628650" indent="0">
              <a:buNone/>
              <a:defRPr sz="1400" b="0" i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3pPr>
            <a:lvl4pPr marL="858838" indent="0">
              <a:buNone/>
              <a:defRPr sz="1200"/>
            </a:lvl4pPr>
            <a:lvl5pPr marL="1030288" indent="0">
              <a:buNone/>
              <a:defRPr sz="1200"/>
            </a:lvl5pPr>
          </a:lstStyle>
          <a:p>
            <a:pPr lvl="0"/>
            <a:r>
              <a:rPr lang="en-US"/>
              <a:t>Enter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BCE1A54-1330-4A91-B63D-5CFA63F9FFDF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3474719" y="1743647"/>
            <a:ext cx="2377440" cy="369332"/>
          </a:xfrm>
        </p:spPr>
        <p:txBody>
          <a:bodyPr anchor="t"/>
          <a:lstStyle>
            <a:lvl1pPr marL="0" indent="0">
              <a:buNone/>
              <a:defRPr sz="2000" b="0" i="0">
                <a:solidFill>
                  <a:schemeClr val="accen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Enter heading here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249DC76-96C3-408F-9627-4D642BE1BDD7}"/>
              </a:ext>
            </a:extLst>
          </p:cNvPr>
          <p:cNvSpPr>
            <a:spLocks noGrp="1"/>
          </p:cNvSpPr>
          <p:nvPr>
            <p:ph sz="quarter" idx="4" hasCustomPrompt="1"/>
          </p:nvPr>
        </p:nvSpPr>
        <p:spPr>
          <a:xfrm>
            <a:off x="3474719" y="2141554"/>
            <a:ext cx="2377440" cy="1064907"/>
          </a:xfrm>
        </p:spPr>
        <p:txBody>
          <a:bodyPr/>
          <a:lstStyle>
            <a:lvl1pPr marL="0" indent="0">
              <a:buNone/>
              <a:defRPr sz="1800" b="0" i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1pPr>
            <a:lvl2pPr marL="285750" indent="0">
              <a:buNone/>
              <a:defRPr sz="1600" b="0" i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2pPr>
            <a:lvl3pPr marL="628650" indent="0">
              <a:buNone/>
              <a:defRPr sz="1400" b="0" i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3pPr>
            <a:lvl4pPr marL="858838" indent="0">
              <a:buNone/>
              <a:defRPr sz="1200"/>
            </a:lvl4pPr>
            <a:lvl5pPr marL="1030288" indent="0">
              <a:buNone/>
              <a:defRPr sz="1200"/>
            </a:lvl5pPr>
          </a:lstStyle>
          <a:p>
            <a:pPr lvl="0"/>
            <a:r>
              <a:rPr lang="en-US"/>
              <a:t>Enter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EB7A6272-EB3F-49FE-8293-213DA74B26E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339839" y="1743647"/>
            <a:ext cx="2377440" cy="369332"/>
          </a:xfrm>
        </p:spPr>
        <p:txBody>
          <a:bodyPr anchor="t"/>
          <a:lstStyle>
            <a:lvl1pPr marL="0" indent="0">
              <a:buNone/>
              <a:defRPr sz="2000" b="0" i="0">
                <a:solidFill>
                  <a:schemeClr val="accen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Enter heading here</a:t>
            </a:r>
          </a:p>
        </p:txBody>
      </p:sp>
      <p:sp>
        <p:nvSpPr>
          <p:cNvPr id="8" name="Content Placeholder 5">
            <a:extLst>
              <a:ext uri="{FF2B5EF4-FFF2-40B4-BE49-F238E27FC236}">
                <a16:creationId xmlns:a16="http://schemas.microsoft.com/office/drawing/2014/main" id="{A4C7D216-B044-4089-8FA7-0E2598881E88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6339840" y="2141554"/>
            <a:ext cx="2377440" cy="1064907"/>
          </a:xfrm>
        </p:spPr>
        <p:txBody>
          <a:bodyPr/>
          <a:lstStyle>
            <a:lvl1pPr marL="0" indent="0">
              <a:buNone/>
              <a:defRPr sz="1800" b="0" i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1pPr>
            <a:lvl2pPr marL="285750" indent="0">
              <a:buNone/>
              <a:defRPr sz="1600" b="0" i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2pPr>
            <a:lvl3pPr marL="628650" indent="0">
              <a:buNone/>
              <a:defRPr sz="1400" b="0" i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3pPr>
            <a:lvl4pPr marL="858838" indent="0">
              <a:buNone/>
              <a:defRPr sz="1200"/>
            </a:lvl4pPr>
            <a:lvl5pPr marL="1030288" indent="0">
              <a:buNone/>
              <a:defRPr sz="1200"/>
            </a:lvl5pPr>
          </a:lstStyle>
          <a:p>
            <a:pPr lvl="0"/>
            <a:r>
              <a:rPr lang="en-US"/>
              <a:t>Enter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4A70CBA4-9A7C-4AA6-80BD-DA7E39D565C8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9204960" y="1743647"/>
            <a:ext cx="2377440" cy="369332"/>
          </a:xfrm>
        </p:spPr>
        <p:txBody>
          <a:bodyPr anchor="t"/>
          <a:lstStyle>
            <a:lvl1pPr marL="0" indent="0">
              <a:buNone/>
              <a:defRPr sz="2000" b="0" i="0">
                <a:solidFill>
                  <a:schemeClr val="accen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Enter heading here</a:t>
            </a:r>
          </a:p>
        </p:txBody>
      </p:sp>
      <p:sp>
        <p:nvSpPr>
          <p:cNvPr id="10" name="Content Placeholder 5">
            <a:extLst>
              <a:ext uri="{FF2B5EF4-FFF2-40B4-BE49-F238E27FC236}">
                <a16:creationId xmlns:a16="http://schemas.microsoft.com/office/drawing/2014/main" id="{188FFD55-A15C-40BB-919A-289EBCA6F226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9204960" y="2141554"/>
            <a:ext cx="2377440" cy="1064907"/>
          </a:xfrm>
        </p:spPr>
        <p:txBody>
          <a:bodyPr/>
          <a:lstStyle>
            <a:lvl1pPr marL="0" indent="0">
              <a:buNone/>
              <a:defRPr sz="1800" b="0" i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1pPr>
            <a:lvl2pPr marL="285750" indent="0">
              <a:buNone/>
              <a:defRPr sz="1600" b="0" i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2pPr>
            <a:lvl3pPr marL="628650" indent="0">
              <a:buNone/>
              <a:defRPr sz="1400" b="0" i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3pPr>
            <a:lvl4pPr marL="858838" indent="0">
              <a:buNone/>
              <a:defRPr sz="1200"/>
            </a:lvl4pPr>
            <a:lvl5pPr marL="1030288" indent="0">
              <a:buNone/>
              <a:defRPr sz="1200"/>
            </a:lvl5pPr>
          </a:lstStyle>
          <a:p>
            <a:pPr lvl="0"/>
            <a:r>
              <a:rPr lang="en-US"/>
              <a:t>Enter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ADEB3A35-9813-4635-AE9D-3B9F6CA53160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2B958DF5-F549-8B46-95E0-C2CB36033BB5}" type="datetime1">
              <a:rPr lang="en-US" smtClean="0"/>
              <a:t>8/27/25</a:t>
            </a:fld>
            <a:endParaRPr lang="en-US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2617FC00-CD62-4B48-80A6-4E68401E9601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1F0D3C1B-0D24-4BCA-810C-31D050008A6D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EB4B8DE2-A4E8-46E4-8BBF-D75455EFF32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366562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344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6C643E-9D53-435F-9BF5-216545CC17E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600" y="917577"/>
            <a:ext cx="10972800" cy="535531"/>
          </a:xfrm>
        </p:spPr>
        <p:txBody>
          <a:bodyPr anchor="t" anchorCtr="0"/>
          <a:lstStyle>
            <a:lvl1pPr>
              <a:defRPr sz="3200" b="0" i="0"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defRPr>
            </a:lvl1pPr>
          </a:lstStyle>
          <a:p>
            <a:r>
              <a:rPr lang="en-US"/>
              <a:t>Picture with caption layout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70FD460-44A4-4368-BEE3-4B57384F2DA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6210300" y="1714501"/>
            <a:ext cx="5372100" cy="4495798"/>
          </a:xfrm>
        </p:spPr>
        <p:txBody>
          <a:bodyPr>
            <a:noAutofit/>
          </a:bodyPr>
          <a:lstStyle>
            <a:lvl1pPr marL="0" indent="0">
              <a:buNone/>
              <a:defRPr sz="2400" b="0" i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6F8F45C-51B3-4A66-AF8A-1A15D1257108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609598" y="1714501"/>
            <a:ext cx="5372101" cy="313932"/>
          </a:xfrm>
        </p:spPr>
        <p:txBody>
          <a:bodyPr/>
          <a:lstStyle>
            <a:lvl1pPr marL="0" indent="0">
              <a:buNone/>
              <a:defRPr sz="1600" b="0" i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Enter descriptive text here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CAB3B1C-D783-464F-B951-6F802A18E6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301397-8FE7-FB4B-82EE-58C288712F6D}" type="datetime1">
              <a:rPr lang="en-US" smtClean="0"/>
              <a:t>8/27/25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CB0C078-A6D5-4C61-A732-EC72F4B2E5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BFCB9B7-F1A6-4E7E-9A44-4A1BF91C89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4B8DE2-A4E8-46E4-8BBF-D75455EFF32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962051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er logo wall 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4B31D2-1E8A-4798-BD13-0606620FD06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="0" i="0"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defRPr>
            </a:lvl1pPr>
          </a:lstStyle>
          <a:p>
            <a:r>
              <a:rPr lang="en-US"/>
              <a:t>Customer logo wall layout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4046C62-58BE-4875-9CF1-988E9FBC80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A8789C-A0D1-A74F-A15D-501FE221905E}" type="datetime1">
              <a:rPr lang="en-US" smtClean="0"/>
              <a:t>8/27/25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09F8648-DA5C-4249-B315-5FCC6764F2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AB4976B-D5E7-498C-99B5-7AA17CD101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4B8DE2-A4E8-46E4-8BBF-D75455EFF32C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7C4FF75-DBF1-4846-9B49-7424CC9B81D0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790841" y="2194560"/>
            <a:ext cx="1828800" cy="1097280"/>
          </a:xfrm>
        </p:spPr>
        <p:txBody>
          <a:bodyPr>
            <a:noAutofit/>
          </a:bodyPr>
          <a:lstStyle>
            <a:lvl1pPr marL="0" indent="0">
              <a:buNone/>
              <a:defRPr sz="1100" b="0" i="0">
                <a:solidFill>
                  <a:schemeClr val="tx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1pPr>
            <a:lvl2pPr marL="285750" indent="0">
              <a:buNone/>
              <a:defRPr/>
            </a:lvl2pPr>
            <a:lvl3pPr marL="628650" indent="0">
              <a:buNone/>
              <a:defRPr/>
            </a:lvl3pPr>
            <a:lvl4pPr marL="858838" indent="0">
              <a:buNone/>
              <a:defRPr/>
            </a:lvl4pPr>
            <a:lvl5pPr marL="1030288" indent="0">
              <a:buNone/>
              <a:defRPr/>
            </a:lvl5pPr>
          </a:lstStyle>
          <a:p>
            <a:pPr lvl="0"/>
            <a:r>
              <a:rPr lang="en-US"/>
              <a:t>Click photo icon to add logo</a:t>
            </a:r>
          </a:p>
        </p:txBody>
      </p:sp>
      <p:sp>
        <p:nvSpPr>
          <p:cNvPr id="9" name="Content Placeholder 7">
            <a:extLst>
              <a:ext uri="{FF2B5EF4-FFF2-40B4-BE49-F238E27FC236}">
                <a16:creationId xmlns:a16="http://schemas.microsoft.com/office/drawing/2014/main" id="{AA3F6BBD-CD6D-4350-B54B-BE6A362B5E0C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9572359" y="2194560"/>
            <a:ext cx="1828800" cy="1097280"/>
          </a:xfrm>
        </p:spPr>
        <p:txBody>
          <a:bodyPr>
            <a:noAutofit/>
          </a:bodyPr>
          <a:lstStyle>
            <a:lvl1pPr marL="0" indent="0">
              <a:buNone/>
              <a:defRPr sz="1100" b="0" i="0">
                <a:solidFill>
                  <a:schemeClr val="tx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1pPr>
            <a:lvl2pPr marL="285750" indent="0">
              <a:buNone/>
              <a:defRPr/>
            </a:lvl2pPr>
            <a:lvl3pPr marL="628650" indent="0">
              <a:buNone/>
              <a:defRPr/>
            </a:lvl3pPr>
            <a:lvl4pPr marL="858838" indent="0">
              <a:buNone/>
              <a:defRPr/>
            </a:lvl4pPr>
            <a:lvl5pPr marL="1030288" indent="0">
              <a:buNone/>
              <a:defRPr/>
            </a:lvl5pPr>
          </a:lstStyle>
          <a:p>
            <a:pPr lvl="0"/>
            <a:r>
              <a:rPr lang="en-US"/>
              <a:t>Click photo icon to add logo</a:t>
            </a:r>
          </a:p>
        </p:txBody>
      </p:sp>
      <p:sp>
        <p:nvSpPr>
          <p:cNvPr id="10" name="Content Placeholder 7">
            <a:extLst>
              <a:ext uri="{FF2B5EF4-FFF2-40B4-BE49-F238E27FC236}">
                <a16:creationId xmlns:a16="http://schemas.microsoft.com/office/drawing/2014/main" id="{F03249D0-599C-470C-AF38-A23174D881DA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3718014" y="2194560"/>
            <a:ext cx="1828800" cy="1097280"/>
          </a:xfrm>
        </p:spPr>
        <p:txBody>
          <a:bodyPr>
            <a:noAutofit/>
          </a:bodyPr>
          <a:lstStyle>
            <a:lvl1pPr marL="0" indent="0">
              <a:buNone/>
              <a:defRPr sz="1100" b="0" i="0">
                <a:solidFill>
                  <a:schemeClr val="tx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1pPr>
            <a:lvl2pPr marL="285750" indent="0">
              <a:buNone/>
              <a:defRPr/>
            </a:lvl2pPr>
            <a:lvl3pPr marL="628650" indent="0">
              <a:buNone/>
              <a:defRPr/>
            </a:lvl3pPr>
            <a:lvl4pPr marL="858838" indent="0">
              <a:buNone/>
              <a:defRPr/>
            </a:lvl4pPr>
            <a:lvl5pPr marL="1030288" indent="0">
              <a:buNone/>
              <a:defRPr/>
            </a:lvl5pPr>
          </a:lstStyle>
          <a:p>
            <a:pPr lvl="0"/>
            <a:r>
              <a:rPr lang="en-US"/>
              <a:t>Click photo icon to add logo</a:t>
            </a:r>
          </a:p>
        </p:txBody>
      </p:sp>
      <p:sp>
        <p:nvSpPr>
          <p:cNvPr id="11" name="Content Placeholder 7">
            <a:extLst>
              <a:ext uri="{FF2B5EF4-FFF2-40B4-BE49-F238E27FC236}">
                <a16:creationId xmlns:a16="http://schemas.microsoft.com/office/drawing/2014/main" id="{494B0474-3C2B-4A1F-847C-77DB62476761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6645187" y="2194560"/>
            <a:ext cx="1828800" cy="1097280"/>
          </a:xfrm>
        </p:spPr>
        <p:txBody>
          <a:bodyPr>
            <a:noAutofit/>
          </a:bodyPr>
          <a:lstStyle>
            <a:lvl1pPr marL="0" indent="0">
              <a:buNone/>
              <a:defRPr sz="1100" b="0" i="0">
                <a:solidFill>
                  <a:schemeClr val="tx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1pPr>
            <a:lvl2pPr marL="285750" indent="0">
              <a:buNone/>
              <a:defRPr/>
            </a:lvl2pPr>
            <a:lvl3pPr marL="628650" indent="0">
              <a:buNone/>
              <a:defRPr/>
            </a:lvl3pPr>
            <a:lvl4pPr marL="858838" indent="0">
              <a:buNone/>
              <a:defRPr/>
            </a:lvl4pPr>
            <a:lvl5pPr marL="1030288" indent="0">
              <a:buNone/>
              <a:defRPr/>
            </a:lvl5pPr>
          </a:lstStyle>
          <a:p>
            <a:pPr lvl="0"/>
            <a:r>
              <a:rPr lang="en-US"/>
              <a:t>Click photo icon to add logo</a:t>
            </a:r>
          </a:p>
        </p:txBody>
      </p:sp>
      <p:sp>
        <p:nvSpPr>
          <p:cNvPr id="12" name="Content Placeholder 7">
            <a:extLst>
              <a:ext uri="{FF2B5EF4-FFF2-40B4-BE49-F238E27FC236}">
                <a16:creationId xmlns:a16="http://schemas.microsoft.com/office/drawing/2014/main" id="{6B3D3A2C-F2FE-4E58-9179-32ACA63A87E0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790841" y="4059936"/>
            <a:ext cx="1828800" cy="1097280"/>
          </a:xfrm>
        </p:spPr>
        <p:txBody>
          <a:bodyPr>
            <a:noAutofit/>
          </a:bodyPr>
          <a:lstStyle>
            <a:lvl1pPr marL="0" indent="0">
              <a:buNone/>
              <a:defRPr sz="1100" b="0" i="0">
                <a:solidFill>
                  <a:schemeClr val="tx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1pPr>
            <a:lvl2pPr marL="285750" indent="0">
              <a:buNone/>
              <a:defRPr/>
            </a:lvl2pPr>
            <a:lvl3pPr marL="628650" indent="0">
              <a:buNone/>
              <a:defRPr/>
            </a:lvl3pPr>
            <a:lvl4pPr marL="858838" indent="0">
              <a:buNone/>
              <a:defRPr/>
            </a:lvl4pPr>
            <a:lvl5pPr marL="1030288" indent="0">
              <a:buNone/>
              <a:defRPr/>
            </a:lvl5pPr>
          </a:lstStyle>
          <a:p>
            <a:pPr lvl="0"/>
            <a:r>
              <a:rPr lang="en-US"/>
              <a:t>Click photo icon to add logo</a:t>
            </a:r>
          </a:p>
        </p:txBody>
      </p:sp>
      <p:sp>
        <p:nvSpPr>
          <p:cNvPr id="13" name="Content Placeholder 7">
            <a:extLst>
              <a:ext uri="{FF2B5EF4-FFF2-40B4-BE49-F238E27FC236}">
                <a16:creationId xmlns:a16="http://schemas.microsoft.com/office/drawing/2014/main" id="{D9DA6D6E-7CB2-43EC-A618-77FD5AC68695}"/>
              </a:ext>
            </a:extLst>
          </p:cNvPr>
          <p:cNvSpPr>
            <a:spLocks noGrp="1"/>
          </p:cNvSpPr>
          <p:nvPr>
            <p:ph sz="quarter" idx="18" hasCustomPrompt="1"/>
          </p:nvPr>
        </p:nvSpPr>
        <p:spPr>
          <a:xfrm>
            <a:off x="9572359" y="4059936"/>
            <a:ext cx="1828800" cy="1097280"/>
          </a:xfrm>
        </p:spPr>
        <p:txBody>
          <a:bodyPr>
            <a:noAutofit/>
          </a:bodyPr>
          <a:lstStyle>
            <a:lvl1pPr marL="0" indent="0">
              <a:buNone/>
              <a:defRPr sz="1100" b="0" i="0">
                <a:solidFill>
                  <a:schemeClr val="tx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1pPr>
            <a:lvl2pPr marL="285750" indent="0">
              <a:buNone/>
              <a:defRPr/>
            </a:lvl2pPr>
            <a:lvl3pPr marL="628650" indent="0">
              <a:buNone/>
              <a:defRPr/>
            </a:lvl3pPr>
            <a:lvl4pPr marL="858838" indent="0">
              <a:buNone/>
              <a:defRPr/>
            </a:lvl4pPr>
            <a:lvl5pPr marL="1030288" indent="0">
              <a:buNone/>
              <a:defRPr/>
            </a:lvl5pPr>
          </a:lstStyle>
          <a:p>
            <a:pPr lvl="0"/>
            <a:r>
              <a:rPr lang="en-US"/>
              <a:t>Click photo icon to add logo</a:t>
            </a:r>
          </a:p>
        </p:txBody>
      </p:sp>
      <p:sp>
        <p:nvSpPr>
          <p:cNvPr id="14" name="Content Placeholder 7">
            <a:extLst>
              <a:ext uri="{FF2B5EF4-FFF2-40B4-BE49-F238E27FC236}">
                <a16:creationId xmlns:a16="http://schemas.microsoft.com/office/drawing/2014/main" id="{DD3BB708-38D6-4216-8681-62B5B1293221}"/>
              </a:ext>
            </a:extLst>
          </p:cNvPr>
          <p:cNvSpPr>
            <a:spLocks noGrp="1"/>
          </p:cNvSpPr>
          <p:nvPr>
            <p:ph sz="quarter" idx="19" hasCustomPrompt="1"/>
          </p:nvPr>
        </p:nvSpPr>
        <p:spPr>
          <a:xfrm>
            <a:off x="3718014" y="4059936"/>
            <a:ext cx="1828800" cy="1097280"/>
          </a:xfrm>
        </p:spPr>
        <p:txBody>
          <a:bodyPr>
            <a:noAutofit/>
          </a:bodyPr>
          <a:lstStyle>
            <a:lvl1pPr marL="0" indent="0">
              <a:buNone/>
              <a:defRPr sz="1100" b="0" i="0">
                <a:solidFill>
                  <a:schemeClr val="tx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1pPr>
            <a:lvl2pPr marL="285750" indent="0">
              <a:buNone/>
              <a:defRPr/>
            </a:lvl2pPr>
            <a:lvl3pPr marL="628650" indent="0">
              <a:buNone/>
              <a:defRPr/>
            </a:lvl3pPr>
            <a:lvl4pPr marL="858838" indent="0">
              <a:buNone/>
              <a:defRPr/>
            </a:lvl4pPr>
            <a:lvl5pPr marL="1030288" indent="0">
              <a:buNone/>
              <a:defRPr/>
            </a:lvl5pPr>
          </a:lstStyle>
          <a:p>
            <a:pPr lvl="0"/>
            <a:r>
              <a:rPr lang="en-US"/>
              <a:t>Click photo icon to add logo</a:t>
            </a:r>
          </a:p>
        </p:txBody>
      </p:sp>
      <p:sp>
        <p:nvSpPr>
          <p:cNvPr id="15" name="Content Placeholder 7">
            <a:extLst>
              <a:ext uri="{FF2B5EF4-FFF2-40B4-BE49-F238E27FC236}">
                <a16:creationId xmlns:a16="http://schemas.microsoft.com/office/drawing/2014/main" id="{D95B1CF7-30AD-446D-BB48-437779BB20A2}"/>
              </a:ext>
            </a:extLst>
          </p:cNvPr>
          <p:cNvSpPr>
            <a:spLocks noGrp="1"/>
          </p:cNvSpPr>
          <p:nvPr>
            <p:ph sz="quarter" idx="20" hasCustomPrompt="1"/>
          </p:nvPr>
        </p:nvSpPr>
        <p:spPr>
          <a:xfrm>
            <a:off x="6645187" y="4059936"/>
            <a:ext cx="1828800" cy="1097280"/>
          </a:xfrm>
        </p:spPr>
        <p:txBody>
          <a:bodyPr>
            <a:noAutofit/>
          </a:bodyPr>
          <a:lstStyle>
            <a:lvl1pPr marL="0" indent="0">
              <a:buNone/>
              <a:defRPr sz="1100" b="0" i="0">
                <a:solidFill>
                  <a:schemeClr val="tx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1pPr>
            <a:lvl2pPr marL="285750" indent="0">
              <a:buNone/>
              <a:defRPr/>
            </a:lvl2pPr>
            <a:lvl3pPr marL="628650" indent="0">
              <a:buNone/>
              <a:defRPr/>
            </a:lvl3pPr>
            <a:lvl4pPr marL="858838" indent="0">
              <a:buNone/>
              <a:defRPr/>
            </a:lvl4pPr>
            <a:lvl5pPr marL="1030288" indent="0">
              <a:buNone/>
              <a:defRPr/>
            </a:lvl5pPr>
          </a:lstStyle>
          <a:p>
            <a:pPr lvl="0"/>
            <a:r>
              <a:rPr lang="en-US"/>
              <a:t>Click photo icon to add logo</a:t>
            </a:r>
          </a:p>
        </p:txBody>
      </p:sp>
    </p:spTree>
    <p:extLst>
      <p:ext uri="{BB962C8B-B14F-4D97-AF65-F5344CB8AC3E}">
        <p14:creationId xmlns:p14="http://schemas.microsoft.com/office/powerpoint/2010/main" val="9628562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117ECE-DA96-4373-B8B2-4E847C5ACBA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599" y="1975199"/>
            <a:ext cx="8067261" cy="1920526"/>
          </a:xfrm>
        </p:spPr>
        <p:txBody>
          <a:bodyPr anchor="b" anchorCtr="0"/>
          <a:lstStyle>
            <a:lvl1pPr>
              <a:defRPr sz="4400" b="0" i="0"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defRPr>
            </a:lvl1pPr>
          </a:lstStyle>
          <a:p>
            <a:r>
              <a:rPr lang="en-US"/>
              <a:t>Enter quote here. Reposition quote mark graphics to frame the quote.</a:t>
            </a:r>
          </a:p>
        </p:txBody>
      </p:sp>
      <p:sp>
        <p:nvSpPr>
          <p:cNvPr id="6" name="Text Placeholder 15">
            <a:extLst>
              <a:ext uri="{FF2B5EF4-FFF2-40B4-BE49-F238E27FC236}">
                <a16:creationId xmlns:a16="http://schemas.microsoft.com/office/drawing/2014/main" id="{2AB32ED6-534B-4417-86C2-7D43CBC56BD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00036" y="1981200"/>
            <a:ext cx="309563" cy="309563"/>
          </a:xfrm>
          <a:blipFill>
            <a:blip r:embed="rId2">
              <a:duotone>
                <a:prstClr val="black"/>
                <a:srgbClr val="191919">
                  <a:tint val="45000"/>
                  <a:satMod val="400000"/>
                </a:srgbClr>
              </a:duotone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rightnessContrast bright="-80000" contrast="-40000"/>
                      </a14:imgEffect>
                    </a14:imgLayer>
                  </a14:imgProps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 sz="100"/>
            </a:lvl1pPr>
            <a:lvl2pPr marL="228600" indent="0">
              <a:buNone/>
              <a:defRPr sz="1000"/>
            </a:lvl2pPr>
            <a:lvl3pPr marL="457200" indent="0">
              <a:buNone/>
              <a:defRPr sz="1000"/>
            </a:lvl3pPr>
            <a:lvl4pPr marL="685800" indent="0">
              <a:buNone/>
              <a:defRPr sz="1000"/>
            </a:lvl4pPr>
            <a:lvl5pPr marL="685800" indent="0">
              <a:buNone/>
              <a:defRPr sz="1000"/>
            </a:lvl5pPr>
          </a:lstStyle>
          <a:p>
            <a:pPr lvl="0"/>
            <a:r>
              <a:rPr lang="en-US"/>
              <a:t> </a:t>
            </a:r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12DE8EBE-FC95-451D-BADD-B5580296FA70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264150" y="3274218"/>
            <a:ext cx="309563" cy="309563"/>
          </a:xfrm>
          <a:blipFill>
            <a:blip r:embed="rId4"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brightnessContrast bright="-80000"/>
                      </a14:imgEffect>
                    </a14:imgLayer>
                  </a14:imgProps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 sz="100"/>
            </a:lvl1pPr>
            <a:lvl2pPr marL="228600" indent="0">
              <a:buNone/>
              <a:defRPr sz="1000"/>
            </a:lvl2pPr>
            <a:lvl3pPr marL="457200" indent="0">
              <a:buNone/>
              <a:defRPr sz="1000"/>
            </a:lvl3pPr>
            <a:lvl4pPr marL="685800" indent="0">
              <a:buNone/>
              <a:defRPr sz="1000"/>
            </a:lvl4pPr>
            <a:lvl5pPr marL="685800" indent="0">
              <a:buNone/>
              <a:defRPr sz="1000"/>
            </a:lvl5pPr>
          </a:lstStyle>
          <a:p>
            <a:pPr lvl="0"/>
            <a:r>
              <a:rPr lang="en-US"/>
              <a:t> 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2CC38951-92FB-41A4-A9D4-F3B7D3577EC9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09599" y="4127500"/>
            <a:ext cx="8067261" cy="369332"/>
          </a:xfrm>
        </p:spPr>
        <p:txBody>
          <a:bodyPr/>
          <a:lstStyle>
            <a:lvl1pPr marL="0" indent="0">
              <a:spcAft>
                <a:spcPts val="0"/>
              </a:spcAft>
              <a:buNone/>
              <a:defRPr sz="2000" b="1"/>
            </a:lvl1pPr>
          </a:lstStyle>
          <a:p>
            <a:pPr lvl="0"/>
            <a:r>
              <a:rPr lang="en-US"/>
              <a:t>Quoted person’s name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3C436BC0-B224-4E6F-99AF-155A3657C058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09599" y="4496832"/>
            <a:ext cx="8067261" cy="313932"/>
          </a:xfrm>
        </p:spPr>
        <p:txBody>
          <a:bodyPr/>
          <a:lstStyle>
            <a:lvl1pPr marL="0" indent="0">
              <a:buNone/>
              <a:defRPr sz="1600"/>
            </a:lvl1pPr>
          </a:lstStyle>
          <a:p>
            <a:pPr lvl="0"/>
            <a:r>
              <a:rPr lang="en-US"/>
              <a:t>Quoted person’s affiliation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11DEF90-4BC7-4449-B8ED-B9BEFD74704A}"/>
              </a:ext>
            </a:extLst>
          </p:cNvPr>
          <p:cNvSpPr>
            <a:spLocks noGrp="1"/>
          </p:cNvSpPr>
          <p:nvPr>
            <p:ph type="dt" sz="half" idx="17"/>
          </p:nvPr>
        </p:nvSpPr>
        <p:spPr/>
        <p:txBody>
          <a:bodyPr/>
          <a:lstStyle/>
          <a:p>
            <a:fld id="{82BEA218-CD6F-B44E-B26C-C64BF244E0F0}" type="datetime1">
              <a:rPr lang="en-US" smtClean="0"/>
              <a:t>8/27/25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80F1DAA-08EC-40A3-9CC6-57B8099A6FAA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8D867C9-C0CC-45E6-BDB6-5AAA8DF8A9C3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EB4B8DE2-A4E8-46E4-8BBF-D75455EFF32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87384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248" userDrawn="1">
          <p15:clr>
            <a:srgbClr val="FBAE40"/>
          </p15:clr>
        </p15:guide>
        <p15:guide id="2" orient="horz" pos="2592" userDrawn="1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hank You - Color set 2 - gradi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77B1A5DF-D1AF-9EE3-9432-779B4BB2A974}"/>
              </a:ext>
            </a:extLst>
          </p:cNvPr>
          <p:cNvSpPr/>
          <p:nvPr userDrawn="1"/>
        </p:nvSpPr>
        <p:spPr>
          <a:xfrm>
            <a:off x="0" y="4367"/>
            <a:ext cx="12192000" cy="6853633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9222" b="-9222"/>
            </a:stretch>
          </a:blipFill>
        </p:spPr>
        <p:txBody>
          <a:bodyPr/>
          <a:lstStyle/>
          <a:p>
            <a:endParaRPr lang="en-KR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F1FFA190-394C-4586-A84A-BA2A6770300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19125" y="3621643"/>
            <a:ext cx="1994088" cy="369332"/>
          </a:xfrm>
        </p:spPr>
        <p:txBody>
          <a:bodyPr anchor="b" anchorCtr="0"/>
          <a:lstStyle>
            <a:lvl1pPr marL="0" indent="0">
              <a:buNone/>
              <a:defRPr sz="2000" b="0" i="0">
                <a:solidFill>
                  <a:schemeClr val="tx1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defRPr>
            </a:lvl1pPr>
          </a:lstStyle>
          <a:p>
            <a:pPr lvl="0"/>
            <a:r>
              <a:rPr lang="en-US"/>
              <a:t>Speaker name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B682D70F-F9C4-4C4C-A916-589EA4438C2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19125" y="3990975"/>
            <a:ext cx="1994088" cy="535531"/>
          </a:xfrm>
        </p:spPr>
        <p:txBody>
          <a:bodyPr/>
          <a:lstStyle>
            <a:lvl1pPr marL="0" indent="0">
              <a:spcAft>
                <a:spcPts val="600"/>
              </a:spcAft>
              <a:buNone/>
              <a:defRPr sz="1600" b="0" i="0">
                <a:solidFill>
                  <a:schemeClr val="tx1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defRPr>
            </a:lvl1pPr>
          </a:lstStyle>
          <a:p>
            <a:pPr lvl="0"/>
            <a:r>
              <a:rPr lang="en-US"/>
              <a:t>Speaker contact info (email or socials)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2BEBFA3-8C5E-448A-B03D-8DAAEBB407B0}"/>
              </a:ext>
            </a:extLst>
          </p:cNvPr>
          <p:cNvSpPr txBox="1"/>
          <p:nvPr userDrawn="1"/>
        </p:nvSpPr>
        <p:spPr>
          <a:xfrm>
            <a:off x="609599" y="2461211"/>
            <a:ext cx="6867525" cy="923330"/>
          </a:xfrm>
          <a:prstGeom prst="rect">
            <a:avLst/>
          </a:prstGeom>
          <a:noFill/>
        </p:spPr>
        <p:txBody>
          <a:bodyPr wrap="square" lIns="0" rtlCol="0">
            <a:noAutofit/>
          </a:bodyPr>
          <a:lstStyle/>
          <a:p>
            <a:r>
              <a:rPr lang="en-US" sz="4800" b="1" i="0">
                <a:solidFill>
                  <a:schemeClr val="tx1"/>
                </a:solidFill>
                <a:latin typeface="Pretendard SemiBold" panose="02000503000000020004" pitchFamily="2" charset="-127"/>
                <a:ea typeface="Pretendard SemiBold" panose="02000503000000020004" pitchFamily="2" charset="-127"/>
                <a:cs typeface="Pretendard SemiBold" panose="02000503000000020004" pitchFamily="2" charset="-127"/>
              </a:rPr>
              <a:t>Thank you!</a:t>
            </a:r>
          </a:p>
        </p:txBody>
      </p:sp>
    </p:spTree>
    <p:extLst>
      <p:ext uri="{BB962C8B-B14F-4D97-AF65-F5344CB8AC3E}">
        <p14:creationId xmlns:p14="http://schemas.microsoft.com/office/powerpoint/2010/main" val="11831125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986CC99-EC41-4647-BD17-9EFC9AA4DB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914401"/>
            <a:ext cx="10972800" cy="535531"/>
          </a:xfrm>
          <a:prstGeom prst="rect">
            <a:avLst/>
          </a:prstGeom>
        </p:spPr>
        <p:txBody>
          <a:bodyPr vert="horz" wrap="square" lIns="0" tIns="45720" rIns="0" bIns="45720" rtlCol="0" anchor="t" anchorCtr="0">
            <a:sp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4928EF9-1BCD-42D2-8B21-6150BBD86FB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9600" y="1718983"/>
            <a:ext cx="10972800" cy="2203680"/>
          </a:xfrm>
          <a:prstGeom prst="rect">
            <a:avLst/>
          </a:prstGeom>
        </p:spPr>
        <p:txBody>
          <a:bodyPr vert="horz" wrap="square" lIns="0" tIns="45720" rIns="0" bIns="45720" rtlCol="0">
            <a:sp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484D14-2EC8-4252-96DA-F75A75EAF30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9532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B1EF3D5-2436-9240-B6D0-2048A71FFF33}" type="datetime1">
              <a:rPr lang="en-US" smtClean="0"/>
              <a:t>8/27/25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25B18F2-2506-4A8B-983C-1A77A245E65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9532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925A29-F4EF-4A12-9095-1B88A1BDDE5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929200" y="628950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0" i="0">
                <a:solidFill>
                  <a:schemeClr val="tx2"/>
                </a:solidFill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defRPr>
            </a:lvl1pPr>
          </a:lstStyle>
          <a:p>
            <a:fld id="{EB4B8DE2-A4E8-46E4-8BBF-D75455EFF32C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Text Placeholder 10">
            <a:extLst>
              <a:ext uri="{FF2B5EF4-FFF2-40B4-BE49-F238E27FC236}">
                <a16:creationId xmlns:a16="http://schemas.microsoft.com/office/drawing/2014/main" id="{AB08AA2C-B509-4BA9-B3D5-46E288298CEC}"/>
              </a:ext>
            </a:extLst>
          </p:cNvPr>
          <p:cNvSpPr txBox="1">
            <a:spLocks/>
          </p:cNvSpPr>
          <p:nvPr userDrawn="1"/>
        </p:nvSpPr>
        <p:spPr>
          <a:xfrm>
            <a:off x="609600" y="324282"/>
            <a:ext cx="10972800" cy="241300"/>
          </a:xfrm>
          <a:prstGeom prst="rect">
            <a:avLst/>
          </a:prstGeom>
          <a:solidFill>
            <a:schemeClr val="bg2"/>
          </a:solidFill>
        </p:spPr>
        <p:txBody>
          <a:bodyPr lIns="0"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900"/>
              </a:spcAft>
              <a:buClr>
                <a:schemeClr val="tx1"/>
              </a:buClr>
              <a:buSzPct val="90000"/>
              <a:buFont typeface="Amazon Ember" panose="020B0603020204020204" pitchFamily="34" charset="0"/>
              <a:buNone/>
              <a:defRPr sz="1000" b="0" kern="1200" cap="all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900"/>
              </a:spcAft>
              <a:buClr>
                <a:schemeClr val="tx1"/>
              </a:buClr>
              <a:buSzPct val="90000"/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 typeface="Amazon Ember" panose="020B0603020204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8016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0" i="0" dirty="0">
                <a:solidFill>
                  <a:schemeClr val="tx2"/>
                </a:solidFill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rPr>
              <a:t>Diffusion language model 3</a:t>
            </a:r>
          </a:p>
        </p:txBody>
      </p:sp>
    </p:spTree>
    <p:extLst>
      <p:ext uri="{BB962C8B-B14F-4D97-AF65-F5344CB8AC3E}">
        <p14:creationId xmlns:p14="http://schemas.microsoft.com/office/powerpoint/2010/main" val="4711489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2" r:id="rId1"/>
    <p:sldLayoutId id="2147483740" r:id="rId2"/>
    <p:sldLayoutId id="2147483741" r:id="rId3"/>
    <p:sldLayoutId id="2147483676" r:id="rId4"/>
    <p:sldLayoutId id="2147483661" r:id="rId5"/>
    <p:sldLayoutId id="2147483654" r:id="rId6"/>
    <p:sldLayoutId id="2147483663" r:id="rId7"/>
    <p:sldLayoutId id="2147483650" r:id="rId8"/>
    <p:sldLayoutId id="2147483664" r:id="rId9"/>
    <p:sldLayoutId id="2147483666" r:id="rId10"/>
    <p:sldLayoutId id="2147483667" r:id="rId11"/>
    <p:sldLayoutId id="2147483665" r:id="rId12"/>
    <p:sldLayoutId id="2147483668" r:id="rId13"/>
    <p:sldLayoutId id="2147483653" r:id="rId14"/>
    <p:sldLayoutId id="2147483689" r:id="rId15"/>
    <p:sldLayoutId id="2147483691" r:id="rId16"/>
    <p:sldLayoutId id="2147483690" r:id="rId17"/>
    <p:sldLayoutId id="2147483657" r:id="rId18"/>
    <p:sldLayoutId id="2147483693" r:id="rId19"/>
    <p:sldLayoutId id="2147483673" r:id="rId20"/>
    <p:sldLayoutId id="2147483743" r:id="rId2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1" i="0" kern="1200" baseline="0">
          <a:solidFill>
            <a:schemeClr val="tx2"/>
          </a:solidFill>
          <a:latin typeface="Pretendard Variable Black" panose="02000003000000020004" pitchFamily="2" charset="-127"/>
          <a:ea typeface="Pretendard Variable Black" panose="02000003000000020004" pitchFamily="2" charset="-127"/>
          <a:cs typeface="Pretendard Variable Black" panose="02000003000000020004" pitchFamily="2" charset="-127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0"/>
        </a:spcBef>
        <a:spcAft>
          <a:spcPts val="1200"/>
        </a:spcAft>
        <a:buSzPct val="90000"/>
        <a:buFont typeface="Arial" panose="020B0604020202020204" pitchFamily="34" charset="0"/>
        <a:buChar char="•"/>
        <a:defRPr sz="2800" kern="1200" baseline="0">
          <a:solidFill>
            <a:schemeClr val="tx2"/>
          </a:solidFill>
          <a:latin typeface="Pretendard Variable Medium" panose="02000003000000020004" pitchFamily="2" charset="-127"/>
          <a:ea typeface="Pretendard Variable Medium" panose="02000003000000020004" pitchFamily="2" charset="-127"/>
          <a:cs typeface="Pretendard Variable Medium" panose="02000003000000020004" pitchFamily="2" charset="-127"/>
        </a:defRPr>
      </a:lvl1pPr>
      <a:lvl2pPr marL="514350" indent="-228600" algn="l" defTabSz="914400" rtl="0" eaLnBrk="1" latinLnBrk="0" hangingPunct="1">
        <a:lnSpc>
          <a:spcPct val="90000"/>
        </a:lnSpc>
        <a:spcBef>
          <a:spcPts val="0"/>
        </a:spcBef>
        <a:spcAft>
          <a:spcPts val="1200"/>
        </a:spcAft>
        <a:buSzPct val="90000"/>
        <a:buFont typeface="Wingdings" panose="05000000000000000000" pitchFamily="2" charset="2"/>
        <a:buChar char="§"/>
        <a:defRPr sz="2400" kern="1200" baseline="0">
          <a:solidFill>
            <a:schemeClr val="tx2"/>
          </a:solidFill>
          <a:latin typeface="Pretendard Variable Medium" panose="02000003000000020004" pitchFamily="2" charset="-127"/>
          <a:ea typeface="Pretendard Variable Medium" panose="02000003000000020004" pitchFamily="2" charset="-127"/>
          <a:cs typeface="Pretendard Variable Medium" panose="02000003000000020004" pitchFamily="2" charset="-127"/>
        </a:defRPr>
      </a:lvl2pPr>
      <a:lvl3pPr marL="857250" indent="-228600" algn="l" defTabSz="914400" rtl="0" eaLnBrk="1" latinLnBrk="0" hangingPunct="1">
        <a:lnSpc>
          <a:spcPct val="90000"/>
        </a:lnSpc>
        <a:spcBef>
          <a:spcPts val="0"/>
        </a:spcBef>
        <a:spcAft>
          <a:spcPts val="1200"/>
        </a:spcAft>
        <a:buFont typeface="Amazon Ember" panose="020B0603020204020204" pitchFamily="34" charset="0"/>
        <a:buChar char="–"/>
        <a:defRPr sz="2000" kern="1200" baseline="0">
          <a:solidFill>
            <a:schemeClr val="tx2"/>
          </a:solidFill>
          <a:latin typeface="Pretendard Variable Medium" panose="02000003000000020004" pitchFamily="2" charset="-127"/>
          <a:ea typeface="Pretendard Variable Medium" panose="02000003000000020004" pitchFamily="2" charset="-127"/>
          <a:cs typeface="Pretendard Variable Medium" panose="02000003000000020004" pitchFamily="2" charset="-127"/>
        </a:defRPr>
      </a:lvl3pPr>
      <a:lvl4pPr marL="1030288" indent="-171450" algn="l" defTabSz="914400" rtl="0" eaLnBrk="1" latinLnBrk="0" hangingPunct="1">
        <a:lnSpc>
          <a:spcPct val="90000"/>
        </a:lnSpc>
        <a:spcBef>
          <a:spcPts val="0"/>
        </a:spcBef>
        <a:spcAft>
          <a:spcPts val="1200"/>
        </a:spcAft>
        <a:buFont typeface="Arial" panose="020B0604020202020204" pitchFamily="34" charset="0"/>
        <a:buChar char="•"/>
        <a:defRPr sz="1800" kern="1200" baseline="0">
          <a:solidFill>
            <a:schemeClr val="tx2"/>
          </a:solidFill>
          <a:latin typeface="Pretendard Variable Medium" panose="02000003000000020004" pitchFamily="2" charset="-127"/>
          <a:ea typeface="Pretendard Variable Medium" panose="02000003000000020004" pitchFamily="2" charset="-127"/>
          <a:cs typeface="Pretendard Variable Medium" panose="02000003000000020004" pitchFamily="2" charset="-127"/>
        </a:defRPr>
      </a:lvl4pPr>
      <a:lvl5pPr marL="1201738" indent="-171450" algn="l" defTabSz="914400" rtl="0" eaLnBrk="1" latinLnBrk="0" hangingPunct="1">
        <a:lnSpc>
          <a:spcPct val="90000"/>
        </a:lnSpc>
        <a:spcBef>
          <a:spcPts val="0"/>
        </a:spcBef>
        <a:spcAft>
          <a:spcPts val="1200"/>
        </a:spcAft>
        <a:buFont typeface="Arial" panose="020B0604020202020204" pitchFamily="34" charset="0"/>
        <a:buChar char="•"/>
        <a:defRPr sz="1800" kern="1200" baseline="0">
          <a:solidFill>
            <a:schemeClr val="tx2"/>
          </a:solidFill>
          <a:latin typeface="Pretendard Variable Medium" panose="02000003000000020004" pitchFamily="2" charset="-127"/>
          <a:ea typeface="Pretendard Variable Medium" panose="02000003000000020004" pitchFamily="2" charset="-127"/>
          <a:cs typeface="Pretendard Variable Medium" panose="02000003000000020004" pitchFamily="2" charset="-127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384" userDrawn="1">
          <p15:clr>
            <a:srgbClr val="F26B43"/>
          </p15:clr>
        </p15:guide>
        <p15:guide id="2" pos="7296" userDrawn="1">
          <p15:clr>
            <a:srgbClr val="F26B43"/>
          </p15:clr>
        </p15:guide>
        <p15:guide id="3" orient="horz" pos="192" userDrawn="1">
          <p15:clr>
            <a:srgbClr val="F26B43"/>
          </p15:clr>
        </p15:guide>
        <p15:guide id="4" orient="horz" pos="3912" userDrawn="1">
          <p15:clr>
            <a:srgbClr val="F26B43"/>
          </p15:clr>
        </p15:guide>
        <p15:guide id="5" orient="horz" pos="1080" userDrawn="1">
          <p15:clr>
            <a:srgbClr val="F26B43"/>
          </p15:clr>
        </p15:guide>
        <p15:guide id="6" orient="horz" pos="576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13" Type="http://schemas.openxmlformats.org/officeDocument/2006/relationships/image" Target="../media/image18.png"/><Relationship Id="rId18" Type="http://schemas.openxmlformats.org/officeDocument/2006/relationships/image" Target="../media/image23.png"/><Relationship Id="rId3" Type="http://schemas.openxmlformats.org/officeDocument/2006/relationships/image" Target="../media/image80.png"/><Relationship Id="rId7" Type="http://schemas.openxmlformats.org/officeDocument/2006/relationships/image" Target="../media/image12.png"/><Relationship Id="rId12" Type="http://schemas.openxmlformats.org/officeDocument/2006/relationships/image" Target="../media/image17.png"/><Relationship Id="rId17" Type="http://schemas.openxmlformats.org/officeDocument/2006/relationships/image" Target="../media/image22.png"/><Relationship Id="rId2" Type="http://schemas.openxmlformats.org/officeDocument/2006/relationships/image" Target="../media/image70.png"/><Relationship Id="rId16" Type="http://schemas.openxmlformats.org/officeDocument/2006/relationships/image" Target="../media/image2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png"/><Relationship Id="rId11" Type="http://schemas.openxmlformats.org/officeDocument/2006/relationships/image" Target="../media/image16.png"/><Relationship Id="rId5" Type="http://schemas.openxmlformats.org/officeDocument/2006/relationships/image" Target="../media/image10.png"/><Relationship Id="rId15" Type="http://schemas.openxmlformats.org/officeDocument/2006/relationships/image" Target="../media/image20.png"/><Relationship Id="rId10" Type="http://schemas.openxmlformats.org/officeDocument/2006/relationships/image" Target="../media/image15.png"/><Relationship Id="rId19" Type="http://schemas.openxmlformats.org/officeDocument/2006/relationships/image" Target="../media/image24.png"/><Relationship Id="rId4" Type="http://schemas.openxmlformats.org/officeDocument/2006/relationships/image" Target="../media/image9.png"/><Relationship Id="rId9" Type="http://schemas.openxmlformats.org/officeDocument/2006/relationships/image" Target="../media/image14.png"/><Relationship Id="rId14" Type="http://schemas.openxmlformats.org/officeDocument/2006/relationships/image" Target="../media/image19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13" Type="http://schemas.openxmlformats.org/officeDocument/2006/relationships/image" Target="../media/image18.png"/><Relationship Id="rId18" Type="http://schemas.openxmlformats.org/officeDocument/2006/relationships/image" Target="../media/image29.png"/><Relationship Id="rId3" Type="http://schemas.openxmlformats.org/officeDocument/2006/relationships/image" Target="../media/image80.png"/><Relationship Id="rId7" Type="http://schemas.openxmlformats.org/officeDocument/2006/relationships/image" Target="../media/image12.png"/><Relationship Id="rId12" Type="http://schemas.openxmlformats.org/officeDocument/2006/relationships/image" Target="../media/image17.png"/><Relationship Id="rId17" Type="http://schemas.openxmlformats.org/officeDocument/2006/relationships/image" Target="../media/image28.png"/><Relationship Id="rId2" Type="http://schemas.openxmlformats.org/officeDocument/2006/relationships/image" Target="../media/image70.png"/><Relationship Id="rId16" Type="http://schemas.openxmlformats.org/officeDocument/2006/relationships/image" Target="../media/image27.png"/><Relationship Id="rId20" Type="http://schemas.openxmlformats.org/officeDocument/2006/relationships/image" Target="../media/image3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png"/><Relationship Id="rId11" Type="http://schemas.openxmlformats.org/officeDocument/2006/relationships/image" Target="../media/image26.png"/><Relationship Id="rId5" Type="http://schemas.openxmlformats.org/officeDocument/2006/relationships/image" Target="../media/image10.png"/><Relationship Id="rId15" Type="http://schemas.openxmlformats.org/officeDocument/2006/relationships/image" Target="../media/image20.png"/><Relationship Id="rId10" Type="http://schemas.openxmlformats.org/officeDocument/2006/relationships/image" Target="../media/image15.png"/><Relationship Id="rId19" Type="http://schemas.openxmlformats.org/officeDocument/2006/relationships/image" Target="../media/image30.png"/><Relationship Id="rId4" Type="http://schemas.openxmlformats.org/officeDocument/2006/relationships/image" Target="../media/image25.png"/><Relationship Id="rId9" Type="http://schemas.openxmlformats.org/officeDocument/2006/relationships/image" Target="../media/image14.png"/><Relationship Id="rId14" Type="http://schemas.openxmlformats.org/officeDocument/2006/relationships/image" Target="../media/image19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0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0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0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7" Type="http://schemas.openxmlformats.org/officeDocument/2006/relationships/image" Target="../media/image37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6.png"/><Relationship Id="rId5" Type="http://schemas.openxmlformats.org/officeDocument/2006/relationships/image" Target="../media/image35.png"/><Relationship Id="rId4" Type="http://schemas.openxmlformats.org/officeDocument/2006/relationships/image" Target="../media/image34.png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9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9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9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9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9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9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9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9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0.png"/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9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9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5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9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9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9.xml"/></Relationships>
</file>

<file path=ppt/slides/_rels/slide38.xml.rels><?xml version="1.0" encoding="UTF-8" standalone="yes"?>
<Relationships xmlns="http://schemas.openxmlformats.org/package/2006/relationships"><Relationship Id="rId8" Type="http://schemas.openxmlformats.org/officeDocument/2006/relationships/image" Target="../media/image490.png"/><Relationship Id="rId3" Type="http://schemas.openxmlformats.org/officeDocument/2006/relationships/image" Target="../media/image440.png"/><Relationship Id="rId7" Type="http://schemas.openxmlformats.org/officeDocument/2006/relationships/image" Target="../media/image480.png"/><Relationship Id="rId2" Type="http://schemas.openxmlformats.org/officeDocument/2006/relationships/image" Target="../media/image430.png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470.png"/><Relationship Id="rId5" Type="http://schemas.openxmlformats.org/officeDocument/2006/relationships/image" Target="../media/image460.png"/><Relationship Id="rId4" Type="http://schemas.openxmlformats.org/officeDocument/2006/relationships/image" Target="../media/image450.png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9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9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9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9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9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제목 6">
            <a:extLst>
              <a:ext uri="{FF2B5EF4-FFF2-40B4-BE49-F238E27FC236}">
                <a16:creationId xmlns:a16="http://schemas.microsoft.com/office/drawing/2014/main" id="{8DDD679A-5DC1-14B2-A08C-2D75E114048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9598" y="2126159"/>
            <a:ext cx="11174656" cy="1421928"/>
          </a:xfrm>
        </p:spPr>
        <p:txBody>
          <a:bodyPr/>
          <a:lstStyle/>
          <a:p>
            <a:r>
              <a:rPr lang="en-US" altLang="ko-KR" dirty="0"/>
              <a:t>Week 10 – Diffusion language models 3</a:t>
            </a:r>
            <a:br>
              <a:rPr lang="en-US" altLang="ko-KR" dirty="0"/>
            </a:br>
            <a:endParaRPr lang="ko-KR" altLang="en-US" dirty="0"/>
          </a:p>
        </p:txBody>
      </p:sp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879986BE-08F0-DED1-9883-73080EA3B6A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altLang="ko-KR" dirty="0"/>
              <a:t>Yejoon Lee</a:t>
            </a:r>
            <a:endParaRPr lang="ko-KR" altLang="en-US" dirty="0"/>
          </a:p>
        </p:txBody>
      </p:sp>
      <p:sp>
        <p:nvSpPr>
          <p:cNvPr id="11" name="텍스트 개체 틀 10">
            <a:extLst>
              <a:ext uri="{FF2B5EF4-FFF2-40B4-BE49-F238E27FC236}">
                <a16:creationId xmlns:a16="http://schemas.microsoft.com/office/drawing/2014/main" id="{C0A28C4B-C2F7-AFDA-6EB2-ECA35FEB74E2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09598" y="4762500"/>
            <a:ext cx="3797302" cy="834074"/>
          </a:xfrm>
        </p:spPr>
        <p:txBody>
          <a:bodyPr/>
          <a:lstStyle/>
          <a:p>
            <a:r>
              <a:rPr lang="en-US" altLang="ko-KR" dirty="0"/>
              <a:t>AIDAS Lab</a:t>
            </a:r>
          </a:p>
          <a:p>
            <a:r>
              <a:rPr lang="en-US" altLang="ko-KR" dirty="0"/>
              <a:t>Seoul National University</a:t>
            </a:r>
          </a:p>
          <a:p>
            <a:r>
              <a:rPr lang="en-US" altLang="ko-KR" dirty="0" err="1"/>
              <a:t>leeyejoon@snu.ac.kr</a:t>
            </a:r>
            <a:endParaRPr lang="ko-KR" alt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3E485A8-9B24-3AAA-75ED-BED832E6EF8A}"/>
              </a:ext>
            </a:extLst>
          </p:cNvPr>
          <p:cNvSpPr txBox="1"/>
          <p:nvPr/>
        </p:nvSpPr>
        <p:spPr>
          <a:xfrm>
            <a:off x="609598" y="1713371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Mastering Diffusion</a:t>
            </a:r>
            <a:endParaRPr lang="ko-KR" altLang="en-US" dirty="0">
              <a:latin typeface="Pretendard Medium" panose="02000503000000020004" pitchFamily="2" charset="-127"/>
              <a:ea typeface="Pretendard Medium" panose="02000503000000020004" pitchFamily="2" charset="-127"/>
              <a:cs typeface="Pretendard Medium" panose="020005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1091395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157A04A9-3F05-4CAA-42B8-097BEA22DB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KR" dirty="0"/>
              <a:t>Table of contents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E640CEE5-21B3-4220-D2F2-3A5E40E89B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714500"/>
            <a:ext cx="10972800" cy="3496342"/>
          </a:xfrm>
        </p:spPr>
        <p:txBody>
          <a:bodyPr/>
          <a:lstStyle/>
          <a:p>
            <a:pPr marL="457200" indent="-457200">
              <a:buAutoNum type="alphaUcPeriod"/>
            </a:pPr>
            <a:r>
              <a:rPr lang="en-KR" dirty="0"/>
              <a:t>Sampling </a:t>
            </a:r>
          </a:p>
          <a:p>
            <a:pPr marL="742950" lvl="1" indent="-457200">
              <a:buFont typeface="+mj-lt"/>
              <a:buAutoNum type="arabicPeriod"/>
            </a:pPr>
            <a:r>
              <a:rPr lang="en-KR" dirty="0"/>
              <a:t>Basic DLM sampling (non-AR)</a:t>
            </a:r>
          </a:p>
          <a:p>
            <a:pPr marL="742950" lvl="1" indent="-457200">
              <a:buFont typeface="+mj-lt"/>
              <a:buAutoNum type="arabicPeriod"/>
            </a:pPr>
            <a:r>
              <a:rPr lang="en-KR" dirty="0"/>
              <a:t>Semi-AR sampling &amp; approximate KV caching</a:t>
            </a:r>
          </a:p>
          <a:p>
            <a:pPr marL="742950" lvl="1" indent="-457200">
              <a:buFont typeface="+mj-lt"/>
              <a:buAutoNum type="arabicPeriod"/>
            </a:pPr>
            <a:r>
              <a:rPr lang="en-KR" dirty="0"/>
              <a:t>Block diffusion (AR-diffusion hybrid)</a:t>
            </a:r>
          </a:p>
          <a:p>
            <a:pPr marL="742950" lvl="1" indent="-457200">
              <a:buFont typeface="+mj-lt"/>
              <a:buAutoNum type="arabicPeriod"/>
            </a:pPr>
            <a:endParaRPr lang="en-KR" dirty="0"/>
          </a:p>
          <a:p>
            <a:pPr marL="457200" indent="-457200">
              <a:buFont typeface="+mj-lt"/>
              <a:buAutoNum type="alphaUcPeriod"/>
            </a:pPr>
            <a:r>
              <a:rPr lang="en-KR" dirty="0"/>
              <a:t>Post-training</a:t>
            </a:r>
          </a:p>
          <a:p>
            <a:pPr marL="742950" lvl="1" indent="-457200">
              <a:buFont typeface="+mj-lt"/>
              <a:buAutoNum type="arabicPeriod"/>
            </a:pPr>
            <a:r>
              <a:rPr lang="en-KR" dirty="0"/>
              <a:t>Diffusion-of-thought</a:t>
            </a:r>
          </a:p>
          <a:p>
            <a:pPr marL="742950" lvl="1" indent="-457200">
              <a:buFont typeface="+mj-lt"/>
              <a:buAutoNum type="arabicPeriod"/>
            </a:pPr>
            <a:r>
              <a:rPr lang="en-KR" dirty="0"/>
              <a:t>GRPO for DLM (d1)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13B638C-23E0-F6EE-D701-8CC8B521C7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4B8DE2-A4E8-46E4-8BBF-D75455EFF32C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204573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06ED9AA4-89F1-E730-70D2-1DAAE2F6F6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3050435"/>
            <a:ext cx="7823200" cy="757130"/>
          </a:xfrm>
        </p:spPr>
        <p:txBody>
          <a:bodyPr/>
          <a:lstStyle/>
          <a:p>
            <a:r>
              <a:rPr lang="en-KR" dirty="0"/>
              <a:t>DLM Sampling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EDFAADE-ADB0-7370-7B50-6F69BF4991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4B8DE2-A4E8-46E4-8BBF-D75455EFF32C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108071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7170D2B2-85A2-9F60-284B-D9CD65B062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KR" dirty="0"/>
              <a:t>Review: </a:t>
            </a:r>
            <a:r>
              <a:rPr lang="en-US" altLang="ko-KR" dirty="0"/>
              <a:t>Masked</a:t>
            </a:r>
            <a:r>
              <a:rPr lang="ko-KR" altLang="en-US" dirty="0"/>
              <a:t> </a:t>
            </a:r>
            <a:r>
              <a:rPr lang="en-US" altLang="ko-KR" dirty="0"/>
              <a:t>Diffusion</a:t>
            </a:r>
            <a:r>
              <a:rPr lang="ko-KR" altLang="en-US" dirty="0"/>
              <a:t> </a:t>
            </a:r>
            <a:r>
              <a:rPr lang="en-US" altLang="ko-KR" dirty="0"/>
              <a:t>Language</a:t>
            </a:r>
            <a:r>
              <a:rPr lang="ko-KR" altLang="en-US" dirty="0"/>
              <a:t> </a:t>
            </a:r>
            <a:r>
              <a:rPr lang="en-US" altLang="ko-KR" dirty="0"/>
              <a:t>Model (MDLM)</a:t>
            </a:r>
            <a:endParaRPr lang="en-KR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E811927-D944-9EC8-07FF-B84CBD1E9F2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09600" y="1714500"/>
            <a:ext cx="10972800" cy="369332"/>
          </a:xfrm>
        </p:spPr>
        <p:txBody>
          <a:bodyPr/>
          <a:lstStyle/>
          <a:p>
            <a:r>
              <a:rPr lang="en-US" altLang="ko-KR" sz="2000" dirty="0"/>
              <a:t>MDLM loss is a NLL on masked tokens</a:t>
            </a:r>
            <a:r>
              <a:rPr lang="ko-KR" altLang="en-US" sz="2000" dirty="0"/>
              <a:t> </a:t>
            </a:r>
            <a:endParaRPr lang="en-KR" sz="20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76F3800-1ADC-CBA2-F651-D5FF28BF46D9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EB4B8DE2-A4E8-46E4-8BBF-D75455EFF32C}" type="slidenum">
              <a:rPr lang="en-US" smtClean="0"/>
              <a:pPr/>
              <a:t>4</a:t>
            </a:fld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B2BD55A-00BC-C75C-C4B1-D7B4FA56007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KR" dirty="0"/>
              <a:t>Nie et al., 2025, </a:t>
            </a:r>
            <a:r>
              <a:rPr lang="en-US" dirty="0"/>
              <a:t>Large Language Diffusion Models.</a:t>
            </a:r>
            <a:endParaRPr lang="en-KR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4D00EF07-FD9A-AEAE-385A-A7F09206ED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63890" y="2204814"/>
            <a:ext cx="6264215" cy="1162432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875DF6E4-46F8-43E5-160E-76B922C687C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8316" y="4301759"/>
            <a:ext cx="4875361" cy="585043"/>
          </a:xfrm>
          <a:prstGeom prst="rect">
            <a:avLst/>
          </a:prstGeom>
        </p:spPr>
      </p:pic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08B9BE76-7FCD-434F-C4B2-820C4AEB61EE}"/>
              </a:ext>
            </a:extLst>
          </p:cNvPr>
          <p:cNvSpPr txBox="1">
            <a:spLocks/>
          </p:cNvSpPr>
          <p:nvPr/>
        </p:nvSpPr>
        <p:spPr>
          <a:xfrm>
            <a:off x="609600" y="3565522"/>
            <a:ext cx="10972800" cy="369332"/>
          </a:xfrm>
          <a:prstGeom prst="rect">
            <a:avLst/>
          </a:prstGeom>
        </p:spPr>
        <p:txBody>
          <a:bodyPr vert="horz" wrap="square" lIns="0" tIns="45720" rIns="0" bIns="45720" rtlCol="0">
            <a:sp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3000"/>
              </a:spcAft>
              <a:buSzPct val="90000"/>
              <a:buFont typeface="Arial" panose="020B0604020202020204" pitchFamily="34" charset="0"/>
              <a:buNone/>
              <a:defRPr sz="2400" b="0" i="0" kern="1200" baseline="0">
                <a:solidFill>
                  <a:schemeClr val="tx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1pPr>
            <a:lvl2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3000"/>
              </a:spcAft>
              <a:buSzPct val="90000"/>
              <a:buFont typeface="Wingdings" panose="05000000000000000000" pitchFamily="2" charset="2"/>
              <a:buNone/>
              <a:defRPr sz="2400" b="0" i="0" kern="1200" baseline="0">
                <a:solidFill>
                  <a:schemeClr val="tx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2pPr>
            <a:lvl3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3000"/>
              </a:spcAft>
              <a:buFont typeface="Amazon Ember" panose="020B0603020204020204" pitchFamily="34" charset="0"/>
              <a:buNone/>
              <a:defRPr sz="2400" b="0" i="0" kern="1200" baseline="0">
                <a:solidFill>
                  <a:schemeClr val="tx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3pPr>
            <a:lvl4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3000"/>
              </a:spcAft>
              <a:buFont typeface="Arial" panose="020B0604020202020204" pitchFamily="34" charset="0"/>
              <a:buNone/>
              <a:defRPr sz="2400" b="0" i="0" kern="1200" baseline="0">
                <a:solidFill>
                  <a:schemeClr val="tx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4pPr>
            <a:lvl5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3000"/>
              </a:spcAft>
              <a:buFont typeface="Arial" panose="020B0604020202020204" pitchFamily="34" charset="0"/>
              <a:buNone/>
              <a:defRPr sz="2400" b="0" i="0" kern="1200" baseline="0">
                <a:solidFill>
                  <a:schemeClr val="tx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dirty="0"/>
              <a:t>This loss is an upper bound of NLL of data, just like the generative models we’ve seen </a:t>
            </a:r>
            <a:endParaRPr lang="en-KR" sz="2000" dirty="0"/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5BDF52D0-2C68-0683-39D0-0A48E6550DAC}"/>
              </a:ext>
            </a:extLst>
          </p:cNvPr>
          <p:cNvSpPr txBox="1">
            <a:spLocks/>
          </p:cNvSpPr>
          <p:nvPr/>
        </p:nvSpPr>
        <p:spPr>
          <a:xfrm>
            <a:off x="609600" y="5286268"/>
            <a:ext cx="10972800" cy="369332"/>
          </a:xfrm>
          <a:prstGeom prst="rect">
            <a:avLst/>
          </a:prstGeom>
        </p:spPr>
        <p:txBody>
          <a:bodyPr vert="horz" wrap="square" lIns="0" tIns="45720" rIns="0" bIns="45720" rtlCol="0">
            <a:sp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3000"/>
              </a:spcAft>
              <a:buSzPct val="90000"/>
              <a:buFont typeface="Arial" panose="020B0604020202020204" pitchFamily="34" charset="0"/>
              <a:buNone/>
              <a:defRPr sz="2400" b="0" i="0" kern="1200" baseline="0">
                <a:solidFill>
                  <a:schemeClr val="tx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1pPr>
            <a:lvl2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3000"/>
              </a:spcAft>
              <a:buSzPct val="90000"/>
              <a:buFont typeface="Wingdings" panose="05000000000000000000" pitchFamily="2" charset="2"/>
              <a:buNone/>
              <a:defRPr sz="2400" b="0" i="0" kern="1200" baseline="0">
                <a:solidFill>
                  <a:schemeClr val="tx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2pPr>
            <a:lvl3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3000"/>
              </a:spcAft>
              <a:buFont typeface="Amazon Ember" panose="020B0603020204020204" pitchFamily="34" charset="0"/>
              <a:buNone/>
              <a:defRPr sz="2400" b="0" i="0" kern="1200" baseline="0">
                <a:solidFill>
                  <a:schemeClr val="tx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3pPr>
            <a:lvl4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3000"/>
              </a:spcAft>
              <a:buFont typeface="Arial" panose="020B0604020202020204" pitchFamily="34" charset="0"/>
              <a:buNone/>
              <a:defRPr sz="2400" b="0" i="0" kern="1200" baseline="0">
                <a:solidFill>
                  <a:schemeClr val="tx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4pPr>
            <a:lvl5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3000"/>
              </a:spcAft>
              <a:buFont typeface="Arial" panose="020B0604020202020204" pitchFamily="34" charset="0"/>
              <a:buNone/>
              <a:defRPr sz="2400" b="0" i="0" kern="1200" baseline="0">
                <a:solidFill>
                  <a:schemeClr val="tx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2000" dirty="0"/>
              <a:t>Throughout</a:t>
            </a:r>
            <a:r>
              <a:rPr lang="ko-KR" altLang="en-US" sz="2000" dirty="0"/>
              <a:t> </a:t>
            </a:r>
            <a:r>
              <a:rPr lang="en-US" altLang="ko-KR" sz="2000" dirty="0"/>
              <a:t>this</a:t>
            </a:r>
            <a:r>
              <a:rPr lang="ko-KR" altLang="en-US" sz="2000" dirty="0"/>
              <a:t> </a:t>
            </a:r>
            <a:r>
              <a:rPr lang="en-US" altLang="ko-KR" sz="2000" dirty="0"/>
              <a:t>talk,</a:t>
            </a:r>
            <a:r>
              <a:rPr lang="ko-KR" altLang="en-US" sz="2000" dirty="0"/>
              <a:t> </a:t>
            </a:r>
            <a:r>
              <a:rPr lang="en-US" altLang="ko-KR" sz="2000" dirty="0"/>
              <a:t>Diffusion Language Model(DLM)</a:t>
            </a:r>
            <a:r>
              <a:rPr lang="ko-KR" altLang="en-US" sz="2000" dirty="0"/>
              <a:t> </a:t>
            </a:r>
            <a:r>
              <a:rPr lang="en-US" altLang="ko-KR" sz="2000" dirty="0"/>
              <a:t>means</a:t>
            </a:r>
            <a:r>
              <a:rPr lang="ko-KR" altLang="en-US" sz="2000" dirty="0"/>
              <a:t> </a:t>
            </a:r>
            <a:r>
              <a:rPr lang="en-US" altLang="ko-KR" sz="2000" dirty="0"/>
              <a:t>MDLM</a:t>
            </a:r>
            <a:endParaRPr lang="en-KR" sz="2000" dirty="0"/>
          </a:p>
        </p:txBody>
      </p:sp>
    </p:spTree>
    <p:extLst>
      <p:ext uri="{BB962C8B-B14F-4D97-AF65-F5344CB8AC3E}">
        <p14:creationId xmlns:p14="http://schemas.microsoft.com/office/powerpoint/2010/main" val="427845339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EE69DB2-0B81-1FCC-B9B3-1E760E38A0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KR" dirty="0"/>
              <a:t>Three flavors of sampling DLM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534A4BD-7AA6-3B8B-8AEE-94761BF6F75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09600" y="1714500"/>
            <a:ext cx="10972800" cy="1031051"/>
          </a:xfrm>
        </p:spPr>
        <p:txBody>
          <a:bodyPr/>
          <a:lstStyle/>
          <a:p>
            <a:r>
              <a:rPr lang="en-KR" sz="2000" dirty="0"/>
              <a:t>In DLM, we can define </a:t>
            </a:r>
            <a:r>
              <a:rPr lang="en-KR" sz="2000" b="1" dirty="0"/>
              <a:t>“block” </a:t>
            </a:r>
            <a:r>
              <a:rPr lang="en-KR" sz="2000" dirty="0"/>
              <a:t>and the tokens are sampled block-by-block</a:t>
            </a:r>
          </a:p>
          <a:p>
            <a:r>
              <a:rPr lang="en-KR" sz="2000" dirty="0"/>
              <a:t>LLaDA mentions three flavors of DLM sampling.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E825ED8-7986-C897-CBBB-A3DF6294B259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EB4B8DE2-A4E8-46E4-8BBF-D75455EFF32C}" type="slidenum">
              <a:rPr lang="en-US" smtClean="0"/>
              <a:pPr/>
              <a:t>5</a:t>
            </a:fld>
            <a:endParaRPr lang="en-US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295CF098-3D55-9626-2052-4C1A85C3FCF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4429" y="3117198"/>
            <a:ext cx="11663141" cy="19074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5F9AFA99-3FE0-7C2C-CF5C-D3F9BF505B1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09600" y="6423793"/>
            <a:ext cx="5330972" cy="369332"/>
          </a:xfrm>
        </p:spPr>
        <p:txBody>
          <a:bodyPr/>
          <a:lstStyle/>
          <a:p>
            <a:r>
              <a:rPr lang="en-US" dirty="0"/>
              <a:t>https://</a:t>
            </a:r>
            <a:r>
              <a:rPr lang="en-US" dirty="0" err="1"/>
              <a:t>github.com</a:t>
            </a:r>
            <a:r>
              <a:rPr lang="en-US" dirty="0"/>
              <a:t>/ML-GSAI/</a:t>
            </a:r>
            <a:r>
              <a:rPr lang="en-US" dirty="0" err="1"/>
              <a:t>LLaDA</a:t>
            </a:r>
            <a:r>
              <a:rPr lang="en-US" dirty="0"/>
              <a:t>/blob/main/</a:t>
            </a:r>
            <a:r>
              <a:rPr lang="en-US" dirty="0" err="1"/>
              <a:t>GUIDELINES.md</a:t>
            </a:r>
            <a:endParaRPr lang="en-KR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21865642-6446-E7B0-FA49-12F4DC0894C5}"/>
              </a:ext>
            </a:extLst>
          </p:cNvPr>
          <p:cNvCxnSpPr/>
          <p:nvPr/>
        </p:nvCxnSpPr>
        <p:spPr>
          <a:xfrm>
            <a:off x="3391153" y="2850636"/>
            <a:ext cx="0" cy="2482808"/>
          </a:xfrm>
          <a:prstGeom prst="line">
            <a:avLst/>
          </a:prstGeom>
          <a:ln w="28575" cap="rnd">
            <a:solidFill>
              <a:schemeClr val="tx1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2B5D223C-6F65-C4D8-A026-7C7A9742A2A1}"/>
              </a:ext>
            </a:extLst>
          </p:cNvPr>
          <p:cNvSpPr txBox="1"/>
          <p:nvPr/>
        </p:nvSpPr>
        <p:spPr>
          <a:xfrm>
            <a:off x="3229829" y="5438529"/>
            <a:ext cx="5732339" cy="338554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pPr algn="ctr"/>
            <a:r>
              <a:rPr lang="en-KR" sz="1600" dirty="0"/>
              <a:t>It may seem that the right two are more similar than the other…</a:t>
            </a:r>
          </a:p>
        </p:txBody>
      </p:sp>
    </p:spTree>
    <p:extLst>
      <p:ext uri="{BB962C8B-B14F-4D97-AF65-F5344CB8AC3E}">
        <p14:creationId xmlns:p14="http://schemas.microsoft.com/office/powerpoint/2010/main" val="29407556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D8C8C0-1D74-F65A-4B25-3C37287C22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8BEC9633-4E95-A163-3CB7-4D24EFE22D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KR" dirty="0"/>
              <a:t>Three flavors of sampling DLM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C747B7C-91EE-A0C1-F204-AA465893584E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EB4B8DE2-A4E8-46E4-8BBF-D75455EFF32C}" type="slidenum">
              <a:rPr lang="en-US" smtClean="0"/>
              <a:pPr/>
              <a:t>6</a:t>
            </a:fld>
            <a:endParaRPr lang="en-US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43038864-7E41-4A71-8434-D27F6D52DD2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4429" y="3117198"/>
            <a:ext cx="11663141" cy="19074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7398A39B-39FE-9753-910F-5C537821F6A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09600" y="6423793"/>
            <a:ext cx="5330972" cy="369332"/>
          </a:xfrm>
        </p:spPr>
        <p:txBody>
          <a:bodyPr/>
          <a:lstStyle/>
          <a:p>
            <a:r>
              <a:rPr lang="en-US" dirty="0"/>
              <a:t>https://</a:t>
            </a:r>
            <a:r>
              <a:rPr lang="en-US" dirty="0" err="1"/>
              <a:t>github.com</a:t>
            </a:r>
            <a:r>
              <a:rPr lang="en-US" dirty="0"/>
              <a:t>/ML-GSAI/</a:t>
            </a:r>
            <a:r>
              <a:rPr lang="en-US" dirty="0" err="1"/>
              <a:t>LLaDA</a:t>
            </a:r>
            <a:r>
              <a:rPr lang="en-US" dirty="0"/>
              <a:t>/blob/main/</a:t>
            </a:r>
            <a:r>
              <a:rPr lang="en-US" dirty="0" err="1"/>
              <a:t>GUIDELINES.md</a:t>
            </a:r>
            <a:endParaRPr lang="en-KR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388403B-3FFF-07E1-F676-0A021190EAC8}"/>
              </a:ext>
            </a:extLst>
          </p:cNvPr>
          <p:cNvSpPr txBox="1"/>
          <p:nvPr/>
        </p:nvSpPr>
        <p:spPr>
          <a:xfrm>
            <a:off x="3204181" y="5575049"/>
            <a:ext cx="5783635" cy="338554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pPr algn="ctr"/>
            <a:r>
              <a:rPr lang="en-KR" sz="1600" dirty="0">
                <a:solidFill>
                  <a:srgbClr val="002060"/>
                </a:solidFill>
              </a:rPr>
              <a:t>By the end you will know that the middle one is the distinct one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B4BEAF9-8D81-F8C0-72A9-E96C865917B5}"/>
              </a:ext>
            </a:extLst>
          </p:cNvPr>
          <p:cNvSpPr/>
          <p:nvPr/>
        </p:nvSpPr>
        <p:spPr>
          <a:xfrm>
            <a:off x="3421430" y="2745551"/>
            <a:ext cx="3960382" cy="2504680"/>
          </a:xfrm>
          <a:prstGeom prst="rect">
            <a:avLst/>
          </a:prstGeom>
          <a:noFill/>
          <a:ln w="285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45720" rIns="45720" rtlCol="0" anchor="ctr"/>
          <a:lstStyle/>
          <a:p>
            <a:pPr algn="ctr"/>
            <a:endParaRPr lang="en-KR" dirty="0" err="1">
              <a:solidFill>
                <a:schemeClr val="tx1"/>
              </a:solidFill>
            </a:endParaRP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8584F365-4A76-A069-CF02-4517EBC091D2}"/>
              </a:ext>
            </a:extLst>
          </p:cNvPr>
          <p:cNvSpPr txBox="1">
            <a:spLocks/>
          </p:cNvSpPr>
          <p:nvPr/>
        </p:nvSpPr>
        <p:spPr>
          <a:xfrm>
            <a:off x="609600" y="1714500"/>
            <a:ext cx="10972800" cy="1031051"/>
          </a:xfrm>
          <a:prstGeom prst="rect">
            <a:avLst/>
          </a:prstGeom>
        </p:spPr>
        <p:txBody>
          <a:bodyPr vert="horz" wrap="square" lIns="0" tIns="45720" rIns="0" bIns="45720" rtlCol="0">
            <a:sp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3000"/>
              </a:spcAft>
              <a:buSzPct val="90000"/>
              <a:buFont typeface="Arial" panose="020B0604020202020204" pitchFamily="34" charset="0"/>
              <a:buNone/>
              <a:defRPr sz="2400" b="0" i="0" kern="1200" baseline="0">
                <a:solidFill>
                  <a:schemeClr val="tx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1pPr>
            <a:lvl2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3000"/>
              </a:spcAft>
              <a:buSzPct val="90000"/>
              <a:buFont typeface="Wingdings" panose="05000000000000000000" pitchFamily="2" charset="2"/>
              <a:buNone/>
              <a:defRPr sz="2400" b="0" i="0" kern="1200" baseline="0">
                <a:solidFill>
                  <a:schemeClr val="tx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2pPr>
            <a:lvl3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3000"/>
              </a:spcAft>
              <a:buFont typeface="Amazon Ember" panose="020B0603020204020204" pitchFamily="34" charset="0"/>
              <a:buNone/>
              <a:defRPr sz="2400" b="0" i="0" kern="1200" baseline="0">
                <a:solidFill>
                  <a:schemeClr val="tx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3pPr>
            <a:lvl4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3000"/>
              </a:spcAft>
              <a:buFont typeface="Arial" panose="020B0604020202020204" pitchFamily="34" charset="0"/>
              <a:buNone/>
              <a:defRPr sz="2400" b="0" i="0" kern="1200" baseline="0">
                <a:solidFill>
                  <a:schemeClr val="tx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4pPr>
            <a:lvl5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3000"/>
              </a:spcAft>
              <a:buFont typeface="Arial" panose="020B0604020202020204" pitchFamily="34" charset="0"/>
              <a:buNone/>
              <a:defRPr sz="2400" b="0" i="0" kern="1200" baseline="0">
                <a:solidFill>
                  <a:schemeClr val="tx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KR" sz="2000"/>
              <a:t>In DLM, we can define </a:t>
            </a:r>
            <a:r>
              <a:rPr lang="en-KR" sz="2000" b="1"/>
              <a:t>“block” </a:t>
            </a:r>
            <a:r>
              <a:rPr lang="en-KR" sz="2000"/>
              <a:t>and the tokens are sampled block-by-block</a:t>
            </a:r>
          </a:p>
          <a:p>
            <a:r>
              <a:rPr lang="en-KR" sz="2000"/>
              <a:t>LLaDA mentions three flavors of DLM sampling.</a:t>
            </a:r>
            <a:endParaRPr lang="en-KR" sz="2000" dirty="0"/>
          </a:p>
        </p:txBody>
      </p:sp>
    </p:spTree>
    <p:extLst>
      <p:ext uri="{BB962C8B-B14F-4D97-AF65-F5344CB8AC3E}">
        <p14:creationId xmlns:p14="http://schemas.microsoft.com/office/powerpoint/2010/main" val="355188839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4DC4BD-4C22-5F7D-95C5-9C6ED341B7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EA2930A5-73C5-0562-6398-C3BA0F70DF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KR" dirty="0"/>
              <a:t>Table of contents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AC5AAA52-272A-FCFE-2416-EBA46482539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714500"/>
            <a:ext cx="10972800" cy="1717393"/>
          </a:xfrm>
        </p:spPr>
        <p:txBody>
          <a:bodyPr/>
          <a:lstStyle/>
          <a:p>
            <a:pPr marL="457200" indent="-457200">
              <a:buAutoNum type="alphaUcPeriod"/>
            </a:pPr>
            <a:r>
              <a:rPr lang="en-KR" dirty="0"/>
              <a:t>Sampling </a:t>
            </a:r>
          </a:p>
          <a:p>
            <a:pPr marL="742950" lvl="1" indent="-457200">
              <a:buFont typeface="+mj-lt"/>
              <a:buAutoNum type="arabicPeriod"/>
            </a:pPr>
            <a:r>
              <a:rPr lang="en-KR" dirty="0"/>
              <a:t>Basic DLM sampling (non-AR)</a:t>
            </a:r>
          </a:p>
          <a:p>
            <a:pPr marL="742950" lvl="1" indent="-457200">
              <a:buFont typeface="+mj-lt"/>
              <a:buAutoNum type="arabicPeriod"/>
            </a:pPr>
            <a:r>
              <a:rPr lang="en-KR" dirty="0"/>
              <a:t>Semi-AR sampling &amp; approximate KV caching</a:t>
            </a:r>
          </a:p>
          <a:p>
            <a:pPr marL="742950" lvl="1" indent="-457200">
              <a:buFont typeface="+mj-lt"/>
              <a:buAutoNum type="arabicPeriod"/>
            </a:pPr>
            <a:r>
              <a:rPr lang="en-KR" dirty="0"/>
              <a:t>Block diffusion (AR-diffusion hybrid)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4FC6AEC-AD88-7F3E-542C-DD4DCA087F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4B8DE2-A4E8-46E4-8BBF-D75455EFF32C}" type="slidenum">
              <a:rPr lang="en-US" smtClean="0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050750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F031AC4-73C9-F9C5-DFDF-78417FF407D1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EB4B8DE2-A4E8-46E4-8BBF-D75455EFF32C}" type="slidenum">
              <a:rPr lang="en-US" smtClean="0"/>
              <a:pPr/>
              <a:t>8</a:t>
            </a:fld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036D0AE-F3FF-2C69-0F39-A6286DA8BE5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KR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EEAFF265-6EFA-B76F-4285-47622AA9D09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19257841"/>
              </p:ext>
            </p:extLst>
          </p:nvPr>
        </p:nvGraphicFramePr>
        <p:xfrm>
          <a:off x="4148894" y="719666"/>
          <a:ext cx="5083362" cy="3708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47227">
                  <a:extLst>
                    <a:ext uri="{9D8B030D-6E8A-4147-A177-3AD203B41FA5}">
                      <a16:colId xmlns:a16="http://schemas.microsoft.com/office/drawing/2014/main" val="2725002957"/>
                    </a:ext>
                  </a:extLst>
                </a:gridCol>
                <a:gridCol w="847227">
                  <a:extLst>
                    <a:ext uri="{9D8B030D-6E8A-4147-A177-3AD203B41FA5}">
                      <a16:colId xmlns:a16="http://schemas.microsoft.com/office/drawing/2014/main" val="2967591184"/>
                    </a:ext>
                  </a:extLst>
                </a:gridCol>
                <a:gridCol w="847227">
                  <a:extLst>
                    <a:ext uri="{9D8B030D-6E8A-4147-A177-3AD203B41FA5}">
                      <a16:colId xmlns:a16="http://schemas.microsoft.com/office/drawing/2014/main" val="3465237977"/>
                    </a:ext>
                  </a:extLst>
                </a:gridCol>
                <a:gridCol w="847227">
                  <a:extLst>
                    <a:ext uri="{9D8B030D-6E8A-4147-A177-3AD203B41FA5}">
                      <a16:colId xmlns:a16="http://schemas.microsoft.com/office/drawing/2014/main" val="4043266946"/>
                    </a:ext>
                  </a:extLst>
                </a:gridCol>
                <a:gridCol w="847227">
                  <a:extLst>
                    <a:ext uri="{9D8B030D-6E8A-4147-A177-3AD203B41FA5}">
                      <a16:colId xmlns:a16="http://schemas.microsoft.com/office/drawing/2014/main" val="758914307"/>
                    </a:ext>
                  </a:extLst>
                </a:gridCol>
                <a:gridCol w="847227">
                  <a:extLst>
                    <a:ext uri="{9D8B030D-6E8A-4147-A177-3AD203B41FA5}">
                      <a16:colId xmlns:a16="http://schemas.microsoft.com/office/drawing/2014/main" val="209698160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KR" dirty="0"/>
                        <a:t>&lt;M&gt;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KR" dirty="0"/>
                        <a:t>&lt;M&gt;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KR" dirty="0"/>
                        <a:t>&lt;M&gt;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KR" dirty="0"/>
                        <a:t>&lt;M&gt;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KR" dirty="0"/>
                        <a:t>&lt;M&gt;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KR" dirty="0"/>
                        <a:t>&lt;M&gt;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46548387"/>
                  </a:ext>
                </a:extLst>
              </a:tr>
            </a:tbl>
          </a:graphicData>
        </a:graphic>
      </p:graphicFrame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6A168ACB-8C52-C160-7460-EF5D78C0AE9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97824756"/>
              </p:ext>
            </p:extLst>
          </p:nvPr>
        </p:nvGraphicFramePr>
        <p:xfrm>
          <a:off x="4148894" y="1560764"/>
          <a:ext cx="5083362" cy="3708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47227">
                  <a:extLst>
                    <a:ext uri="{9D8B030D-6E8A-4147-A177-3AD203B41FA5}">
                      <a16:colId xmlns:a16="http://schemas.microsoft.com/office/drawing/2014/main" val="2725002957"/>
                    </a:ext>
                  </a:extLst>
                </a:gridCol>
                <a:gridCol w="847227">
                  <a:extLst>
                    <a:ext uri="{9D8B030D-6E8A-4147-A177-3AD203B41FA5}">
                      <a16:colId xmlns:a16="http://schemas.microsoft.com/office/drawing/2014/main" val="2967591184"/>
                    </a:ext>
                  </a:extLst>
                </a:gridCol>
                <a:gridCol w="847227">
                  <a:extLst>
                    <a:ext uri="{9D8B030D-6E8A-4147-A177-3AD203B41FA5}">
                      <a16:colId xmlns:a16="http://schemas.microsoft.com/office/drawing/2014/main" val="3465237977"/>
                    </a:ext>
                  </a:extLst>
                </a:gridCol>
                <a:gridCol w="847227">
                  <a:extLst>
                    <a:ext uri="{9D8B030D-6E8A-4147-A177-3AD203B41FA5}">
                      <a16:colId xmlns:a16="http://schemas.microsoft.com/office/drawing/2014/main" val="4043266946"/>
                    </a:ext>
                  </a:extLst>
                </a:gridCol>
                <a:gridCol w="847227">
                  <a:extLst>
                    <a:ext uri="{9D8B030D-6E8A-4147-A177-3AD203B41FA5}">
                      <a16:colId xmlns:a16="http://schemas.microsoft.com/office/drawing/2014/main" val="758914307"/>
                    </a:ext>
                  </a:extLst>
                </a:gridCol>
                <a:gridCol w="847227">
                  <a:extLst>
                    <a:ext uri="{9D8B030D-6E8A-4147-A177-3AD203B41FA5}">
                      <a16:colId xmlns:a16="http://schemas.microsoft.com/office/drawing/2014/main" val="209698160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KR" dirty="0"/>
                        <a:t>&lt;M&gt;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KR" dirty="0"/>
                        <a:t>&lt;M&gt;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A</a:t>
                      </a:r>
                      <a:endParaRPr lang="en-K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KR" dirty="0"/>
                        <a:t>&lt;M&gt;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KR" dirty="0"/>
                        <a:t>&lt;M&gt;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KR" dirty="0"/>
                        <a:t>&lt;M&gt;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46548387"/>
                  </a:ext>
                </a:extLst>
              </a:tr>
            </a:tbl>
          </a:graphicData>
        </a:graphic>
      </p:graphicFrame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64B5AD92-1925-B9AB-D601-0FD637F606C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84050343"/>
              </p:ext>
            </p:extLst>
          </p:nvPr>
        </p:nvGraphicFramePr>
        <p:xfrm>
          <a:off x="4148894" y="2401862"/>
          <a:ext cx="5083362" cy="3708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47227">
                  <a:extLst>
                    <a:ext uri="{9D8B030D-6E8A-4147-A177-3AD203B41FA5}">
                      <a16:colId xmlns:a16="http://schemas.microsoft.com/office/drawing/2014/main" val="2725002957"/>
                    </a:ext>
                  </a:extLst>
                </a:gridCol>
                <a:gridCol w="847227">
                  <a:extLst>
                    <a:ext uri="{9D8B030D-6E8A-4147-A177-3AD203B41FA5}">
                      <a16:colId xmlns:a16="http://schemas.microsoft.com/office/drawing/2014/main" val="2967591184"/>
                    </a:ext>
                  </a:extLst>
                </a:gridCol>
                <a:gridCol w="847227">
                  <a:extLst>
                    <a:ext uri="{9D8B030D-6E8A-4147-A177-3AD203B41FA5}">
                      <a16:colId xmlns:a16="http://schemas.microsoft.com/office/drawing/2014/main" val="3465237977"/>
                    </a:ext>
                  </a:extLst>
                </a:gridCol>
                <a:gridCol w="847227">
                  <a:extLst>
                    <a:ext uri="{9D8B030D-6E8A-4147-A177-3AD203B41FA5}">
                      <a16:colId xmlns:a16="http://schemas.microsoft.com/office/drawing/2014/main" val="4043266946"/>
                    </a:ext>
                  </a:extLst>
                </a:gridCol>
                <a:gridCol w="847227">
                  <a:extLst>
                    <a:ext uri="{9D8B030D-6E8A-4147-A177-3AD203B41FA5}">
                      <a16:colId xmlns:a16="http://schemas.microsoft.com/office/drawing/2014/main" val="758914307"/>
                    </a:ext>
                  </a:extLst>
                </a:gridCol>
                <a:gridCol w="847227">
                  <a:extLst>
                    <a:ext uri="{9D8B030D-6E8A-4147-A177-3AD203B41FA5}">
                      <a16:colId xmlns:a16="http://schemas.microsoft.com/office/drawing/2014/main" val="209698160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KR" dirty="0"/>
                        <a:t>&lt;M&gt;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KR" dirty="0"/>
                        <a:t>&lt;M&gt;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A</a:t>
                      </a:r>
                      <a:endParaRPr lang="en-K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KR" dirty="0"/>
                        <a:t>&lt;M&gt;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&lt;M&gt;</a:t>
                      </a:r>
                      <a:endParaRPr lang="en-K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KR" dirty="0"/>
                        <a:t>B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46548387"/>
                  </a:ext>
                </a:extLst>
              </a:tr>
            </a:tbl>
          </a:graphicData>
        </a:graphic>
      </p:graphicFrame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A56BAFCF-1C2F-47D3-A42A-77CE97CC28DA}"/>
              </a:ext>
            </a:extLst>
          </p:cNvPr>
          <p:cNvCxnSpPr>
            <a:cxnSpLocks/>
          </p:cNvCxnSpPr>
          <p:nvPr/>
        </p:nvCxnSpPr>
        <p:spPr>
          <a:xfrm>
            <a:off x="9483115" y="719666"/>
            <a:ext cx="0" cy="5039237"/>
          </a:xfrm>
          <a:prstGeom prst="straightConnector1">
            <a:avLst/>
          </a:prstGeom>
          <a:ln w="19050" cap="rnd">
            <a:solidFill>
              <a:srgbClr val="FF0000"/>
            </a:solidFill>
            <a:round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B3A6426E-94D6-434F-42C9-0834521698D8}"/>
              </a:ext>
            </a:extLst>
          </p:cNvPr>
          <p:cNvSpPr txBox="1"/>
          <p:nvPr/>
        </p:nvSpPr>
        <p:spPr>
          <a:xfrm>
            <a:off x="9713224" y="719666"/>
            <a:ext cx="323807" cy="369332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pPr algn="l"/>
            <a:r>
              <a:rPr lang="en-US" dirty="0"/>
              <a:t>t=1</a:t>
            </a:r>
            <a:endParaRPr lang="en-KR" dirty="0" err="1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B14910A-91F1-6E5D-C880-F637F8715111}"/>
              </a:ext>
            </a:extLst>
          </p:cNvPr>
          <p:cNvSpPr txBox="1"/>
          <p:nvPr/>
        </p:nvSpPr>
        <p:spPr>
          <a:xfrm>
            <a:off x="9713224" y="5389571"/>
            <a:ext cx="360676" cy="369332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pPr algn="l"/>
            <a:r>
              <a:rPr lang="en-US" dirty="0"/>
              <a:t>t=0</a:t>
            </a:r>
            <a:endParaRPr lang="en-KR" dirty="0" err="1"/>
          </a:p>
        </p:txBody>
      </p:sp>
      <p:graphicFrame>
        <p:nvGraphicFramePr>
          <p:cNvPr id="16" name="Table 15">
            <a:extLst>
              <a:ext uri="{FF2B5EF4-FFF2-40B4-BE49-F238E27FC236}">
                <a16:creationId xmlns:a16="http://schemas.microsoft.com/office/drawing/2014/main" id="{70B4DAE3-5422-172E-28FE-A1844C3771A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40427502"/>
              </p:ext>
            </p:extLst>
          </p:nvPr>
        </p:nvGraphicFramePr>
        <p:xfrm>
          <a:off x="4148894" y="5288882"/>
          <a:ext cx="5083362" cy="3708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47227">
                  <a:extLst>
                    <a:ext uri="{9D8B030D-6E8A-4147-A177-3AD203B41FA5}">
                      <a16:colId xmlns:a16="http://schemas.microsoft.com/office/drawing/2014/main" val="2725002957"/>
                    </a:ext>
                  </a:extLst>
                </a:gridCol>
                <a:gridCol w="847227">
                  <a:extLst>
                    <a:ext uri="{9D8B030D-6E8A-4147-A177-3AD203B41FA5}">
                      <a16:colId xmlns:a16="http://schemas.microsoft.com/office/drawing/2014/main" val="2967591184"/>
                    </a:ext>
                  </a:extLst>
                </a:gridCol>
                <a:gridCol w="847227">
                  <a:extLst>
                    <a:ext uri="{9D8B030D-6E8A-4147-A177-3AD203B41FA5}">
                      <a16:colId xmlns:a16="http://schemas.microsoft.com/office/drawing/2014/main" val="3465237977"/>
                    </a:ext>
                  </a:extLst>
                </a:gridCol>
                <a:gridCol w="847227">
                  <a:extLst>
                    <a:ext uri="{9D8B030D-6E8A-4147-A177-3AD203B41FA5}">
                      <a16:colId xmlns:a16="http://schemas.microsoft.com/office/drawing/2014/main" val="4043266946"/>
                    </a:ext>
                  </a:extLst>
                </a:gridCol>
                <a:gridCol w="847227">
                  <a:extLst>
                    <a:ext uri="{9D8B030D-6E8A-4147-A177-3AD203B41FA5}">
                      <a16:colId xmlns:a16="http://schemas.microsoft.com/office/drawing/2014/main" val="758914307"/>
                    </a:ext>
                  </a:extLst>
                </a:gridCol>
                <a:gridCol w="847227">
                  <a:extLst>
                    <a:ext uri="{9D8B030D-6E8A-4147-A177-3AD203B41FA5}">
                      <a16:colId xmlns:a16="http://schemas.microsoft.com/office/drawing/2014/main" val="209698160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KR"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KR" dirty="0"/>
                        <a:t>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KR" dirty="0"/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KR" dirty="0"/>
                        <a:t>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KR" dirty="0"/>
                        <a:t>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KR" dirty="0"/>
                        <a:t>B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46548387"/>
                  </a:ext>
                </a:extLst>
              </a:tr>
            </a:tbl>
          </a:graphicData>
        </a:graphic>
      </p:graphicFrame>
      <p:sp>
        <p:nvSpPr>
          <p:cNvPr id="19" name="Down Arrow 18">
            <a:extLst>
              <a:ext uri="{FF2B5EF4-FFF2-40B4-BE49-F238E27FC236}">
                <a16:creationId xmlns:a16="http://schemas.microsoft.com/office/drawing/2014/main" id="{061C40BA-8272-3FC0-14C6-1945F0FA7299}"/>
              </a:ext>
            </a:extLst>
          </p:cNvPr>
          <p:cNvSpPr/>
          <p:nvPr/>
        </p:nvSpPr>
        <p:spPr>
          <a:xfrm>
            <a:off x="6101646" y="1985490"/>
            <a:ext cx="351226" cy="361866"/>
          </a:xfrm>
          <a:prstGeom prst="downArrow">
            <a:avLst/>
          </a:prstGeom>
          <a:noFill/>
          <a:ln w="28575"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45720" rIns="45720" rtlCol="0" anchor="ctr"/>
          <a:lstStyle/>
          <a:p>
            <a:pPr algn="ctr"/>
            <a:endParaRPr lang="en-KR" dirty="0" err="1">
              <a:solidFill>
                <a:schemeClr val="tx1"/>
              </a:solidFill>
            </a:endParaRPr>
          </a:p>
        </p:txBody>
      </p:sp>
      <p:graphicFrame>
        <p:nvGraphicFramePr>
          <p:cNvPr id="29" name="Table 28">
            <a:extLst>
              <a:ext uri="{FF2B5EF4-FFF2-40B4-BE49-F238E27FC236}">
                <a16:creationId xmlns:a16="http://schemas.microsoft.com/office/drawing/2014/main" id="{3A986D90-2019-5D56-68DB-5AF785E7BFC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06205795"/>
              </p:ext>
            </p:extLst>
          </p:nvPr>
        </p:nvGraphicFramePr>
        <p:xfrm>
          <a:off x="4148894" y="3243580"/>
          <a:ext cx="5083362" cy="3708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47227">
                  <a:extLst>
                    <a:ext uri="{9D8B030D-6E8A-4147-A177-3AD203B41FA5}">
                      <a16:colId xmlns:a16="http://schemas.microsoft.com/office/drawing/2014/main" val="2725002957"/>
                    </a:ext>
                  </a:extLst>
                </a:gridCol>
                <a:gridCol w="847227">
                  <a:extLst>
                    <a:ext uri="{9D8B030D-6E8A-4147-A177-3AD203B41FA5}">
                      <a16:colId xmlns:a16="http://schemas.microsoft.com/office/drawing/2014/main" val="2967591184"/>
                    </a:ext>
                  </a:extLst>
                </a:gridCol>
                <a:gridCol w="847227">
                  <a:extLst>
                    <a:ext uri="{9D8B030D-6E8A-4147-A177-3AD203B41FA5}">
                      <a16:colId xmlns:a16="http://schemas.microsoft.com/office/drawing/2014/main" val="3465237977"/>
                    </a:ext>
                  </a:extLst>
                </a:gridCol>
                <a:gridCol w="847227">
                  <a:extLst>
                    <a:ext uri="{9D8B030D-6E8A-4147-A177-3AD203B41FA5}">
                      <a16:colId xmlns:a16="http://schemas.microsoft.com/office/drawing/2014/main" val="4043266946"/>
                    </a:ext>
                  </a:extLst>
                </a:gridCol>
                <a:gridCol w="847227">
                  <a:extLst>
                    <a:ext uri="{9D8B030D-6E8A-4147-A177-3AD203B41FA5}">
                      <a16:colId xmlns:a16="http://schemas.microsoft.com/office/drawing/2014/main" val="758914307"/>
                    </a:ext>
                  </a:extLst>
                </a:gridCol>
                <a:gridCol w="847227">
                  <a:extLst>
                    <a:ext uri="{9D8B030D-6E8A-4147-A177-3AD203B41FA5}">
                      <a16:colId xmlns:a16="http://schemas.microsoft.com/office/drawing/2014/main" val="209698160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KR" dirty="0"/>
                        <a:t>&lt;M&gt;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KR" dirty="0"/>
                        <a:t>&lt;M&gt;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A</a:t>
                      </a:r>
                      <a:endParaRPr lang="en-K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KR" dirty="0"/>
                        <a:t>&lt;M&gt;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C</a:t>
                      </a:r>
                      <a:endParaRPr lang="en-K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KR" dirty="0"/>
                        <a:t>B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46548387"/>
                  </a:ext>
                </a:extLst>
              </a:tr>
            </a:tbl>
          </a:graphicData>
        </a:graphic>
      </p:graphicFrame>
      <p:sp>
        <p:nvSpPr>
          <p:cNvPr id="31" name="Down Arrow 30">
            <a:extLst>
              <a:ext uri="{FF2B5EF4-FFF2-40B4-BE49-F238E27FC236}">
                <a16:creationId xmlns:a16="http://schemas.microsoft.com/office/drawing/2014/main" id="{18C343D0-9FC0-D692-5526-B8D27473DA14}"/>
              </a:ext>
            </a:extLst>
          </p:cNvPr>
          <p:cNvSpPr/>
          <p:nvPr/>
        </p:nvSpPr>
        <p:spPr>
          <a:xfrm>
            <a:off x="6101646" y="2822721"/>
            <a:ext cx="351226" cy="361866"/>
          </a:xfrm>
          <a:prstGeom prst="downArrow">
            <a:avLst/>
          </a:prstGeom>
          <a:noFill/>
          <a:ln w="28575"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45720" rIns="45720" rtlCol="0" anchor="ctr"/>
          <a:lstStyle/>
          <a:p>
            <a:pPr algn="ctr"/>
            <a:endParaRPr lang="en-KR" dirty="0" err="1">
              <a:solidFill>
                <a:schemeClr val="tx1"/>
              </a:solidFill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52940BCD-E122-7A78-4161-1AD2F97EA3BD}"/>
              </a:ext>
            </a:extLst>
          </p:cNvPr>
          <p:cNvSpPr txBox="1"/>
          <p:nvPr/>
        </p:nvSpPr>
        <p:spPr>
          <a:xfrm>
            <a:off x="6660919" y="3924048"/>
            <a:ext cx="59312" cy="923330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pPr algn="l"/>
            <a:r>
              <a:rPr lang="en-KR" dirty="0"/>
              <a:t>.</a:t>
            </a:r>
          </a:p>
          <a:p>
            <a:pPr algn="l"/>
            <a:r>
              <a:rPr lang="en-KR" dirty="0"/>
              <a:t>.</a:t>
            </a:r>
          </a:p>
          <a:p>
            <a:pPr algn="l"/>
            <a:r>
              <a:rPr lang="en-KR" dirty="0"/>
              <a:t>.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CABE2A5-2D0A-C444-819E-A53B913AB6ED}"/>
              </a:ext>
            </a:extLst>
          </p:cNvPr>
          <p:cNvSpPr txBox="1"/>
          <p:nvPr/>
        </p:nvSpPr>
        <p:spPr>
          <a:xfrm>
            <a:off x="492021" y="2347356"/>
            <a:ext cx="3294172" cy="584775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pPr algn="ctr"/>
            <a:r>
              <a:rPr lang="en-KR" sz="1600" dirty="0"/>
              <a:t>Token “A” stays the same, </a:t>
            </a:r>
          </a:p>
          <a:p>
            <a:pPr algn="ctr"/>
            <a:r>
              <a:rPr lang="en-KR" sz="1600" dirty="0"/>
              <a:t>but the forward pass is not identical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32A7A916-2C71-ED16-D7B2-840042F296C7}"/>
              </a:ext>
            </a:extLst>
          </p:cNvPr>
          <p:cNvCxnSpPr>
            <a:stCxn id="2" idx="3"/>
            <a:endCxn id="19" idx="1"/>
          </p:cNvCxnSpPr>
          <p:nvPr/>
        </p:nvCxnSpPr>
        <p:spPr>
          <a:xfrm flipV="1">
            <a:off x="3786193" y="2171743"/>
            <a:ext cx="2315453" cy="468001"/>
          </a:xfrm>
          <a:prstGeom prst="line">
            <a:avLst/>
          </a:prstGeom>
          <a:ln w="19050" cap="rnd">
            <a:solidFill>
              <a:srgbClr val="92D050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18D5012D-467D-9A07-7B07-A1555ADD3CCA}"/>
              </a:ext>
            </a:extLst>
          </p:cNvPr>
          <p:cNvCxnSpPr>
            <a:cxnSpLocks/>
            <a:stCxn id="2" idx="3"/>
            <a:endCxn id="31" idx="1"/>
          </p:cNvCxnSpPr>
          <p:nvPr/>
        </p:nvCxnSpPr>
        <p:spPr>
          <a:xfrm>
            <a:off x="3786193" y="2639744"/>
            <a:ext cx="2315453" cy="369230"/>
          </a:xfrm>
          <a:prstGeom prst="line">
            <a:avLst/>
          </a:prstGeom>
          <a:ln w="19050" cap="rnd">
            <a:solidFill>
              <a:srgbClr val="92D050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7195026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E5C3D0-ED9B-D377-EDDB-BECDF9DD35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AA04B06-F47E-6F38-DE22-5885E6820BDD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EB4B8DE2-A4E8-46E4-8BBF-D75455EFF32C}" type="slidenum">
              <a:rPr lang="en-US" smtClean="0"/>
              <a:pPr/>
              <a:t>9</a:t>
            </a:fld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EAE7E7D-09B4-FE30-7479-F8F2D050E0A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KR"/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90504142-0F8E-6D2D-33D0-DAAD7E2FACB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31248005"/>
              </p:ext>
            </p:extLst>
          </p:nvPr>
        </p:nvGraphicFramePr>
        <p:xfrm>
          <a:off x="2032000" y="608230"/>
          <a:ext cx="5083362" cy="3708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47227">
                  <a:extLst>
                    <a:ext uri="{9D8B030D-6E8A-4147-A177-3AD203B41FA5}">
                      <a16:colId xmlns:a16="http://schemas.microsoft.com/office/drawing/2014/main" val="2725002957"/>
                    </a:ext>
                  </a:extLst>
                </a:gridCol>
                <a:gridCol w="847227">
                  <a:extLst>
                    <a:ext uri="{9D8B030D-6E8A-4147-A177-3AD203B41FA5}">
                      <a16:colId xmlns:a16="http://schemas.microsoft.com/office/drawing/2014/main" val="2967591184"/>
                    </a:ext>
                  </a:extLst>
                </a:gridCol>
                <a:gridCol w="847227">
                  <a:extLst>
                    <a:ext uri="{9D8B030D-6E8A-4147-A177-3AD203B41FA5}">
                      <a16:colId xmlns:a16="http://schemas.microsoft.com/office/drawing/2014/main" val="3465237977"/>
                    </a:ext>
                  </a:extLst>
                </a:gridCol>
                <a:gridCol w="847227">
                  <a:extLst>
                    <a:ext uri="{9D8B030D-6E8A-4147-A177-3AD203B41FA5}">
                      <a16:colId xmlns:a16="http://schemas.microsoft.com/office/drawing/2014/main" val="4043266946"/>
                    </a:ext>
                  </a:extLst>
                </a:gridCol>
                <a:gridCol w="847227">
                  <a:extLst>
                    <a:ext uri="{9D8B030D-6E8A-4147-A177-3AD203B41FA5}">
                      <a16:colId xmlns:a16="http://schemas.microsoft.com/office/drawing/2014/main" val="758914307"/>
                    </a:ext>
                  </a:extLst>
                </a:gridCol>
                <a:gridCol w="847227">
                  <a:extLst>
                    <a:ext uri="{9D8B030D-6E8A-4147-A177-3AD203B41FA5}">
                      <a16:colId xmlns:a16="http://schemas.microsoft.com/office/drawing/2014/main" val="209698160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KR" dirty="0"/>
                        <a:t>&lt;M&gt;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KR" dirty="0"/>
                        <a:t>&lt;M&gt;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A</a:t>
                      </a:r>
                      <a:endParaRPr lang="en-K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KR" dirty="0"/>
                        <a:t>&lt;M&gt;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KR" dirty="0"/>
                        <a:t>&lt;M&gt;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KR" dirty="0"/>
                        <a:t>&lt;M&gt;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46548387"/>
                  </a:ext>
                </a:extLst>
              </a:tr>
            </a:tbl>
          </a:graphicData>
        </a:graphic>
      </p:graphicFrame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439BAEFE-0D22-478E-7442-91FBDAAF5A3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24124314"/>
              </p:ext>
            </p:extLst>
          </p:nvPr>
        </p:nvGraphicFramePr>
        <p:xfrm>
          <a:off x="2032000" y="5351198"/>
          <a:ext cx="5083362" cy="3708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47227">
                  <a:extLst>
                    <a:ext uri="{9D8B030D-6E8A-4147-A177-3AD203B41FA5}">
                      <a16:colId xmlns:a16="http://schemas.microsoft.com/office/drawing/2014/main" val="2725002957"/>
                    </a:ext>
                  </a:extLst>
                </a:gridCol>
                <a:gridCol w="847227">
                  <a:extLst>
                    <a:ext uri="{9D8B030D-6E8A-4147-A177-3AD203B41FA5}">
                      <a16:colId xmlns:a16="http://schemas.microsoft.com/office/drawing/2014/main" val="2967591184"/>
                    </a:ext>
                  </a:extLst>
                </a:gridCol>
                <a:gridCol w="847227">
                  <a:extLst>
                    <a:ext uri="{9D8B030D-6E8A-4147-A177-3AD203B41FA5}">
                      <a16:colId xmlns:a16="http://schemas.microsoft.com/office/drawing/2014/main" val="3465237977"/>
                    </a:ext>
                  </a:extLst>
                </a:gridCol>
                <a:gridCol w="847227">
                  <a:extLst>
                    <a:ext uri="{9D8B030D-6E8A-4147-A177-3AD203B41FA5}">
                      <a16:colId xmlns:a16="http://schemas.microsoft.com/office/drawing/2014/main" val="4043266946"/>
                    </a:ext>
                  </a:extLst>
                </a:gridCol>
                <a:gridCol w="847227">
                  <a:extLst>
                    <a:ext uri="{9D8B030D-6E8A-4147-A177-3AD203B41FA5}">
                      <a16:colId xmlns:a16="http://schemas.microsoft.com/office/drawing/2014/main" val="758914307"/>
                    </a:ext>
                  </a:extLst>
                </a:gridCol>
                <a:gridCol w="847227">
                  <a:extLst>
                    <a:ext uri="{9D8B030D-6E8A-4147-A177-3AD203B41FA5}">
                      <a16:colId xmlns:a16="http://schemas.microsoft.com/office/drawing/2014/main" val="209698160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KR" dirty="0"/>
                        <a:t>&lt;M&gt;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KR" dirty="0"/>
                        <a:t>&lt;M&gt;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A</a:t>
                      </a:r>
                      <a:endParaRPr lang="en-K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KR" dirty="0"/>
                        <a:t>&lt;M&gt;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&lt;M&gt;</a:t>
                      </a:r>
                      <a:endParaRPr lang="en-K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KR" dirty="0"/>
                        <a:t>B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46548387"/>
                  </a:ext>
                </a:extLst>
              </a:tr>
            </a:tbl>
          </a:graphicData>
        </a:graphic>
      </p:graphicFrame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FA9248EA-5214-8E79-CA88-F77116B76FC2}"/>
              </a:ext>
            </a:extLst>
          </p:cNvPr>
          <p:cNvCxnSpPr>
            <a:cxnSpLocks/>
          </p:cNvCxnSpPr>
          <p:nvPr/>
        </p:nvCxnSpPr>
        <p:spPr>
          <a:xfrm>
            <a:off x="7766458" y="708246"/>
            <a:ext cx="0" cy="5039237"/>
          </a:xfrm>
          <a:prstGeom prst="straightConnector1">
            <a:avLst/>
          </a:prstGeom>
          <a:ln w="19050" cap="rnd">
            <a:solidFill>
              <a:srgbClr val="FF0000"/>
            </a:solidFill>
            <a:round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A9BB0404-92BA-57A0-B2B1-2CEA4E97DB7D}"/>
              </a:ext>
            </a:extLst>
          </p:cNvPr>
          <p:cNvSpPr txBox="1"/>
          <p:nvPr/>
        </p:nvSpPr>
        <p:spPr>
          <a:xfrm>
            <a:off x="7927074" y="708246"/>
            <a:ext cx="578685" cy="369332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pPr algn="l"/>
            <a:r>
              <a:rPr lang="en-US" dirty="0"/>
              <a:t>t=5/6</a:t>
            </a:r>
            <a:endParaRPr lang="en-KR" dirty="0" err="1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A9604A8-E6C0-DC48-701A-02B34978F559}"/>
              </a:ext>
            </a:extLst>
          </p:cNvPr>
          <p:cNvSpPr txBox="1"/>
          <p:nvPr/>
        </p:nvSpPr>
        <p:spPr>
          <a:xfrm>
            <a:off x="7927074" y="5378151"/>
            <a:ext cx="585097" cy="369332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pPr algn="l"/>
            <a:r>
              <a:rPr lang="en-US" dirty="0"/>
              <a:t>t=4/6</a:t>
            </a:r>
            <a:endParaRPr lang="en-KR" dirty="0" err="1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8D988F02-5F54-1533-DAC1-65C61DB631B6}"/>
                  </a:ext>
                </a:extLst>
              </p:cNvPr>
              <p:cNvSpPr txBox="1"/>
              <p:nvPr/>
            </p:nvSpPr>
            <p:spPr>
              <a:xfrm>
                <a:off x="2445604" y="4378917"/>
                <a:ext cx="179600" cy="307777"/>
              </a:xfrm>
              <a:prstGeom prst="rect">
                <a:avLst/>
              </a:prstGeom>
              <a:noFill/>
            </p:spPr>
            <p:txBody>
              <a:bodyPr wrap="none" lIns="0" rIns="0" rtlCol="0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𝑙</m:t>
                          </m:r>
                        </m:e>
                        <m:sub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KR" sz="1400" dirty="0" err="1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8D988F02-5F54-1533-DAC1-65C61DB631B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45604" y="4378917"/>
                <a:ext cx="179600" cy="307777"/>
              </a:xfrm>
              <a:prstGeom prst="rect">
                <a:avLst/>
              </a:prstGeom>
              <a:blipFill>
                <a:blip r:embed="rId2"/>
                <a:stretch>
                  <a:fillRect l="-20000" r="-6667"/>
                </a:stretch>
              </a:blipFill>
            </p:spPr>
            <p:txBody>
              <a:bodyPr/>
              <a:lstStyle/>
              <a:p>
                <a:r>
                  <a:rPr lang="en-K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D05EC128-5638-DF3C-D52C-9F5AA269BB88}"/>
                  </a:ext>
                </a:extLst>
              </p:cNvPr>
              <p:cNvSpPr txBox="1"/>
              <p:nvPr/>
            </p:nvSpPr>
            <p:spPr>
              <a:xfrm>
                <a:off x="3193352" y="4378917"/>
                <a:ext cx="183768" cy="307777"/>
              </a:xfrm>
              <a:prstGeom prst="rect">
                <a:avLst/>
              </a:prstGeom>
              <a:noFill/>
            </p:spPr>
            <p:txBody>
              <a:bodyPr wrap="none" lIns="0" rIns="0" rtlCol="0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𝑙</m:t>
                          </m:r>
                        </m:e>
                        <m:sub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KR" sz="1400" dirty="0" err="1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D05EC128-5638-DF3C-D52C-9F5AA269BB8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93352" y="4378917"/>
                <a:ext cx="183768" cy="307777"/>
              </a:xfrm>
              <a:prstGeom prst="rect">
                <a:avLst/>
              </a:prstGeom>
              <a:blipFill>
                <a:blip r:embed="rId3"/>
                <a:stretch>
                  <a:fillRect l="-20000" r="-6667"/>
                </a:stretch>
              </a:blipFill>
            </p:spPr>
            <p:txBody>
              <a:bodyPr/>
              <a:lstStyle/>
              <a:p>
                <a:r>
                  <a:rPr lang="en-K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86268B97-CA0C-316D-4702-5A72B8E3FDAC}"/>
                  </a:ext>
                </a:extLst>
              </p:cNvPr>
              <p:cNvSpPr txBox="1"/>
              <p:nvPr/>
            </p:nvSpPr>
            <p:spPr>
              <a:xfrm>
                <a:off x="4026091" y="4378917"/>
                <a:ext cx="183768" cy="307777"/>
              </a:xfrm>
              <a:prstGeom prst="rect">
                <a:avLst/>
              </a:prstGeom>
              <a:noFill/>
            </p:spPr>
            <p:txBody>
              <a:bodyPr wrap="none" lIns="0" rIns="0" rtlCol="0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𝑙</m:t>
                          </m:r>
                        </m:e>
                        <m:sub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KR" sz="1400" dirty="0" err="1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86268B97-CA0C-316D-4702-5A72B8E3FDA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26091" y="4378917"/>
                <a:ext cx="183768" cy="307777"/>
              </a:xfrm>
              <a:prstGeom prst="rect">
                <a:avLst/>
              </a:prstGeom>
              <a:blipFill>
                <a:blip r:embed="rId4"/>
                <a:stretch>
                  <a:fillRect l="-18750" r="-6250"/>
                </a:stretch>
              </a:blipFill>
            </p:spPr>
            <p:txBody>
              <a:bodyPr/>
              <a:lstStyle/>
              <a:p>
                <a:r>
                  <a:rPr lang="en-K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B5AF04ED-4F15-2D0C-A335-2106301CFF30}"/>
                  </a:ext>
                </a:extLst>
              </p:cNvPr>
              <p:cNvSpPr txBox="1"/>
              <p:nvPr/>
            </p:nvSpPr>
            <p:spPr>
              <a:xfrm>
                <a:off x="4901073" y="4378916"/>
                <a:ext cx="183768" cy="307777"/>
              </a:xfrm>
              <a:prstGeom prst="rect">
                <a:avLst/>
              </a:prstGeom>
              <a:noFill/>
            </p:spPr>
            <p:txBody>
              <a:bodyPr wrap="none" lIns="0" rIns="0" rtlCol="0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𝑙</m:t>
                          </m:r>
                        </m:e>
                        <m:sub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lang="en-KR" sz="1400" dirty="0" err="1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B5AF04ED-4F15-2D0C-A335-2106301CFF3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01073" y="4378916"/>
                <a:ext cx="183768" cy="307777"/>
              </a:xfrm>
              <a:prstGeom prst="rect">
                <a:avLst/>
              </a:prstGeom>
              <a:blipFill>
                <a:blip r:embed="rId5"/>
                <a:stretch>
                  <a:fillRect l="-18750" r="-6250"/>
                </a:stretch>
              </a:blipFill>
            </p:spPr>
            <p:txBody>
              <a:bodyPr/>
              <a:lstStyle/>
              <a:p>
                <a:r>
                  <a:rPr lang="en-K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EBBFD9C8-7CCA-2700-B232-217DCEEE80BA}"/>
                  </a:ext>
                </a:extLst>
              </p:cNvPr>
              <p:cNvSpPr txBox="1"/>
              <p:nvPr/>
            </p:nvSpPr>
            <p:spPr>
              <a:xfrm>
                <a:off x="5778508" y="4378915"/>
                <a:ext cx="183768" cy="307777"/>
              </a:xfrm>
              <a:prstGeom prst="rect">
                <a:avLst/>
              </a:prstGeom>
              <a:noFill/>
            </p:spPr>
            <p:txBody>
              <a:bodyPr wrap="none" lIns="0" rIns="0" rtlCol="0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𝑙</m:t>
                          </m:r>
                        </m:e>
                        <m:sub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sub>
                      </m:sSub>
                    </m:oMath>
                  </m:oMathPara>
                </a14:m>
                <a:endParaRPr lang="en-KR" sz="1400" dirty="0" err="1"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EBBFD9C8-7CCA-2700-B232-217DCEEE80B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78508" y="4378915"/>
                <a:ext cx="183768" cy="307777"/>
              </a:xfrm>
              <a:prstGeom prst="rect">
                <a:avLst/>
              </a:prstGeom>
              <a:blipFill>
                <a:blip r:embed="rId6"/>
                <a:stretch>
                  <a:fillRect l="-26667" r="-6667"/>
                </a:stretch>
              </a:blipFill>
            </p:spPr>
            <p:txBody>
              <a:bodyPr/>
              <a:lstStyle/>
              <a:p>
                <a:r>
                  <a:rPr lang="en-K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9153C0A2-B931-E11A-F885-7DB7E1A14C66}"/>
                  </a:ext>
                </a:extLst>
              </p:cNvPr>
              <p:cNvSpPr txBox="1"/>
              <p:nvPr/>
            </p:nvSpPr>
            <p:spPr>
              <a:xfrm>
                <a:off x="6661492" y="4378915"/>
                <a:ext cx="183768" cy="307777"/>
              </a:xfrm>
              <a:prstGeom prst="rect">
                <a:avLst/>
              </a:prstGeom>
              <a:noFill/>
            </p:spPr>
            <p:txBody>
              <a:bodyPr wrap="none" lIns="0" rIns="0" rtlCol="0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𝑙</m:t>
                          </m:r>
                        </m:e>
                        <m:sub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6</m:t>
                          </m:r>
                        </m:sub>
                      </m:sSub>
                    </m:oMath>
                  </m:oMathPara>
                </a14:m>
                <a:endParaRPr lang="en-KR" sz="1400" dirty="0" err="1"/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9153C0A2-B931-E11A-F885-7DB7E1A14C6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61492" y="4378915"/>
                <a:ext cx="183768" cy="307777"/>
              </a:xfrm>
              <a:prstGeom prst="rect">
                <a:avLst/>
              </a:prstGeom>
              <a:blipFill>
                <a:blip r:embed="rId7"/>
                <a:stretch>
                  <a:fillRect l="-18750"/>
                </a:stretch>
              </a:blipFill>
            </p:spPr>
            <p:txBody>
              <a:bodyPr/>
              <a:lstStyle/>
              <a:p>
                <a:r>
                  <a:rPr lang="en-KR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23DD8314-EAE2-5E51-30BF-17110DCF6F39}"/>
              </a:ext>
            </a:extLst>
          </p:cNvPr>
          <p:cNvCxnSpPr>
            <a:cxnSpLocks/>
          </p:cNvCxnSpPr>
          <p:nvPr/>
        </p:nvCxnSpPr>
        <p:spPr>
          <a:xfrm>
            <a:off x="6730505" y="4774064"/>
            <a:ext cx="0" cy="468465"/>
          </a:xfrm>
          <a:prstGeom prst="straightConnector1">
            <a:avLst/>
          </a:prstGeom>
          <a:ln w="6350" cap="rnd">
            <a:solidFill>
              <a:schemeClr val="tx1"/>
            </a:solidFill>
            <a:round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Rectangle 22">
            <a:extLst>
              <a:ext uri="{FF2B5EF4-FFF2-40B4-BE49-F238E27FC236}">
                <a16:creationId xmlns:a16="http://schemas.microsoft.com/office/drawing/2014/main" id="{609AABB9-6A23-0659-47AD-A6ABE0684EB8}"/>
              </a:ext>
            </a:extLst>
          </p:cNvPr>
          <p:cNvSpPr/>
          <p:nvPr/>
        </p:nvSpPr>
        <p:spPr>
          <a:xfrm>
            <a:off x="2282971" y="4378915"/>
            <a:ext cx="3960377" cy="363543"/>
          </a:xfrm>
          <a:prstGeom prst="rect">
            <a:avLst/>
          </a:prstGeom>
          <a:noFill/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45720" rIns="45720" rtlCol="0" anchor="ctr"/>
          <a:lstStyle/>
          <a:p>
            <a:pPr algn="ctr"/>
            <a:endParaRPr lang="en-KR" dirty="0" err="1">
              <a:solidFill>
                <a:schemeClr val="tx1"/>
              </a:solidFill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99B61769-66B9-E26E-9D55-9E2E3628FFB6}"/>
              </a:ext>
            </a:extLst>
          </p:cNvPr>
          <p:cNvSpPr txBox="1"/>
          <p:nvPr/>
        </p:nvSpPr>
        <p:spPr>
          <a:xfrm>
            <a:off x="3321605" y="4816025"/>
            <a:ext cx="1734449" cy="253916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pPr algn="l"/>
            <a:r>
              <a:rPr lang="en-US" sz="1050" dirty="0"/>
              <a:t>R</a:t>
            </a:r>
            <a:r>
              <a:rPr lang="en-KR" sz="1050" dirty="0"/>
              <a:t>est of the logits are ignored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F8E5EBD5-72E2-F28C-D2D8-6FF54026C88B}"/>
                  </a:ext>
                </a:extLst>
              </p:cNvPr>
              <p:cNvSpPr txBox="1"/>
              <p:nvPr/>
            </p:nvSpPr>
            <p:spPr>
              <a:xfrm>
                <a:off x="4050518" y="942134"/>
                <a:ext cx="230641" cy="307777"/>
              </a:xfrm>
              <a:prstGeom prst="rect">
                <a:avLst/>
              </a:prstGeom>
              <a:noFill/>
            </p:spPr>
            <p:txBody>
              <a:bodyPr wrap="none" lIns="0" rIns="0" rtlCol="0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sub>
                      </m:sSub>
                    </m:oMath>
                  </m:oMathPara>
                </a14:m>
                <a:endParaRPr lang="en-KR" sz="1400" dirty="0"/>
              </a:p>
            </p:txBody>
          </p:sp>
        </mc:Choice>
        <mc:Fallback xmlns="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F8E5EBD5-72E2-F28C-D2D8-6FF54026C88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50518" y="942134"/>
                <a:ext cx="230641" cy="307777"/>
              </a:xfrm>
              <a:prstGeom prst="rect">
                <a:avLst/>
              </a:prstGeom>
              <a:blipFill>
                <a:blip r:embed="rId8"/>
                <a:stretch>
                  <a:fillRect l="-15789" r="-5263"/>
                </a:stretch>
              </a:blipFill>
            </p:spPr>
            <p:txBody>
              <a:bodyPr/>
              <a:lstStyle/>
              <a:p>
                <a:r>
                  <a:rPr lang="en-K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9B97BF6D-4470-F8BB-BCDD-C2247ECAE75C}"/>
                  </a:ext>
                </a:extLst>
              </p:cNvPr>
              <p:cNvSpPr txBox="1"/>
              <p:nvPr/>
            </p:nvSpPr>
            <p:spPr>
              <a:xfrm>
                <a:off x="3803209" y="1308246"/>
                <a:ext cx="220317" cy="307777"/>
              </a:xfrm>
              <a:prstGeom prst="rect">
                <a:avLst/>
              </a:prstGeom>
              <a:noFill/>
            </p:spPr>
            <p:txBody>
              <a:bodyPr wrap="none" lIns="0" rIns="0" rtlCol="0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KR" sz="1400" dirty="0" err="1"/>
              </a:p>
            </p:txBody>
          </p:sp>
        </mc:Choice>
        <mc:Fallback xmlns="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9B97BF6D-4470-F8BB-BCDD-C2247ECAE75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03209" y="1308246"/>
                <a:ext cx="220317" cy="307777"/>
              </a:xfrm>
              <a:prstGeom prst="rect">
                <a:avLst/>
              </a:prstGeom>
              <a:blipFill>
                <a:blip r:embed="rId9"/>
                <a:stretch>
                  <a:fillRect l="-16667" r="-5556"/>
                </a:stretch>
              </a:blipFill>
            </p:spPr>
            <p:txBody>
              <a:bodyPr/>
              <a:lstStyle/>
              <a:p>
                <a:r>
                  <a:rPr lang="en-K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3D5AD152-2AE0-E15B-CDC7-D8B80DD76EC0}"/>
                  </a:ext>
                </a:extLst>
              </p:cNvPr>
              <p:cNvSpPr txBox="1"/>
              <p:nvPr/>
            </p:nvSpPr>
            <p:spPr>
              <a:xfrm>
                <a:off x="4209859" y="1320358"/>
                <a:ext cx="323102" cy="307777"/>
              </a:xfrm>
              <a:prstGeom prst="rect">
                <a:avLst/>
              </a:prstGeom>
              <a:noFill/>
            </p:spPr>
            <p:txBody>
              <a:bodyPr wrap="none" lIns="0" rIns="0" rtlCol="0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𝑘𝑣</m:t>
                          </m:r>
                        </m:e>
                        <m:sub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KR" sz="1400" dirty="0" err="1"/>
              </a:p>
            </p:txBody>
          </p:sp>
        </mc:Choice>
        <mc:Fallback xmlns="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3D5AD152-2AE0-E15B-CDC7-D8B80DD76EC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09859" y="1320358"/>
                <a:ext cx="323102" cy="307777"/>
              </a:xfrm>
              <a:prstGeom prst="rect">
                <a:avLst/>
              </a:prstGeom>
              <a:blipFill>
                <a:blip r:embed="rId10"/>
                <a:stretch>
                  <a:fillRect l="-11111"/>
                </a:stretch>
              </a:blipFill>
            </p:spPr>
            <p:txBody>
              <a:bodyPr/>
              <a:lstStyle/>
              <a:p>
                <a:r>
                  <a:rPr lang="en-K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87E03010-2A87-CD6D-B017-B625DC059873}"/>
                  </a:ext>
                </a:extLst>
              </p:cNvPr>
              <p:cNvSpPr txBox="1"/>
              <p:nvPr/>
            </p:nvSpPr>
            <p:spPr>
              <a:xfrm>
                <a:off x="4008384" y="2302584"/>
                <a:ext cx="339132" cy="361574"/>
              </a:xfrm>
              <a:prstGeom prst="rect">
                <a:avLst/>
              </a:prstGeom>
              <a:noFill/>
            </p:spPr>
            <p:txBody>
              <a:bodyPr wrap="none" lIns="0" rIns="0" rtlCol="0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14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(2)</m:t>
                          </m:r>
                        </m:sup>
                      </m:sSubSup>
                    </m:oMath>
                  </m:oMathPara>
                </a14:m>
                <a:endParaRPr lang="en-KR" sz="1400" dirty="0" err="1"/>
              </a:p>
            </p:txBody>
          </p:sp>
        </mc:Choice>
        <mc:Fallback xmlns="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87E03010-2A87-CD6D-B017-B625DC05987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08384" y="2302584"/>
                <a:ext cx="339132" cy="361574"/>
              </a:xfrm>
              <a:prstGeom prst="rect">
                <a:avLst/>
              </a:prstGeom>
              <a:blipFill>
                <a:blip r:embed="rId11"/>
                <a:stretch>
                  <a:fillRect l="-10714" r="-10714"/>
                </a:stretch>
              </a:blipFill>
            </p:spPr>
            <p:txBody>
              <a:bodyPr/>
              <a:lstStyle/>
              <a:p>
                <a:r>
                  <a:rPr lang="en-K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1" name="TextBox 20">
            <a:extLst>
              <a:ext uri="{FF2B5EF4-FFF2-40B4-BE49-F238E27FC236}">
                <a16:creationId xmlns:a16="http://schemas.microsoft.com/office/drawing/2014/main" id="{DC71C373-AA01-57B0-0D35-C04E1776A0D4}"/>
              </a:ext>
            </a:extLst>
          </p:cNvPr>
          <p:cNvSpPr txBox="1"/>
          <p:nvPr/>
        </p:nvSpPr>
        <p:spPr>
          <a:xfrm>
            <a:off x="6789807" y="4808715"/>
            <a:ext cx="450444" cy="253916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pPr algn="l"/>
            <a:r>
              <a:rPr lang="en-US" sz="1050" dirty="0"/>
              <a:t>argmax</a:t>
            </a:r>
            <a:endParaRPr lang="en-KR" sz="105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6BD647C6-9B5A-4FEE-B837-AB20F2C210D7}"/>
                  </a:ext>
                </a:extLst>
              </p:cNvPr>
              <p:cNvSpPr txBox="1"/>
              <p:nvPr/>
            </p:nvSpPr>
            <p:spPr>
              <a:xfrm>
                <a:off x="2311314" y="1314240"/>
                <a:ext cx="323102" cy="307777"/>
              </a:xfrm>
              <a:prstGeom prst="rect">
                <a:avLst/>
              </a:prstGeom>
              <a:noFill/>
            </p:spPr>
            <p:txBody>
              <a:bodyPr wrap="none" lIns="0" rIns="0" rtlCol="0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𝑘𝑣</m:t>
                          </m:r>
                        </m:e>
                        <m:sub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en-KR" sz="1400" dirty="0" err="1"/>
              </a:p>
            </p:txBody>
          </p:sp>
        </mc:Choice>
        <mc:Fallback xmlns="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6BD647C6-9B5A-4FEE-B837-AB20F2C210D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11314" y="1314240"/>
                <a:ext cx="323102" cy="307777"/>
              </a:xfrm>
              <a:prstGeom prst="rect">
                <a:avLst/>
              </a:prstGeom>
              <a:blipFill>
                <a:blip r:embed="rId12"/>
                <a:stretch>
                  <a:fillRect l="-11111" r="-3704"/>
                </a:stretch>
              </a:blipFill>
            </p:spPr>
            <p:txBody>
              <a:bodyPr/>
              <a:lstStyle/>
              <a:p>
                <a:r>
                  <a:rPr lang="en-KR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2B1EE2FF-AC99-D74E-6B26-CA85A374E6F4}"/>
              </a:ext>
            </a:extLst>
          </p:cNvPr>
          <p:cNvCxnSpPr>
            <a:cxnSpLocks/>
          </p:cNvCxnSpPr>
          <p:nvPr/>
        </p:nvCxnSpPr>
        <p:spPr>
          <a:xfrm flipH="1">
            <a:off x="3954328" y="1266666"/>
            <a:ext cx="124327" cy="105782"/>
          </a:xfrm>
          <a:prstGeom prst="straightConnector1">
            <a:avLst/>
          </a:prstGeom>
          <a:ln w="6350" cap="rnd">
            <a:solidFill>
              <a:schemeClr val="tx1"/>
            </a:solidFill>
            <a:round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E0718D60-1B7F-98FE-185F-7E3844E5C733}"/>
              </a:ext>
            </a:extLst>
          </p:cNvPr>
          <p:cNvCxnSpPr>
            <a:cxnSpLocks/>
          </p:cNvCxnSpPr>
          <p:nvPr/>
        </p:nvCxnSpPr>
        <p:spPr>
          <a:xfrm>
            <a:off x="4197564" y="1273729"/>
            <a:ext cx="124327" cy="105782"/>
          </a:xfrm>
          <a:prstGeom prst="straightConnector1">
            <a:avLst/>
          </a:prstGeom>
          <a:ln w="6350" cap="rnd">
            <a:solidFill>
              <a:schemeClr val="tx1"/>
            </a:solidFill>
            <a:round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09C86276-C77C-E20E-611D-6A3E9C70EC86}"/>
                  </a:ext>
                </a:extLst>
              </p:cNvPr>
              <p:cNvSpPr txBox="1"/>
              <p:nvPr/>
            </p:nvSpPr>
            <p:spPr>
              <a:xfrm>
                <a:off x="3131922" y="1326620"/>
                <a:ext cx="318933" cy="307777"/>
              </a:xfrm>
              <a:prstGeom prst="rect">
                <a:avLst/>
              </a:prstGeom>
              <a:noFill/>
            </p:spPr>
            <p:txBody>
              <a:bodyPr wrap="none" lIns="0" rIns="0" rtlCol="0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𝑘𝑣</m:t>
                          </m:r>
                        </m:e>
                        <m:sub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KR" sz="1400" dirty="0" err="1"/>
              </a:p>
            </p:txBody>
          </p:sp>
        </mc:Choice>
        <mc:Fallback xmlns=""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09C86276-C77C-E20E-611D-6A3E9C70EC8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31922" y="1326620"/>
                <a:ext cx="318933" cy="307777"/>
              </a:xfrm>
              <a:prstGeom prst="rect">
                <a:avLst/>
              </a:prstGeom>
              <a:blipFill>
                <a:blip r:embed="rId13"/>
                <a:stretch>
                  <a:fillRect l="-11538" r="-3846"/>
                </a:stretch>
              </a:blipFill>
            </p:spPr>
            <p:txBody>
              <a:bodyPr/>
              <a:lstStyle/>
              <a:p>
                <a:r>
                  <a:rPr lang="en-K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C7E73DB7-AE63-1839-4E32-A50EC84D7ACF}"/>
                  </a:ext>
                </a:extLst>
              </p:cNvPr>
              <p:cNvSpPr txBox="1"/>
              <p:nvPr/>
            </p:nvSpPr>
            <p:spPr>
              <a:xfrm>
                <a:off x="4837659" y="1320358"/>
                <a:ext cx="323102" cy="307777"/>
              </a:xfrm>
              <a:prstGeom prst="rect">
                <a:avLst/>
              </a:prstGeom>
              <a:noFill/>
            </p:spPr>
            <p:txBody>
              <a:bodyPr wrap="none" lIns="0" rIns="0" rtlCol="0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𝑘𝑣</m:t>
                          </m:r>
                        </m:e>
                        <m:sub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KR" sz="1400" dirty="0" err="1"/>
              </a:p>
            </p:txBody>
          </p:sp>
        </mc:Choice>
        <mc:Fallback xmlns="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C7E73DB7-AE63-1839-4E32-A50EC84D7AC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37659" y="1320358"/>
                <a:ext cx="323102" cy="307777"/>
              </a:xfrm>
              <a:prstGeom prst="rect">
                <a:avLst/>
              </a:prstGeom>
              <a:blipFill>
                <a:blip r:embed="rId14"/>
                <a:stretch>
                  <a:fillRect l="-15385" r="-3846"/>
                </a:stretch>
              </a:blipFill>
            </p:spPr>
            <p:txBody>
              <a:bodyPr/>
              <a:lstStyle/>
              <a:p>
                <a:r>
                  <a:rPr lang="en-K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025DD792-19A6-34CB-179F-E9384D1B0306}"/>
                  </a:ext>
                </a:extLst>
              </p:cNvPr>
              <p:cNvSpPr txBox="1"/>
              <p:nvPr/>
            </p:nvSpPr>
            <p:spPr>
              <a:xfrm>
                <a:off x="5693719" y="1320358"/>
                <a:ext cx="315407" cy="307777"/>
              </a:xfrm>
              <a:prstGeom prst="rect">
                <a:avLst/>
              </a:prstGeom>
              <a:noFill/>
            </p:spPr>
            <p:txBody>
              <a:bodyPr wrap="none" lIns="0" rIns="0" rtlCol="0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𝑘𝑣</m:t>
                          </m:r>
                        </m:e>
                        <m:sub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lang="en-KR" sz="1400" dirty="0" err="1"/>
              </a:p>
            </p:txBody>
          </p:sp>
        </mc:Choice>
        <mc:Fallback xmlns="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025DD792-19A6-34CB-179F-E9384D1B030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93719" y="1320358"/>
                <a:ext cx="315407" cy="307777"/>
              </a:xfrm>
              <a:prstGeom prst="rect">
                <a:avLst/>
              </a:prstGeom>
              <a:blipFill>
                <a:blip r:embed="rId15"/>
                <a:stretch>
                  <a:fillRect l="-15385"/>
                </a:stretch>
              </a:blipFill>
            </p:spPr>
            <p:txBody>
              <a:bodyPr/>
              <a:lstStyle/>
              <a:p>
                <a:r>
                  <a:rPr lang="en-K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DF72D6FF-07AB-EFD3-B42A-BC1F20D5B28D}"/>
                  </a:ext>
                </a:extLst>
              </p:cNvPr>
              <p:cNvSpPr txBox="1"/>
              <p:nvPr/>
            </p:nvSpPr>
            <p:spPr>
              <a:xfrm>
                <a:off x="6526195" y="1314240"/>
                <a:ext cx="323102" cy="307777"/>
              </a:xfrm>
              <a:prstGeom prst="rect">
                <a:avLst/>
              </a:prstGeom>
              <a:noFill/>
            </p:spPr>
            <p:txBody>
              <a:bodyPr wrap="none" lIns="0" rIns="0" rtlCol="0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𝑘𝑣</m:t>
                          </m:r>
                        </m:e>
                        <m:sub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sub>
                      </m:sSub>
                    </m:oMath>
                  </m:oMathPara>
                </a14:m>
                <a:endParaRPr lang="en-KR" sz="1400" dirty="0" err="1"/>
              </a:p>
            </p:txBody>
          </p:sp>
        </mc:Choice>
        <mc:Fallback xmlns=""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DF72D6FF-07AB-EFD3-B42A-BC1F20D5B28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26195" y="1314240"/>
                <a:ext cx="323102" cy="307777"/>
              </a:xfrm>
              <a:prstGeom prst="rect">
                <a:avLst/>
              </a:prstGeom>
              <a:blipFill>
                <a:blip r:embed="rId16"/>
                <a:stretch>
                  <a:fillRect l="-15385" r="-3846"/>
                </a:stretch>
              </a:blipFill>
            </p:spPr>
            <p:txBody>
              <a:bodyPr/>
              <a:lstStyle/>
              <a:p>
                <a:r>
                  <a:rPr lang="en-KR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8" name="Curved Connector 47">
            <a:extLst>
              <a:ext uri="{FF2B5EF4-FFF2-40B4-BE49-F238E27FC236}">
                <a16:creationId xmlns:a16="http://schemas.microsoft.com/office/drawing/2014/main" id="{F966EFEE-3688-EE84-BA3B-F29D1EF08C35}"/>
              </a:ext>
            </a:extLst>
          </p:cNvPr>
          <p:cNvCxnSpPr>
            <a:stCxn id="29" idx="2"/>
            <a:endCxn id="43" idx="2"/>
          </p:cNvCxnSpPr>
          <p:nvPr/>
        </p:nvCxnSpPr>
        <p:spPr>
          <a:xfrm rot="5400000">
            <a:off x="3593192" y="1314221"/>
            <a:ext cx="18374" cy="621979"/>
          </a:xfrm>
          <a:prstGeom prst="curvedConnector3">
            <a:avLst>
              <a:gd name="adj1" fmla="val 816817"/>
            </a:avLst>
          </a:prstGeom>
          <a:ln w="6350" cap="rnd">
            <a:solidFill>
              <a:srgbClr val="0070C0"/>
            </a:solidFill>
            <a:round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Curved Connector 48">
            <a:extLst>
              <a:ext uri="{FF2B5EF4-FFF2-40B4-BE49-F238E27FC236}">
                <a16:creationId xmlns:a16="http://schemas.microsoft.com/office/drawing/2014/main" id="{8CD0A6E9-8281-2120-353F-7CDE9B78604A}"/>
              </a:ext>
            </a:extLst>
          </p:cNvPr>
          <p:cNvCxnSpPr>
            <a:cxnSpLocks/>
            <a:stCxn id="29" idx="2"/>
            <a:endCxn id="33" idx="2"/>
          </p:cNvCxnSpPr>
          <p:nvPr/>
        </p:nvCxnSpPr>
        <p:spPr>
          <a:xfrm rot="5400000">
            <a:off x="3190120" y="898769"/>
            <a:ext cx="5994" cy="1440503"/>
          </a:xfrm>
          <a:prstGeom prst="curvedConnector3">
            <a:avLst>
              <a:gd name="adj1" fmla="val 3913814"/>
            </a:avLst>
          </a:prstGeom>
          <a:ln w="6350" cap="rnd">
            <a:solidFill>
              <a:srgbClr val="0070C0"/>
            </a:solidFill>
            <a:round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Curved Connector 51">
            <a:extLst>
              <a:ext uri="{FF2B5EF4-FFF2-40B4-BE49-F238E27FC236}">
                <a16:creationId xmlns:a16="http://schemas.microsoft.com/office/drawing/2014/main" id="{C2ED570E-3123-E0A0-A7A9-E411F772E45A}"/>
              </a:ext>
            </a:extLst>
          </p:cNvPr>
          <p:cNvCxnSpPr>
            <a:cxnSpLocks/>
            <a:stCxn id="29" idx="2"/>
            <a:endCxn id="44" idx="2"/>
          </p:cNvCxnSpPr>
          <p:nvPr/>
        </p:nvCxnSpPr>
        <p:spPr>
          <a:xfrm rot="16200000" flipH="1">
            <a:off x="4450233" y="1079158"/>
            <a:ext cx="12112" cy="1085842"/>
          </a:xfrm>
          <a:prstGeom prst="curvedConnector3">
            <a:avLst>
              <a:gd name="adj1" fmla="val 1487417"/>
            </a:avLst>
          </a:prstGeom>
          <a:ln w="6350" cap="rnd">
            <a:solidFill>
              <a:srgbClr val="0070C0"/>
            </a:solidFill>
            <a:round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Curved Connector 54">
            <a:extLst>
              <a:ext uri="{FF2B5EF4-FFF2-40B4-BE49-F238E27FC236}">
                <a16:creationId xmlns:a16="http://schemas.microsoft.com/office/drawing/2014/main" id="{CA7F6207-6E64-3D5E-3630-A5FDC898B0A5}"/>
              </a:ext>
            </a:extLst>
          </p:cNvPr>
          <p:cNvCxnSpPr>
            <a:cxnSpLocks/>
            <a:stCxn id="29" idx="2"/>
            <a:endCxn id="45" idx="2"/>
          </p:cNvCxnSpPr>
          <p:nvPr/>
        </p:nvCxnSpPr>
        <p:spPr>
          <a:xfrm rot="16200000" flipH="1">
            <a:off x="4876339" y="653051"/>
            <a:ext cx="12112" cy="1938055"/>
          </a:xfrm>
          <a:prstGeom prst="curvedConnector3">
            <a:avLst>
              <a:gd name="adj1" fmla="val 1837376"/>
            </a:avLst>
          </a:prstGeom>
          <a:ln w="6350" cap="rnd">
            <a:solidFill>
              <a:srgbClr val="0070C0"/>
            </a:solidFill>
            <a:round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Curved Connector 57">
            <a:extLst>
              <a:ext uri="{FF2B5EF4-FFF2-40B4-BE49-F238E27FC236}">
                <a16:creationId xmlns:a16="http://schemas.microsoft.com/office/drawing/2014/main" id="{0276E378-C1B1-70C4-F4EF-F5E588EEE0CB}"/>
              </a:ext>
            </a:extLst>
          </p:cNvPr>
          <p:cNvCxnSpPr>
            <a:cxnSpLocks/>
            <a:stCxn id="29" idx="2"/>
            <a:endCxn id="46" idx="2"/>
          </p:cNvCxnSpPr>
          <p:nvPr/>
        </p:nvCxnSpPr>
        <p:spPr>
          <a:xfrm rot="16200000" flipH="1">
            <a:off x="5297560" y="231831"/>
            <a:ext cx="5994" cy="2774378"/>
          </a:xfrm>
          <a:prstGeom prst="curvedConnector3">
            <a:avLst>
              <a:gd name="adj1" fmla="val 4216900"/>
            </a:avLst>
          </a:prstGeom>
          <a:ln w="6350" cap="rnd">
            <a:solidFill>
              <a:srgbClr val="0070C0"/>
            </a:solidFill>
            <a:round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Curved Connector 66">
            <a:extLst>
              <a:ext uri="{FF2B5EF4-FFF2-40B4-BE49-F238E27FC236}">
                <a16:creationId xmlns:a16="http://schemas.microsoft.com/office/drawing/2014/main" id="{69C93A21-4CB8-5BF4-9BDE-9616386695BD}"/>
              </a:ext>
            </a:extLst>
          </p:cNvPr>
          <p:cNvCxnSpPr>
            <a:cxnSpLocks/>
            <a:stCxn id="29" idx="2"/>
            <a:endCxn id="30" idx="2"/>
          </p:cNvCxnSpPr>
          <p:nvPr/>
        </p:nvCxnSpPr>
        <p:spPr>
          <a:xfrm rot="16200000" flipH="1">
            <a:off x="4136333" y="1393058"/>
            <a:ext cx="12112" cy="458042"/>
          </a:xfrm>
          <a:prstGeom prst="curvedConnector3">
            <a:avLst>
              <a:gd name="adj1" fmla="val 1037442"/>
            </a:avLst>
          </a:prstGeom>
          <a:ln w="6350" cap="rnd">
            <a:solidFill>
              <a:srgbClr val="0070C0"/>
            </a:solidFill>
            <a:round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74" name="TextBox 73">
                <a:extLst>
                  <a:ext uri="{FF2B5EF4-FFF2-40B4-BE49-F238E27FC236}">
                    <a16:creationId xmlns:a16="http://schemas.microsoft.com/office/drawing/2014/main" id="{7A12A695-7A2F-48D7-EB8E-94C7E0636A37}"/>
                  </a:ext>
                </a:extLst>
              </p:cNvPr>
              <p:cNvSpPr txBox="1"/>
              <p:nvPr/>
            </p:nvSpPr>
            <p:spPr>
              <a:xfrm>
                <a:off x="3791096" y="2792098"/>
                <a:ext cx="338298" cy="361574"/>
              </a:xfrm>
              <a:prstGeom prst="rect">
                <a:avLst/>
              </a:prstGeom>
              <a:noFill/>
            </p:spPr>
            <p:txBody>
              <a:bodyPr wrap="none" lIns="0" rIns="0" rtlCol="0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14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(2)</m:t>
                          </m:r>
                        </m:sup>
                      </m:sSubSup>
                    </m:oMath>
                  </m:oMathPara>
                </a14:m>
                <a:endParaRPr lang="en-KR" sz="1400" dirty="0" err="1"/>
              </a:p>
            </p:txBody>
          </p:sp>
        </mc:Choice>
        <mc:Fallback xmlns="">
          <p:sp>
            <p:nvSpPr>
              <p:cNvPr id="74" name="TextBox 73">
                <a:extLst>
                  <a:ext uri="{FF2B5EF4-FFF2-40B4-BE49-F238E27FC236}">
                    <a16:creationId xmlns:a16="http://schemas.microsoft.com/office/drawing/2014/main" id="{7A12A695-7A2F-48D7-EB8E-94C7E0636A3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91096" y="2792098"/>
                <a:ext cx="338298" cy="361574"/>
              </a:xfrm>
              <a:prstGeom prst="rect">
                <a:avLst/>
              </a:prstGeom>
              <a:blipFill>
                <a:blip r:embed="rId17"/>
                <a:stretch>
                  <a:fillRect l="-11111" r="-11111"/>
                </a:stretch>
              </a:blipFill>
            </p:spPr>
            <p:txBody>
              <a:bodyPr/>
              <a:lstStyle/>
              <a:p>
                <a:r>
                  <a:rPr lang="en-K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5" name="TextBox 74">
                <a:extLst>
                  <a:ext uri="{FF2B5EF4-FFF2-40B4-BE49-F238E27FC236}">
                    <a16:creationId xmlns:a16="http://schemas.microsoft.com/office/drawing/2014/main" id="{27B732EF-05E8-5EF7-6659-BFBA45FA9F82}"/>
                  </a:ext>
                </a:extLst>
              </p:cNvPr>
              <p:cNvSpPr txBox="1"/>
              <p:nvPr/>
            </p:nvSpPr>
            <p:spPr>
              <a:xfrm>
                <a:off x="4197746" y="2804210"/>
                <a:ext cx="444352" cy="361574"/>
              </a:xfrm>
              <a:prstGeom prst="rect">
                <a:avLst/>
              </a:prstGeom>
              <a:noFill/>
            </p:spPr>
            <p:txBody>
              <a:bodyPr wrap="none" lIns="0" rIns="0" rtlCol="0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14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𝑘𝑣</m:t>
                          </m:r>
                        </m:e>
                        <m:sub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(2)</m:t>
                          </m:r>
                        </m:sup>
                      </m:sSubSup>
                    </m:oMath>
                  </m:oMathPara>
                </a14:m>
                <a:endParaRPr lang="en-KR" sz="1400" dirty="0" err="1"/>
              </a:p>
            </p:txBody>
          </p:sp>
        </mc:Choice>
        <mc:Fallback xmlns="">
          <p:sp>
            <p:nvSpPr>
              <p:cNvPr id="75" name="TextBox 74">
                <a:extLst>
                  <a:ext uri="{FF2B5EF4-FFF2-40B4-BE49-F238E27FC236}">
                    <a16:creationId xmlns:a16="http://schemas.microsoft.com/office/drawing/2014/main" id="{27B732EF-05E8-5EF7-6659-BFBA45FA9F8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97746" y="2804210"/>
                <a:ext cx="444352" cy="361574"/>
              </a:xfrm>
              <a:prstGeom prst="rect">
                <a:avLst/>
              </a:prstGeom>
              <a:blipFill>
                <a:blip r:embed="rId18"/>
                <a:stretch>
                  <a:fillRect l="-8333" r="-8333"/>
                </a:stretch>
              </a:blipFill>
            </p:spPr>
            <p:txBody>
              <a:bodyPr/>
              <a:lstStyle/>
              <a:p>
                <a:r>
                  <a:rPr lang="en-KR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6" name="Straight Arrow Connector 75">
            <a:extLst>
              <a:ext uri="{FF2B5EF4-FFF2-40B4-BE49-F238E27FC236}">
                <a16:creationId xmlns:a16="http://schemas.microsoft.com/office/drawing/2014/main" id="{1E1F9EA4-BC74-37BC-65D9-A9191A022D5E}"/>
              </a:ext>
            </a:extLst>
          </p:cNvPr>
          <p:cNvCxnSpPr>
            <a:cxnSpLocks/>
          </p:cNvCxnSpPr>
          <p:nvPr/>
        </p:nvCxnSpPr>
        <p:spPr>
          <a:xfrm flipH="1">
            <a:off x="3960563" y="2657546"/>
            <a:ext cx="124327" cy="105782"/>
          </a:xfrm>
          <a:prstGeom prst="straightConnector1">
            <a:avLst/>
          </a:prstGeom>
          <a:ln w="6350" cap="rnd">
            <a:solidFill>
              <a:schemeClr val="tx1"/>
            </a:solidFill>
            <a:round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Straight Arrow Connector 76">
            <a:extLst>
              <a:ext uri="{FF2B5EF4-FFF2-40B4-BE49-F238E27FC236}">
                <a16:creationId xmlns:a16="http://schemas.microsoft.com/office/drawing/2014/main" id="{9F3B4DBD-686D-7A48-5A3E-B7F576FE259C}"/>
              </a:ext>
            </a:extLst>
          </p:cNvPr>
          <p:cNvCxnSpPr>
            <a:cxnSpLocks/>
          </p:cNvCxnSpPr>
          <p:nvPr/>
        </p:nvCxnSpPr>
        <p:spPr>
          <a:xfrm>
            <a:off x="4203799" y="2664609"/>
            <a:ext cx="124327" cy="105782"/>
          </a:xfrm>
          <a:prstGeom prst="straightConnector1">
            <a:avLst/>
          </a:prstGeom>
          <a:ln w="6350" cap="rnd">
            <a:solidFill>
              <a:schemeClr val="tx1"/>
            </a:solidFill>
            <a:round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8" name="TextBox 77">
            <a:extLst>
              <a:ext uri="{FF2B5EF4-FFF2-40B4-BE49-F238E27FC236}">
                <a16:creationId xmlns:a16="http://schemas.microsoft.com/office/drawing/2014/main" id="{A194563A-0FB0-B38D-A3A2-10D8B21FA758}"/>
              </a:ext>
            </a:extLst>
          </p:cNvPr>
          <p:cNvSpPr txBox="1"/>
          <p:nvPr/>
        </p:nvSpPr>
        <p:spPr>
          <a:xfrm>
            <a:off x="4111021" y="3227865"/>
            <a:ext cx="33664" cy="577081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pPr algn="l"/>
            <a:r>
              <a:rPr lang="en-KR" sz="1050" dirty="0"/>
              <a:t>.</a:t>
            </a:r>
          </a:p>
          <a:p>
            <a:pPr algn="l"/>
            <a:r>
              <a:rPr lang="en-KR" sz="1050" dirty="0"/>
              <a:t>.</a:t>
            </a:r>
          </a:p>
          <a:p>
            <a:pPr algn="l"/>
            <a:r>
              <a:rPr lang="en-KR" sz="1050" dirty="0"/>
              <a:t>.</a:t>
            </a:r>
          </a:p>
        </p:txBody>
      </p:sp>
      <p:cxnSp>
        <p:nvCxnSpPr>
          <p:cNvPr id="79" name="Straight Arrow Connector 78">
            <a:extLst>
              <a:ext uri="{FF2B5EF4-FFF2-40B4-BE49-F238E27FC236}">
                <a16:creationId xmlns:a16="http://schemas.microsoft.com/office/drawing/2014/main" id="{500607B3-2C80-795D-F7D4-F71B0AEFFEBF}"/>
              </a:ext>
            </a:extLst>
          </p:cNvPr>
          <p:cNvCxnSpPr>
            <a:cxnSpLocks/>
          </p:cNvCxnSpPr>
          <p:nvPr/>
        </p:nvCxnSpPr>
        <p:spPr>
          <a:xfrm>
            <a:off x="2535404" y="4032714"/>
            <a:ext cx="0" cy="247055"/>
          </a:xfrm>
          <a:prstGeom prst="straightConnector1">
            <a:avLst/>
          </a:prstGeom>
          <a:ln w="6350" cap="rnd">
            <a:solidFill>
              <a:schemeClr val="tx1"/>
            </a:solidFill>
            <a:round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Straight Arrow Connector 80">
            <a:extLst>
              <a:ext uri="{FF2B5EF4-FFF2-40B4-BE49-F238E27FC236}">
                <a16:creationId xmlns:a16="http://schemas.microsoft.com/office/drawing/2014/main" id="{491CC8DA-B5E6-F8A2-D7C9-062917F9B4AF}"/>
              </a:ext>
            </a:extLst>
          </p:cNvPr>
          <p:cNvCxnSpPr>
            <a:cxnSpLocks/>
          </p:cNvCxnSpPr>
          <p:nvPr/>
        </p:nvCxnSpPr>
        <p:spPr>
          <a:xfrm>
            <a:off x="3285236" y="4032713"/>
            <a:ext cx="0" cy="247055"/>
          </a:xfrm>
          <a:prstGeom prst="straightConnector1">
            <a:avLst/>
          </a:prstGeom>
          <a:ln w="6350" cap="rnd">
            <a:solidFill>
              <a:schemeClr val="tx1"/>
            </a:solidFill>
            <a:round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Straight Arrow Connector 81">
            <a:extLst>
              <a:ext uri="{FF2B5EF4-FFF2-40B4-BE49-F238E27FC236}">
                <a16:creationId xmlns:a16="http://schemas.microsoft.com/office/drawing/2014/main" id="{1E5C830A-AD71-1C4A-54FD-4A8E5EEB064F}"/>
              </a:ext>
            </a:extLst>
          </p:cNvPr>
          <p:cNvCxnSpPr>
            <a:cxnSpLocks/>
          </p:cNvCxnSpPr>
          <p:nvPr/>
        </p:nvCxnSpPr>
        <p:spPr>
          <a:xfrm>
            <a:off x="4072779" y="4032712"/>
            <a:ext cx="0" cy="247055"/>
          </a:xfrm>
          <a:prstGeom prst="straightConnector1">
            <a:avLst/>
          </a:prstGeom>
          <a:ln w="6350" cap="rnd">
            <a:solidFill>
              <a:schemeClr val="tx1"/>
            </a:solidFill>
            <a:round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Straight Arrow Connector 82">
            <a:extLst>
              <a:ext uri="{FF2B5EF4-FFF2-40B4-BE49-F238E27FC236}">
                <a16:creationId xmlns:a16="http://schemas.microsoft.com/office/drawing/2014/main" id="{D62A3E92-449F-B969-9A9D-C537D1B674D8}"/>
              </a:ext>
            </a:extLst>
          </p:cNvPr>
          <p:cNvCxnSpPr>
            <a:cxnSpLocks/>
          </p:cNvCxnSpPr>
          <p:nvPr/>
        </p:nvCxnSpPr>
        <p:spPr>
          <a:xfrm>
            <a:off x="4992957" y="4032711"/>
            <a:ext cx="0" cy="247055"/>
          </a:xfrm>
          <a:prstGeom prst="straightConnector1">
            <a:avLst/>
          </a:prstGeom>
          <a:ln w="6350" cap="rnd">
            <a:solidFill>
              <a:schemeClr val="tx1"/>
            </a:solidFill>
            <a:round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Straight Arrow Connector 83">
            <a:extLst>
              <a:ext uri="{FF2B5EF4-FFF2-40B4-BE49-F238E27FC236}">
                <a16:creationId xmlns:a16="http://schemas.microsoft.com/office/drawing/2014/main" id="{93806B74-280D-908F-7F8D-435600531BC8}"/>
              </a:ext>
            </a:extLst>
          </p:cNvPr>
          <p:cNvCxnSpPr>
            <a:cxnSpLocks/>
          </p:cNvCxnSpPr>
          <p:nvPr/>
        </p:nvCxnSpPr>
        <p:spPr>
          <a:xfrm>
            <a:off x="5849494" y="4032710"/>
            <a:ext cx="0" cy="247055"/>
          </a:xfrm>
          <a:prstGeom prst="straightConnector1">
            <a:avLst/>
          </a:prstGeom>
          <a:ln w="6350" cap="rnd">
            <a:solidFill>
              <a:schemeClr val="tx1"/>
            </a:solidFill>
            <a:round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Straight Arrow Connector 84">
            <a:extLst>
              <a:ext uri="{FF2B5EF4-FFF2-40B4-BE49-F238E27FC236}">
                <a16:creationId xmlns:a16="http://schemas.microsoft.com/office/drawing/2014/main" id="{0F0988D1-9709-A5B1-729A-ECB27DED3F4B}"/>
              </a:ext>
            </a:extLst>
          </p:cNvPr>
          <p:cNvCxnSpPr>
            <a:cxnSpLocks/>
          </p:cNvCxnSpPr>
          <p:nvPr/>
        </p:nvCxnSpPr>
        <p:spPr>
          <a:xfrm>
            <a:off x="6742030" y="4029739"/>
            <a:ext cx="0" cy="247055"/>
          </a:xfrm>
          <a:prstGeom prst="straightConnector1">
            <a:avLst/>
          </a:prstGeom>
          <a:ln w="6350" cap="rnd">
            <a:solidFill>
              <a:schemeClr val="tx1"/>
            </a:solidFill>
            <a:round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7" name="TextBox 86">
            <a:extLst>
              <a:ext uri="{FF2B5EF4-FFF2-40B4-BE49-F238E27FC236}">
                <a16:creationId xmlns:a16="http://schemas.microsoft.com/office/drawing/2014/main" id="{7FE07787-9110-DB65-F003-54BCD17B839E}"/>
              </a:ext>
            </a:extLst>
          </p:cNvPr>
          <p:cNvSpPr txBox="1"/>
          <p:nvPr/>
        </p:nvSpPr>
        <p:spPr>
          <a:xfrm>
            <a:off x="4597850" y="6081758"/>
            <a:ext cx="2285882" cy="276999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pPr algn="l"/>
            <a:r>
              <a:rPr lang="en-KR" sz="1200" dirty="0"/>
              <a:t> Unmasked token stays the same</a:t>
            </a:r>
          </a:p>
        </p:txBody>
      </p:sp>
      <p:cxnSp>
        <p:nvCxnSpPr>
          <p:cNvPr id="89" name="Elbow Connector 88">
            <a:extLst>
              <a:ext uri="{FF2B5EF4-FFF2-40B4-BE49-F238E27FC236}">
                <a16:creationId xmlns:a16="http://schemas.microsoft.com/office/drawing/2014/main" id="{358B48AA-A02D-1825-BF8F-60175C254F08}"/>
              </a:ext>
            </a:extLst>
          </p:cNvPr>
          <p:cNvCxnSpPr>
            <a:cxnSpLocks/>
            <a:endCxn id="87" idx="1"/>
          </p:cNvCxnSpPr>
          <p:nvPr/>
        </p:nvCxnSpPr>
        <p:spPr>
          <a:xfrm rot="16200000" flipH="1">
            <a:off x="4121989" y="5744397"/>
            <a:ext cx="498218" cy="453504"/>
          </a:xfrm>
          <a:prstGeom prst="bentConnector2">
            <a:avLst/>
          </a:prstGeom>
          <a:ln w="19050" cap="rnd">
            <a:solidFill>
              <a:schemeClr val="tx1"/>
            </a:solidFill>
            <a:round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2" name="Rounded Rectangle 91">
            <a:extLst>
              <a:ext uri="{FF2B5EF4-FFF2-40B4-BE49-F238E27FC236}">
                <a16:creationId xmlns:a16="http://schemas.microsoft.com/office/drawing/2014/main" id="{1B07E38F-BD11-B14D-8D1F-9DCC95A8ED20}"/>
              </a:ext>
            </a:extLst>
          </p:cNvPr>
          <p:cNvSpPr/>
          <p:nvPr/>
        </p:nvSpPr>
        <p:spPr>
          <a:xfrm>
            <a:off x="1735396" y="2302583"/>
            <a:ext cx="5813404" cy="932566"/>
          </a:xfrm>
          <a:prstGeom prst="roundRect">
            <a:avLst/>
          </a:prstGeom>
          <a:noFill/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45720" rIns="45720" rtlCol="0" anchor="ctr"/>
          <a:lstStyle/>
          <a:p>
            <a:pPr algn="ctr"/>
            <a:endParaRPr lang="en-KR" dirty="0" err="1">
              <a:solidFill>
                <a:schemeClr val="tx1"/>
              </a:solidFill>
            </a:endParaRPr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A37D3060-6ACE-4D03-1E53-E6CB944A22BF}"/>
              </a:ext>
            </a:extLst>
          </p:cNvPr>
          <p:cNvSpPr txBox="1"/>
          <p:nvPr/>
        </p:nvSpPr>
        <p:spPr>
          <a:xfrm>
            <a:off x="1148137" y="2636370"/>
            <a:ext cx="447238" cy="253916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pPr algn="l"/>
            <a:r>
              <a:rPr lang="en-KR" sz="1050" dirty="0"/>
              <a:t>Layer 2</a:t>
            </a:r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3683F6A0-5487-B60E-E8F7-06E8C157B236}"/>
              </a:ext>
            </a:extLst>
          </p:cNvPr>
          <p:cNvSpPr txBox="1"/>
          <p:nvPr/>
        </p:nvSpPr>
        <p:spPr>
          <a:xfrm>
            <a:off x="1232739" y="4448597"/>
            <a:ext cx="370294" cy="253916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pPr algn="l"/>
            <a:r>
              <a:rPr lang="en-KR" sz="1050" dirty="0"/>
              <a:t>Logits</a:t>
            </a:r>
          </a:p>
        </p:txBody>
      </p:sp>
      <p:sp>
        <p:nvSpPr>
          <p:cNvPr id="96" name="Rounded Rectangle 95">
            <a:extLst>
              <a:ext uri="{FF2B5EF4-FFF2-40B4-BE49-F238E27FC236}">
                <a16:creationId xmlns:a16="http://schemas.microsoft.com/office/drawing/2014/main" id="{6F9C3B03-8792-F4CE-1837-BA226868BA79}"/>
              </a:ext>
            </a:extLst>
          </p:cNvPr>
          <p:cNvSpPr/>
          <p:nvPr/>
        </p:nvSpPr>
        <p:spPr>
          <a:xfrm>
            <a:off x="1735396" y="1236750"/>
            <a:ext cx="5813404" cy="932566"/>
          </a:xfrm>
          <a:prstGeom prst="roundRect">
            <a:avLst/>
          </a:prstGeom>
          <a:noFill/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45720" rIns="45720" rtlCol="0" anchor="ctr"/>
          <a:lstStyle/>
          <a:p>
            <a:pPr algn="ctr"/>
            <a:endParaRPr lang="en-KR" dirty="0" err="1">
              <a:solidFill>
                <a:schemeClr val="tx1"/>
              </a:solidFill>
            </a:endParaRPr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030EF995-D976-14C6-14A5-4072AB169D21}"/>
              </a:ext>
            </a:extLst>
          </p:cNvPr>
          <p:cNvSpPr txBox="1"/>
          <p:nvPr/>
        </p:nvSpPr>
        <p:spPr>
          <a:xfrm>
            <a:off x="1158611" y="1576075"/>
            <a:ext cx="428002" cy="253916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pPr algn="l"/>
            <a:r>
              <a:rPr lang="en-KR" sz="1050" dirty="0"/>
              <a:t>Layer </a:t>
            </a:r>
            <a:r>
              <a:rPr lang="en-US" altLang="ko-KR" sz="1050" dirty="0"/>
              <a:t>1</a:t>
            </a:r>
            <a:endParaRPr lang="en-KR" sz="105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8" name="TextBox 97">
                <a:extLst>
                  <a:ext uri="{FF2B5EF4-FFF2-40B4-BE49-F238E27FC236}">
                    <a16:creationId xmlns:a16="http://schemas.microsoft.com/office/drawing/2014/main" id="{BC50F9EE-1E1F-CE00-11FC-D652EFBDFAC5}"/>
                  </a:ext>
                </a:extLst>
              </p:cNvPr>
              <p:cNvSpPr txBox="1"/>
              <p:nvPr/>
            </p:nvSpPr>
            <p:spPr>
              <a:xfrm>
                <a:off x="4027699" y="1812645"/>
                <a:ext cx="218137" cy="307777"/>
              </a:xfrm>
              <a:prstGeom prst="rect">
                <a:avLst/>
              </a:prstGeom>
              <a:noFill/>
            </p:spPr>
            <p:txBody>
              <a:bodyPr wrap="square" lIns="0" rIns="0" rtlCol="0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𝑜</m:t>
                          </m:r>
                        </m:e>
                        <m:sub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KR" sz="1400" dirty="0" err="1"/>
              </a:p>
            </p:txBody>
          </p:sp>
        </mc:Choice>
        <mc:Fallback xmlns="">
          <p:sp>
            <p:nvSpPr>
              <p:cNvPr id="98" name="TextBox 97">
                <a:extLst>
                  <a:ext uri="{FF2B5EF4-FFF2-40B4-BE49-F238E27FC236}">
                    <a16:creationId xmlns:a16="http://schemas.microsoft.com/office/drawing/2014/main" id="{BC50F9EE-1E1F-CE00-11FC-D652EFBDFAC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27699" y="1812645"/>
                <a:ext cx="218137" cy="307777"/>
              </a:xfrm>
              <a:prstGeom prst="rect">
                <a:avLst/>
              </a:prstGeom>
              <a:blipFill>
                <a:blip r:embed="rId19"/>
                <a:stretch>
                  <a:fillRect l="-11111" r="-5556"/>
                </a:stretch>
              </a:blipFill>
            </p:spPr>
            <p:txBody>
              <a:bodyPr/>
              <a:lstStyle/>
              <a:p>
                <a:r>
                  <a:rPr lang="en-KR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99" name="Straight Arrow Connector 98">
            <a:extLst>
              <a:ext uri="{FF2B5EF4-FFF2-40B4-BE49-F238E27FC236}">
                <a16:creationId xmlns:a16="http://schemas.microsoft.com/office/drawing/2014/main" id="{049CC903-0CFC-D417-0941-0B19AEC3CDDD}"/>
              </a:ext>
            </a:extLst>
          </p:cNvPr>
          <p:cNvCxnSpPr>
            <a:cxnSpLocks/>
          </p:cNvCxnSpPr>
          <p:nvPr/>
        </p:nvCxnSpPr>
        <p:spPr>
          <a:xfrm flipH="1">
            <a:off x="4183624" y="1592154"/>
            <a:ext cx="43419" cy="270588"/>
          </a:xfrm>
          <a:prstGeom prst="straightConnector1">
            <a:avLst/>
          </a:prstGeom>
          <a:ln w="6350" cap="rnd">
            <a:solidFill>
              <a:schemeClr val="tx1"/>
            </a:solidFill>
            <a:round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0" name="Straight Arrow Connector 99">
            <a:extLst>
              <a:ext uri="{FF2B5EF4-FFF2-40B4-BE49-F238E27FC236}">
                <a16:creationId xmlns:a16="http://schemas.microsoft.com/office/drawing/2014/main" id="{CC7DF321-CA8C-2B23-8B9A-6C62E9538926}"/>
              </a:ext>
            </a:extLst>
          </p:cNvPr>
          <p:cNvCxnSpPr>
            <a:cxnSpLocks/>
          </p:cNvCxnSpPr>
          <p:nvPr/>
        </p:nvCxnSpPr>
        <p:spPr>
          <a:xfrm>
            <a:off x="3985003" y="1586349"/>
            <a:ext cx="43419" cy="270588"/>
          </a:xfrm>
          <a:prstGeom prst="straightConnector1">
            <a:avLst/>
          </a:prstGeom>
          <a:ln w="6350" cap="rnd">
            <a:solidFill>
              <a:schemeClr val="tx1"/>
            </a:solidFill>
            <a:round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" name="Straight Arrow Connector 100">
            <a:extLst>
              <a:ext uri="{FF2B5EF4-FFF2-40B4-BE49-F238E27FC236}">
                <a16:creationId xmlns:a16="http://schemas.microsoft.com/office/drawing/2014/main" id="{C1D58691-28B1-9B02-E4A8-ADBEF4B3C692}"/>
              </a:ext>
            </a:extLst>
          </p:cNvPr>
          <p:cNvCxnSpPr>
            <a:cxnSpLocks/>
          </p:cNvCxnSpPr>
          <p:nvPr/>
        </p:nvCxnSpPr>
        <p:spPr>
          <a:xfrm>
            <a:off x="4130905" y="2081921"/>
            <a:ext cx="0" cy="188794"/>
          </a:xfrm>
          <a:prstGeom prst="straightConnector1">
            <a:avLst/>
          </a:prstGeom>
          <a:ln w="6350" cap="rnd">
            <a:solidFill>
              <a:schemeClr val="tx1"/>
            </a:solidFill>
            <a:round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9BAE82F9-AE94-47E3-32A0-E896278FC609}"/>
              </a:ext>
            </a:extLst>
          </p:cNvPr>
          <p:cNvSpPr txBox="1"/>
          <p:nvPr/>
        </p:nvSpPr>
        <p:spPr>
          <a:xfrm>
            <a:off x="8041631" y="4329853"/>
            <a:ext cx="2495876" cy="461665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pPr algn="l"/>
            <a:r>
              <a:rPr lang="en-KR" sz="1200" dirty="0"/>
              <a:t>6th token is chosen to be unmasked</a:t>
            </a:r>
          </a:p>
          <a:p>
            <a:pPr algn="l"/>
            <a:r>
              <a:rPr lang="en-KR" sz="1200" dirty="0"/>
              <a:t>(e.g., via random or confidence)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2590A41-C2AC-D88F-7857-022AAE24B120}"/>
              </a:ext>
            </a:extLst>
          </p:cNvPr>
          <p:cNvSpPr txBox="1"/>
          <p:nvPr/>
        </p:nvSpPr>
        <p:spPr>
          <a:xfrm>
            <a:off x="3193117" y="69853"/>
            <a:ext cx="2475037" cy="369332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pPr algn="l"/>
            <a:r>
              <a:rPr lang="en-KR" dirty="0"/>
              <a:t>Inside the forward pass,</a:t>
            </a:r>
          </a:p>
        </p:txBody>
      </p:sp>
    </p:spTree>
    <p:extLst>
      <p:ext uri="{BB962C8B-B14F-4D97-AF65-F5344CB8AC3E}">
        <p14:creationId xmlns:p14="http://schemas.microsoft.com/office/powerpoint/2010/main" val="117547548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0DE3B2-3813-B8A9-48E0-C514C1C0A9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90DB933-3EF2-51B7-99A9-CAD6017D5144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EB4B8DE2-A4E8-46E4-8BBF-D75455EFF32C}" type="slidenum">
              <a:rPr lang="en-US" smtClean="0"/>
              <a:pPr/>
              <a:t>10</a:t>
            </a:fld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95C6FD4-CD98-619B-1E70-54B7C8D5058B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KR"/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CA32A9D4-FB71-6CAC-FB0E-F7463BC8BBA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61072369"/>
              </p:ext>
            </p:extLst>
          </p:nvPr>
        </p:nvGraphicFramePr>
        <p:xfrm>
          <a:off x="2032000" y="608230"/>
          <a:ext cx="5083362" cy="3708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47227">
                  <a:extLst>
                    <a:ext uri="{9D8B030D-6E8A-4147-A177-3AD203B41FA5}">
                      <a16:colId xmlns:a16="http://schemas.microsoft.com/office/drawing/2014/main" val="2725002957"/>
                    </a:ext>
                  </a:extLst>
                </a:gridCol>
                <a:gridCol w="847227">
                  <a:extLst>
                    <a:ext uri="{9D8B030D-6E8A-4147-A177-3AD203B41FA5}">
                      <a16:colId xmlns:a16="http://schemas.microsoft.com/office/drawing/2014/main" val="2967591184"/>
                    </a:ext>
                  </a:extLst>
                </a:gridCol>
                <a:gridCol w="847227">
                  <a:extLst>
                    <a:ext uri="{9D8B030D-6E8A-4147-A177-3AD203B41FA5}">
                      <a16:colId xmlns:a16="http://schemas.microsoft.com/office/drawing/2014/main" val="3465237977"/>
                    </a:ext>
                  </a:extLst>
                </a:gridCol>
                <a:gridCol w="847227">
                  <a:extLst>
                    <a:ext uri="{9D8B030D-6E8A-4147-A177-3AD203B41FA5}">
                      <a16:colId xmlns:a16="http://schemas.microsoft.com/office/drawing/2014/main" val="4043266946"/>
                    </a:ext>
                  </a:extLst>
                </a:gridCol>
                <a:gridCol w="847227">
                  <a:extLst>
                    <a:ext uri="{9D8B030D-6E8A-4147-A177-3AD203B41FA5}">
                      <a16:colId xmlns:a16="http://schemas.microsoft.com/office/drawing/2014/main" val="758914307"/>
                    </a:ext>
                  </a:extLst>
                </a:gridCol>
                <a:gridCol w="847227">
                  <a:extLst>
                    <a:ext uri="{9D8B030D-6E8A-4147-A177-3AD203B41FA5}">
                      <a16:colId xmlns:a16="http://schemas.microsoft.com/office/drawing/2014/main" val="209698160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KR" dirty="0"/>
                        <a:t>&lt;M&gt;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KR" dirty="0"/>
                        <a:t>&lt;M&gt;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A</a:t>
                      </a:r>
                      <a:endParaRPr lang="en-K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KR" dirty="0"/>
                        <a:t>&lt;M&gt;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KR" dirty="0"/>
                        <a:t>&lt;M&gt;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KR" dirty="0"/>
                        <a:t>B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46548387"/>
                  </a:ext>
                </a:extLst>
              </a:tr>
            </a:tbl>
          </a:graphicData>
        </a:graphic>
      </p:graphicFrame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7D9C8156-4A72-F0D2-3CAF-54F6EE4C80E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50514483"/>
              </p:ext>
            </p:extLst>
          </p:nvPr>
        </p:nvGraphicFramePr>
        <p:xfrm>
          <a:off x="2032000" y="5351198"/>
          <a:ext cx="5083362" cy="3708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47227">
                  <a:extLst>
                    <a:ext uri="{9D8B030D-6E8A-4147-A177-3AD203B41FA5}">
                      <a16:colId xmlns:a16="http://schemas.microsoft.com/office/drawing/2014/main" val="2725002957"/>
                    </a:ext>
                  </a:extLst>
                </a:gridCol>
                <a:gridCol w="847227">
                  <a:extLst>
                    <a:ext uri="{9D8B030D-6E8A-4147-A177-3AD203B41FA5}">
                      <a16:colId xmlns:a16="http://schemas.microsoft.com/office/drawing/2014/main" val="2967591184"/>
                    </a:ext>
                  </a:extLst>
                </a:gridCol>
                <a:gridCol w="847227">
                  <a:extLst>
                    <a:ext uri="{9D8B030D-6E8A-4147-A177-3AD203B41FA5}">
                      <a16:colId xmlns:a16="http://schemas.microsoft.com/office/drawing/2014/main" val="3465237977"/>
                    </a:ext>
                  </a:extLst>
                </a:gridCol>
                <a:gridCol w="847227">
                  <a:extLst>
                    <a:ext uri="{9D8B030D-6E8A-4147-A177-3AD203B41FA5}">
                      <a16:colId xmlns:a16="http://schemas.microsoft.com/office/drawing/2014/main" val="4043266946"/>
                    </a:ext>
                  </a:extLst>
                </a:gridCol>
                <a:gridCol w="847227">
                  <a:extLst>
                    <a:ext uri="{9D8B030D-6E8A-4147-A177-3AD203B41FA5}">
                      <a16:colId xmlns:a16="http://schemas.microsoft.com/office/drawing/2014/main" val="758914307"/>
                    </a:ext>
                  </a:extLst>
                </a:gridCol>
                <a:gridCol w="847227">
                  <a:extLst>
                    <a:ext uri="{9D8B030D-6E8A-4147-A177-3AD203B41FA5}">
                      <a16:colId xmlns:a16="http://schemas.microsoft.com/office/drawing/2014/main" val="209698160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KR" dirty="0"/>
                        <a:t>&lt;M&gt;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KR" dirty="0"/>
                        <a:t>&lt;M&gt;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A</a:t>
                      </a:r>
                      <a:endParaRPr lang="en-K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KR" dirty="0"/>
                        <a:t>&lt;M&gt;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C</a:t>
                      </a:r>
                      <a:endParaRPr lang="en-K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KR" dirty="0"/>
                        <a:t>B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46548387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832738F7-8230-E30C-48C8-6A390E683C7F}"/>
                  </a:ext>
                </a:extLst>
              </p:cNvPr>
              <p:cNvSpPr txBox="1"/>
              <p:nvPr/>
            </p:nvSpPr>
            <p:spPr>
              <a:xfrm>
                <a:off x="2445604" y="4378917"/>
                <a:ext cx="179600" cy="307777"/>
              </a:xfrm>
              <a:prstGeom prst="rect">
                <a:avLst/>
              </a:prstGeom>
              <a:noFill/>
            </p:spPr>
            <p:txBody>
              <a:bodyPr wrap="none" lIns="0" rIns="0" rtlCol="0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𝑙</m:t>
                          </m:r>
                        </m:e>
                        <m:sub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KR" sz="1400" dirty="0" err="1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832738F7-8230-E30C-48C8-6A390E683C7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45604" y="4378917"/>
                <a:ext cx="179600" cy="307777"/>
              </a:xfrm>
              <a:prstGeom prst="rect">
                <a:avLst/>
              </a:prstGeom>
              <a:blipFill>
                <a:blip r:embed="rId2"/>
                <a:stretch>
                  <a:fillRect l="-20000" r="-6667"/>
                </a:stretch>
              </a:blipFill>
            </p:spPr>
            <p:txBody>
              <a:bodyPr/>
              <a:lstStyle/>
              <a:p>
                <a:r>
                  <a:rPr lang="en-K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2A4CB398-2A42-F67E-2758-7E1AD7B87998}"/>
                  </a:ext>
                </a:extLst>
              </p:cNvPr>
              <p:cNvSpPr txBox="1"/>
              <p:nvPr/>
            </p:nvSpPr>
            <p:spPr>
              <a:xfrm>
                <a:off x="3193352" y="4378917"/>
                <a:ext cx="183768" cy="307777"/>
              </a:xfrm>
              <a:prstGeom prst="rect">
                <a:avLst/>
              </a:prstGeom>
              <a:noFill/>
            </p:spPr>
            <p:txBody>
              <a:bodyPr wrap="none" lIns="0" rIns="0" rtlCol="0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𝑙</m:t>
                          </m:r>
                        </m:e>
                        <m:sub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KR" sz="1400" dirty="0" err="1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2A4CB398-2A42-F67E-2758-7E1AD7B8799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93352" y="4378917"/>
                <a:ext cx="183768" cy="307777"/>
              </a:xfrm>
              <a:prstGeom prst="rect">
                <a:avLst/>
              </a:prstGeom>
              <a:blipFill>
                <a:blip r:embed="rId3"/>
                <a:stretch>
                  <a:fillRect l="-20000" r="-6667"/>
                </a:stretch>
              </a:blipFill>
            </p:spPr>
            <p:txBody>
              <a:bodyPr/>
              <a:lstStyle/>
              <a:p>
                <a:r>
                  <a:rPr lang="en-K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3E0F94AA-D9DF-987F-3EF1-731841C6A69B}"/>
                  </a:ext>
                </a:extLst>
              </p:cNvPr>
              <p:cNvSpPr txBox="1"/>
              <p:nvPr/>
            </p:nvSpPr>
            <p:spPr>
              <a:xfrm>
                <a:off x="4026091" y="4378917"/>
                <a:ext cx="183768" cy="307777"/>
              </a:xfrm>
              <a:prstGeom prst="rect">
                <a:avLst/>
              </a:prstGeom>
              <a:noFill/>
            </p:spPr>
            <p:txBody>
              <a:bodyPr wrap="none" lIns="0" rIns="0" rtlCol="0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400" i="1" smtClean="0">
                              <a:solidFill>
                                <a:schemeClr val="tx1"/>
                              </a:solidFill>
                              <a:highlight>
                                <a:srgbClr val="FFFF00"/>
                              </a:highlight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b="0" i="1" smtClean="0">
                              <a:solidFill>
                                <a:schemeClr val="tx1"/>
                              </a:solidFill>
                              <a:highlight>
                                <a:srgbClr val="FFFF00"/>
                              </a:highlight>
                              <a:latin typeface="Cambria Math" panose="02040503050406030204" pitchFamily="18" charset="0"/>
                            </a:rPr>
                            <m:t>𝑙</m:t>
                          </m:r>
                        </m:e>
                        <m:sub>
                          <m:r>
                            <a:rPr lang="en-US" sz="1400" b="0" i="1" smtClean="0">
                              <a:solidFill>
                                <a:schemeClr val="tx1"/>
                              </a:solidFill>
                              <a:highlight>
                                <a:srgbClr val="FFFF00"/>
                              </a:highlight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KR" sz="1400" dirty="0" err="1">
                  <a:solidFill>
                    <a:srgbClr val="FF0000"/>
                  </a:solidFill>
                  <a:highlight>
                    <a:srgbClr val="FFFF00"/>
                  </a:highlight>
                </a:endParaRP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3E0F94AA-D9DF-987F-3EF1-731841C6A69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26091" y="4378917"/>
                <a:ext cx="183768" cy="307777"/>
              </a:xfrm>
              <a:prstGeom prst="rect">
                <a:avLst/>
              </a:prstGeom>
              <a:blipFill>
                <a:blip r:embed="rId4"/>
                <a:stretch>
                  <a:fillRect l="-18750" r="-6250"/>
                </a:stretch>
              </a:blipFill>
            </p:spPr>
            <p:txBody>
              <a:bodyPr/>
              <a:lstStyle/>
              <a:p>
                <a:r>
                  <a:rPr lang="en-K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090980CE-D6FF-A643-E92D-662E0BA8F547}"/>
                  </a:ext>
                </a:extLst>
              </p:cNvPr>
              <p:cNvSpPr txBox="1"/>
              <p:nvPr/>
            </p:nvSpPr>
            <p:spPr>
              <a:xfrm>
                <a:off x="4901073" y="4378916"/>
                <a:ext cx="183768" cy="307777"/>
              </a:xfrm>
              <a:prstGeom prst="rect">
                <a:avLst/>
              </a:prstGeom>
              <a:noFill/>
            </p:spPr>
            <p:txBody>
              <a:bodyPr wrap="none" lIns="0" rIns="0" rtlCol="0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𝑙</m:t>
                          </m:r>
                        </m:e>
                        <m:sub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lang="en-KR" sz="1400" dirty="0" err="1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090980CE-D6FF-A643-E92D-662E0BA8F54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01073" y="4378916"/>
                <a:ext cx="183768" cy="307777"/>
              </a:xfrm>
              <a:prstGeom prst="rect">
                <a:avLst/>
              </a:prstGeom>
              <a:blipFill>
                <a:blip r:embed="rId5"/>
                <a:stretch>
                  <a:fillRect l="-18750" r="-6250"/>
                </a:stretch>
              </a:blipFill>
            </p:spPr>
            <p:txBody>
              <a:bodyPr/>
              <a:lstStyle/>
              <a:p>
                <a:r>
                  <a:rPr lang="en-K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83EBB23C-B6FD-0925-585A-28452B12D36F}"/>
                  </a:ext>
                </a:extLst>
              </p:cNvPr>
              <p:cNvSpPr txBox="1"/>
              <p:nvPr/>
            </p:nvSpPr>
            <p:spPr>
              <a:xfrm>
                <a:off x="5778508" y="4378915"/>
                <a:ext cx="183768" cy="307777"/>
              </a:xfrm>
              <a:prstGeom prst="rect">
                <a:avLst/>
              </a:prstGeom>
              <a:noFill/>
            </p:spPr>
            <p:txBody>
              <a:bodyPr wrap="none" lIns="0" rIns="0" rtlCol="0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𝑙</m:t>
                          </m:r>
                        </m:e>
                        <m:sub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sub>
                      </m:sSub>
                    </m:oMath>
                  </m:oMathPara>
                </a14:m>
                <a:endParaRPr lang="en-KR" sz="1400" dirty="0" err="1"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83EBB23C-B6FD-0925-585A-28452B12D36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78508" y="4378915"/>
                <a:ext cx="183768" cy="307777"/>
              </a:xfrm>
              <a:prstGeom prst="rect">
                <a:avLst/>
              </a:prstGeom>
              <a:blipFill>
                <a:blip r:embed="rId6"/>
                <a:stretch>
                  <a:fillRect l="-26667" r="-6667"/>
                </a:stretch>
              </a:blipFill>
            </p:spPr>
            <p:txBody>
              <a:bodyPr/>
              <a:lstStyle/>
              <a:p>
                <a:r>
                  <a:rPr lang="en-K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F8520BD7-794E-3691-4663-DE7DFE233926}"/>
                  </a:ext>
                </a:extLst>
              </p:cNvPr>
              <p:cNvSpPr txBox="1"/>
              <p:nvPr/>
            </p:nvSpPr>
            <p:spPr>
              <a:xfrm>
                <a:off x="6661492" y="4378915"/>
                <a:ext cx="183768" cy="307777"/>
              </a:xfrm>
              <a:prstGeom prst="rect">
                <a:avLst/>
              </a:prstGeom>
              <a:noFill/>
            </p:spPr>
            <p:txBody>
              <a:bodyPr wrap="none" lIns="0" rIns="0" rtlCol="0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𝑙</m:t>
                          </m:r>
                        </m:e>
                        <m:sub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6</m:t>
                          </m:r>
                        </m:sub>
                      </m:sSub>
                    </m:oMath>
                  </m:oMathPara>
                </a14:m>
                <a:endParaRPr lang="en-KR" sz="1400" dirty="0" err="1"/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F8520BD7-794E-3691-4663-DE7DFE23392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61492" y="4378915"/>
                <a:ext cx="183768" cy="307777"/>
              </a:xfrm>
              <a:prstGeom prst="rect">
                <a:avLst/>
              </a:prstGeom>
              <a:blipFill>
                <a:blip r:embed="rId7"/>
                <a:stretch>
                  <a:fillRect l="-18750"/>
                </a:stretch>
              </a:blipFill>
            </p:spPr>
            <p:txBody>
              <a:bodyPr/>
              <a:lstStyle/>
              <a:p>
                <a:r>
                  <a:rPr lang="en-K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FEC33AA0-F03F-DB07-2C7F-5FA43E98D5F6}"/>
                  </a:ext>
                </a:extLst>
              </p:cNvPr>
              <p:cNvSpPr txBox="1"/>
              <p:nvPr/>
            </p:nvSpPr>
            <p:spPr>
              <a:xfrm>
                <a:off x="4050518" y="942134"/>
                <a:ext cx="230641" cy="307777"/>
              </a:xfrm>
              <a:prstGeom prst="rect">
                <a:avLst/>
              </a:prstGeom>
              <a:noFill/>
            </p:spPr>
            <p:txBody>
              <a:bodyPr wrap="none" lIns="0" rIns="0" rtlCol="0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sub>
                      </m:sSub>
                    </m:oMath>
                  </m:oMathPara>
                </a14:m>
                <a:endParaRPr lang="en-KR" sz="1400" dirty="0"/>
              </a:p>
            </p:txBody>
          </p:sp>
        </mc:Choice>
        <mc:Fallback xmlns="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FEC33AA0-F03F-DB07-2C7F-5FA43E98D5F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50518" y="942134"/>
                <a:ext cx="230641" cy="307777"/>
              </a:xfrm>
              <a:prstGeom prst="rect">
                <a:avLst/>
              </a:prstGeom>
              <a:blipFill>
                <a:blip r:embed="rId8"/>
                <a:stretch>
                  <a:fillRect l="-15789" r="-5263"/>
                </a:stretch>
              </a:blipFill>
            </p:spPr>
            <p:txBody>
              <a:bodyPr/>
              <a:lstStyle/>
              <a:p>
                <a:r>
                  <a:rPr lang="en-K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25CE981A-B8C7-04CA-EB60-4ED9C1EBBD31}"/>
                  </a:ext>
                </a:extLst>
              </p:cNvPr>
              <p:cNvSpPr txBox="1"/>
              <p:nvPr/>
            </p:nvSpPr>
            <p:spPr>
              <a:xfrm>
                <a:off x="3803209" y="1308246"/>
                <a:ext cx="220317" cy="307777"/>
              </a:xfrm>
              <a:prstGeom prst="rect">
                <a:avLst/>
              </a:prstGeom>
              <a:noFill/>
            </p:spPr>
            <p:txBody>
              <a:bodyPr wrap="none" lIns="0" rIns="0" rtlCol="0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KR" sz="1400" dirty="0" err="1"/>
              </a:p>
            </p:txBody>
          </p:sp>
        </mc:Choice>
        <mc:Fallback xmlns="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25CE981A-B8C7-04CA-EB60-4ED9C1EBBD3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03209" y="1308246"/>
                <a:ext cx="220317" cy="307777"/>
              </a:xfrm>
              <a:prstGeom prst="rect">
                <a:avLst/>
              </a:prstGeom>
              <a:blipFill>
                <a:blip r:embed="rId9"/>
                <a:stretch>
                  <a:fillRect l="-16667" r="-5556"/>
                </a:stretch>
              </a:blipFill>
            </p:spPr>
            <p:txBody>
              <a:bodyPr/>
              <a:lstStyle/>
              <a:p>
                <a:r>
                  <a:rPr lang="en-K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1598A367-1202-B5F6-F5C7-9EE4213C3E93}"/>
                  </a:ext>
                </a:extLst>
              </p:cNvPr>
              <p:cNvSpPr txBox="1"/>
              <p:nvPr/>
            </p:nvSpPr>
            <p:spPr>
              <a:xfrm>
                <a:off x="4209859" y="1320358"/>
                <a:ext cx="323102" cy="307777"/>
              </a:xfrm>
              <a:prstGeom prst="rect">
                <a:avLst/>
              </a:prstGeom>
              <a:noFill/>
            </p:spPr>
            <p:txBody>
              <a:bodyPr wrap="none" lIns="0" rIns="0" rtlCol="0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𝑘𝑣</m:t>
                          </m:r>
                        </m:e>
                        <m:sub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KR" sz="1400" dirty="0" err="1"/>
              </a:p>
            </p:txBody>
          </p:sp>
        </mc:Choice>
        <mc:Fallback xmlns="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1598A367-1202-B5F6-F5C7-9EE4213C3E9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09859" y="1320358"/>
                <a:ext cx="323102" cy="307777"/>
              </a:xfrm>
              <a:prstGeom prst="rect">
                <a:avLst/>
              </a:prstGeom>
              <a:blipFill>
                <a:blip r:embed="rId10"/>
                <a:stretch>
                  <a:fillRect l="-11111"/>
                </a:stretch>
              </a:blipFill>
            </p:spPr>
            <p:txBody>
              <a:bodyPr/>
              <a:lstStyle/>
              <a:p>
                <a:r>
                  <a:rPr lang="en-K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D8E1650E-D803-6DA2-3319-8BB563073C40}"/>
                  </a:ext>
                </a:extLst>
              </p:cNvPr>
              <p:cNvSpPr txBox="1"/>
              <p:nvPr/>
            </p:nvSpPr>
            <p:spPr>
              <a:xfrm>
                <a:off x="4008384" y="2302584"/>
                <a:ext cx="350481" cy="364331"/>
              </a:xfrm>
              <a:prstGeom prst="rect">
                <a:avLst/>
              </a:prstGeom>
              <a:noFill/>
            </p:spPr>
            <p:txBody>
              <a:bodyPr wrap="none" lIns="0" rIns="0" rtlCol="0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1400" b="1" i="1" smtClean="0">
                              <a:solidFill>
                                <a:schemeClr val="tx1"/>
                              </a:solidFill>
                              <a:highlight>
                                <a:srgbClr val="FFFF00"/>
                              </a:highlight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400" b="1" i="1" smtClean="0">
                              <a:solidFill>
                                <a:schemeClr val="tx1"/>
                              </a:solidFill>
                              <a:highlight>
                                <a:srgbClr val="FFFF00"/>
                              </a:highlight>
                              <a:latin typeface="Cambria Math" panose="02040503050406030204" pitchFamily="18" charset="0"/>
                            </a:rPr>
                            <m:t>𝒉</m:t>
                          </m:r>
                        </m:e>
                        <m:sub>
                          <m:r>
                            <a:rPr lang="en-US" sz="1400" b="1" i="1" smtClean="0">
                              <a:solidFill>
                                <a:schemeClr val="tx1"/>
                              </a:solidFill>
                              <a:highlight>
                                <a:srgbClr val="FFFF00"/>
                              </a:highlight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  <m:sup>
                          <m:r>
                            <a:rPr lang="en-US" sz="1400" b="1" i="1" smtClean="0">
                              <a:solidFill>
                                <a:schemeClr val="tx1"/>
                              </a:solidFill>
                              <a:highlight>
                                <a:srgbClr val="FFFF00"/>
                              </a:highlight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1400" b="1" i="1" smtClean="0">
                              <a:solidFill>
                                <a:schemeClr val="tx1"/>
                              </a:solidFill>
                              <a:highlight>
                                <a:srgbClr val="FFFF00"/>
                              </a:highlight>
                              <a:latin typeface="Cambria Math" panose="02040503050406030204" pitchFamily="18" charset="0"/>
                            </a:rPr>
                            <m:t>𝟐</m:t>
                          </m:r>
                          <m:r>
                            <a:rPr lang="en-US" sz="1400" b="1" i="1" smtClean="0">
                              <a:solidFill>
                                <a:schemeClr val="tx1"/>
                              </a:solidFill>
                              <a:highlight>
                                <a:srgbClr val="FFFF00"/>
                              </a:highlight>
                              <a:latin typeface="Cambria Math" panose="02040503050406030204" pitchFamily="18" charset="0"/>
                            </a:rPr>
                            <m:t>)</m:t>
                          </m:r>
                        </m:sup>
                      </m:sSubSup>
                    </m:oMath>
                  </m:oMathPara>
                </a14:m>
                <a:endParaRPr lang="en-KR" sz="1400" b="1" dirty="0" err="1">
                  <a:solidFill>
                    <a:schemeClr val="tx1"/>
                  </a:solidFill>
                  <a:highlight>
                    <a:srgbClr val="FFFF00"/>
                  </a:highlight>
                </a:endParaRPr>
              </a:p>
            </p:txBody>
          </p:sp>
        </mc:Choice>
        <mc:Fallback xmlns="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D8E1650E-D803-6DA2-3319-8BB563073C4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08384" y="2302584"/>
                <a:ext cx="350481" cy="364331"/>
              </a:xfrm>
              <a:prstGeom prst="rect">
                <a:avLst/>
              </a:prstGeom>
              <a:blipFill>
                <a:blip r:embed="rId11"/>
                <a:stretch>
                  <a:fillRect l="-10345" r="-10345" b="-3448"/>
                </a:stretch>
              </a:blipFill>
            </p:spPr>
            <p:txBody>
              <a:bodyPr/>
              <a:lstStyle/>
              <a:p>
                <a:r>
                  <a:rPr lang="en-K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D1BD53EF-D308-EC98-2977-92A6A25E6AAE}"/>
                  </a:ext>
                </a:extLst>
              </p:cNvPr>
              <p:cNvSpPr txBox="1"/>
              <p:nvPr/>
            </p:nvSpPr>
            <p:spPr>
              <a:xfrm>
                <a:off x="2311314" y="1314240"/>
                <a:ext cx="323102" cy="307777"/>
              </a:xfrm>
              <a:prstGeom prst="rect">
                <a:avLst/>
              </a:prstGeom>
              <a:noFill/>
            </p:spPr>
            <p:txBody>
              <a:bodyPr wrap="none" lIns="0" rIns="0" rtlCol="0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𝑘𝑣</m:t>
                          </m:r>
                        </m:e>
                        <m:sub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en-KR" sz="1400" dirty="0" err="1"/>
              </a:p>
            </p:txBody>
          </p:sp>
        </mc:Choice>
        <mc:Fallback xmlns="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D1BD53EF-D308-EC98-2977-92A6A25E6AA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11314" y="1314240"/>
                <a:ext cx="323102" cy="307777"/>
              </a:xfrm>
              <a:prstGeom prst="rect">
                <a:avLst/>
              </a:prstGeom>
              <a:blipFill>
                <a:blip r:embed="rId12"/>
                <a:stretch>
                  <a:fillRect l="-11111" r="-3704"/>
                </a:stretch>
              </a:blipFill>
            </p:spPr>
            <p:txBody>
              <a:bodyPr/>
              <a:lstStyle/>
              <a:p>
                <a:r>
                  <a:rPr lang="en-KR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B9C1D0CB-9C42-534B-0F46-88C4BE72AEFF}"/>
              </a:ext>
            </a:extLst>
          </p:cNvPr>
          <p:cNvCxnSpPr>
            <a:cxnSpLocks/>
          </p:cNvCxnSpPr>
          <p:nvPr/>
        </p:nvCxnSpPr>
        <p:spPr>
          <a:xfrm flipH="1">
            <a:off x="3954328" y="1266666"/>
            <a:ext cx="124327" cy="105782"/>
          </a:xfrm>
          <a:prstGeom prst="straightConnector1">
            <a:avLst/>
          </a:prstGeom>
          <a:ln w="6350" cap="rnd">
            <a:solidFill>
              <a:schemeClr val="tx1"/>
            </a:solidFill>
            <a:round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0F062081-3F03-6D87-9245-BB68A7ECCE15}"/>
              </a:ext>
            </a:extLst>
          </p:cNvPr>
          <p:cNvCxnSpPr>
            <a:cxnSpLocks/>
          </p:cNvCxnSpPr>
          <p:nvPr/>
        </p:nvCxnSpPr>
        <p:spPr>
          <a:xfrm>
            <a:off x="4197564" y="1273729"/>
            <a:ext cx="124327" cy="105782"/>
          </a:xfrm>
          <a:prstGeom prst="straightConnector1">
            <a:avLst/>
          </a:prstGeom>
          <a:ln w="6350" cap="rnd">
            <a:solidFill>
              <a:schemeClr val="tx1"/>
            </a:solidFill>
            <a:round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77B8B0EE-77CC-AF84-F7E7-EBEFB5CA00B6}"/>
                  </a:ext>
                </a:extLst>
              </p:cNvPr>
              <p:cNvSpPr txBox="1"/>
              <p:nvPr/>
            </p:nvSpPr>
            <p:spPr>
              <a:xfrm>
                <a:off x="3131922" y="1326620"/>
                <a:ext cx="318933" cy="307777"/>
              </a:xfrm>
              <a:prstGeom prst="rect">
                <a:avLst/>
              </a:prstGeom>
              <a:noFill/>
            </p:spPr>
            <p:txBody>
              <a:bodyPr wrap="none" lIns="0" rIns="0" rtlCol="0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𝑘𝑣</m:t>
                          </m:r>
                        </m:e>
                        <m:sub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KR" sz="1400" dirty="0" err="1"/>
              </a:p>
            </p:txBody>
          </p:sp>
        </mc:Choice>
        <mc:Fallback xmlns=""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77B8B0EE-77CC-AF84-F7E7-EBEFB5CA00B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31922" y="1326620"/>
                <a:ext cx="318933" cy="307777"/>
              </a:xfrm>
              <a:prstGeom prst="rect">
                <a:avLst/>
              </a:prstGeom>
              <a:blipFill>
                <a:blip r:embed="rId13"/>
                <a:stretch>
                  <a:fillRect l="-11538" r="-3846"/>
                </a:stretch>
              </a:blipFill>
            </p:spPr>
            <p:txBody>
              <a:bodyPr/>
              <a:lstStyle/>
              <a:p>
                <a:r>
                  <a:rPr lang="en-K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DC8EFD6E-F752-3D10-1F99-E4FC3D1EDC30}"/>
                  </a:ext>
                </a:extLst>
              </p:cNvPr>
              <p:cNvSpPr txBox="1"/>
              <p:nvPr/>
            </p:nvSpPr>
            <p:spPr>
              <a:xfrm>
                <a:off x="4837659" y="1320358"/>
                <a:ext cx="323102" cy="307777"/>
              </a:xfrm>
              <a:prstGeom prst="rect">
                <a:avLst/>
              </a:prstGeom>
              <a:noFill/>
            </p:spPr>
            <p:txBody>
              <a:bodyPr wrap="none" lIns="0" rIns="0" rtlCol="0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𝑘𝑣</m:t>
                          </m:r>
                        </m:e>
                        <m:sub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KR" sz="1400" dirty="0" err="1"/>
              </a:p>
            </p:txBody>
          </p:sp>
        </mc:Choice>
        <mc:Fallback xmlns="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DC8EFD6E-F752-3D10-1F99-E4FC3D1EDC3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37659" y="1320358"/>
                <a:ext cx="323102" cy="307777"/>
              </a:xfrm>
              <a:prstGeom prst="rect">
                <a:avLst/>
              </a:prstGeom>
              <a:blipFill>
                <a:blip r:embed="rId14"/>
                <a:stretch>
                  <a:fillRect l="-15385" r="-3846"/>
                </a:stretch>
              </a:blipFill>
            </p:spPr>
            <p:txBody>
              <a:bodyPr/>
              <a:lstStyle/>
              <a:p>
                <a:r>
                  <a:rPr lang="en-K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41B8B8E4-EF14-F05E-A2FD-D35F4729A9D8}"/>
                  </a:ext>
                </a:extLst>
              </p:cNvPr>
              <p:cNvSpPr txBox="1"/>
              <p:nvPr/>
            </p:nvSpPr>
            <p:spPr>
              <a:xfrm>
                <a:off x="5693719" y="1320358"/>
                <a:ext cx="315407" cy="307777"/>
              </a:xfrm>
              <a:prstGeom prst="rect">
                <a:avLst/>
              </a:prstGeom>
              <a:noFill/>
            </p:spPr>
            <p:txBody>
              <a:bodyPr wrap="none" lIns="0" rIns="0" rtlCol="0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𝑘𝑣</m:t>
                          </m:r>
                        </m:e>
                        <m:sub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lang="en-KR" sz="1400" dirty="0" err="1"/>
              </a:p>
            </p:txBody>
          </p:sp>
        </mc:Choice>
        <mc:Fallback xmlns="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41B8B8E4-EF14-F05E-A2FD-D35F4729A9D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93719" y="1320358"/>
                <a:ext cx="315407" cy="307777"/>
              </a:xfrm>
              <a:prstGeom prst="rect">
                <a:avLst/>
              </a:prstGeom>
              <a:blipFill>
                <a:blip r:embed="rId15"/>
                <a:stretch>
                  <a:fillRect l="-15385"/>
                </a:stretch>
              </a:blipFill>
            </p:spPr>
            <p:txBody>
              <a:bodyPr/>
              <a:lstStyle/>
              <a:p>
                <a:r>
                  <a:rPr lang="en-K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1F63B095-7403-66EC-AAA9-F7015E166C96}"/>
                  </a:ext>
                </a:extLst>
              </p:cNvPr>
              <p:cNvSpPr txBox="1"/>
              <p:nvPr/>
            </p:nvSpPr>
            <p:spPr>
              <a:xfrm>
                <a:off x="6526195" y="1314240"/>
                <a:ext cx="323102" cy="307777"/>
              </a:xfrm>
              <a:prstGeom prst="rect">
                <a:avLst/>
              </a:prstGeom>
              <a:noFill/>
            </p:spPr>
            <p:txBody>
              <a:bodyPr wrap="none" lIns="0" rIns="0" rtlCol="0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400" b="0" i="1" smtClean="0">
                              <a:highlight>
                                <a:srgbClr val="FFFF00"/>
                              </a:highlight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b="0" i="1" smtClean="0">
                              <a:highlight>
                                <a:srgbClr val="FFFF00"/>
                              </a:highlight>
                              <a:latin typeface="Cambria Math" panose="02040503050406030204" pitchFamily="18" charset="0"/>
                            </a:rPr>
                            <m:t>𝑘𝑣</m:t>
                          </m:r>
                        </m:e>
                        <m:sub>
                          <m:r>
                            <a:rPr lang="en-US" sz="1400" b="0" i="1" smtClean="0">
                              <a:highlight>
                                <a:srgbClr val="FFFF00"/>
                              </a:highlight>
                              <a:latin typeface="Cambria Math" panose="02040503050406030204" pitchFamily="18" charset="0"/>
                            </a:rPr>
                            <m:t>5</m:t>
                          </m:r>
                        </m:sub>
                      </m:sSub>
                    </m:oMath>
                  </m:oMathPara>
                </a14:m>
                <a:endParaRPr lang="en-KR" sz="1400" dirty="0" err="1">
                  <a:highlight>
                    <a:srgbClr val="FFFF00"/>
                  </a:highlight>
                </a:endParaRPr>
              </a:p>
            </p:txBody>
          </p:sp>
        </mc:Choice>
        <mc:Fallback xmlns=""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1F63B095-7403-66EC-AAA9-F7015E166C9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26195" y="1314240"/>
                <a:ext cx="323102" cy="307777"/>
              </a:xfrm>
              <a:prstGeom prst="rect">
                <a:avLst/>
              </a:prstGeom>
              <a:blipFill>
                <a:blip r:embed="rId16"/>
                <a:stretch>
                  <a:fillRect l="-15385" r="-3846"/>
                </a:stretch>
              </a:blipFill>
            </p:spPr>
            <p:txBody>
              <a:bodyPr/>
              <a:lstStyle/>
              <a:p>
                <a:r>
                  <a:rPr lang="en-KR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8" name="Curved Connector 47">
            <a:extLst>
              <a:ext uri="{FF2B5EF4-FFF2-40B4-BE49-F238E27FC236}">
                <a16:creationId xmlns:a16="http://schemas.microsoft.com/office/drawing/2014/main" id="{F1AB7195-3D81-776F-47E2-C1F728D0D8CE}"/>
              </a:ext>
            </a:extLst>
          </p:cNvPr>
          <p:cNvCxnSpPr>
            <a:stCxn id="29" idx="2"/>
            <a:endCxn id="43" idx="2"/>
          </p:cNvCxnSpPr>
          <p:nvPr/>
        </p:nvCxnSpPr>
        <p:spPr>
          <a:xfrm rot="5400000">
            <a:off x="3593192" y="1314221"/>
            <a:ext cx="18374" cy="621979"/>
          </a:xfrm>
          <a:prstGeom prst="curvedConnector3">
            <a:avLst>
              <a:gd name="adj1" fmla="val 816817"/>
            </a:avLst>
          </a:prstGeom>
          <a:ln w="6350" cap="rnd">
            <a:solidFill>
              <a:srgbClr val="0070C0"/>
            </a:solidFill>
            <a:round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Curved Connector 48">
            <a:extLst>
              <a:ext uri="{FF2B5EF4-FFF2-40B4-BE49-F238E27FC236}">
                <a16:creationId xmlns:a16="http://schemas.microsoft.com/office/drawing/2014/main" id="{6E18F9EC-1BDF-D6DA-8A71-FE537AB6AE51}"/>
              </a:ext>
            </a:extLst>
          </p:cNvPr>
          <p:cNvCxnSpPr>
            <a:cxnSpLocks/>
            <a:stCxn id="29" idx="2"/>
            <a:endCxn id="33" idx="2"/>
          </p:cNvCxnSpPr>
          <p:nvPr/>
        </p:nvCxnSpPr>
        <p:spPr>
          <a:xfrm rot="5400000">
            <a:off x="3190120" y="898769"/>
            <a:ext cx="5994" cy="1440503"/>
          </a:xfrm>
          <a:prstGeom prst="curvedConnector3">
            <a:avLst>
              <a:gd name="adj1" fmla="val 3913814"/>
            </a:avLst>
          </a:prstGeom>
          <a:ln w="6350" cap="rnd">
            <a:solidFill>
              <a:srgbClr val="0070C0"/>
            </a:solidFill>
            <a:round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Curved Connector 51">
            <a:extLst>
              <a:ext uri="{FF2B5EF4-FFF2-40B4-BE49-F238E27FC236}">
                <a16:creationId xmlns:a16="http://schemas.microsoft.com/office/drawing/2014/main" id="{75089730-AA27-439C-7916-8765CCFD3CB5}"/>
              </a:ext>
            </a:extLst>
          </p:cNvPr>
          <p:cNvCxnSpPr>
            <a:cxnSpLocks/>
            <a:stCxn id="29" idx="2"/>
            <a:endCxn id="44" idx="2"/>
          </p:cNvCxnSpPr>
          <p:nvPr/>
        </p:nvCxnSpPr>
        <p:spPr>
          <a:xfrm rot="16200000" flipH="1">
            <a:off x="4450233" y="1079158"/>
            <a:ext cx="12112" cy="1085842"/>
          </a:xfrm>
          <a:prstGeom prst="curvedConnector3">
            <a:avLst>
              <a:gd name="adj1" fmla="val 1487417"/>
            </a:avLst>
          </a:prstGeom>
          <a:ln w="6350" cap="rnd">
            <a:solidFill>
              <a:srgbClr val="0070C0"/>
            </a:solidFill>
            <a:round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Curved Connector 54">
            <a:extLst>
              <a:ext uri="{FF2B5EF4-FFF2-40B4-BE49-F238E27FC236}">
                <a16:creationId xmlns:a16="http://schemas.microsoft.com/office/drawing/2014/main" id="{1FD9FDA7-5DBA-49D4-A11E-17AB5796A787}"/>
              </a:ext>
            </a:extLst>
          </p:cNvPr>
          <p:cNvCxnSpPr>
            <a:cxnSpLocks/>
            <a:stCxn id="29" idx="2"/>
            <a:endCxn id="45" idx="2"/>
          </p:cNvCxnSpPr>
          <p:nvPr/>
        </p:nvCxnSpPr>
        <p:spPr>
          <a:xfrm rot="16200000" flipH="1">
            <a:off x="4876339" y="653051"/>
            <a:ext cx="12112" cy="1938055"/>
          </a:xfrm>
          <a:prstGeom prst="curvedConnector3">
            <a:avLst>
              <a:gd name="adj1" fmla="val 1837376"/>
            </a:avLst>
          </a:prstGeom>
          <a:ln w="6350" cap="rnd">
            <a:solidFill>
              <a:srgbClr val="0070C0"/>
            </a:solidFill>
            <a:round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Curved Connector 57">
            <a:extLst>
              <a:ext uri="{FF2B5EF4-FFF2-40B4-BE49-F238E27FC236}">
                <a16:creationId xmlns:a16="http://schemas.microsoft.com/office/drawing/2014/main" id="{0B9C8C16-11B9-B378-E7E5-7BD039B03233}"/>
              </a:ext>
            </a:extLst>
          </p:cNvPr>
          <p:cNvCxnSpPr>
            <a:cxnSpLocks/>
            <a:stCxn id="29" idx="2"/>
            <a:endCxn id="46" idx="2"/>
          </p:cNvCxnSpPr>
          <p:nvPr/>
        </p:nvCxnSpPr>
        <p:spPr>
          <a:xfrm rot="16200000" flipH="1">
            <a:off x="5297560" y="231831"/>
            <a:ext cx="5994" cy="2774378"/>
          </a:xfrm>
          <a:prstGeom prst="curvedConnector3">
            <a:avLst>
              <a:gd name="adj1" fmla="val 4216900"/>
            </a:avLst>
          </a:prstGeom>
          <a:ln w="6350" cap="rnd">
            <a:solidFill>
              <a:srgbClr val="0070C0"/>
            </a:solidFill>
            <a:round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Curved Connector 66">
            <a:extLst>
              <a:ext uri="{FF2B5EF4-FFF2-40B4-BE49-F238E27FC236}">
                <a16:creationId xmlns:a16="http://schemas.microsoft.com/office/drawing/2014/main" id="{77BA96E0-007D-1945-FE56-9B23D900D304}"/>
              </a:ext>
            </a:extLst>
          </p:cNvPr>
          <p:cNvCxnSpPr>
            <a:cxnSpLocks/>
            <a:stCxn id="29" idx="2"/>
            <a:endCxn id="30" idx="2"/>
          </p:cNvCxnSpPr>
          <p:nvPr/>
        </p:nvCxnSpPr>
        <p:spPr>
          <a:xfrm rot="16200000" flipH="1">
            <a:off x="4136333" y="1393058"/>
            <a:ext cx="12112" cy="458042"/>
          </a:xfrm>
          <a:prstGeom prst="curvedConnector3">
            <a:avLst>
              <a:gd name="adj1" fmla="val 1037442"/>
            </a:avLst>
          </a:prstGeom>
          <a:ln w="6350" cap="rnd">
            <a:solidFill>
              <a:srgbClr val="0070C0"/>
            </a:solidFill>
            <a:round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74" name="TextBox 73">
                <a:extLst>
                  <a:ext uri="{FF2B5EF4-FFF2-40B4-BE49-F238E27FC236}">
                    <a16:creationId xmlns:a16="http://schemas.microsoft.com/office/drawing/2014/main" id="{086A9732-957B-11E0-A4AD-8338C0D3CD34}"/>
                  </a:ext>
                </a:extLst>
              </p:cNvPr>
              <p:cNvSpPr txBox="1"/>
              <p:nvPr/>
            </p:nvSpPr>
            <p:spPr>
              <a:xfrm>
                <a:off x="3791096" y="2792098"/>
                <a:ext cx="345672" cy="364331"/>
              </a:xfrm>
              <a:prstGeom prst="rect">
                <a:avLst/>
              </a:prstGeom>
              <a:noFill/>
            </p:spPr>
            <p:txBody>
              <a:bodyPr wrap="none" lIns="0" rIns="0" rtlCol="0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1400" b="1" i="1" smtClean="0">
                              <a:solidFill>
                                <a:schemeClr val="tx1"/>
                              </a:solidFill>
                              <a:highlight>
                                <a:srgbClr val="FFFF00"/>
                              </a:highlight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400" b="1" i="1" smtClean="0">
                              <a:solidFill>
                                <a:schemeClr val="tx1"/>
                              </a:solidFill>
                              <a:highlight>
                                <a:srgbClr val="FFFF00"/>
                              </a:highlight>
                              <a:latin typeface="Cambria Math" panose="02040503050406030204" pitchFamily="18" charset="0"/>
                            </a:rPr>
                            <m:t>𝒒</m:t>
                          </m:r>
                        </m:e>
                        <m:sub>
                          <m:r>
                            <a:rPr lang="en-US" sz="1400" b="1" i="1" smtClean="0">
                              <a:solidFill>
                                <a:schemeClr val="tx1"/>
                              </a:solidFill>
                              <a:highlight>
                                <a:srgbClr val="FFFF00"/>
                              </a:highlight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  <m:sup>
                          <m:r>
                            <a:rPr lang="en-US" sz="1400" b="1" i="1" smtClean="0">
                              <a:solidFill>
                                <a:schemeClr val="tx1"/>
                              </a:solidFill>
                              <a:highlight>
                                <a:srgbClr val="FFFF00"/>
                              </a:highlight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1400" b="1" i="1" smtClean="0">
                              <a:solidFill>
                                <a:schemeClr val="tx1"/>
                              </a:solidFill>
                              <a:highlight>
                                <a:srgbClr val="FFFF00"/>
                              </a:highlight>
                              <a:latin typeface="Cambria Math" panose="02040503050406030204" pitchFamily="18" charset="0"/>
                            </a:rPr>
                            <m:t>𝟐</m:t>
                          </m:r>
                          <m:r>
                            <a:rPr lang="en-US" sz="1400" b="1" i="1" smtClean="0">
                              <a:solidFill>
                                <a:schemeClr val="tx1"/>
                              </a:solidFill>
                              <a:highlight>
                                <a:srgbClr val="FFFF00"/>
                              </a:highlight>
                              <a:latin typeface="Cambria Math" panose="02040503050406030204" pitchFamily="18" charset="0"/>
                            </a:rPr>
                            <m:t>)</m:t>
                          </m:r>
                        </m:sup>
                      </m:sSubSup>
                    </m:oMath>
                  </m:oMathPara>
                </a14:m>
                <a:endParaRPr lang="en-KR" sz="1400" b="1" dirty="0" err="1">
                  <a:solidFill>
                    <a:schemeClr val="tx1"/>
                  </a:solidFill>
                  <a:highlight>
                    <a:srgbClr val="FFFF00"/>
                  </a:highlight>
                </a:endParaRPr>
              </a:p>
            </p:txBody>
          </p:sp>
        </mc:Choice>
        <mc:Fallback xmlns="">
          <p:sp>
            <p:nvSpPr>
              <p:cNvPr id="74" name="TextBox 73">
                <a:extLst>
                  <a:ext uri="{FF2B5EF4-FFF2-40B4-BE49-F238E27FC236}">
                    <a16:creationId xmlns:a16="http://schemas.microsoft.com/office/drawing/2014/main" id="{086A9732-957B-11E0-A4AD-8338C0D3CD3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91096" y="2792098"/>
                <a:ext cx="345672" cy="364331"/>
              </a:xfrm>
              <a:prstGeom prst="rect">
                <a:avLst/>
              </a:prstGeom>
              <a:blipFill>
                <a:blip r:embed="rId17"/>
                <a:stretch>
                  <a:fillRect l="-10714" r="-10714"/>
                </a:stretch>
              </a:blipFill>
            </p:spPr>
            <p:txBody>
              <a:bodyPr/>
              <a:lstStyle/>
              <a:p>
                <a:r>
                  <a:rPr lang="en-K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5" name="TextBox 74">
                <a:extLst>
                  <a:ext uri="{FF2B5EF4-FFF2-40B4-BE49-F238E27FC236}">
                    <a16:creationId xmlns:a16="http://schemas.microsoft.com/office/drawing/2014/main" id="{C731436A-A557-BE5A-20D7-BFF06D16702E}"/>
                  </a:ext>
                </a:extLst>
              </p:cNvPr>
              <p:cNvSpPr txBox="1"/>
              <p:nvPr/>
            </p:nvSpPr>
            <p:spPr>
              <a:xfrm>
                <a:off x="4197746" y="2804210"/>
                <a:ext cx="454676" cy="364331"/>
              </a:xfrm>
              <a:prstGeom prst="rect">
                <a:avLst/>
              </a:prstGeom>
              <a:noFill/>
            </p:spPr>
            <p:txBody>
              <a:bodyPr wrap="none" lIns="0" rIns="0" rtlCol="0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1400" b="1" i="1" smtClean="0">
                              <a:solidFill>
                                <a:schemeClr val="tx1"/>
                              </a:solidFill>
                              <a:highlight>
                                <a:srgbClr val="FFFF00"/>
                              </a:highlight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400" b="1" i="1" smtClean="0">
                              <a:solidFill>
                                <a:schemeClr val="tx1"/>
                              </a:solidFill>
                              <a:highlight>
                                <a:srgbClr val="FFFF00"/>
                              </a:highlight>
                              <a:latin typeface="Cambria Math" panose="02040503050406030204" pitchFamily="18" charset="0"/>
                            </a:rPr>
                            <m:t>𝒌𝒗</m:t>
                          </m:r>
                        </m:e>
                        <m:sub>
                          <m:r>
                            <a:rPr lang="en-US" sz="1400" b="1" i="1" smtClean="0">
                              <a:solidFill>
                                <a:schemeClr val="tx1"/>
                              </a:solidFill>
                              <a:highlight>
                                <a:srgbClr val="FFFF00"/>
                              </a:highlight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  <m:sup>
                          <m:r>
                            <a:rPr lang="en-US" sz="1400" b="1" i="1" smtClean="0">
                              <a:solidFill>
                                <a:schemeClr val="tx1"/>
                              </a:solidFill>
                              <a:highlight>
                                <a:srgbClr val="FFFF00"/>
                              </a:highlight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1400" b="1" i="1" smtClean="0">
                              <a:solidFill>
                                <a:schemeClr val="tx1"/>
                              </a:solidFill>
                              <a:highlight>
                                <a:srgbClr val="FFFF00"/>
                              </a:highlight>
                              <a:latin typeface="Cambria Math" panose="02040503050406030204" pitchFamily="18" charset="0"/>
                            </a:rPr>
                            <m:t>𝟐</m:t>
                          </m:r>
                          <m:r>
                            <a:rPr lang="en-US" sz="1400" b="1" i="1" smtClean="0">
                              <a:solidFill>
                                <a:schemeClr val="tx1"/>
                              </a:solidFill>
                              <a:highlight>
                                <a:srgbClr val="FFFF00"/>
                              </a:highlight>
                              <a:latin typeface="Cambria Math" panose="02040503050406030204" pitchFamily="18" charset="0"/>
                            </a:rPr>
                            <m:t>)</m:t>
                          </m:r>
                        </m:sup>
                      </m:sSubSup>
                    </m:oMath>
                  </m:oMathPara>
                </a14:m>
                <a:endParaRPr lang="en-KR" sz="1400" b="1" dirty="0" err="1">
                  <a:solidFill>
                    <a:schemeClr val="tx1"/>
                  </a:solidFill>
                  <a:highlight>
                    <a:srgbClr val="FFFF00"/>
                  </a:highlight>
                </a:endParaRPr>
              </a:p>
            </p:txBody>
          </p:sp>
        </mc:Choice>
        <mc:Fallback xmlns="">
          <p:sp>
            <p:nvSpPr>
              <p:cNvPr id="75" name="TextBox 74">
                <a:extLst>
                  <a:ext uri="{FF2B5EF4-FFF2-40B4-BE49-F238E27FC236}">
                    <a16:creationId xmlns:a16="http://schemas.microsoft.com/office/drawing/2014/main" id="{C731436A-A557-BE5A-20D7-BFF06D16702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97746" y="2804210"/>
                <a:ext cx="454676" cy="364331"/>
              </a:xfrm>
              <a:prstGeom prst="rect">
                <a:avLst/>
              </a:prstGeom>
              <a:blipFill>
                <a:blip r:embed="rId18"/>
                <a:stretch>
                  <a:fillRect l="-10811" r="-8108"/>
                </a:stretch>
              </a:blipFill>
            </p:spPr>
            <p:txBody>
              <a:bodyPr/>
              <a:lstStyle/>
              <a:p>
                <a:r>
                  <a:rPr lang="en-KR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6" name="Straight Arrow Connector 75">
            <a:extLst>
              <a:ext uri="{FF2B5EF4-FFF2-40B4-BE49-F238E27FC236}">
                <a16:creationId xmlns:a16="http://schemas.microsoft.com/office/drawing/2014/main" id="{4A0B7172-179F-BACD-4A77-8FDB62FC147F}"/>
              </a:ext>
            </a:extLst>
          </p:cNvPr>
          <p:cNvCxnSpPr>
            <a:cxnSpLocks/>
          </p:cNvCxnSpPr>
          <p:nvPr/>
        </p:nvCxnSpPr>
        <p:spPr>
          <a:xfrm flipH="1">
            <a:off x="3960563" y="2657546"/>
            <a:ext cx="124327" cy="105782"/>
          </a:xfrm>
          <a:prstGeom prst="straightConnector1">
            <a:avLst/>
          </a:prstGeom>
          <a:ln w="6350" cap="rnd">
            <a:solidFill>
              <a:schemeClr val="tx1"/>
            </a:solidFill>
            <a:round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Straight Arrow Connector 76">
            <a:extLst>
              <a:ext uri="{FF2B5EF4-FFF2-40B4-BE49-F238E27FC236}">
                <a16:creationId xmlns:a16="http://schemas.microsoft.com/office/drawing/2014/main" id="{3D09EA6E-192C-31E6-39BF-C894A0C3E296}"/>
              </a:ext>
            </a:extLst>
          </p:cNvPr>
          <p:cNvCxnSpPr>
            <a:cxnSpLocks/>
          </p:cNvCxnSpPr>
          <p:nvPr/>
        </p:nvCxnSpPr>
        <p:spPr>
          <a:xfrm>
            <a:off x="4203799" y="2664609"/>
            <a:ext cx="124327" cy="105782"/>
          </a:xfrm>
          <a:prstGeom prst="straightConnector1">
            <a:avLst/>
          </a:prstGeom>
          <a:ln w="6350" cap="rnd">
            <a:solidFill>
              <a:schemeClr val="tx1"/>
            </a:solidFill>
            <a:round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8" name="TextBox 77">
            <a:extLst>
              <a:ext uri="{FF2B5EF4-FFF2-40B4-BE49-F238E27FC236}">
                <a16:creationId xmlns:a16="http://schemas.microsoft.com/office/drawing/2014/main" id="{4D61EAC5-8B25-EF43-EA34-96E42E1CD145}"/>
              </a:ext>
            </a:extLst>
          </p:cNvPr>
          <p:cNvSpPr txBox="1"/>
          <p:nvPr/>
        </p:nvSpPr>
        <p:spPr>
          <a:xfrm>
            <a:off x="4111021" y="3227865"/>
            <a:ext cx="33664" cy="577081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pPr algn="l"/>
            <a:r>
              <a:rPr lang="en-KR" sz="1050" dirty="0"/>
              <a:t>.</a:t>
            </a:r>
          </a:p>
          <a:p>
            <a:pPr algn="l"/>
            <a:r>
              <a:rPr lang="en-KR" sz="1050" dirty="0"/>
              <a:t>.</a:t>
            </a:r>
          </a:p>
          <a:p>
            <a:pPr algn="l"/>
            <a:r>
              <a:rPr lang="en-KR" sz="1050" dirty="0"/>
              <a:t>.</a:t>
            </a:r>
          </a:p>
        </p:txBody>
      </p:sp>
      <p:cxnSp>
        <p:nvCxnSpPr>
          <p:cNvPr id="79" name="Straight Arrow Connector 78">
            <a:extLst>
              <a:ext uri="{FF2B5EF4-FFF2-40B4-BE49-F238E27FC236}">
                <a16:creationId xmlns:a16="http://schemas.microsoft.com/office/drawing/2014/main" id="{CA682A4A-EB4C-328D-ED5A-21D2C11DCDD9}"/>
              </a:ext>
            </a:extLst>
          </p:cNvPr>
          <p:cNvCxnSpPr>
            <a:cxnSpLocks/>
          </p:cNvCxnSpPr>
          <p:nvPr/>
        </p:nvCxnSpPr>
        <p:spPr>
          <a:xfrm>
            <a:off x="2535404" y="4032714"/>
            <a:ext cx="0" cy="247055"/>
          </a:xfrm>
          <a:prstGeom prst="straightConnector1">
            <a:avLst/>
          </a:prstGeom>
          <a:ln w="6350" cap="rnd">
            <a:solidFill>
              <a:schemeClr val="tx1"/>
            </a:solidFill>
            <a:round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Straight Arrow Connector 80">
            <a:extLst>
              <a:ext uri="{FF2B5EF4-FFF2-40B4-BE49-F238E27FC236}">
                <a16:creationId xmlns:a16="http://schemas.microsoft.com/office/drawing/2014/main" id="{6F521996-9FBC-2B84-5177-D7AE4AE281CE}"/>
              </a:ext>
            </a:extLst>
          </p:cNvPr>
          <p:cNvCxnSpPr>
            <a:cxnSpLocks/>
          </p:cNvCxnSpPr>
          <p:nvPr/>
        </p:nvCxnSpPr>
        <p:spPr>
          <a:xfrm>
            <a:off x="3285236" y="4032713"/>
            <a:ext cx="0" cy="247055"/>
          </a:xfrm>
          <a:prstGeom prst="straightConnector1">
            <a:avLst/>
          </a:prstGeom>
          <a:ln w="6350" cap="rnd">
            <a:solidFill>
              <a:schemeClr val="tx1"/>
            </a:solidFill>
            <a:round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Straight Arrow Connector 81">
            <a:extLst>
              <a:ext uri="{FF2B5EF4-FFF2-40B4-BE49-F238E27FC236}">
                <a16:creationId xmlns:a16="http://schemas.microsoft.com/office/drawing/2014/main" id="{86419C9B-0CED-2E49-2CC5-C92B0ECD66FA}"/>
              </a:ext>
            </a:extLst>
          </p:cNvPr>
          <p:cNvCxnSpPr>
            <a:cxnSpLocks/>
          </p:cNvCxnSpPr>
          <p:nvPr/>
        </p:nvCxnSpPr>
        <p:spPr>
          <a:xfrm>
            <a:off x="4072779" y="4032712"/>
            <a:ext cx="0" cy="247055"/>
          </a:xfrm>
          <a:prstGeom prst="straightConnector1">
            <a:avLst/>
          </a:prstGeom>
          <a:ln w="6350" cap="rnd">
            <a:solidFill>
              <a:schemeClr val="tx1"/>
            </a:solidFill>
            <a:round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Straight Arrow Connector 82">
            <a:extLst>
              <a:ext uri="{FF2B5EF4-FFF2-40B4-BE49-F238E27FC236}">
                <a16:creationId xmlns:a16="http://schemas.microsoft.com/office/drawing/2014/main" id="{93E0CF52-2335-D11A-1F5C-6FF23B08F274}"/>
              </a:ext>
            </a:extLst>
          </p:cNvPr>
          <p:cNvCxnSpPr>
            <a:cxnSpLocks/>
          </p:cNvCxnSpPr>
          <p:nvPr/>
        </p:nvCxnSpPr>
        <p:spPr>
          <a:xfrm>
            <a:off x="4992957" y="4032711"/>
            <a:ext cx="0" cy="247055"/>
          </a:xfrm>
          <a:prstGeom prst="straightConnector1">
            <a:avLst/>
          </a:prstGeom>
          <a:ln w="6350" cap="rnd">
            <a:solidFill>
              <a:schemeClr val="tx1"/>
            </a:solidFill>
            <a:round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Straight Arrow Connector 83">
            <a:extLst>
              <a:ext uri="{FF2B5EF4-FFF2-40B4-BE49-F238E27FC236}">
                <a16:creationId xmlns:a16="http://schemas.microsoft.com/office/drawing/2014/main" id="{515AA695-4D2D-7425-69EB-D812E20E2230}"/>
              </a:ext>
            </a:extLst>
          </p:cNvPr>
          <p:cNvCxnSpPr>
            <a:cxnSpLocks/>
          </p:cNvCxnSpPr>
          <p:nvPr/>
        </p:nvCxnSpPr>
        <p:spPr>
          <a:xfrm>
            <a:off x="5849494" y="4032710"/>
            <a:ext cx="0" cy="247055"/>
          </a:xfrm>
          <a:prstGeom prst="straightConnector1">
            <a:avLst/>
          </a:prstGeom>
          <a:ln w="6350" cap="rnd">
            <a:solidFill>
              <a:schemeClr val="tx1"/>
            </a:solidFill>
            <a:round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Straight Arrow Connector 84">
            <a:extLst>
              <a:ext uri="{FF2B5EF4-FFF2-40B4-BE49-F238E27FC236}">
                <a16:creationId xmlns:a16="http://schemas.microsoft.com/office/drawing/2014/main" id="{02FB7FEA-0CBE-9B96-920D-5CFAEC2E071E}"/>
              </a:ext>
            </a:extLst>
          </p:cNvPr>
          <p:cNvCxnSpPr>
            <a:cxnSpLocks/>
          </p:cNvCxnSpPr>
          <p:nvPr/>
        </p:nvCxnSpPr>
        <p:spPr>
          <a:xfrm>
            <a:off x="6742030" y="4029739"/>
            <a:ext cx="0" cy="247055"/>
          </a:xfrm>
          <a:prstGeom prst="straightConnector1">
            <a:avLst/>
          </a:prstGeom>
          <a:ln w="6350" cap="rnd">
            <a:solidFill>
              <a:schemeClr val="tx1"/>
            </a:solidFill>
            <a:round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5" name="TextBox 94">
            <a:extLst>
              <a:ext uri="{FF2B5EF4-FFF2-40B4-BE49-F238E27FC236}">
                <a16:creationId xmlns:a16="http://schemas.microsoft.com/office/drawing/2014/main" id="{25CA8A1C-ECC9-32CB-F3DF-40D526F9A2FB}"/>
              </a:ext>
            </a:extLst>
          </p:cNvPr>
          <p:cNvSpPr txBox="1"/>
          <p:nvPr/>
        </p:nvSpPr>
        <p:spPr>
          <a:xfrm>
            <a:off x="1232739" y="4448597"/>
            <a:ext cx="370294" cy="253916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pPr algn="l"/>
            <a:r>
              <a:rPr lang="en-KR" sz="1050" dirty="0"/>
              <a:t>Logits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D7CC9F9-DC80-98FC-6F79-388637652B72}"/>
              </a:ext>
            </a:extLst>
          </p:cNvPr>
          <p:cNvSpPr txBox="1"/>
          <p:nvPr/>
        </p:nvSpPr>
        <p:spPr>
          <a:xfrm>
            <a:off x="7687035" y="1335746"/>
            <a:ext cx="3859156" cy="307777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algn="l"/>
            <a:r>
              <a:rPr lang="en-KR" sz="1400" dirty="0"/>
              <a:t>KV of 6th token has changed </a:t>
            </a:r>
            <a:r>
              <a:rPr lang="en-US" sz="1400" dirty="0"/>
              <a:t>f</a:t>
            </a:r>
            <a:r>
              <a:rPr lang="en-KR" sz="1400" dirty="0"/>
              <a:t>rom &lt;M&gt; to B</a:t>
            </a:r>
          </a:p>
        </p:txBody>
      </p:sp>
      <p:sp>
        <p:nvSpPr>
          <p:cNvPr id="22" name="Rounded Rectangle 21">
            <a:extLst>
              <a:ext uri="{FF2B5EF4-FFF2-40B4-BE49-F238E27FC236}">
                <a16:creationId xmlns:a16="http://schemas.microsoft.com/office/drawing/2014/main" id="{B1507877-604E-88B8-ECE3-FF62C622CE9D}"/>
              </a:ext>
            </a:extLst>
          </p:cNvPr>
          <p:cNvSpPr/>
          <p:nvPr/>
        </p:nvSpPr>
        <p:spPr>
          <a:xfrm>
            <a:off x="1735396" y="1236750"/>
            <a:ext cx="5813404" cy="932566"/>
          </a:xfrm>
          <a:prstGeom prst="roundRect">
            <a:avLst/>
          </a:prstGeom>
          <a:noFill/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45720" rIns="45720" rtlCol="0" anchor="ctr"/>
          <a:lstStyle/>
          <a:p>
            <a:pPr algn="ctr"/>
            <a:endParaRPr lang="en-KR" dirty="0" err="1">
              <a:solidFill>
                <a:schemeClr val="tx1"/>
              </a:solidFill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616EBE61-525A-3F5B-5A9D-2871F936D7A1}"/>
              </a:ext>
            </a:extLst>
          </p:cNvPr>
          <p:cNvSpPr txBox="1"/>
          <p:nvPr/>
        </p:nvSpPr>
        <p:spPr>
          <a:xfrm>
            <a:off x="1158611" y="1576075"/>
            <a:ext cx="428002" cy="253916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pPr algn="l"/>
            <a:r>
              <a:rPr lang="en-KR" sz="1050" dirty="0"/>
              <a:t>Layer </a:t>
            </a:r>
            <a:r>
              <a:rPr lang="en-US" altLang="ko-KR" sz="1050" dirty="0"/>
              <a:t>1</a:t>
            </a:r>
            <a:endParaRPr lang="en-KR" sz="1050" dirty="0"/>
          </a:p>
        </p:txBody>
      </p:sp>
      <p:sp>
        <p:nvSpPr>
          <p:cNvPr id="25" name="Rounded Rectangle 24">
            <a:extLst>
              <a:ext uri="{FF2B5EF4-FFF2-40B4-BE49-F238E27FC236}">
                <a16:creationId xmlns:a16="http://schemas.microsoft.com/office/drawing/2014/main" id="{4CADEA3D-2FCA-7B56-B1C6-DC751A281866}"/>
              </a:ext>
            </a:extLst>
          </p:cNvPr>
          <p:cNvSpPr/>
          <p:nvPr/>
        </p:nvSpPr>
        <p:spPr>
          <a:xfrm>
            <a:off x="1735396" y="2302583"/>
            <a:ext cx="5813404" cy="932566"/>
          </a:xfrm>
          <a:prstGeom prst="roundRect">
            <a:avLst/>
          </a:prstGeom>
          <a:noFill/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45720" rIns="45720" rtlCol="0" anchor="ctr"/>
          <a:lstStyle/>
          <a:p>
            <a:pPr algn="ctr"/>
            <a:endParaRPr lang="en-KR" dirty="0" err="1">
              <a:solidFill>
                <a:schemeClr val="tx1"/>
              </a:solidFill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F34822D3-37BB-07DD-5E92-F232624D3F29}"/>
              </a:ext>
            </a:extLst>
          </p:cNvPr>
          <p:cNvSpPr txBox="1"/>
          <p:nvPr/>
        </p:nvSpPr>
        <p:spPr>
          <a:xfrm>
            <a:off x="1148137" y="2636370"/>
            <a:ext cx="447238" cy="253916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pPr algn="l"/>
            <a:r>
              <a:rPr lang="en-KR" sz="1050" dirty="0"/>
              <a:t>Layer 2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75453105-1D33-FEDC-9564-7D83A834BE6D}"/>
                  </a:ext>
                </a:extLst>
              </p:cNvPr>
              <p:cNvSpPr txBox="1"/>
              <p:nvPr/>
            </p:nvSpPr>
            <p:spPr>
              <a:xfrm>
                <a:off x="4027699" y="1812645"/>
                <a:ext cx="218137" cy="307777"/>
              </a:xfrm>
              <a:prstGeom prst="rect">
                <a:avLst/>
              </a:prstGeom>
              <a:noFill/>
            </p:spPr>
            <p:txBody>
              <a:bodyPr wrap="square" lIns="0" rIns="0" rtlCol="0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400" b="0" i="1" smtClean="0">
                              <a:highlight>
                                <a:srgbClr val="FFFF00"/>
                              </a:highlight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b="0" i="1" smtClean="0">
                              <a:highlight>
                                <a:srgbClr val="FFFF00"/>
                              </a:highlight>
                              <a:latin typeface="Cambria Math" panose="02040503050406030204" pitchFamily="18" charset="0"/>
                            </a:rPr>
                            <m:t>𝑜</m:t>
                          </m:r>
                        </m:e>
                        <m:sub>
                          <m:r>
                            <a:rPr lang="en-US" sz="1400" b="0" i="1" smtClean="0">
                              <a:highlight>
                                <a:srgbClr val="FFFF00"/>
                              </a:highlight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KR" sz="1400" dirty="0" err="1">
                  <a:highlight>
                    <a:srgbClr val="FFFF00"/>
                  </a:highlight>
                </a:endParaRPr>
              </a:p>
            </p:txBody>
          </p:sp>
        </mc:Choice>
        <mc:Fallback xmlns="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75453105-1D33-FEDC-9564-7D83A834BE6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27699" y="1812645"/>
                <a:ext cx="218137" cy="307777"/>
              </a:xfrm>
              <a:prstGeom prst="rect">
                <a:avLst/>
              </a:prstGeom>
              <a:blipFill>
                <a:blip r:embed="rId19"/>
                <a:stretch>
                  <a:fillRect l="-11111" r="-5556"/>
                </a:stretch>
              </a:blipFill>
            </p:spPr>
            <p:txBody>
              <a:bodyPr/>
              <a:lstStyle/>
              <a:p>
                <a:r>
                  <a:rPr lang="en-KR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F4C37DCB-EF63-80B4-F560-7A2BE5A59F5E}"/>
              </a:ext>
            </a:extLst>
          </p:cNvPr>
          <p:cNvCxnSpPr>
            <a:cxnSpLocks/>
          </p:cNvCxnSpPr>
          <p:nvPr/>
        </p:nvCxnSpPr>
        <p:spPr>
          <a:xfrm flipH="1">
            <a:off x="4183624" y="1592154"/>
            <a:ext cx="43419" cy="270588"/>
          </a:xfrm>
          <a:prstGeom prst="straightConnector1">
            <a:avLst/>
          </a:prstGeom>
          <a:ln w="6350" cap="rnd">
            <a:solidFill>
              <a:schemeClr val="tx1"/>
            </a:solidFill>
            <a:round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B1EBC19E-C15C-FA58-8787-D17A96733844}"/>
              </a:ext>
            </a:extLst>
          </p:cNvPr>
          <p:cNvCxnSpPr>
            <a:cxnSpLocks/>
          </p:cNvCxnSpPr>
          <p:nvPr/>
        </p:nvCxnSpPr>
        <p:spPr>
          <a:xfrm>
            <a:off x="3985003" y="1586349"/>
            <a:ext cx="43419" cy="270588"/>
          </a:xfrm>
          <a:prstGeom prst="straightConnector1">
            <a:avLst/>
          </a:prstGeom>
          <a:ln w="6350" cap="rnd">
            <a:solidFill>
              <a:schemeClr val="tx1"/>
            </a:solidFill>
            <a:round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823BAFA1-16FE-0638-DEE6-1A04EE6623B6}"/>
              </a:ext>
            </a:extLst>
          </p:cNvPr>
          <p:cNvCxnSpPr>
            <a:cxnSpLocks/>
          </p:cNvCxnSpPr>
          <p:nvPr/>
        </p:nvCxnSpPr>
        <p:spPr>
          <a:xfrm>
            <a:off x="4130905" y="2081921"/>
            <a:ext cx="0" cy="188794"/>
          </a:xfrm>
          <a:prstGeom prst="straightConnector1">
            <a:avLst/>
          </a:prstGeom>
          <a:ln w="6350" cap="rnd">
            <a:solidFill>
              <a:schemeClr val="tx1"/>
            </a:solidFill>
            <a:round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1E0720EB-C04A-B4C0-C433-3039E12DACCF}"/>
                  </a:ext>
                </a:extLst>
              </p:cNvPr>
              <p:cNvSpPr txBox="1"/>
              <p:nvPr/>
            </p:nvSpPr>
            <p:spPr>
              <a:xfrm>
                <a:off x="7687035" y="1703817"/>
                <a:ext cx="3859156" cy="523220"/>
              </a:xfrm>
              <a:prstGeom prst="rect">
                <a:avLst/>
              </a:prstGeom>
              <a:noFill/>
            </p:spPr>
            <p:txBody>
              <a:bodyPr wrap="square" lIns="0" rIns="0" rtlCol="0">
                <a:spAutoFit/>
              </a:bodyPr>
              <a:lstStyle/>
              <a:p>
                <a:pPr algn="l"/>
                <a:r>
                  <a:rPr lang="en-US" sz="1400" dirty="0"/>
                  <a:t>After attention with </a:t>
                </a:r>
                <a14:m>
                  <m:oMath xmlns:m="http://schemas.openxmlformats.org/officeDocument/2006/math">
                    <m:r>
                      <a:rPr lang="en-US" sz="1400" b="0" i="1" smtClean="0">
                        <a:latin typeface="Cambria Math" panose="02040503050406030204" pitchFamily="18" charset="0"/>
                      </a:rPr>
                      <m:t>𝑘</m:t>
                    </m:r>
                    <m:sSub>
                      <m:sSubPr>
                        <m:ctrlPr>
                          <a:rPr lang="en-US" sz="1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5</m:t>
                        </m:r>
                      </m:sub>
                    </m:sSub>
                  </m:oMath>
                </a14:m>
                <a:r>
                  <a:rPr lang="en-KR" sz="1400" dirty="0"/>
                  <a:t>, all the proceeding results change</a:t>
                </a:r>
              </a:p>
            </p:txBody>
          </p:sp>
        </mc:Choice>
        <mc:Fallback xmlns=""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1E0720EB-C04A-B4C0-C433-3039E12DACC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87035" y="1703817"/>
                <a:ext cx="3859156" cy="523220"/>
              </a:xfrm>
              <a:prstGeom prst="rect">
                <a:avLst/>
              </a:prstGeom>
              <a:blipFill>
                <a:blip r:embed="rId20"/>
                <a:stretch>
                  <a:fillRect l="-2951" b="-9302"/>
                </a:stretch>
              </a:blipFill>
            </p:spPr>
            <p:txBody>
              <a:bodyPr/>
              <a:lstStyle/>
              <a:p>
                <a:r>
                  <a:rPr lang="en-K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2071264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46FDD1-523F-A534-F8D0-FB0AA62953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674D831-5479-5776-E4B1-25074E0E7BBB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EB4B8DE2-A4E8-46E4-8BBF-D75455EFF32C}" type="slidenum">
              <a:rPr lang="en-US" smtClean="0"/>
              <a:pPr/>
              <a:t>11</a:t>
            </a:fld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1AD73CE-2ADB-C572-421B-CBD09F43A7C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KR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A557E797-C810-B7E7-B7BF-6584B81B2282}"/>
              </a:ext>
            </a:extLst>
          </p:cNvPr>
          <p:cNvGraphicFramePr>
            <a:graphicFrameLocks noGrp="1"/>
          </p:cNvGraphicFramePr>
          <p:nvPr/>
        </p:nvGraphicFramePr>
        <p:xfrm>
          <a:off x="2032000" y="719666"/>
          <a:ext cx="5083362" cy="3708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47227">
                  <a:extLst>
                    <a:ext uri="{9D8B030D-6E8A-4147-A177-3AD203B41FA5}">
                      <a16:colId xmlns:a16="http://schemas.microsoft.com/office/drawing/2014/main" val="2725002957"/>
                    </a:ext>
                  </a:extLst>
                </a:gridCol>
                <a:gridCol w="847227">
                  <a:extLst>
                    <a:ext uri="{9D8B030D-6E8A-4147-A177-3AD203B41FA5}">
                      <a16:colId xmlns:a16="http://schemas.microsoft.com/office/drawing/2014/main" val="2967591184"/>
                    </a:ext>
                  </a:extLst>
                </a:gridCol>
                <a:gridCol w="847227">
                  <a:extLst>
                    <a:ext uri="{9D8B030D-6E8A-4147-A177-3AD203B41FA5}">
                      <a16:colId xmlns:a16="http://schemas.microsoft.com/office/drawing/2014/main" val="3465237977"/>
                    </a:ext>
                  </a:extLst>
                </a:gridCol>
                <a:gridCol w="847227">
                  <a:extLst>
                    <a:ext uri="{9D8B030D-6E8A-4147-A177-3AD203B41FA5}">
                      <a16:colId xmlns:a16="http://schemas.microsoft.com/office/drawing/2014/main" val="4043266946"/>
                    </a:ext>
                  </a:extLst>
                </a:gridCol>
                <a:gridCol w="847227">
                  <a:extLst>
                    <a:ext uri="{9D8B030D-6E8A-4147-A177-3AD203B41FA5}">
                      <a16:colId xmlns:a16="http://schemas.microsoft.com/office/drawing/2014/main" val="758914307"/>
                    </a:ext>
                  </a:extLst>
                </a:gridCol>
                <a:gridCol w="847227">
                  <a:extLst>
                    <a:ext uri="{9D8B030D-6E8A-4147-A177-3AD203B41FA5}">
                      <a16:colId xmlns:a16="http://schemas.microsoft.com/office/drawing/2014/main" val="209698160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KR" dirty="0"/>
                        <a:t>&lt;M&gt;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KR" dirty="0"/>
                        <a:t>&lt;M&gt;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KR" dirty="0"/>
                        <a:t>&lt;M&gt;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KR" dirty="0"/>
                        <a:t>&lt;M&gt;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KR" dirty="0"/>
                        <a:t>&lt;M&gt;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KR" dirty="0"/>
                        <a:t>&lt;M&gt;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46548387"/>
                  </a:ext>
                </a:extLst>
              </a:tr>
            </a:tbl>
          </a:graphicData>
        </a:graphic>
      </p:graphicFrame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773F9B9B-21D9-C29F-76F2-11A797A6BEE3}"/>
              </a:ext>
            </a:extLst>
          </p:cNvPr>
          <p:cNvCxnSpPr>
            <a:cxnSpLocks/>
          </p:cNvCxnSpPr>
          <p:nvPr/>
        </p:nvCxnSpPr>
        <p:spPr>
          <a:xfrm>
            <a:off x="9483115" y="719666"/>
            <a:ext cx="0" cy="5039237"/>
          </a:xfrm>
          <a:prstGeom prst="straightConnector1">
            <a:avLst/>
          </a:prstGeom>
          <a:ln w="19050" cap="rnd">
            <a:solidFill>
              <a:srgbClr val="FF0000"/>
            </a:solidFill>
            <a:round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5BD531A0-FAB1-2D09-462F-95177389F1AB}"/>
              </a:ext>
            </a:extLst>
          </p:cNvPr>
          <p:cNvSpPr txBox="1"/>
          <p:nvPr/>
        </p:nvSpPr>
        <p:spPr>
          <a:xfrm>
            <a:off x="9713224" y="719666"/>
            <a:ext cx="323807" cy="369332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pPr algn="l"/>
            <a:r>
              <a:rPr lang="en-US" dirty="0"/>
              <a:t>t=1</a:t>
            </a:r>
            <a:endParaRPr lang="en-KR" dirty="0" err="1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DAD3D98-E5BA-4C43-97A4-11522A68BAE4}"/>
              </a:ext>
            </a:extLst>
          </p:cNvPr>
          <p:cNvSpPr txBox="1"/>
          <p:nvPr/>
        </p:nvSpPr>
        <p:spPr>
          <a:xfrm>
            <a:off x="9713224" y="5389571"/>
            <a:ext cx="360676" cy="369332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pPr algn="l"/>
            <a:r>
              <a:rPr lang="en-US" dirty="0"/>
              <a:t>t=0</a:t>
            </a:r>
            <a:endParaRPr lang="en-KR" dirty="0" err="1"/>
          </a:p>
        </p:txBody>
      </p:sp>
      <p:graphicFrame>
        <p:nvGraphicFramePr>
          <p:cNvPr id="16" name="Table 15">
            <a:extLst>
              <a:ext uri="{FF2B5EF4-FFF2-40B4-BE49-F238E27FC236}">
                <a16:creationId xmlns:a16="http://schemas.microsoft.com/office/drawing/2014/main" id="{535562D2-21D6-DF1D-8DA9-BAEACD23A2E2}"/>
              </a:ext>
            </a:extLst>
          </p:cNvPr>
          <p:cNvGraphicFramePr>
            <a:graphicFrameLocks noGrp="1"/>
          </p:cNvGraphicFramePr>
          <p:nvPr/>
        </p:nvGraphicFramePr>
        <p:xfrm>
          <a:off x="2032000" y="5288882"/>
          <a:ext cx="5083362" cy="3708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47227">
                  <a:extLst>
                    <a:ext uri="{9D8B030D-6E8A-4147-A177-3AD203B41FA5}">
                      <a16:colId xmlns:a16="http://schemas.microsoft.com/office/drawing/2014/main" val="2725002957"/>
                    </a:ext>
                  </a:extLst>
                </a:gridCol>
                <a:gridCol w="847227">
                  <a:extLst>
                    <a:ext uri="{9D8B030D-6E8A-4147-A177-3AD203B41FA5}">
                      <a16:colId xmlns:a16="http://schemas.microsoft.com/office/drawing/2014/main" val="2967591184"/>
                    </a:ext>
                  </a:extLst>
                </a:gridCol>
                <a:gridCol w="847227">
                  <a:extLst>
                    <a:ext uri="{9D8B030D-6E8A-4147-A177-3AD203B41FA5}">
                      <a16:colId xmlns:a16="http://schemas.microsoft.com/office/drawing/2014/main" val="3465237977"/>
                    </a:ext>
                  </a:extLst>
                </a:gridCol>
                <a:gridCol w="847227">
                  <a:extLst>
                    <a:ext uri="{9D8B030D-6E8A-4147-A177-3AD203B41FA5}">
                      <a16:colId xmlns:a16="http://schemas.microsoft.com/office/drawing/2014/main" val="4043266946"/>
                    </a:ext>
                  </a:extLst>
                </a:gridCol>
                <a:gridCol w="847227">
                  <a:extLst>
                    <a:ext uri="{9D8B030D-6E8A-4147-A177-3AD203B41FA5}">
                      <a16:colId xmlns:a16="http://schemas.microsoft.com/office/drawing/2014/main" val="758914307"/>
                    </a:ext>
                  </a:extLst>
                </a:gridCol>
                <a:gridCol w="847227">
                  <a:extLst>
                    <a:ext uri="{9D8B030D-6E8A-4147-A177-3AD203B41FA5}">
                      <a16:colId xmlns:a16="http://schemas.microsoft.com/office/drawing/2014/main" val="209698160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KR"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KR" dirty="0"/>
                        <a:t>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KR" dirty="0"/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KR" dirty="0"/>
                        <a:t>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KR" dirty="0"/>
                        <a:t>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KR" dirty="0"/>
                        <a:t>B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46548387"/>
                  </a:ext>
                </a:extLst>
              </a:tr>
            </a:tbl>
          </a:graphicData>
        </a:graphic>
      </p:graphicFrame>
      <p:sp>
        <p:nvSpPr>
          <p:cNvPr id="19" name="Down Arrow 18">
            <a:extLst>
              <a:ext uri="{FF2B5EF4-FFF2-40B4-BE49-F238E27FC236}">
                <a16:creationId xmlns:a16="http://schemas.microsoft.com/office/drawing/2014/main" id="{DFDB512D-B7F5-7947-83E1-7FE17E37FE46}"/>
              </a:ext>
            </a:extLst>
          </p:cNvPr>
          <p:cNvSpPr/>
          <p:nvPr/>
        </p:nvSpPr>
        <p:spPr>
          <a:xfrm>
            <a:off x="3984752" y="1985490"/>
            <a:ext cx="351226" cy="361866"/>
          </a:xfrm>
          <a:prstGeom prst="downArrow">
            <a:avLst/>
          </a:prstGeom>
          <a:noFill/>
          <a:ln w="28575"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45720" rIns="45720" rtlCol="0" anchor="ctr"/>
          <a:lstStyle/>
          <a:p>
            <a:pPr algn="ctr"/>
            <a:endParaRPr lang="en-KR" dirty="0" err="1">
              <a:solidFill>
                <a:schemeClr val="tx1"/>
              </a:solidFill>
            </a:endParaRPr>
          </a:p>
        </p:txBody>
      </p:sp>
      <p:graphicFrame>
        <p:nvGraphicFramePr>
          <p:cNvPr id="29" name="Table 28">
            <a:extLst>
              <a:ext uri="{FF2B5EF4-FFF2-40B4-BE49-F238E27FC236}">
                <a16:creationId xmlns:a16="http://schemas.microsoft.com/office/drawing/2014/main" id="{9472BC34-F8B6-8ADB-E59E-EEA18D06804C}"/>
              </a:ext>
            </a:extLst>
          </p:cNvPr>
          <p:cNvGraphicFramePr>
            <a:graphicFrameLocks noGrp="1"/>
          </p:cNvGraphicFramePr>
          <p:nvPr/>
        </p:nvGraphicFramePr>
        <p:xfrm>
          <a:off x="2032000" y="3243580"/>
          <a:ext cx="5083362" cy="3708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47227">
                  <a:extLst>
                    <a:ext uri="{9D8B030D-6E8A-4147-A177-3AD203B41FA5}">
                      <a16:colId xmlns:a16="http://schemas.microsoft.com/office/drawing/2014/main" val="2725002957"/>
                    </a:ext>
                  </a:extLst>
                </a:gridCol>
                <a:gridCol w="847227">
                  <a:extLst>
                    <a:ext uri="{9D8B030D-6E8A-4147-A177-3AD203B41FA5}">
                      <a16:colId xmlns:a16="http://schemas.microsoft.com/office/drawing/2014/main" val="2967591184"/>
                    </a:ext>
                  </a:extLst>
                </a:gridCol>
                <a:gridCol w="847227">
                  <a:extLst>
                    <a:ext uri="{9D8B030D-6E8A-4147-A177-3AD203B41FA5}">
                      <a16:colId xmlns:a16="http://schemas.microsoft.com/office/drawing/2014/main" val="3465237977"/>
                    </a:ext>
                  </a:extLst>
                </a:gridCol>
                <a:gridCol w="847227">
                  <a:extLst>
                    <a:ext uri="{9D8B030D-6E8A-4147-A177-3AD203B41FA5}">
                      <a16:colId xmlns:a16="http://schemas.microsoft.com/office/drawing/2014/main" val="4043266946"/>
                    </a:ext>
                  </a:extLst>
                </a:gridCol>
                <a:gridCol w="847227">
                  <a:extLst>
                    <a:ext uri="{9D8B030D-6E8A-4147-A177-3AD203B41FA5}">
                      <a16:colId xmlns:a16="http://schemas.microsoft.com/office/drawing/2014/main" val="758914307"/>
                    </a:ext>
                  </a:extLst>
                </a:gridCol>
                <a:gridCol w="847227">
                  <a:extLst>
                    <a:ext uri="{9D8B030D-6E8A-4147-A177-3AD203B41FA5}">
                      <a16:colId xmlns:a16="http://schemas.microsoft.com/office/drawing/2014/main" val="209698160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KR" dirty="0"/>
                        <a:t>&lt;M&gt;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KR" dirty="0"/>
                        <a:t>&lt;M&gt;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A</a:t>
                      </a:r>
                      <a:endParaRPr lang="en-K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KR" dirty="0"/>
                        <a:t>&lt;M&gt;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C</a:t>
                      </a:r>
                      <a:endParaRPr lang="en-K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KR" dirty="0"/>
                        <a:t>B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46548387"/>
                  </a:ext>
                </a:extLst>
              </a:tr>
            </a:tbl>
          </a:graphicData>
        </a:graphic>
      </p:graphicFrame>
      <p:sp>
        <p:nvSpPr>
          <p:cNvPr id="31" name="Down Arrow 30">
            <a:extLst>
              <a:ext uri="{FF2B5EF4-FFF2-40B4-BE49-F238E27FC236}">
                <a16:creationId xmlns:a16="http://schemas.microsoft.com/office/drawing/2014/main" id="{2E056A88-BA73-25AF-7D2C-1FBC8B9A1B70}"/>
              </a:ext>
            </a:extLst>
          </p:cNvPr>
          <p:cNvSpPr/>
          <p:nvPr/>
        </p:nvSpPr>
        <p:spPr>
          <a:xfrm>
            <a:off x="3984752" y="2822721"/>
            <a:ext cx="351226" cy="361866"/>
          </a:xfrm>
          <a:prstGeom prst="downArrow">
            <a:avLst/>
          </a:prstGeom>
          <a:noFill/>
          <a:ln w="28575"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45720" rIns="45720" rtlCol="0" anchor="ctr"/>
          <a:lstStyle/>
          <a:p>
            <a:pPr algn="ctr"/>
            <a:endParaRPr lang="en-KR" dirty="0" err="1">
              <a:solidFill>
                <a:schemeClr val="tx1"/>
              </a:solidFill>
            </a:endParaRP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E3D95192-B2DC-34BB-8E86-4DB8708C015A}"/>
              </a:ext>
            </a:extLst>
          </p:cNvPr>
          <p:cNvCxnSpPr>
            <a:cxnSpLocks/>
            <a:stCxn id="19" idx="1"/>
            <a:endCxn id="8" idx="3"/>
          </p:cNvCxnSpPr>
          <p:nvPr/>
        </p:nvCxnSpPr>
        <p:spPr>
          <a:xfrm flipH="1" flipV="1">
            <a:off x="1624301" y="2166423"/>
            <a:ext cx="2360451" cy="5320"/>
          </a:xfrm>
          <a:prstGeom prst="line">
            <a:avLst/>
          </a:prstGeom>
          <a:ln w="19050" cap="rnd">
            <a:solidFill>
              <a:schemeClr val="tx1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8D65A485-C501-E485-4BAF-1BD974997920}"/>
              </a:ext>
            </a:extLst>
          </p:cNvPr>
          <p:cNvSpPr txBox="1"/>
          <p:nvPr/>
        </p:nvSpPr>
        <p:spPr>
          <a:xfrm>
            <a:off x="609600" y="2027923"/>
            <a:ext cx="1014701" cy="276999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pPr algn="l"/>
            <a:r>
              <a:rPr lang="en-KR" sz="1200" dirty="0"/>
              <a:t>KV of token A  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3818A2BC-454B-E3DE-466E-F0DDB6FD292E}"/>
              </a:ext>
            </a:extLst>
          </p:cNvPr>
          <p:cNvCxnSpPr>
            <a:cxnSpLocks/>
            <a:stCxn id="31" idx="1"/>
            <a:endCxn id="17" idx="3"/>
          </p:cNvCxnSpPr>
          <p:nvPr/>
        </p:nvCxnSpPr>
        <p:spPr>
          <a:xfrm flipH="1" flipV="1">
            <a:off x="1624301" y="3002821"/>
            <a:ext cx="2360451" cy="6153"/>
          </a:xfrm>
          <a:prstGeom prst="line">
            <a:avLst/>
          </a:prstGeom>
          <a:ln w="19050" cap="rnd">
            <a:solidFill>
              <a:schemeClr val="tx1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A5F8A8AC-1DED-2239-F718-566C64D967E4}"/>
              </a:ext>
            </a:extLst>
          </p:cNvPr>
          <p:cNvSpPr txBox="1"/>
          <p:nvPr/>
        </p:nvSpPr>
        <p:spPr>
          <a:xfrm>
            <a:off x="609600" y="2864321"/>
            <a:ext cx="1014701" cy="276999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pPr algn="l"/>
            <a:r>
              <a:rPr lang="en-KR" sz="1200" dirty="0"/>
              <a:t>KV of token A 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A4D9F56E-93B0-F947-6D85-EB3F3669D12E}"/>
                  </a:ext>
                </a:extLst>
              </p:cNvPr>
              <p:cNvSpPr txBox="1"/>
              <p:nvPr/>
            </p:nvSpPr>
            <p:spPr>
              <a:xfrm>
                <a:off x="1001534" y="2399955"/>
                <a:ext cx="230832" cy="369332"/>
              </a:xfrm>
              <a:prstGeom prst="rect">
                <a:avLst/>
              </a:prstGeom>
              <a:noFill/>
            </p:spPr>
            <p:txBody>
              <a:bodyPr wrap="none" lIns="0" rIns="0" rtlCol="0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KR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≠</m:t>
                      </m:r>
                    </m:oMath>
                  </m:oMathPara>
                </a14:m>
                <a:endParaRPr lang="en-KR" dirty="0"/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A4D9F56E-93B0-F947-6D85-EB3F3669D12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01534" y="2399955"/>
                <a:ext cx="230832" cy="369332"/>
              </a:xfrm>
              <a:prstGeom prst="rect">
                <a:avLst/>
              </a:prstGeom>
              <a:blipFill>
                <a:blip r:embed="rId2"/>
                <a:stretch>
                  <a:fillRect l="-15789" r="-15789"/>
                </a:stretch>
              </a:blipFill>
            </p:spPr>
            <p:txBody>
              <a:bodyPr/>
              <a:lstStyle/>
              <a:p>
                <a:r>
                  <a:rPr lang="en-KR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23" name="Table 22">
            <a:extLst>
              <a:ext uri="{FF2B5EF4-FFF2-40B4-BE49-F238E27FC236}">
                <a16:creationId xmlns:a16="http://schemas.microsoft.com/office/drawing/2014/main" id="{E4B59991-876A-796A-A815-05EE7CF9FED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27431218"/>
              </p:ext>
            </p:extLst>
          </p:nvPr>
        </p:nvGraphicFramePr>
        <p:xfrm>
          <a:off x="2032000" y="1560764"/>
          <a:ext cx="5083362" cy="3708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47227">
                  <a:extLst>
                    <a:ext uri="{9D8B030D-6E8A-4147-A177-3AD203B41FA5}">
                      <a16:colId xmlns:a16="http://schemas.microsoft.com/office/drawing/2014/main" val="2725002957"/>
                    </a:ext>
                  </a:extLst>
                </a:gridCol>
                <a:gridCol w="847227">
                  <a:extLst>
                    <a:ext uri="{9D8B030D-6E8A-4147-A177-3AD203B41FA5}">
                      <a16:colId xmlns:a16="http://schemas.microsoft.com/office/drawing/2014/main" val="2967591184"/>
                    </a:ext>
                  </a:extLst>
                </a:gridCol>
                <a:gridCol w="847227">
                  <a:extLst>
                    <a:ext uri="{9D8B030D-6E8A-4147-A177-3AD203B41FA5}">
                      <a16:colId xmlns:a16="http://schemas.microsoft.com/office/drawing/2014/main" val="3465237977"/>
                    </a:ext>
                  </a:extLst>
                </a:gridCol>
                <a:gridCol w="847227">
                  <a:extLst>
                    <a:ext uri="{9D8B030D-6E8A-4147-A177-3AD203B41FA5}">
                      <a16:colId xmlns:a16="http://schemas.microsoft.com/office/drawing/2014/main" val="4043266946"/>
                    </a:ext>
                  </a:extLst>
                </a:gridCol>
                <a:gridCol w="847227">
                  <a:extLst>
                    <a:ext uri="{9D8B030D-6E8A-4147-A177-3AD203B41FA5}">
                      <a16:colId xmlns:a16="http://schemas.microsoft.com/office/drawing/2014/main" val="758914307"/>
                    </a:ext>
                  </a:extLst>
                </a:gridCol>
                <a:gridCol w="847227">
                  <a:extLst>
                    <a:ext uri="{9D8B030D-6E8A-4147-A177-3AD203B41FA5}">
                      <a16:colId xmlns:a16="http://schemas.microsoft.com/office/drawing/2014/main" val="209698160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KR" dirty="0"/>
                        <a:t>&lt;M&gt;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KR" dirty="0"/>
                        <a:t>&lt;M&gt;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A</a:t>
                      </a:r>
                      <a:endParaRPr lang="en-K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KR" dirty="0"/>
                        <a:t>&lt;M&gt;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KR" dirty="0"/>
                        <a:t>&lt;M&gt;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KR" dirty="0"/>
                        <a:t>&lt;M&gt;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46548387"/>
                  </a:ext>
                </a:extLst>
              </a:tr>
            </a:tbl>
          </a:graphicData>
        </a:graphic>
      </p:graphicFrame>
      <p:graphicFrame>
        <p:nvGraphicFramePr>
          <p:cNvPr id="24" name="Table 23">
            <a:extLst>
              <a:ext uri="{FF2B5EF4-FFF2-40B4-BE49-F238E27FC236}">
                <a16:creationId xmlns:a16="http://schemas.microsoft.com/office/drawing/2014/main" id="{9835F2EB-9F0E-DA7E-EADF-AA93058633A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39250259"/>
              </p:ext>
            </p:extLst>
          </p:nvPr>
        </p:nvGraphicFramePr>
        <p:xfrm>
          <a:off x="2032000" y="2401862"/>
          <a:ext cx="5083362" cy="3708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47227">
                  <a:extLst>
                    <a:ext uri="{9D8B030D-6E8A-4147-A177-3AD203B41FA5}">
                      <a16:colId xmlns:a16="http://schemas.microsoft.com/office/drawing/2014/main" val="2725002957"/>
                    </a:ext>
                  </a:extLst>
                </a:gridCol>
                <a:gridCol w="847227">
                  <a:extLst>
                    <a:ext uri="{9D8B030D-6E8A-4147-A177-3AD203B41FA5}">
                      <a16:colId xmlns:a16="http://schemas.microsoft.com/office/drawing/2014/main" val="2967591184"/>
                    </a:ext>
                  </a:extLst>
                </a:gridCol>
                <a:gridCol w="847227">
                  <a:extLst>
                    <a:ext uri="{9D8B030D-6E8A-4147-A177-3AD203B41FA5}">
                      <a16:colId xmlns:a16="http://schemas.microsoft.com/office/drawing/2014/main" val="3465237977"/>
                    </a:ext>
                  </a:extLst>
                </a:gridCol>
                <a:gridCol w="847227">
                  <a:extLst>
                    <a:ext uri="{9D8B030D-6E8A-4147-A177-3AD203B41FA5}">
                      <a16:colId xmlns:a16="http://schemas.microsoft.com/office/drawing/2014/main" val="4043266946"/>
                    </a:ext>
                  </a:extLst>
                </a:gridCol>
                <a:gridCol w="847227">
                  <a:extLst>
                    <a:ext uri="{9D8B030D-6E8A-4147-A177-3AD203B41FA5}">
                      <a16:colId xmlns:a16="http://schemas.microsoft.com/office/drawing/2014/main" val="758914307"/>
                    </a:ext>
                  </a:extLst>
                </a:gridCol>
                <a:gridCol w="847227">
                  <a:extLst>
                    <a:ext uri="{9D8B030D-6E8A-4147-A177-3AD203B41FA5}">
                      <a16:colId xmlns:a16="http://schemas.microsoft.com/office/drawing/2014/main" val="209698160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KR" dirty="0"/>
                        <a:t>&lt;M&gt;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KR" dirty="0"/>
                        <a:t>&lt;M&gt;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A</a:t>
                      </a:r>
                      <a:endParaRPr lang="en-K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KR" dirty="0"/>
                        <a:t>&lt;M&gt;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&lt;M&gt;</a:t>
                      </a:r>
                      <a:endParaRPr lang="en-K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KR" dirty="0"/>
                        <a:t>B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46548387"/>
                  </a:ext>
                </a:extLst>
              </a:tr>
            </a:tbl>
          </a:graphicData>
        </a:graphic>
      </p:graphicFrame>
      <p:sp>
        <p:nvSpPr>
          <p:cNvPr id="25" name="TextBox 24">
            <a:extLst>
              <a:ext uri="{FF2B5EF4-FFF2-40B4-BE49-F238E27FC236}">
                <a16:creationId xmlns:a16="http://schemas.microsoft.com/office/drawing/2014/main" id="{33D27FFC-7220-85D0-D3E2-9358D7F04971}"/>
              </a:ext>
            </a:extLst>
          </p:cNvPr>
          <p:cNvSpPr txBox="1"/>
          <p:nvPr/>
        </p:nvSpPr>
        <p:spPr>
          <a:xfrm>
            <a:off x="4544025" y="3924048"/>
            <a:ext cx="59312" cy="923330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pPr algn="l"/>
            <a:r>
              <a:rPr lang="en-KR" dirty="0"/>
              <a:t>.</a:t>
            </a:r>
          </a:p>
          <a:p>
            <a:pPr algn="l"/>
            <a:r>
              <a:rPr lang="en-KR" dirty="0"/>
              <a:t>.</a:t>
            </a:r>
          </a:p>
          <a:p>
            <a:pPr algn="l"/>
            <a:r>
              <a:rPr lang="en-KR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93226085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FB0764-341F-C4E5-F1D1-8DFE8BF21B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E9C0BAD-908E-DC2C-477F-7A0B21531C1C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EB4B8DE2-A4E8-46E4-8BBF-D75455EFF32C}" type="slidenum">
              <a:rPr lang="en-US" smtClean="0"/>
              <a:pPr/>
              <a:t>12</a:t>
            </a:fld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60C2BDC-D4E3-897A-4266-FB002D2964B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KR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7966C942-2D4B-0538-D3E8-1EEFB85207C0}"/>
              </a:ext>
            </a:extLst>
          </p:cNvPr>
          <p:cNvGraphicFramePr>
            <a:graphicFrameLocks noGrp="1"/>
          </p:cNvGraphicFramePr>
          <p:nvPr/>
        </p:nvGraphicFramePr>
        <p:xfrm>
          <a:off x="2032000" y="719666"/>
          <a:ext cx="5083362" cy="3708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47227">
                  <a:extLst>
                    <a:ext uri="{9D8B030D-6E8A-4147-A177-3AD203B41FA5}">
                      <a16:colId xmlns:a16="http://schemas.microsoft.com/office/drawing/2014/main" val="2725002957"/>
                    </a:ext>
                  </a:extLst>
                </a:gridCol>
                <a:gridCol w="847227">
                  <a:extLst>
                    <a:ext uri="{9D8B030D-6E8A-4147-A177-3AD203B41FA5}">
                      <a16:colId xmlns:a16="http://schemas.microsoft.com/office/drawing/2014/main" val="2967591184"/>
                    </a:ext>
                  </a:extLst>
                </a:gridCol>
                <a:gridCol w="847227">
                  <a:extLst>
                    <a:ext uri="{9D8B030D-6E8A-4147-A177-3AD203B41FA5}">
                      <a16:colId xmlns:a16="http://schemas.microsoft.com/office/drawing/2014/main" val="3465237977"/>
                    </a:ext>
                  </a:extLst>
                </a:gridCol>
                <a:gridCol w="847227">
                  <a:extLst>
                    <a:ext uri="{9D8B030D-6E8A-4147-A177-3AD203B41FA5}">
                      <a16:colId xmlns:a16="http://schemas.microsoft.com/office/drawing/2014/main" val="4043266946"/>
                    </a:ext>
                  </a:extLst>
                </a:gridCol>
                <a:gridCol w="847227">
                  <a:extLst>
                    <a:ext uri="{9D8B030D-6E8A-4147-A177-3AD203B41FA5}">
                      <a16:colId xmlns:a16="http://schemas.microsoft.com/office/drawing/2014/main" val="758914307"/>
                    </a:ext>
                  </a:extLst>
                </a:gridCol>
                <a:gridCol w="847227">
                  <a:extLst>
                    <a:ext uri="{9D8B030D-6E8A-4147-A177-3AD203B41FA5}">
                      <a16:colId xmlns:a16="http://schemas.microsoft.com/office/drawing/2014/main" val="209698160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KR" dirty="0"/>
                        <a:t>&lt;M&gt;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KR" dirty="0"/>
                        <a:t>&lt;M&gt;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KR" dirty="0"/>
                        <a:t>&lt;M&gt;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KR" dirty="0"/>
                        <a:t>&lt;M&gt;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KR" dirty="0"/>
                        <a:t>&lt;M&gt;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KR" dirty="0"/>
                        <a:t>&lt;M&gt;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46548387"/>
                  </a:ext>
                </a:extLst>
              </a:tr>
            </a:tbl>
          </a:graphicData>
        </a:graphic>
      </p:graphicFrame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3EED7071-BA4C-CA76-1DAC-BD8C1B551ED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14111591"/>
              </p:ext>
            </p:extLst>
          </p:nvPr>
        </p:nvGraphicFramePr>
        <p:xfrm>
          <a:off x="2032000" y="1560764"/>
          <a:ext cx="5083362" cy="3708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47227">
                  <a:extLst>
                    <a:ext uri="{9D8B030D-6E8A-4147-A177-3AD203B41FA5}">
                      <a16:colId xmlns:a16="http://schemas.microsoft.com/office/drawing/2014/main" val="2725002957"/>
                    </a:ext>
                  </a:extLst>
                </a:gridCol>
                <a:gridCol w="847227">
                  <a:extLst>
                    <a:ext uri="{9D8B030D-6E8A-4147-A177-3AD203B41FA5}">
                      <a16:colId xmlns:a16="http://schemas.microsoft.com/office/drawing/2014/main" val="2967591184"/>
                    </a:ext>
                  </a:extLst>
                </a:gridCol>
                <a:gridCol w="847227">
                  <a:extLst>
                    <a:ext uri="{9D8B030D-6E8A-4147-A177-3AD203B41FA5}">
                      <a16:colId xmlns:a16="http://schemas.microsoft.com/office/drawing/2014/main" val="3465237977"/>
                    </a:ext>
                  </a:extLst>
                </a:gridCol>
                <a:gridCol w="847227">
                  <a:extLst>
                    <a:ext uri="{9D8B030D-6E8A-4147-A177-3AD203B41FA5}">
                      <a16:colId xmlns:a16="http://schemas.microsoft.com/office/drawing/2014/main" val="4043266946"/>
                    </a:ext>
                  </a:extLst>
                </a:gridCol>
                <a:gridCol w="847227">
                  <a:extLst>
                    <a:ext uri="{9D8B030D-6E8A-4147-A177-3AD203B41FA5}">
                      <a16:colId xmlns:a16="http://schemas.microsoft.com/office/drawing/2014/main" val="758914307"/>
                    </a:ext>
                  </a:extLst>
                </a:gridCol>
                <a:gridCol w="847227">
                  <a:extLst>
                    <a:ext uri="{9D8B030D-6E8A-4147-A177-3AD203B41FA5}">
                      <a16:colId xmlns:a16="http://schemas.microsoft.com/office/drawing/2014/main" val="209698160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KR" dirty="0"/>
                        <a:t>&lt;M&gt;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KR" dirty="0"/>
                        <a:t>&lt;M&gt;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A</a:t>
                      </a:r>
                      <a:endParaRPr lang="en-K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KR" dirty="0"/>
                        <a:t>&lt;M&gt;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KR" dirty="0"/>
                        <a:t>&lt;M&gt;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KR" dirty="0"/>
                        <a:t>&lt;M&gt;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46548387"/>
                  </a:ext>
                </a:extLst>
              </a:tr>
            </a:tbl>
          </a:graphicData>
        </a:graphic>
      </p:graphicFrame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EF7DFF2D-4F0F-D383-6C04-8F3EEC20C23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05136933"/>
              </p:ext>
            </p:extLst>
          </p:nvPr>
        </p:nvGraphicFramePr>
        <p:xfrm>
          <a:off x="2032000" y="2401862"/>
          <a:ext cx="5083362" cy="3708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47227">
                  <a:extLst>
                    <a:ext uri="{9D8B030D-6E8A-4147-A177-3AD203B41FA5}">
                      <a16:colId xmlns:a16="http://schemas.microsoft.com/office/drawing/2014/main" val="2725002957"/>
                    </a:ext>
                  </a:extLst>
                </a:gridCol>
                <a:gridCol w="847227">
                  <a:extLst>
                    <a:ext uri="{9D8B030D-6E8A-4147-A177-3AD203B41FA5}">
                      <a16:colId xmlns:a16="http://schemas.microsoft.com/office/drawing/2014/main" val="2967591184"/>
                    </a:ext>
                  </a:extLst>
                </a:gridCol>
                <a:gridCol w="847227">
                  <a:extLst>
                    <a:ext uri="{9D8B030D-6E8A-4147-A177-3AD203B41FA5}">
                      <a16:colId xmlns:a16="http://schemas.microsoft.com/office/drawing/2014/main" val="3465237977"/>
                    </a:ext>
                  </a:extLst>
                </a:gridCol>
                <a:gridCol w="847227">
                  <a:extLst>
                    <a:ext uri="{9D8B030D-6E8A-4147-A177-3AD203B41FA5}">
                      <a16:colId xmlns:a16="http://schemas.microsoft.com/office/drawing/2014/main" val="4043266946"/>
                    </a:ext>
                  </a:extLst>
                </a:gridCol>
                <a:gridCol w="847227">
                  <a:extLst>
                    <a:ext uri="{9D8B030D-6E8A-4147-A177-3AD203B41FA5}">
                      <a16:colId xmlns:a16="http://schemas.microsoft.com/office/drawing/2014/main" val="758914307"/>
                    </a:ext>
                  </a:extLst>
                </a:gridCol>
                <a:gridCol w="847227">
                  <a:extLst>
                    <a:ext uri="{9D8B030D-6E8A-4147-A177-3AD203B41FA5}">
                      <a16:colId xmlns:a16="http://schemas.microsoft.com/office/drawing/2014/main" val="209698160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KR" dirty="0"/>
                        <a:t>&lt;M&gt;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KR" dirty="0"/>
                        <a:t>&lt;M&gt;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A</a:t>
                      </a:r>
                      <a:endParaRPr lang="en-K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KR" dirty="0"/>
                        <a:t>&lt;M&gt;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&lt;M&gt;</a:t>
                      </a:r>
                      <a:endParaRPr lang="en-K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KR" dirty="0"/>
                        <a:t>B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46548387"/>
                  </a:ext>
                </a:extLst>
              </a:tr>
            </a:tbl>
          </a:graphicData>
        </a:graphic>
      </p:graphicFrame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D24814C1-332B-C478-FAD5-90FC0D5A27BE}"/>
              </a:ext>
            </a:extLst>
          </p:cNvPr>
          <p:cNvCxnSpPr>
            <a:cxnSpLocks/>
          </p:cNvCxnSpPr>
          <p:nvPr/>
        </p:nvCxnSpPr>
        <p:spPr>
          <a:xfrm>
            <a:off x="9483115" y="719666"/>
            <a:ext cx="0" cy="5039237"/>
          </a:xfrm>
          <a:prstGeom prst="straightConnector1">
            <a:avLst/>
          </a:prstGeom>
          <a:ln w="19050" cap="rnd">
            <a:solidFill>
              <a:srgbClr val="FF0000"/>
            </a:solidFill>
            <a:round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F9E3FDF5-89D8-E7E7-0852-2150F8487364}"/>
              </a:ext>
            </a:extLst>
          </p:cNvPr>
          <p:cNvSpPr txBox="1"/>
          <p:nvPr/>
        </p:nvSpPr>
        <p:spPr>
          <a:xfrm>
            <a:off x="9713224" y="719666"/>
            <a:ext cx="323807" cy="369332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pPr algn="l"/>
            <a:r>
              <a:rPr lang="en-US" dirty="0"/>
              <a:t>t=1</a:t>
            </a:r>
            <a:endParaRPr lang="en-KR" dirty="0" err="1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0B56D2B-02E1-95F6-0FAE-899746865597}"/>
              </a:ext>
            </a:extLst>
          </p:cNvPr>
          <p:cNvSpPr txBox="1"/>
          <p:nvPr/>
        </p:nvSpPr>
        <p:spPr>
          <a:xfrm>
            <a:off x="9713224" y="5389571"/>
            <a:ext cx="360676" cy="369332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pPr algn="l"/>
            <a:r>
              <a:rPr lang="en-US" dirty="0"/>
              <a:t>t=0</a:t>
            </a:r>
            <a:endParaRPr lang="en-KR" dirty="0" err="1"/>
          </a:p>
        </p:txBody>
      </p:sp>
      <p:graphicFrame>
        <p:nvGraphicFramePr>
          <p:cNvPr id="16" name="Table 15">
            <a:extLst>
              <a:ext uri="{FF2B5EF4-FFF2-40B4-BE49-F238E27FC236}">
                <a16:creationId xmlns:a16="http://schemas.microsoft.com/office/drawing/2014/main" id="{6813C377-3761-54D6-DFE9-8CA281C96B13}"/>
              </a:ext>
            </a:extLst>
          </p:cNvPr>
          <p:cNvGraphicFramePr>
            <a:graphicFrameLocks noGrp="1"/>
          </p:cNvGraphicFramePr>
          <p:nvPr/>
        </p:nvGraphicFramePr>
        <p:xfrm>
          <a:off x="2032000" y="5288882"/>
          <a:ext cx="5083362" cy="3708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47227">
                  <a:extLst>
                    <a:ext uri="{9D8B030D-6E8A-4147-A177-3AD203B41FA5}">
                      <a16:colId xmlns:a16="http://schemas.microsoft.com/office/drawing/2014/main" val="2725002957"/>
                    </a:ext>
                  </a:extLst>
                </a:gridCol>
                <a:gridCol w="847227">
                  <a:extLst>
                    <a:ext uri="{9D8B030D-6E8A-4147-A177-3AD203B41FA5}">
                      <a16:colId xmlns:a16="http://schemas.microsoft.com/office/drawing/2014/main" val="2967591184"/>
                    </a:ext>
                  </a:extLst>
                </a:gridCol>
                <a:gridCol w="847227">
                  <a:extLst>
                    <a:ext uri="{9D8B030D-6E8A-4147-A177-3AD203B41FA5}">
                      <a16:colId xmlns:a16="http://schemas.microsoft.com/office/drawing/2014/main" val="3465237977"/>
                    </a:ext>
                  </a:extLst>
                </a:gridCol>
                <a:gridCol w="847227">
                  <a:extLst>
                    <a:ext uri="{9D8B030D-6E8A-4147-A177-3AD203B41FA5}">
                      <a16:colId xmlns:a16="http://schemas.microsoft.com/office/drawing/2014/main" val="4043266946"/>
                    </a:ext>
                  </a:extLst>
                </a:gridCol>
                <a:gridCol w="847227">
                  <a:extLst>
                    <a:ext uri="{9D8B030D-6E8A-4147-A177-3AD203B41FA5}">
                      <a16:colId xmlns:a16="http://schemas.microsoft.com/office/drawing/2014/main" val="758914307"/>
                    </a:ext>
                  </a:extLst>
                </a:gridCol>
                <a:gridCol w="847227">
                  <a:extLst>
                    <a:ext uri="{9D8B030D-6E8A-4147-A177-3AD203B41FA5}">
                      <a16:colId xmlns:a16="http://schemas.microsoft.com/office/drawing/2014/main" val="209698160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KR"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KR" dirty="0"/>
                        <a:t>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KR" dirty="0"/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KR" dirty="0"/>
                        <a:t>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KR" dirty="0"/>
                        <a:t>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KR" dirty="0"/>
                        <a:t>B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46548387"/>
                  </a:ext>
                </a:extLst>
              </a:tr>
            </a:tbl>
          </a:graphicData>
        </a:graphic>
      </p:graphicFrame>
      <p:sp>
        <p:nvSpPr>
          <p:cNvPr id="19" name="Down Arrow 18">
            <a:extLst>
              <a:ext uri="{FF2B5EF4-FFF2-40B4-BE49-F238E27FC236}">
                <a16:creationId xmlns:a16="http://schemas.microsoft.com/office/drawing/2014/main" id="{980CF1B6-BEFB-B66F-A13D-C46F5F7FDA66}"/>
              </a:ext>
            </a:extLst>
          </p:cNvPr>
          <p:cNvSpPr/>
          <p:nvPr/>
        </p:nvSpPr>
        <p:spPr>
          <a:xfrm>
            <a:off x="3118797" y="1980790"/>
            <a:ext cx="351226" cy="361866"/>
          </a:xfrm>
          <a:prstGeom prst="downArrow">
            <a:avLst/>
          </a:prstGeom>
          <a:noFill/>
          <a:ln w="28575"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45720" rIns="45720" rtlCol="0" anchor="ctr"/>
          <a:lstStyle/>
          <a:p>
            <a:pPr algn="ctr"/>
            <a:endParaRPr lang="en-KR" dirty="0" err="1">
              <a:solidFill>
                <a:schemeClr val="tx1"/>
              </a:solidFill>
            </a:endParaRPr>
          </a:p>
        </p:txBody>
      </p:sp>
      <p:graphicFrame>
        <p:nvGraphicFramePr>
          <p:cNvPr id="29" name="Table 28">
            <a:extLst>
              <a:ext uri="{FF2B5EF4-FFF2-40B4-BE49-F238E27FC236}">
                <a16:creationId xmlns:a16="http://schemas.microsoft.com/office/drawing/2014/main" id="{F43F2D12-66BB-951E-2134-83DBD6A51A09}"/>
              </a:ext>
            </a:extLst>
          </p:cNvPr>
          <p:cNvGraphicFramePr>
            <a:graphicFrameLocks noGrp="1"/>
          </p:cNvGraphicFramePr>
          <p:nvPr/>
        </p:nvGraphicFramePr>
        <p:xfrm>
          <a:off x="2032000" y="3243580"/>
          <a:ext cx="5083362" cy="3708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47227">
                  <a:extLst>
                    <a:ext uri="{9D8B030D-6E8A-4147-A177-3AD203B41FA5}">
                      <a16:colId xmlns:a16="http://schemas.microsoft.com/office/drawing/2014/main" val="2725002957"/>
                    </a:ext>
                  </a:extLst>
                </a:gridCol>
                <a:gridCol w="847227">
                  <a:extLst>
                    <a:ext uri="{9D8B030D-6E8A-4147-A177-3AD203B41FA5}">
                      <a16:colId xmlns:a16="http://schemas.microsoft.com/office/drawing/2014/main" val="2967591184"/>
                    </a:ext>
                  </a:extLst>
                </a:gridCol>
                <a:gridCol w="847227">
                  <a:extLst>
                    <a:ext uri="{9D8B030D-6E8A-4147-A177-3AD203B41FA5}">
                      <a16:colId xmlns:a16="http://schemas.microsoft.com/office/drawing/2014/main" val="3465237977"/>
                    </a:ext>
                  </a:extLst>
                </a:gridCol>
                <a:gridCol w="847227">
                  <a:extLst>
                    <a:ext uri="{9D8B030D-6E8A-4147-A177-3AD203B41FA5}">
                      <a16:colId xmlns:a16="http://schemas.microsoft.com/office/drawing/2014/main" val="4043266946"/>
                    </a:ext>
                  </a:extLst>
                </a:gridCol>
                <a:gridCol w="847227">
                  <a:extLst>
                    <a:ext uri="{9D8B030D-6E8A-4147-A177-3AD203B41FA5}">
                      <a16:colId xmlns:a16="http://schemas.microsoft.com/office/drawing/2014/main" val="758914307"/>
                    </a:ext>
                  </a:extLst>
                </a:gridCol>
                <a:gridCol w="847227">
                  <a:extLst>
                    <a:ext uri="{9D8B030D-6E8A-4147-A177-3AD203B41FA5}">
                      <a16:colId xmlns:a16="http://schemas.microsoft.com/office/drawing/2014/main" val="209698160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KR" dirty="0"/>
                        <a:t>&lt;M&gt;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KR" dirty="0"/>
                        <a:t>&lt;M&gt;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A</a:t>
                      </a:r>
                      <a:endParaRPr lang="en-K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KR" dirty="0"/>
                        <a:t>&lt;M&gt;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C</a:t>
                      </a:r>
                      <a:endParaRPr lang="en-K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KR" dirty="0"/>
                        <a:t>B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46548387"/>
                  </a:ext>
                </a:extLst>
              </a:tr>
            </a:tbl>
          </a:graphicData>
        </a:graphic>
      </p:graphicFrame>
      <p:sp>
        <p:nvSpPr>
          <p:cNvPr id="31" name="Down Arrow 30">
            <a:extLst>
              <a:ext uri="{FF2B5EF4-FFF2-40B4-BE49-F238E27FC236}">
                <a16:creationId xmlns:a16="http://schemas.microsoft.com/office/drawing/2014/main" id="{BAB64ECF-8C5F-DAFD-2725-B30F1D07E223}"/>
              </a:ext>
            </a:extLst>
          </p:cNvPr>
          <p:cNvSpPr/>
          <p:nvPr/>
        </p:nvSpPr>
        <p:spPr>
          <a:xfrm>
            <a:off x="3118797" y="2827208"/>
            <a:ext cx="351226" cy="361866"/>
          </a:xfrm>
          <a:prstGeom prst="downArrow">
            <a:avLst/>
          </a:prstGeom>
          <a:noFill/>
          <a:ln w="28575"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45720" rIns="45720" rtlCol="0" anchor="ctr"/>
          <a:lstStyle/>
          <a:p>
            <a:pPr algn="ctr"/>
            <a:endParaRPr lang="en-KR" dirty="0" err="1">
              <a:solidFill>
                <a:schemeClr val="tx1"/>
              </a:solidFill>
            </a:endParaRP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E7FBFDA1-92A8-7563-A700-ABD58A79817E}"/>
              </a:ext>
            </a:extLst>
          </p:cNvPr>
          <p:cNvCxnSpPr>
            <a:cxnSpLocks/>
            <a:stCxn id="19" idx="1"/>
            <a:endCxn id="8" idx="3"/>
          </p:cNvCxnSpPr>
          <p:nvPr/>
        </p:nvCxnSpPr>
        <p:spPr>
          <a:xfrm flipH="1" flipV="1">
            <a:off x="1848722" y="2166423"/>
            <a:ext cx="1270075" cy="620"/>
          </a:xfrm>
          <a:prstGeom prst="line">
            <a:avLst/>
          </a:prstGeom>
          <a:ln w="19050" cap="rnd">
            <a:solidFill>
              <a:schemeClr val="tx1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272F50AA-0337-36C5-44DF-F1C569968FA2}"/>
              </a:ext>
            </a:extLst>
          </p:cNvPr>
          <p:cNvSpPr txBox="1"/>
          <p:nvPr/>
        </p:nvSpPr>
        <p:spPr>
          <a:xfrm>
            <a:off x="609600" y="2027923"/>
            <a:ext cx="1239122" cy="276999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pPr algn="l"/>
            <a:r>
              <a:rPr lang="en-KR" sz="1200" dirty="0"/>
              <a:t>KV of token &lt;M&gt;  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A3DFAAB1-4677-3FF8-CB7A-B02F3C9E2F5F}"/>
              </a:ext>
            </a:extLst>
          </p:cNvPr>
          <p:cNvCxnSpPr>
            <a:cxnSpLocks/>
            <a:stCxn id="31" idx="1"/>
            <a:endCxn id="17" idx="3"/>
          </p:cNvCxnSpPr>
          <p:nvPr/>
        </p:nvCxnSpPr>
        <p:spPr>
          <a:xfrm flipH="1" flipV="1">
            <a:off x="1848722" y="3002821"/>
            <a:ext cx="1270075" cy="10640"/>
          </a:xfrm>
          <a:prstGeom prst="line">
            <a:avLst/>
          </a:prstGeom>
          <a:ln w="19050" cap="rnd">
            <a:solidFill>
              <a:schemeClr val="tx1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F1946A08-4407-0F79-7AC8-6413DF840274}"/>
              </a:ext>
            </a:extLst>
          </p:cNvPr>
          <p:cNvSpPr txBox="1"/>
          <p:nvPr/>
        </p:nvSpPr>
        <p:spPr>
          <a:xfrm>
            <a:off x="609600" y="2864321"/>
            <a:ext cx="1239122" cy="276999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pPr algn="l"/>
            <a:r>
              <a:rPr lang="en-KR" sz="1200" dirty="0"/>
              <a:t>KV of token &lt;M&gt; 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CCE1592E-0F04-AF2A-0B71-FEE298171A75}"/>
                  </a:ext>
                </a:extLst>
              </p:cNvPr>
              <p:cNvSpPr txBox="1"/>
              <p:nvPr/>
            </p:nvSpPr>
            <p:spPr>
              <a:xfrm>
                <a:off x="1001534" y="2399955"/>
                <a:ext cx="230832" cy="369332"/>
              </a:xfrm>
              <a:prstGeom prst="rect">
                <a:avLst/>
              </a:prstGeom>
              <a:noFill/>
            </p:spPr>
            <p:txBody>
              <a:bodyPr wrap="none" lIns="0" rIns="0" rtlCol="0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KR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≠</m:t>
                      </m:r>
                    </m:oMath>
                  </m:oMathPara>
                </a14:m>
                <a:endParaRPr lang="en-KR" dirty="0"/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CCE1592E-0F04-AF2A-0B71-FEE298171A7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01534" y="2399955"/>
                <a:ext cx="230832" cy="369332"/>
              </a:xfrm>
              <a:prstGeom prst="rect">
                <a:avLst/>
              </a:prstGeom>
              <a:blipFill>
                <a:blip r:embed="rId2"/>
                <a:stretch>
                  <a:fillRect l="-15789" r="-15789"/>
                </a:stretch>
              </a:blipFill>
            </p:spPr>
            <p:txBody>
              <a:bodyPr/>
              <a:lstStyle/>
              <a:p>
                <a:r>
                  <a:rPr lang="en-K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1" name="TextBox 20">
            <a:extLst>
              <a:ext uri="{FF2B5EF4-FFF2-40B4-BE49-F238E27FC236}">
                <a16:creationId xmlns:a16="http://schemas.microsoft.com/office/drawing/2014/main" id="{98C70539-D241-9AA4-1930-FD3A9A334C8B}"/>
              </a:ext>
            </a:extLst>
          </p:cNvPr>
          <p:cNvSpPr txBox="1"/>
          <p:nvPr/>
        </p:nvSpPr>
        <p:spPr>
          <a:xfrm>
            <a:off x="4544025" y="3924048"/>
            <a:ext cx="59312" cy="923330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pPr algn="l"/>
            <a:r>
              <a:rPr lang="en-KR" dirty="0"/>
              <a:t>.</a:t>
            </a:r>
          </a:p>
          <a:p>
            <a:pPr algn="l"/>
            <a:r>
              <a:rPr lang="en-KR" dirty="0"/>
              <a:t>.</a:t>
            </a:r>
          </a:p>
          <a:p>
            <a:pPr algn="l"/>
            <a:r>
              <a:rPr lang="en-KR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52174899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1473FC-54F8-7F43-F7E5-1DE4D6B878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EEEC9B2-5941-58B4-580E-70050FB2880D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EB4B8DE2-A4E8-46E4-8BBF-D75455EFF32C}" type="slidenum">
              <a:rPr lang="en-US" smtClean="0"/>
              <a:pPr/>
              <a:t>13</a:t>
            </a:fld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0D88D7B-4AE0-7C01-77FB-5029D6F267F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KR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C83FF221-BB3E-212C-4AEE-3A519AB3AAAB}"/>
              </a:ext>
            </a:extLst>
          </p:cNvPr>
          <p:cNvGraphicFramePr>
            <a:graphicFrameLocks noGrp="1"/>
          </p:cNvGraphicFramePr>
          <p:nvPr/>
        </p:nvGraphicFramePr>
        <p:xfrm>
          <a:off x="2032000" y="719666"/>
          <a:ext cx="5083362" cy="3708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47227">
                  <a:extLst>
                    <a:ext uri="{9D8B030D-6E8A-4147-A177-3AD203B41FA5}">
                      <a16:colId xmlns:a16="http://schemas.microsoft.com/office/drawing/2014/main" val="2725002957"/>
                    </a:ext>
                  </a:extLst>
                </a:gridCol>
                <a:gridCol w="847227">
                  <a:extLst>
                    <a:ext uri="{9D8B030D-6E8A-4147-A177-3AD203B41FA5}">
                      <a16:colId xmlns:a16="http://schemas.microsoft.com/office/drawing/2014/main" val="2967591184"/>
                    </a:ext>
                  </a:extLst>
                </a:gridCol>
                <a:gridCol w="847227">
                  <a:extLst>
                    <a:ext uri="{9D8B030D-6E8A-4147-A177-3AD203B41FA5}">
                      <a16:colId xmlns:a16="http://schemas.microsoft.com/office/drawing/2014/main" val="3465237977"/>
                    </a:ext>
                  </a:extLst>
                </a:gridCol>
                <a:gridCol w="847227">
                  <a:extLst>
                    <a:ext uri="{9D8B030D-6E8A-4147-A177-3AD203B41FA5}">
                      <a16:colId xmlns:a16="http://schemas.microsoft.com/office/drawing/2014/main" val="4043266946"/>
                    </a:ext>
                  </a:extLst>
                </a:gridCol>
                <a:gridCol w="847227">
                  <a:extLst>
                    <a:ext uri="{9D8B030D-6E8A-4147-A177-3AD203B41FA5}">
                      <a16:colId xmlns:a16="http://schemas.microsoft.com/office/drawing/2014/main" val="758914307"/>
                    </a:ext>
                  </a:extLst>
                </a:gridCol>
                <a:gridCol w="847227">
                  <a:extLst>
                    <a:ext uri="{9D8B030D-6E8A-4147-A177-3AD203B41FA5}">
                      <a16:colId xmlns:a16="http://schemas.microsoft.com/office/drawing/2014/main" val="209698160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KR" dirty="0"/>
                        <a:t>P</a:t>
                      </a:r>
                    </a:p>
                  </a:txBody>
                  <a:tcPr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KR" dirty="0"/>
                        <a:t>R</a:t>
                      </a:r>
                    </a:p>
                  </a:txBody>
                  <a:tcPr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KR" dirty="0"/>
                        <a:t>&lt;M&gt;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KR" dirty="0"/>
                        <a:t>&lt;M&gt;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KR" dirty="0"/>
                        <a:t>&lt;M&gt;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KR" dirty="0"/>
                        <a:t>&lt;M&gt;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46548387"/>
                  </a:ext>
                </a:extLst>
              </a:tr>
            </a:tbl>
          </a:graphicData>
        </a:graphic>
      </p:graphicFrame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E29A43AA-1601-90D0-F07F-75FEEEB7A550}"/>
              </a:ext>
            </a:extLst>
          </p:cNvPr>
          <p:cNvGraphicFramePr>
            <a:graphicFrameLocks noGrp="1"/>
          </p:cNvGraphicFramePr>
          <p:nvPr/>
        </p:nvGraphicFramePr>
        <p:xfrm>
          <a:off x="2032000" y="1560764"/>
          <a:ext cx="5083362" cy="3708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47227">
                  <a:extLst>
                    <a:ext uri="{9D8B030D-6E8A-4147-A177-3AD203B41FA5}">
                      <a16:colId xmlns:a16="http://schemas.microsoft.com/office/drawing/2014/main" val="2725002957"/>
                    </a:ext>
                  </a:extLst>
                </a:gridCol>
                <a:gridCol w="847227">
                  <a:extLst>
                    <a:ext uri="{9D8B030D-6E8A-4147-A177-3AD203B41FA5}">
                      <a16:colId xmlns:a16="http://schemas.microsoft.com/office/drawing/2014/main" val="2967591184"/>
                    </a:ext>
                  </a:extLst>
                </a:gridCol>
                <a:gridCol w="847227">
                  <a:extLst>
                    <a:ext uri="{9D8B030D-6E8A-4147-A177-3AD203B41FA5}">
                      <a16:colId xmlns:a16="http://schemas.microsoft.com/office/drawing/2014/main" val="3465237977"/>
                    </a:ext>
                  </a:extLst>
                </a:gridCol>
                <a:gridCol w="847227">
                  <a:extLst>
                    <a:ext uri="{9D8B030D-6E8A-4147-A177-3AD203B41FA5}">
                      <a16:colId xmlns:a16="http://schemas.microsoft.com/office/drawing/2014/main" val="4043266946"/>
                    </a:ext>
                  </a:extLst>
                </a:gridCol>
                <a:gridCol w="847227">
                  <a:extLst>
                    <a:ext uri="{9D8B030D-6E8A-4147-A177-3AD203B41FA5}">
                      <a16:colId xmlns:a16="http://schemas.microsoft.com/office/drawing/2014/main" val="758914307"/>
                    </a:ext>
                  </a:extLst>
                </a:gridCol>
                <a:gridCol w="847227">
                  <a:extLst>
                    <a:ext uri="{9D8B030D-6E8A-4147-A177-3AD203B41FA5}">
                      <a16:colId xmlns:a16="http://schemas.microsoft.com/office/drawing/2014/main" val="209698160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KR" dirty="0"/>
                        <a:t>P</a:t>
                      </a:r>
                    </a:p>
                  </a:txBody>
                  <a:tcPr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KR" dirty="0"/>
                        <a:t>R</a:t>
                      </a:r>
                    </a:p>
                  </a:txBody>
                  <a:tcPr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A</a:t>
                      </a:r>
                      <a:endParaRPr lang="en-K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KR" dirty="0"/>
                        <a:t>&lt;M&gt;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KR" dirty="0"/>
                        <a:t>&lt;M&gt;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KR" dirty="0"/>
                        <a:t>&lt;M&gt;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46548387"/>
                  </a:ext>
                </a:extLst>
              </a:tr>
            </a:tbl>
          </a:graphicData>
        </a:graphic>
      </p:graphicFrame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F57541D1-A69E-C954-5B1C-6EC3BD10934E}"/>
              </a:ext>
            </a:extLst>
          </p:cNvPr>
          <p:cNvGraphicFramePr>
            <a:graphicFrameLocks noGrp="1"/>
          </p:cNvGraphicFramePr>
          <p:nvPr/>
        </p:nvGraphicFramePr>
        <p:xfrm>
          <a:off x="2032000" y="2401862"/>
          <a:ext cx="5083362" cy="3708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47227">
                  <a:extLst>
                    <a:ext uri="{9D8B030D-6E8A-4147-A177-3AD203B41FA5}">
                      <a16:colId xmlns:a16="http://schemas.microsoft.com/office/drawing/2014/main" val="2725002957"/>
                    </a:ext>
                  </a:extLst>
                </a:gridCol>
                <a:gridCol w="847227">
                  <a:extLst>
                    <a:ext uri="{9D8B030D-6E8A-4147-A177-3AD203B41FA5}">
                      <a16:colId xmlns:a16="http://schemas.microsoft.com/office/drawing/2014/main" val="2967591184"/>
                    </a:ext>
                  </a:extLst>
                </a:gridCol>
                <a:gridCol w="847227">
                  <a:extLst>
                    <a:ext uri="{9D8B030D-6E8A-4147-A177-3AD203B41FA5}">
                      <a16:colId xmlns:a16="http://schemas.microsoft.com/office/drawing/2014/main" val="3465237977"/>
                    </a:ext>
                  </a:extLst>
                </a:gridCol>
                <a:gridCol w="847227">
                  <a:extLst>
                    <a:ext uri="{9D8B030D-6E8A-4147-A177-3AD203B41FA5}">
                      <a16:colId xmlns:a16="http://schemas.microsoft.com/office/drawing/2014/main" val="4043266946"/>
                    </a:ext>
                  </a:extLst>
                </a:gridCol>
                <a:gridCol w="847227">
                  <a:extLst>
                    <a:ext uri="{9D8B030D-6E8A-4147-A177-3AD203B41FA5}">
                      <a16:colId xmlns:a16="http://schemas.microsoft.com/office/drawing/2014/main" val="758914307"/>
                    </a:ext>
                  </a:extLst>
                </a:gridCol>
                <a:gridCol w="847227">
                  <a:extLst>
                    <a:ext uri="{9D8B030D-6E8A-4147-A177-3AD203B41FA5}">
                      <a16:colId xmlns:a16="http://schemas.microsoft.com/office/drawing/2014/main" val="209698160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KR" dirty="0"/>
                        <a:t>P</a:t>
                      </a:r>
                    </a:p>
                  </a:txBody>
                  <a:tcPr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KR" dirty="0"/>
                        <a:t>R</a:t>
                      </a:r>
                    </a:p>
                  </a:txBody>
                  <a:tcPr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A</a:t>
                      </a:r>
                      <a:endParaRPr lang="en-K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KR" dirty="0"/>
                        <a:t>&lt;M&gt;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&lt;M&gt;</a:t>
                      </a:r>
                      <a:endParaRPr lang="en-K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KR" dirty="0"/>
                        <a:t>B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46548387"/>
                  </a:ext>
                </a:extLst>
              </a:tr>
            </a:tbl>
          </a:graphicData>
        </a:graphic>
      </p:graphicFrame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F42249E5-1B63-6947-0BF6-05B98A4AF848}"/>
              </a:ext>
            </a:extLst>
          </p:cNvPr>
          <p:cNvCxnSpPr>
            <a:cxnSpLocks/>
          </p:cNvCxnSpPr>
          <p:nvPr/>
        </p:nvCxnSpPr>
        <p:spPr>
          <a:xfrm>
            <a:off x="9483115" y="719666"/>
            <a:ext cx="0" cy="5039237"/>
          </a:xfrm>
          <a:prstGeom prst="straightConnector1">
            <a:avLst/>
          </a:prstGeom>
          <a:ln w="19050" cap="rnd">
            <a:solidFill>
              <a:srgbClr val="FF0000"/>
            </a:solidFill>
            <a:round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ED48C27F-0DAF-C6B4-213A-4259806727D4}"/>
              </a:ext>
            </a:extLst>
          </p:cNvPr>
          <p:cNvSpPr txBox="1"/>
          <p:nvPr/>
        </p:nvSpPr>
        <p:spPr>
          <a:xfrm>
            <a:off x="9713224" y="719666"/>
            <a:ext cx="323807" cy="369332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pPr algn="l"/>
            <a:r>
              <a:rPr lang="en-US" dirty="0"/>
              <a:t>t=1</a:t>
            </a:r>
            <a:endParaRPr lang="en-KR" dirty="0" err="1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174B530-9967-1EA5-5487-45AEDE736C00}"/>
              </a:ext>
            </a:extLst>
          </p:cNvPr>
          <p:cNvSpPr txBox="1"/>
          <p:nvPr/>
        </p:nvSpPr>
        <p:spPr>
          <a:xfrm>
            <a:off x="9713224" y="5389571"/>
            <a:ext cx="360676" cy="369332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pPr algn="l"/>
            <a:r>
              <a:rPr lang="en-US" dirty="0"/>
              <a:t>t=0</a:t>
            </a:r>
            <a:endParaRPr lang="en-KR" dirty="0" err="1"/>
          </a:p>
        </p:txBody>
      </p:sp>
      <p:graphicFrame>
        <p:nvGraphicFramePr>
          <p:cNvPr id="16" name="Table 15">
            <a:extLst>
              <a:ext uri="{FF2B5EF4-FFF2-40B4-BE49-F238E27FC236}">
                <a16:creationId xmlns:a16="http://schemas.microsoft.com/office/drawing/2014/main" id="{604DFE6E-559D-4264-D312-EF90F3B137E8}"/>
              </a:ext>
            </a:extLst>
          </p:cNvPr>
          <p:cNvGraphicFramePr>
            <a:graphicFrameLocks noGrp="1"/>
          </p:cNvGraphicFramePr>
          <p:nvPr/>
        </p:nvGraphicFramePr>
        <p:xfrm>
          <a:off x="2032000" y="5288882"/>
          <a:ext cx="5083362" cy="3708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47227">
                  <a:extLst>
                    <a:ext uri="{9D8B030D-6E8A-4147-A177-3AD203B41FA5}">
                      <a16:colId xmlns:a16="http://schemas.microsoft.com/office/drawing/2014/main" val="2725002957"/>
                    </a:ext>
                  </a:extLst>
                </a:gridCol>
                <a:gridCol w="847227">
                  <a:extLst>
                    <a:ext uri="{9D8B030D-6E8A-4147-A177-3AD203B41FA5}">
                      <a16:colId xmlns:a16="http://schemas.microsoft.com/office/drawing/2014/main" val="2967591184"/>
                    </a:ext>
                  </a:extLst>
                </a:gridCol>
                <a:gridCol w="847227">
                  <a:extLst>
                    <a:ext uri="{9D8B030D-6E8A-4147-A177-3AD203B41FA5}">
                      <a16:colId xmlns:a16="http://schemas.microsoft.com/office/drawing/2014/main" val="3465237977"/>
                    </a:ext>
                  </a:extLst>
                </a:gridCol>
                <a:gridCol w="847227">
                  <a:extLst>
                    <a:ext uri="{9D8B030D-6E8A-4147-A177-3AD203B41FA5}">
                      <a16:colId xmlns:a16="http://schemas.microsoft.com/office/drawing/2014/main" val="4043266946"/>
                    </a:ext>
                  </a:extLst>
                </a:gridCol>
                <a:gridCol w="847227">
                  <a:extLst>
                    <a:ext uri="{9D8B030D-6E8A-4147-A177-3AD203B41FA5}">
                      <a16:colId xmlns:a16="http://schemas.microsoft.com/office/drawing/2014/main" val="758914307"/>
                    </a:ext>
                  </a:extLst>
                </a:gridCol>
                <a:gridCol w="847227">
                  <a:extLst>
                    <a:ext uri="{9D8B030D-6E8A-4147-A177-3AD203B41FA5}">
                      <a16:colId xmlns:a16="http://schemas.microsoft.com/office/drawing/2014/main" val="209698160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KR" dirty="0"/>
                        <a:t>P</a:t>
                      </a:r>
                    </a:p>
                  </a:txBody>
                  <a:tcPr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KR" dirty="0"/>
                        <a:t>R</a:t>
                      </a:r>
                    </a:p>
                  </a:txBody>
                  <a:tcPr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KR" dirty="0"/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KR" dirty="0"/>
                        <a:t>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KR" dirty="0"/>
                        <a:t>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KR" dirty="0"/>
                        <a:t>B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46548387"/>
                  </a:ext>
                </a:extLst>
              </a:tr>
            </a:tbl>
          </a:graphicData>
        </a:graphic>
      </p:graphicFrame>
      <p:sp>
        <p:nvSpPr>
          <p:cNvPr id="19" name="Down Arrow 18">
            <a:extLst>
              <a:ext uri="{FF2B5EF4-FFF2-40B4-BE49-F238E27FC236}">
                <a16:creationId xmlns:a16="http://schemas.microsoft.com/office/drawing/2014/main" id="{EE08AC49-06FF-721C-6FED-F37C512A7FE4}"/>
              </a:ext>
            </a:extLst>
          </p:cNvPr>
          <p:cNvSpPr/>
          <p:nvPr/>
        </p:nvSpPr>
        <p:spPr>
          <a:xfrm>
            <a:off x="3118797" y="1980790"/>
            <a:ext cx="351226" cy="361866"/>
          </a:xfrm>
          <a:prstGeom prst="downArrow">
            <a:avLst/>
          </a:prstGeom>
          <a:noFill/>
          <a:ln w="28575"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45720" rIns="45720" rtlCol="0" anchor="ctr"/>
          <a:lstStyle/>
          <a:p>
            <a:pPr algn="ctr"/>
            <a:endParaRPr lang="en-KR" dirty="0" err="1">
              <a:solidFill>
                <a:schemeClr val="tx1"/>
              </a:solidFill>
            </a:endParaRPr>
          </a:p>
        </p:txBody>
      </p:sp>
      <p:graphicFrame>
        <p:nvGraphicFramePr>
          <p:cNvPr id="29" name="Table 28">
            <a:extLst>
              <a:ext uri="{FF2B5EF4-FFF2-40B4-BE49-F238E27FC236}">
                <a16:creationId xmlns:a16="http://schemas.microsoft.com/office/drawing/2014/main" id="{3F78F977-EDE1-C5C9-8B92-AA4A8231AF0C}"/>
              </a:ext>
            </a:extLst>
          </p:cNvPr>
          <p:cNvGraphicFramePr>
            <a:graphicFrameLocks noGrp="1"/>
          </p:cNvGraphicFramePr>
          <p:nvPr/>
        </p:nvGraphicFramePr>
        <p:xfrm>
          <a:off x="2032000" y="3243580"/>
          <a:ext cx="5083362" cy="3708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47227">
                  <a:extLst>
                    <a:ext uri="{9D8B030D-6E8A-4147-A177-3AD203B41FA5}">
                      <a16:colId xmlns:a16="http://schemas.microsoft.com/office/drawing/2014/main" val="2725002957"/>
                    </a:ext>
                  </a:extLst>
                </a:gridCol>
                <a:gridCol w="847227">
                  <a:extLst>
                    <a:ext uri="{9D8B030D-6E8A-4147-A177-3AD203B41FA5}">
                      <a16:colId xmlns:a16="http://schemas.microsoft.com/office/drawing/2014/main" val="2967591184"/>
                    </a:ext>
                  </a:extLst>
                </a:gridCol>
                <a:gridCol w="847227">
                  <a:extLst>
                    <a:ext uri="{9D8B030D-6E8A-4147-A177-3AD203B41FA5}">
                      <a16:colId xmlns:a16="http://schemas.microsoft.com/office/drawing/2014/main" val="3465237977"/>
                    </a:ext>
                  </a:extLst>
                </a:gridCol>
                <a:gridCol w="847227">
                  <a:extLst>
                    <a:ext uri="{9D8B030D-6E8A-4147-A177-3AD203B41FA5}">
                      <a16:colId xmlns:a16="http://schemas.microsoft.com/office/drawing/2014/main" val="4043266946"/>
                    </a:ext>
                  </a:extLst>
                </a:gridCol>
                <a:gridCol w="847227">
                  <a:extLst>
                    <a:ext uri="{9D8B030D-6E8A-4147-A177-3AD203B41FA5}">
                      <a16:colId xmlns:a16="http://schemas.microsoft.com/office/drawing/2014/main" val="758914307"/>
                    </a:ext>
                  </a:extLst>
                </a:gridCol>
                <a:gridCol w="847227">
                  <a:extLst>
                    <a:ext uri="{9D8B030D-6E8A-4147-A177-3AD203B41FA5}">
                      <a16:colId xmlns:a16="http://schemas.microsoft.com/office/drawing/2014/main" val="209698160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KR" dirty="0"/>
                        <a:t>P</a:t>
                      </a:r>
                    </a:p>
                  </a:txBody>
                  <a:tcPr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KR" dirty="0"/>
                        <a:t>R</a:t>
                      </a:r>
                    </a:p>
                  </a:txBody>
                  <a:tcPr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A</a:t>
                      </a:r>
                      <a:endParaRPr lang="en-K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KR" dirty="0"/>
                        <a:t>&lt;M&gt;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C</a:t>
                      </a:r>
                      <a:endParaRPr lang="en-K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KR" dirty="0"/>
                        <a:t>B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46548387"/>
                  </a:ext>
                </a:extLst>
              </a:tr>
            </a:tbl>
          </a:graphicData>
        </a:graphic>
      </p:graphicFrame>
      <p:sp>
        <p:nvSpPr>
          <p:cNvPr id="31" name="Down Arrow 30">
            <a:extLst>
              <a:ext uri="{FF2B5EF4-FFF2-40B4-BE49-F238E27FC236}">
                <a16:creationId xmlns:a16="http://schemas.microsoft.com/office/drawing/2014/main" id="{1AB714DA-B48D-7BFE-B434-D021157212C2}"/>
              </a:ext>
            </a:extLst>
          </p:cNvPr>
          <p:cNvSpPr/>
          <p:nvPr/>
        </p:nvSpPr>
        <p:spPr>
          <a:xfrm>
            <a:off x="3118797" y="2827208"/>
            <a:ext cx="351226" cy="361866"/>
          </a:xfrm>
          <a:prstGeom prst="downArrow">
            <a:avLst/>
          </a:prstGeom>
          <a:noFill/>
          <a:ln w="28575"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45720" rIns="45720" rtlCol="0" anchor="ctr"/>
          <a:lstStyle/>
          <a:p>
            <a:pPr algn="ctr"/>
            <a:endParaRPr lang="en-KR" dirty="0" err="1">
              <a:solidFill>
                <a:schemeClr val="tx1"/>
              </a:solidFill>
            </a:endParaRP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FE5AC2D1-A18C-B7F2-8060-747EA5B444DD}"/>
              </a:ext>
            </a:extLst>
          </p:cNvPr>
          <p:cNvCxnSpPr>
            <a:cxnSpLocks/>
            <a:stCxn id="19" idx="1"/>
            <a:endCxn id="8" idx="3"/>
          </p:cNvCxnSpPr>
          <p:nvPr/>
        </p:nvCxnSpPr>
        <p:spPr>
          <a:xfrm flipH="1" flipV="1">
            <a:off x="1617889" y="2166423"/>
            <a:ext cx="1500908" cy="620"/>
          </a:xfrm>
          <a:prstGeom prst="line">
            <a:avLst/>
          </a:prstGeom>
          <a:ln w="19050" cap="rnd">
            <a:solidFill>
              <a:schemeClr val="tx1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0A49191D-335B-A702-F7C5-3A8F3800E6E3}"/>
              </a:ext>
            </a:extLst>
          </p:cNvPr>
          <p:cNvSpPr txBox="1"/>
          <p:nvPr/>
        </p:nvSpPr>
        <p:spPr>
          <a:xfrm>
            <a:off x="609600" y="2027923"/>
            <a:ext cx="1008289" cy="276999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pPr algn="l"/>
            <a:r>
              <a:rPr lang="en-KR" sz="1200" dirty="0"/>
              <a:t>KV of token R  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6EAC05AC-98D6-24E2-9421-C645B8020D51}"/>
              </a:ext>
            </a:extLst>
          </p:cNvPr>
          <p:cNvCxnSpPr>
            <a:cxnSpLocks/>
            <a:stCxn id="31" idx="1"/>
            <a:endCxn id="17" idx="3"/>
          </p:cNvCxnSpPr>
          <p:nvPr/>
        </p:nvCxnSpPr>
        <p:spPr>
          <a:xfrm flipH="1" flipV="1">
            <a:off x="1617889" y="3002821"/>
            <a:ext cx="1500908" cy="10640"/>
          </a:xfrm>
          <a:prstGeom prst="line">
            <a:avLst/>
          </a:prstGeom>
          <a:ln w="19050" cap="rnd">
            <a:solidFill>
              <a:schemeClr val="tx1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40506C53-06FA-E0B2-6798-13185ABB48BB}"/>
              </a:ext>
            </a:extLst>
          </p:cNvPr>
          <p:cNvSpPr txBox="1"/>
          <p:nvPr/>
        </p:nvSpPr>
        <p:spPr>
          <a:xfrm>
            <a:off x="609600" y="2864321"/>
            <a:ext cx="1008289" cy="276999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pPr algn="l"/>
            <a:r>
              <a:rPr lang="en-KR" sz="1200" dirty="0"/>
              <a:t>KV of token R 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94CCF0BB-212D-75DF-E9C3-3555D1E6C62F}"/>
                  </a:ext>
                </a:extLst>
              </p:cNvPr>
              <p:cNvSpPr txBox="1"/>
              <p:nvPr/>
            </p:nvSpPr>
            <p:spPr>
              <a:xfrm>
                <a:off x="1001534" y="2399955"/>
                <a:ext cx="230832" cy="369332"/>
              </a:xfrm>
              <a:prstGeom prst="rect">
                <a:avLst/>
              </a:prstGeom>
              <a:noFill/>
            </p:spPr>
            <p:txBody>
              <a:bodyPr wrap="none" lIns="0" rIns="0" rtlCol="0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KR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≠</m:t>
                      </m:r>
                    </m:oMath>
                  </m:oMathPara>
                </a14:m>
                <a:endParaRPr lang="en-KR" dirty="0"/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6353DDD4-3ED6-931A-F65E-7000EA36E11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01534" y="2399955"/>
                <a:ext cx="230832" cy="369332"/>
              </a:xfrm>
              <a:prstGeom prst="rect">
                <a:avLst/>
              </a:prstGeom>
              <a:blipFill>
                <a:blip r:embed="rId2"/>
                <a:stretch>
                  <a:fillRect l="-15789" r="-15789"/>
                </a:stretch>
              </a:blipFill>
            </p:spPr>
            <p:txBody>
              <a:bodyPr/>
              <a:lstStyle/>
              <a:p>
                <a:r>
                  <a:rPr lang="en-K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1" name="TextBox 20">
            <a:extLst>
              <a:ext uri="{FF2B5EF4-FFF2-40B4-BE49-F238E27FC236}">
                <a16:creationId xmlns:a16="http://schemas.microsoft.com/office/drawing/2014/main" id="{201F962C-623D-C239-9D30-FDC9719A6E05}"/>
              </a:ext>
            </a:extLst>
          </p:cNvPr>
          <p:cNvSpPr txBox="1"/>
          <p:nvPr/>
        </p:nvSpPr>
        <p:spPr>
          <a:xfrm>
            <a:off x="4544025" y="3924048"/>
            <a:ext cx="59312" cy="923330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pPr algn="l"/>
            <a:r>
              <a:rPr lang="en-KR" dirty="0"/>
              <a:t>.</a:t>
            </a:r>
          </a:p>
          <a:p>
            <a:pPr algn="l"/>
            <a:r>
              <a:rPr lang="en-KR" dirty="0"/>
              <a:t>.</a:t>
            </a:r>
          </a:p>
          <a:p>
            <a:pPr algn="l"/>
            <a:r>
              <a:rPr lang="en-KR" dirty="0"/>
              <a:t>.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C266E2C-37EC-D67A-B92C-023080F8D7F5}"/>
              </a:ext>
            </a:extLst>
          </p:cNvPr>
          <p:cNvSpPr txBox="1"/>
          <p:nvPr/>
        </p:nvSpPr>
        <p:spPr>
          <a:xfrm>
            <a:off x="326020" y="4195407"/>
            <a:ext cx="4765728" cy="523220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pPr algn="l"/>
            <a:r>
              <a:rPr lang="en-KR" sz="1400" dirty="0"/>
              <a:t>Input tokens(prompts) are fed as input, across all timesteps</a:t>
            </a:r>
          </a:p>
          <a:p>
            <a:pPr algn="l"/>
            <a:r>
              <a:rPr lang="en-KR" sz="1400" dirty="0"/>
              <a:t>There is no such thing as “prefill” or “KV caching”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CB064CED-075E-79C6-6097-80C8307FE82A}"/>
              </a:ext>
            </a:extLst>
          </p:cNvPr>
          <p:cNvSpPr/>
          <p:nvPr/>
        </p:nvSpPr>
        <p:spPr>
          <a:xfrm>
            <a:off x="6276141" y="1568411"/>
            <a:ext cx="887668" cy="37084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45720" rIns="45720" rtlCol="0" anchor="ctr"/>
          <a:lstStyle/>
          <a:p>
            <a:pPr algn="ctr"/>
            <a:endParaRPr lang="en-KR" dirty="0" err="1">
              <a:solidFill>
                <a:schemeClr val="tx1"/>
              </a:solidFill>
            </a:endParaRP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9F9B83FD-A581-8D9A-1F5B-D74911C07B09}"/>
              </a:ext>
            </a:extLst>
          </p:cNvPr>
          <p:cNvSpPr/>
          <p:nvPr/>
        </p:nvSpPr>
        <p:spPr>
          <a:xfrm>
            <a:off x="6276141" y="1564588"/>
            <a:ext cx="837301" cy="36639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45720" rIns="45720" rtlCol="0" anchor="ctr"/>
          <a:lstStyle/>
          <a:p>
            <a:pPr algn="ctr"/>
            <a:endParaRPr lang="en-KR" dirty="0" err="1">
              <a:solidFill>
                <a:schemeClr val="tx1"/>
              </a:solidFill>
            </a:endParaRP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13E92C4A-52C3-8B75-652C-094DDB9D5E35}"/>
              </a:ext>
            </a:extLst>
          </p:cNvPr>
          <p:cNvSpPr/>
          <p:nvPr/>
        </p:nvSpPr>
        <p:spPr>
          <a:xfrm>
            <a:off x="2874800" y="1560764"/>
            <a:ext cx="837301" cy="36639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45720" rIns="45720" rtlCol="0" anchor="ctr"/>
          <a:lstStyle/>
          <a:p>
            <a:pPr algn="ctr"/>
            <a:endParaRPr lang="en-KR" dirty="0" err="1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2645815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CB0CBF-2209-EE15-2018-E4749CB159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DEC30003-844B-23B7-4301-64733BE406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2718036"/>
            <a:ext cx="7823200" cy="1421928"/>
          </a:xfrm>
        </p:spPr>
        <p:txBody>
          <a:bodyPr/>
          <a:lstStyle/>
          <a:p>
            <a:r>
              <a:rPr lang="en-KR" dirty="0"/>
              <a:t>Semi-AR sampling</a:t>
            </a:r>
            <a:br>
              <a:rPr lang="en-KR" dirty="0"/>
            </a:br>
            <a:r>
              <a:rPr lang="en-KR" dirty="0"/>
              <a:t>&amp; approximate KV caching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7DDEDB5-E827-4A2B-34AA-B78D86D037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4B8DE2-A4E8-46E4-8BBF-D75455EFF32C}" type="slidenum">
              <a:rPr lang="en-US" smtClean="0"/>
              <a:pPr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941097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BBFCC7-29A9-7161-3E02-D13006790A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E92E3F0-3B94-A272-86F5-F26C33D52201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EB4B8DE2-A4E8-46E4-8BBF-D75455EFF32C}" type="slidenum">
              <a:rPr lang="en-US" smtClean="0"/>
              <a:pPr/>
              <a:t>15</a:t>
            </a:fld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BBF3778-563D-C3D9-2332-262FCE6BFC5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KR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FF1FAD59-FC4B-3431-69F0-2F2AF5ADE2F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91639474"/>
              </p:ext>
            </p:extLst>
          </p:nvPr>
        </p:nvGraphicFramePr>
        <p:xfrm>
          <a:off x="3981907" y="1095124"/>
          <a:ext cx="5083362" cy="3708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47227">
                  <a:extLst>
                    <a:ext uri="{9D8B030D-6E8A-4147-A177-3AD203B41FA5}">
                      <a16:colId xmlns:a16="http://schemas.microsoft.com/office/drawing/2014/main" val="2725002957"/>
                    </a:ext>
                  </a:extLst>
                </a:gridCol>
                <a:gridCol w="847227">
                  <a:extLst>
                    <a:ext uri="{9D8B030D-6E8A-4147-A177-3AD203B41FA5}">
                      <a16:colId xmlns:a16="http://schemas.microsoft.com/office/drawing/2014/main" val="2967591184"/>
                    </a:ext>
                  </a:extLst>
                </a:gridCol>
                <a:gridCol w="847227">
                  <a:extLst>
                    <a:ext uri="{9D8B030D-6E8A-4147-A177-3AD203B41FA5}">
                      <a16:colId xmlns:a16="http://schemas.microsoft.com/office/drawing/2014/main" val="3465237977"/>
                    </a:ext>
                  </a:extLst>
                </a:gridCol>
                <a:gridCol w="847227">
                  <a:extLst>
                    <a:ext uri="{9D8B030D-6E8A-4147-A177-3AD203B41FA5}">
                      <a16:colId xmlns:a16="http://schemas.microsoft.com/office/drawing/2014/main" val="4043266946"/>
                    </a:ext>
                  </a:extLst>
                </a:gridCol>
                <a:gridCol w="847227">
                  <a:extLst>
                    <a:ext uri="{9D8B030D-6E8A-4147-A177-3AD203B41FA5}">
                      <a16:colId xmlns:a16="http://schemas.microsoft.com/office/drawing/2014/main" val="758914307"/>
                    </a:ext>
                  </a:extLst>
                </a:gridCol>
                <a:gridCol w="847227">
                  <a:extLst>
                    <a:ext uri="{9D8B030D-6E8A-4147-A177-3AD203B41FA5}">
                      <a16:colId xmlns:a16="http://schemas.microsoft.com/office/drawing/2014/main" val="209698160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KR" dirty="0"/>
                        <a:t>&lt;M&gt;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KR" dirty="0"/>
                        <a:t>&lt;M&gt;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KR" dirty="0"/>
                        <a:t>&lt;M&gt;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KR" dirty="0"/>
                        <a:t>&lt;M&gt;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KR" dirty="0"/>
                        <a:t>&lt;M&gt;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KR" dirty="0"/>
                        <a:t>&lt;M&gt;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46548387"/>
                  </a:ext>
                </a:extLst>
              </a:tr>
            </a:tbl>
          </a:graphicData>
        </a:graphic>
      </p:graphicFrame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FDE6353A-7391-E8B1-0B04-9B9339EA63F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94105428"/>
              </p:ext>
            </p:extLst>
          </p:nvPr>
        </p:nvGraphicFramePr>
        <p:xfrm>
          <a:off x="3981907" y="1936222"/>
          <a:ext cx="5083362" cy="3708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47227">
                  <a:extLst>
                    <a:ext uri="{9D8B030D-6E8A-4147-A177-3AD203B41FA5}">
                      <a16:colId xmlns:a16="http://schemas.microsoft.com/office/drawing/2014/main" val="2725002957"/>
                    </a:ext>
                  </a:extLst>
                </a:gridCol>
                <a:gridCol w="847227">
                  <a:extLst>
                    <a:ext uri="{9D8B030D-6E8A-4147-A177-3AD203B41FA5}">
                      <a16:colId xmlns:a16="http://schemas.microsoft.com/office/drawing/2014/main" val="2967591184"/>
                    </a:ext>
                  </a:extLst>
                </a:gridCol>
                <a:gridCol w="847227">
                  <a:extLst>
                    <a:ext uri="{9D8B030D-6E8A-4147-A177-3AD203B41FA5}">
                      <a16:colId xmlns:a16="http://schemas.microsoft.com/office/drawing/2014/main" val="3465237977"/>
                    </a:ext>
                  </a:extLst>
                </a:gridCol>
                <a:gridCol w="847227">
                  <a:extLst>
                    <a:ext uri="{9D8B030D-6E8A-4147-A177-3AD203B41FA5}">
                      <a16:colId xmlns:a16="http://schemas.microsoft.com/office/drawing/2014/main" val="4043266946"/>
                    </a:ext>
                  </a:extLst>
                </a:gridCol>
                <a:gridCol w="847227">
                  <a:extLst>
                    <a:ext uri="{9D8B030D-6E8A-4147-A177-3AD203B41FA5}">
                      <a16:colId xmlns:a16="http://schemas.microsoft.com/office/drawing/2014/main" val="758914307"/>
                    </a:ext>
                  </a:extLst>
                </a:gridCol>
                <a:gridCol w="847227">
                  <a:extLst>
                    <a:ext uri="{9D8B030D-6E8A-4147-A177-3AD203B41FA5}">
                      <a16:colId xmlns:a16="http://schemas.microsoft.com/office/drawing/2014/main" val="209698160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KR" dirty="0"/>
                        <a:t>&lt;M&gt;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KR" dirty="0"/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&lt;M&gt;</a:t>
                      </a:r>
                      <a:endParaRPr lang="en-K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KR" dirty="0"/>
                        <a:t>&lt;M&gt;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KR" dirty="0"/>
                        <a:t>&lt;M&gt;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KR" dirty="0"/>
                        <a:t>&lt;M&gt;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46548387"/>
                  </a:ext>
                </a:extLst>
              </a:tr>
            </a:tbl>
          </a:graphicData>
        </a:graphic>
      </p:graphicFrame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EA971407-EA68-5D95-F4F7-B362B1BA59E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39443131"/>
              </p:ext>
            </p:extLst>
          </p:nvPr>
        </p:nvGraphicFramePr>
        <p:xfrm>
          <a:off x="3981907" y="2777320"/>
          <a:ext cx="5083362" cy="3708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47227">
                  <a:extLst>
                    <a:ext uri="{9D8B030D-6E8A-4147-A177-3AD203B41FA5}">
                      <a16:colId xmlns:a16="http://schemas.microsoft.com/office/drawing/2014/main" val="2725002957"/>
                    </a:ext>
                  </a:extLst>
                </a:gridCol>
                <a:gridCol w="847227">
                  <a:extLst>
                    <a:ext uri="{9D8B030D-6E8A-4147-A177-3AD203B41FA5}">
                      <a16:colId xmlns:a16="http://schemas.microsoft.com/office/drawing/2014/main" val="2967591184"/>
                    </a:ext>
                  </a:extLst>
                </a:gridCol>
                <a:gridCol w="847227">
                  <a:extLst>
                    <a:ext uri="{9D8B030D-6E8A-4147-A177-3AD203B41FA5}">
                      <a16:colId xmlns:a16="http://schemas.microsoft.com/office/drawing/2014/main" val="3465237977"/>
                    </a:ext>
                  </a:extLst>
                </a:gridCol>
                <a:gridCol w="847227">
                  <a:extLst>
                    <a:ext uri="{9D8B030D-6E8A-4147-A177-3AD203B41FA5}">
                      <a16:colId xmlns:a16="http://schemas.microsoft.com/office/drawing/2014/main" val="4043266946"/>
                    </a:ext>
                  </a:extLst>
                </a:gridCol>
                <a:gridCol w="847227">
                  <a:extLst>
                    <a:ext uri="{9D8B030D-6E8A-4147-A177-3AD203B41FA5}">
                      <a16:colId xmlns:a16="http://schemas.microsoft.com/office/drawing/2014/main" val="758914307"/>
                    </a:ext>
                  </a:extLst>
                </a:gridCol>
                <a:gridCol w="847227">
                  <a:extLst>
                    <a:ext uri="{9D8B030D-6E8A-4147-A177-3AD203B41FA5}">
                      <a16:colId xmlns:a16="http://schemas.microsoft.com/office/drawing/2014/main" val="209698160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KR" dirty="0"/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KR" dirty="0"/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&lt;M&gt;</a:t>
                      </a:r>
                      <a:endParaRPr lang="en-KR" dirty="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KR" dirty="0"/>
                        <a:t>&lt;M&gt;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&lt;M&gt;</a:t>
                      </a:r>
                      <a:endParaRPr lang="en-K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KR" dirty="0"/>
                        <a:t>&lt;M&gt;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46548387"/>
                  </a:ext>
                </a:extLst>
              </a:tr>
            </a:tbl>
          </a:graphicData>
        </a:graphic>
      </p:graphicFrame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73D1ED7D-ECC9-AD76-1351-5AB5B35C41F1}"/>
              </a:ext>
            </a:extLst>
          </p:cNvPr>
          <p:cNvCxnSpPr>
            <a:cxnSpLocks/>
          </p:cNvCxnSpPr>
          <p:nvPr/>
        </p:nvCxnSpPr>
        <p:spPr>
          <a:xfrm>
            <a:off x="9483115" y="963339"/>
            <a:ext cx="0" cy="5517632"/>
          </a:xfrm>
          <a:prstGeom prst="straightConnector1">
            <a:avLst/>
          </a:prstGeom>
          <a:ln w="19050" cap="rnd">
            <a:solidFill>
              <a:srgbClr val="FF0000"/>
            </a:solidFill>
            <a:round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94F2B8CB-59DD-B7AB-B31B-43044BAB6DD8}"/>
              </a:ext>
            </a:extLst>
          </p:cNvPr>
          <p:cNvSpPr txBox="1"/>
          <p:nvPr/>
        </p:nvSpPr>
        <p:spPr>
          <a:xfrm>
            <a:off x="9713224" y="942348"/>
            <a:ext cx="323807" cy="369332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pPr algn="l"/>
            <a:r>
              <a:rPr lang="en-US" dirty="0"/>
              <a:t>t=1</a:t>
            </a:r>
            <a:endParaRPr lang="en-KR" dirty="0" err="1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7A6E228-B0A6-7F63-08F9-347CD4A11E5E}"/>
              </a:ext>
            </a:extLst>
          </p:cNvPr>
          <p:cNvSpPr txBox="1"/>
          <p:nvPr/>
        </p:nvSpPr>
        <p:spPr>
          <a:xfrm>
            <a:off x="9713224" y="6116749"/>
            <a:ext cx="360676" cy="369332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pPr algn="l"/>
            <a:r>
              <a:rPr lang="en-US" dirty="0"/>
              <a:t>t=0</a:t>
            </a:r>
            <a:endParaRPr lang="en-KR" dirty="0" err="1"/>
          </a:p>
        </p:txBody>
      </p:sp>
      <p:graphicFrame>
        <p:nvGraphicFramePr>
          <p:cNvPr id="16" name="Table 15">
            <a:extLst>
              <a:ext uri="{FF2B5EF4-FFF2-40B4-BE49-F238E27FC236}">
                <a16:creationId xmlns:a16="http://schemas.microsoft.com/office/drawing/2014/main" id="{EC7664DF-37B3-38E9-E772-A1869814FFC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32871621"/>
              </p:ext>
            </p:extLst>
          </p:nvPr>
        </p:nvGraphicFramePr>
        <p:xfrm>
          <a:off x="3981907" y="5982963"/>
          <a:ext cx="5083362" cy="3708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47227">
                  <a:extLst>
                    <a:ext uri="{9D8B030D-6E8A-4147-A177-3AD203B41FA5}">
                      <a16:colId xmlns:a16="http://schemas.microsoft.com/office/drawing/2014/main" val="2725002957"/>
                    </a:ext>
                  </a:extLst>
                </a:gridCol>
                <a:gridCol w="847227">
                  <a:extLst>
                    <a:ext uri="{9D8B030D-6E8A-4147-A177-3AD203B41FA5}">
                      <a16:colId xmlns:a16="http://schemas.microsoft.com/office/drawing/2014/main" val="2967591184"/>
                    </a:ext>
                  </a:extLst>
                </a:gridCol>
                <a:gridCol w="847227">
                  <a:extLst>
                    <a:ext uri="{9D8B030D-6E8A-4147-A177-3AD203B41FA5}">
                      <a16:colId xmlns:a16="http://schemas.microsoft.com/office/drawing/2014/main" val="3465237977"/>
                    </a:ext>
                  </a:extLst>
                </a:gridCol>
                <a:gridCol w="847227">
                  <a:extLst>
                    <a:ext uri="{9D8B030D-6E8A-4147-A177-3AD203B41FA5}">
                      <a16:colId xmlns:a16="http://schemas.microsoft.com/office/drawing/2014/main" val="4043266946"/>
                    </a:ext>
                  </a:extLst>
                </a:gridCol>
                <a:gridCol w="847227">
                  <a:extLst>
                    <a:ext uri="{9D8B030D-6E8A-4147-A177-3AD203B41FA5}">
                      <a16:colId xmlns:a16="http://schemas.microsoft.com/office/drawing/2014/main" val="758914307"/>
                    </a:ext>
                  </a:extLst>
                </a:gridCol>
                <a:gridCol w="847227">
                  <a:extLst>
                    <a:ext uri="{9D8B030D-6E8A-4147-A177-3AD203B41FA5}">
                      <a16:colId xmlns:a16="http://schemas.microsoft.com/office/drawing/2014/main" val="209698160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KR"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KR" dirty="0"/>
                        <a:t>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KR" dirty="0"/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KR" dirty="0"/>
                        <a:t>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KR" dirty="0"/>
                        <a:t>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KR" dirty="0"/>
                        <a:t>B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46548387"/>
                  </a:ext>
                </a:extLst>
              </a:tr>
            </a:tbl>
          </a:graphicData>
        </a:graphic>
      </p:graphicFrame>
      <p:graphicFrame>
        <p:nvGraphicFramePr>
          <p:cNvPr id="29" name="Table 28">
            <a:extLst>
              <a:ext uri="{FF2B5EF4-FFF2-40B4-BE49-F238E27FC236}">
                <a16:creationId xmlns:a16="http://schemas.microsoft.com/office/drawing/2014/main" id="{C9262C61-E7EA-845C-7EE8-EA3CB28CCD4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01009457"/>
              </p:ext>
            </p:extLst>
          </p:nvPr>
        </p:nvGraphicFramePr>
        <p:xfrm>
          <a:off x="3981907" y="3619038"/>
          <a:ext cx="5083362" cy="3708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47227">
                  <a:extLst>
                    <a:ext uri="{9D8B030D-6E8A-4147-A177-3AD203B41FA5}">
                      <a16:colId xmlns:a16="http://schemas.microsoft.com/office/drawing/2014/main" val="2725002957"/>
                    </a:ext>
                  </a:extLst>
                </a:gridCol>
                <a:gridCol w="847227">
                  <a:extLst>
                    <a:ext uri="{9D8B030D-6E8A-4147-A177-3AD203B41FA5}">
                      <a16:colId xmlns:a16="http://schemas.microsoft.com/office/drawing/2014/main" val="2967591184"/>
                    </a:ext>
                  </a:extLst>
                </a:gridCol>
                <a:gridCol w="847227">
                  <a:extLst>
                    <a:ext uri="{9D8B030D-6E8A-4147-A177-3AD203B41FA5}">
                      <a16:colId xmlns:a16="http://schemas.microsoft.com/office/drawing/2014/main" val="3465237977"/>
                    </a:ext>
                  </a:extLst>
                </a:gridCol>
                <a:gridCol w="847227">
                  <a:extLst>
                    <a:ext uri="{9D8B030D-6E8A-4147-A177-3AD203B41FA5}">
                      <a16:colId xmlns:a16="http://schemas.microsoft.com/office/drawing/2014/main" val="4043266946"/>
                    </a:ext>
                  </a:extLst>
                </a:gridCol>
                <a:gridCol w="847227">
                  <a:extLst>
                    <a:ext uri="{9D8B030D-6E8A-4147-A177-3AD203B41FA5}">
                      <a16:colId xmlns:a16="http://schemas.microsoft.com/office/drawing/2014/main" val="758914307"/>
                    </a:ext>
                  </a:extLst>
                </a:gridCol>
                <a:gridCol w="847227">
                  <a:extLst>
                    <a:ext uri="{9D8B030D-6E8A-4147-A177-3AD203B41FA5}">
                      <a16:colId xmlns:a16="http://schemas.microsoft.com/office/drawing/2014/main" val="209698160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KR" dirty="0"/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KR" dirty="0"/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C</a:t>
                      </a:r>
                      <a:endParaRPr lang="en-K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KR" dirty="0"/>
                        <a:t>&lt;M&gt;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&lt;M&gt;</a:t>
                      </a:r>
                      <a:endParaRPr lang="en-K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KR" dirty="0"/>
                        <a:t>&lt;M&gt;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46548387"/>
                  </a:ext>
                </a:extLst>
              </a:tr>
            </a:tbl>
          </a:graphicData>
        </a:graphic>
      </p:graphicFrame>
      <p:sp>
        <p:nvSpPr>
          <p:cNvPr id="32" name="TextBox 31">
            <a:extLst>
              <a:ext uri="{FF2B5EF4-FFF2-40B4-BE49-F238E27FC236}">
                <a16:creationId xmlns:a16="http://schemas.microsoft.com/office/drawing/2014/main" id="{28549C31-26E9-14B0-4B53-3E932EC273D0}"/>
              </a:ext>
            </a:extLst>
          </p:cNvPr>
          <p:cNvSpPr txBox="1"/>
          <p:nvPr/>
        </p:nvSpPr>
        <p:spPr>
          <a:xfrm>
            <a:off x="6493932" y="4915334"/>
            <a:ext cx="59312" cy="923330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pPr algn="l"/>
            <a:r>
              <a:rPr lang="en-KR" dirty="0"/>
              <a:t>.</a:t>
            </a:r>
          </a:p>
          <a:p>
            <a:pPr algn="l"/>
            <a:r>
              <a:rPr lang="en-KR" dirty="0"/>
              <a:t>.</a:t>
            </a:r>
          </a:p>
          <a:p>
            <a:pPr algn="l"/>
            <a:r>
              <a:rPr lang="en-KR" dirty="0"/>
              <a:t>.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2208A451-04CA-C0DC-697F-419C55749A7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22290033"/>
              </p:ext>
            </p:extLst>
          </p:nvPr>
        </p:nvGraphicFramePr>
        <p:xfrm>
          <a:off x="3981907" y="4460756"/>
          <a:ext cx="5083362" cy="3657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47227">
                  <a:extLst>
                    <a:ext uri="{9D8B030D-6E8A-4147-A177-3AD203B41FA5}">
                      <a16:colId xmlns:a16="http://schemas.microsoft.com/office/drawing/2014/main" val="2725002957"/>
                    </a:ext>
                  </a:extLst>
                </a:gridCol>
                <a:gridCol w="847227">
                  <a:extLst>
                    <a:ext uri="{9D8B030D-6E8A-4147-A177-3AD203B41FA5}">
                      <a16:colId xmlns:a16="http://schemas.microsoft.com/office/drawing/2014/main" val="2967591184"/>
                    </a:ext>
                  </a:extLst>
                </a:gridCol>
                <a:gridCol w="847227">
                  <a:extLst>
                    <a:ext uri="{9D8B030D-6E8A-4147-A177-3AD203B41FA5}">
                      <a16:colId xmlns:a16="http://schemas.microsoft.com/office/drawing/2014/main" val="3465237977"/>
                    </a:ext>
                  </a:extLst>
                </a:gridCol>
                <a:gridCol w="847227">
                  <a:extLst>
                    <a:ext uri="{9D8B030D-6E8A-4147-A177-3AD203B41FA5}">
                      <a16:colId xmlns:a16="http://schemas.microsoft.com/office/drawing/2014/main" val="4043266946"/>
                    </a:ext>
                  </a:extLst>
                </a:gridCol>
                <a:gridCol w="847227">
                  <a:extLst>
                    <a:ext uri="{9D8B030D-6E8A-4147-A177-3AD203B41FA5}">
                      <a16:colId xmlns:a16="http://schemas.microsoft.com/office/drawing/2014/main" val="758914307"/>
                    </a:ext>
                  </a:extLst>
                </a:gridCol>
                <a:gridCol w="847227">
                  <a:extLst>
                    <a:ext uri="{9D8B030D-6E8A-4147-A177-3AD203B41FA5}">
                      <a16:colId xmlns:a16="http://schemas.microsoft.com/office/drawing/2014/main" val="2096981608"/>
                    </a:ext>
                  </a:extLst>
                </a:gridCol>
              </a:tblGrid>
              <a:tr h="335304">
                <a:tc>
                  <a:txBody>
                    <a:bodyPr/>
                    <a:lstStyle/>
                    <a:p>
                      <a:pPr algn="ctr"/>
                      <a:r>
                        <a:rPr lang="en-KR" dirty="0"/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KR" dirty="0"/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C</a:t>
                      </a:r>
                      <a:endParaRPr lang="en-K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KR" dirty="0"/>
                        <a:t>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&lt;M&gt;</a:t>
                      </a:r>
                      <a:endParaRPr lang="en-KR" dirty="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KR" dirty="0"/>
                        <a:t>&lt;M&gt;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46548387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E4949B27-AA06-D424-87E7-632C9EC667F4}"/>
              </a:ext>
            </a:extLst>
          </p:cNvPr>
          <p:cNvSpPr txBox="1"/>
          <p:nvPr/>
        </p:nvSpPr>
        <p:spPr>
          <a:xfrm>
            <a:off x="4608328" y="703384"/>
            <a:ext cx="442429" cy="261610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pPr algn="l"/>
            <a:r>
              <a:rPr lang="en-KR" sz="1100" dirty="0"/>
              <a:t>Block 1</a:t>
            </a:r>
          </a:p>
        </p:txBody>
      </p:sp>
      <p:sp>
        <p:nvSpPr>
          <p:cNvPr id="10" name="Right Brace 9">
            <a:extLst>
              <a:ext uri="{FF2B5EF4-FFF2-40B4-BE49-F238E27FC236}">
                <a16:creationId xmlns:a16="http://schemas.microsoft.com/office/drawing/2014/main" id="{964F0F88-E37E-8877-13C8-C6BB3F457E01}"/>
              </a:ext>
            </a:extLst>
          </p:cNvPr>
          <p:cNvSpPr/>
          <p:nvPr/>
        </p:nvSpPr>
        <p:spPr>
          <a:xfrm rot="16200000">
            <a:off x="4753070" y="155903"/>
            <a:ext cx="128106" cy="1665552"/>
          </a:xfrm>
          <a:prstGeom prst="rightBrace">
            <a:avLst/>
          </a:prstGeom>
          <a:ln w="19050" cap="rnd">
            <a:solidFill>
              <a:schemeClr val="tx1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KR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AC71B94-5E68-38CC-8FEA-A29E6A5B3E17}"/>
              </a:ext>
            </a:extLst>
          </p:cNvPr>
          <p:cNvSpPr txBox="1"/>
          <p:nvPr/>
        </p:nvSpPr>
        <p:spPr>
          <a:xfrm>
            <a:off x="6332029" y="2356555"/>
            <a:ext cx="463268" cy="261610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pPr algn="l"/>
            <a:r>
              <a:rPr lang="en-KR" sz="1100" dirty="0"/>
              <a:t>Block 2</a:t>
            </a:r>
          </a:p>
        </p:txBody>
      </p:sp>
      <p:sp>
        <p:nvSpPr>
          <p:cNvPr id="15" name="Right Brace 14">
            <a:extLst>
              <a:ext uri="{FF2B5EF4-FFF2-40B4-BE49-F238E27FC236}">
                <a16:creationId xmlns:a16="http://schemas.microsoft.com/office/drawing/2014/main" id="{225503B5-1BF5-2DB6-2D10-DF41B6FD71FF}"/>
              </a:ext>
            </a:extLst>
          </p:cNvPr>
          <p:cNvSpPr/>
          <p:nvPr/>
        </p:nvSpPr>
        <p:spPr>
          <a:xfrm rot="16200000">
            <a:off x="6476771" y="1809074"/>
            <a:ext cx="128106" cy="1665552"/>
          </a:xfrm>
          <a:prstGeom prst="rightBrace">
            <a:avLst/>
          </a:prstGeom>
          <a:ln w="19050" cap="rnd">
            <a:solidFill>
              <a:schemeClr val="tx1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KR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B4FC54F-9D09-FF64-9CF3-2A1A7A9DB2EE}"/>
              </a:ext>
            </a:extLst>
          </p:cNvPr>
          <p:cNvSpPr txBox="1"/>
          <p:nvPr/>
        </p:nvSpPr>
        <p:spPr>
          <a:xfrm>
            <a:off x="7997581" y="4057684"/>
            <a:ext cx="466474" cy="261610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pPr algn="l"/>
            <a:r>
              <a:rPr lang="en-KR" sz="1100" dirty="0"/>
              <a:t>Block 3</a:t>
            </a:r>
          </a:p>
        </p:txBody>
      </p:sp>
      <p:sp>
        <p:nvSpPr>
          <p:cNvPr id="20" name="Right Brace 19">
            <a:extLst>
              <a:ext uri="{FF2B5EF4-FFF2-40B4-BE49-F238E27FC236}">
                <a16:creationId xmlns:a16="http://schemas.microsoft.com/office/drawing/2014/main" id="{C859667B-79C2-6818-13FB-7526EC99E28C}"/>
              </a:ext>
            </a:extLst>
          </p:cNvPr>
          <p:cNvSpPr/>
          <p:nvPr/>
        </p:nvSpPr>
        <p:spPr>
          <a:xfrm rot="16200000">
            <a:off x="8142323" y="3510203"/>
            <a:ext cx="128106" cy="1665552"/>
          </a:xfrm>
          <a:prstGeom prst="rightBrace">
            <a:avLst/>
          </a:prstGeom>
          <a:ln w="19050" cap="rnd">
            <a:solidFill>
              <a:schemeClr val="tx1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KR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61E9B28A-6FCF-287F-5FE4-D9706DDFDF98}"/>
              </a:ext>
            </a:extLst>
          </p:cNvPr>
          <p:cNvSpPr txBox="1"/>
          <p:nvPr/>
        </p:nvSpPr>
        <p:spPr>
          <a:xfrm>
            <a:off x="379486" y="1056457"/>
            <a:ext cx="3273332" cy="2031325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pPr algn="l"/>
            <a:r>
              <a:rPr lang="en-KR" dirty="0"/>
              <a:t>Introducing semi-AR sampling:</a:t>
            </a:r>
          </a:p>
          <a:p>
            <a:pPr algn="l"/>
            <a:endParaRPr lang="en-KR" dirty="0"/>
          </a:p>
          <a:p>
            <a:pPr algn="l"/>
            <a:r>
              <a:rPr lang="en-KR" dirty="0"/>
              <a:t>Only the tokens in current block</a:t>
            </a:r>
          </a:p>
          <a:p>
            <a:pPr algn="l"/>
            <a:r>
              <a:rPr lang="en-US" dirty="0"/>
              <a:t>c</a:t>
            </a:r>
            <a:r>
              <a:rPr lang="en-KR" dirty="0"/>
              <a:t>an be unmasked.</a:t>
            </a:r>
          </a:p>
          <a:p>
            <a:pPr algn="l"/>
            <a:endParaRPr lang="en-KR" dirty="0"/>
          </a:p>
          <a:p>
            <a:pPr algn="l"/>
            <a:endParaRPr lang="en-KR" dirty="0"/>
          </a:p>
          <a:p>
            <a:pPr algn="l"/>
            <a:endParaRPr lang="en-KR" dirty="0"/>
          </a:p>
        </p:txBody>
      </p:sp>
    </p:spTree>
    <p:extLst>
      <p:ext uri="{BB962C8B-B14F-4D97-AF65-F5344CB8AC3E}">
        <p14:creationId xmlns:p14="http://schemas.microsoft.com/office/powerpoint/2010/main" val="211712183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2615FC-835F-5CA8-C9CB-08C99597DE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100DDA9-573A-AC50-2FDA-CDAF0B326962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EB4B8DE2-A4E8-46E4-8BBF-D75455EFF32C}" type="slidenum">
              <a:rPr lang="en-US" smtClean="0"/>
              <a:pPr/>
              <a:t>16</a:t>
            </a:fld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9DC6544-85D7-52C5-FF94-4C51EC8AF25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KR"/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738C3CC6-2088-F548-EDBD-ABA5CE1BC56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35069768"/>
              </p:ext>
            </p:extLst>
          </p:nvPr>
        </p:nvGraphicFramePr>
        <p:xfrm>
          <a:off x="3554319" y="1007925"/>
          <a:ext cx="5083362" cy="3708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47227">
                  <a:extLst>
                    <a:ext uri="{9D8B030D-6E8A-4147-A177-3AD203B41FA5}">
                      <a16:colId xmlns:a16="http://schemas.microsoft.com/office/drawing/2014/main" val="2725002957"/>
                    </a:ext>
                  </a:extLst>
                </a:gridCol>
                <a:gridCol w="847227">
                  <a:extLst>
                    <a:ext uri="{9D8B030D-6E8A-4147-A177-3AD203B41FA5}">
                      <a16:colId xmlns:a16="http://schemas.microsoft.com/office/drawing/2014/main" val="2967591184"/>
                    </a:ext>
                  </a:extLst>
                </a:gridCol>
                <a:gridCol w="847227">
                  <a:extLst>
                    <a:ext uri="{9D8B030D-6E8A-4147-A177-3AD203B41FA5}">
                      <a16:colId xmlns:a16="http://schemas.microsoft.com/office/drawing/2014/main" val="3465237977"/>
                    </a:ext>
                  </a:extLst>
                </a:gridCol>
                <a:gridCol w="847227">
                  <a:extLst>
                    <a:ext uri="{9D8B030D-6E8A-4147-A177-3AD203B41FA5}">
                      <a16:colId xmlns:a16="http://schemas.microsoft.com/office/drawing/2014/main" val="4043266946"/>
                    </a:ext>
                  </a:extLst>
                </a:gridCol>
                <a:gridCol w="847227">
                  <a:extLst>
                    <a:ext uri="{9D8B030D-6E8A-4147-A177-3AD203B41FA5}">
                      <a16:colId xmlns:a16="http://schemas.microsoft.com/office/drawing/2014/main" val="758914307"/>
                    </a:ext>
                  </a:extLst>
                </a:gridCol>
                <a:gridCol w="847227">
                  <a:extLst>
                    <a:ext uri="{9D8B030D-6E8A-4147-A177-3AD203B41FA5}">
                      <a16:colId xmlns:a16="http://schemas.microsoft.com/office/drawing/2014/main" val="209698160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KR" dirty="0"/>
                        <a:t>&lt;M&gt;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KR" dirty="0"/>
                        <a:t>&lt;M&gt;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&lt;M&gt;</a:t>
                      </a:r>
                      <a:endParaRPr lang="en-K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KR" dirty="0"/>
                        <a:t>&lt;M&gt;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KR" dirty="0"/>
                        <a:t>&lt;M&gt;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KR" dirty="0"/>
                        <a:t>&lt;M&gt;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46548387"/>
                  </a:ext>
                </a:extLst>
              </a:tr>
            </a:tbl>
          </a:graphicData>
        </a:graphic>
      </p:graphicFrame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9D1D23ED-6686-431A-235A-868A06E6555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42796781"/>
              </p:ext>
            </p:extLst>
          </p:nvPr>
        </p:nvGraphicFramePr>
        <p:xfrm>
          <a:off x="3554319" y="5204151"/>
          <a:ext cx="5083362" cy="3708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47227">
                  <a:extLst>
                    <a:ext uri="{9D8B030D-6E8A-4147-A177-3AD203B41FA5}">
                      <a16:colId xmlns:a16="http://schemas.microsoft.com/office/drawing/2014/main" val="2725002957"/>
                    </a:ext>
                  </a:extLst>
                </a:gridCol>
                <a:gridCol w="847227">
                  <a:extLst>
                    <a:ext uri="{9D8B030D-6E8A-4147-A177-3AD203B41FA5}">
                      <a16:colId xmlns:a16="http://schemas.microsoft.com/office/drawing/2014/main" val="2967591184"/>
                    </a:ext>
                  </a:extLst>
                </a:gridCol>
                <a:gridCol w="847227">
                  <a:extLst>
                    <a:ext uri="{9D8B030D-6E8A-4147-A177-3AD203B41FA5}">
                      <a16:colId xmlns:a16="http://schemas.microsoft.com/office/drawing/2014/main" val="3465237977"/>
                    </a:ext>
                  </a:extLst>
                </a:gridCol>
                <a:gridCol w="847227">
                  <a:extLst>
                    <a:ext uri="{9D8B030D-6E8A-4147-A177-3AD203B41FA5}">
                      <a16:colId xmlns:a16="http://schemas.microsoft.com/office/drawing/2014/main" val="4043266946"/>
                    </a:ext>
                  </a:extLst>
                </a:gridCol>
                <a:gridCol w="847227">
                  <a:extLst>
                    <a:ext uri="{9D8B030D-6E8A-4147-A177-3AD203B41FA5}">
                      <a16:colId xmlns:a16="http://schemas.microsoft.com/office/drawing/2014/main" val="758914307"/>
                    </a:ext>
                  </a:extLst>
                </a:gridCol>
                <a:gridCol w="847227">
                  <a:extLst>
                    <a:ext uri="{9D8B030D-6E8A-4147-A177-3AD203B41FA5}">
                      <a16:colId xmlns:a16="http://schemas.microsoft.com/office/drawing/2014/main" val="209698160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KR" dirty="0"/>
                        <a:t>&lt;M&gt;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KR" dirty="0"/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&lt;M&gt;</a:t>
                      </a:r>
                      <a:endParaRPr lang="en-K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KR" dirty="0"/>
                        <a:t>&lt;M&gt;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&lt;M&gt;</a:t>
                      </a:r>
                      <a:endParaRPr lang="en-K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KR" dirty="0"/>
                        <a:t>&lt;M&gt;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46548387"/>
                  </a:ext>
                </a:extLst>
              </a:tr>
            </a:tbl>
          </a:graphicData>
        </a:graphic>
      </p:graphicFrame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46B0CCF2-32B9-028B-1064-81BC8F39819F}"/>
              </a:ext>
            </a:extLst>
          </p:cNvPr>
          <p:cNvCxnSpPr>
            <a:cxnSpLocks/>
          </p:cNvCxnSpPr>
          <p:nvPr/>
        </p:nvCxnSpPr>
        <p:spPr>
          <a:xfrm>
            <a:off x="9483115" y="719666"/>
            <a:ext cx="0" cy="5039237"/>
          </a:xfrm>
          <a:prstGeom prst="straightConnector1">
            <a:avLst/>
          </a:prstGeom>
          <a:ln w="19050" cap="rnd">
            <a:solidFill>
              <a:srgbClr val="FF0000"/>
            </a:solidFill>
            <a:round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3DFA30C9-D25E-7C1F-260B-C15DA9BE6FD6}"/>
              </a:ext>
            </a:extLst>
          </p:cNvPr>
          <p:cNvSpPr txBox="1"/>
          <p:nvPr/>
        </p:nvSpPr>
        <p:spPr>
          <a:xfrm>
            <a:off x="9713224" y="719666"/>
            <a:ext cx="578685" cy="369332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pPr algn="l"/>
            <a:r>
              <a:rPr lang="en-US" dirty="0"/>
              <a:t>t=5/6</a:t>
            </a:r>
            <a:endParaRPr lang="en-KR" dirty="0" err="1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EC2C1F7-34DD-48B9-D534-CF2E7061B3FC}"/>
              </a:ext>
            </a:extLst>
          </p:cNvPr>
          <p:cNvSpPr txBox="1"/>
          <p:nvPr/>
        </p:nvSpPr>
        <p:spPr>
          <a:xfrm>
            <a:off x="9713224" y="5389571"/>
            <a:ext cx="585097" cy="369332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pPr algn="l"/>
            <a:r>
              <a:rPr lang="en-US" dirty="0"/>
              <a:t>t=4/6</a:t>
            </a:r>
            <a:endParaRPr lang="en-KR" dirty="0" err="1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880D4763-FA6E-B424-CB3A-3B5821D982C2}"/>
                  </a:ext>
                </a:extLst>
              </p:cNvPr>
              <p:cNvSpPr txBox="1"/>
              <p:nvPr/>
            </p:nvSpPr>
            <p:spPr>
              <a:xfrm>
                <a:off x="3967923" y="3687390"/>
                <a:ext cx="179600" cy="307777"/>
              </a:xfrm>
              <a:prstGeom prst="rect">
                <a:avLst/>
              </a:prstGeom>
              <a:noFill/>
            </p:spPr>
            <p:txBody>
              <a:bodyPr wrap="none" lIns="0" rIns="0" rtlCol="0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𝑙</m:t>
                          </m:r>
                        </m:e>
                        <m:sub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KR" sz="1400" dirty="0" err="1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880D4763-FA6E-B424-CB3A-3B5821D982C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67923" y="3687390"/>
                <a:ext cx="179600" cy="307777"/>
              </a:xfrm>
              <a:prstGeom prst="rect">
                <a:avLst/>
              </a:prstGeom>
              <a:blipFill>
                <a:blip r:embed="rId2"/>
                <a:stretch>
                  <a:fillRect l="-20000" r="-6667"/>
                </a:stretch>
              </a:blipFill>
            </p:spPr>
            <p:txBody>
              <a:bodyPr/>
              <a:lstStyle/>
              <a:p>
                <a:r>
                  <a:rPr lang="en-K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A6B1416D-B105-5BDF-1317-D83C38D42143}"/>
                  </a:ext>
                </a:extLst>
              </p:cNvPr>
              <p:cNvSpPr txBox="1"/>
              <p:nvPr/>
            </p:nvSpPr>
            <p:spPr>
              <a:xfrm>
                <a:off x="4715671" y="3687390"/>
                <a:ext cx="183768" cy="307777"/>
              </a:xfrm>
              <a:prstGeom prst="rect">
                <a:avLst/>
              </a:prstGeom>
              <a:noFill/>
            </p:spPr>
            <p:txBody>
              <a:bodyPr wrap="none" lIns="0" rIns="0" rtlCol="0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𝑙</m:t>
                          </m:r>
                        </m:e>
                        <m:sub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KR" sz="1400" dirty="0" err="1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A6B1416D-B105-5BDF-1317-D83C38D4214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15671" y="3687390"/>
                <a:ext cx="183768" cy="307777"/>
              </a:xfrm>
              <a:prstGeom prst="rect">
                <a:avLst/>
              </a:prstGeom>
              <a:blipFill>
                <a:blip r:embed="rId3"/>
                <a:stretch>
                  <a:fillRect l="-26667" r="-6667"/>
                </a:stretch>
              </a:blipFill>
            </p:spPr>
            <p:txBody>
              <a:bodyPr/>
              <a:lstStyle/>
              <a:p>
                <a:r>
                  <a:rPr lang="en-K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1C942370-E066-7CD8-21E9-41972C35317C}"/>
                  </a:ext>
                </a:extLst>
              </p:cNvPr>
              <p:cNvSpPr txBox="1"/>
              <p:nvPr/>
            </p:nvSpPr>
            <p:spPr>
              <a:xfrm>
                <a:off x="5548410" y="3687390"/>
                <a:ext cx="183768" cy="307777"/>
              </a:xfrm>
              <a:prstGeom prst="rect">
                <a:avLst/>
              </a:prstGeom>
              <a:noFill/>
            </p:spPr>
            <p:txBody>
              <a:bodyPr wrap="none" lIns="0" rIns="0" rtlCol="0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𝑙</m:t>
                          </m:r>
                        </m:e>
                        <m:sub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KR" sz="1400" dirty="0" err="1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1C942370-E066-7CD8-21E9-41972C35317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48410" y="3687390"/>
                <a:ext cx="183768" cy="307777"/>
              </a:xfrm>
              <a:prstGeom prst="rect">
                <a:avLst/>
              </a:prstGeom>
              <a:blipFill>
                <a:blip r:embed="rId4"/>
                <a:stretch>
                  <a:fillRect l="-18750" r="-6250"/>
                </a:stretch>
              </a:blipFill>
            </p:spPr>
            <p:txBody>
              <a:bodyPr/>
              <a:lstStyle/>
              <a:p>
                <a:r>
                  <a:rPr lang="en-K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7F175F72-FD6C-8CCF-DC65-CE32B8D3C514}"/>
                  </a:ext>
                </a:extLst>
              </p:cNvPr>
              <p:cNvSpPr txBox="1"/>
              <p:nvPr/>
            </p:nvSpPr>
            <p:spPr>
              <a:xfrm>
                <a:off x="6423392" y="3687389"/>
                <a:ext cx="183768" cy="307777"/>
              </a:xfrm>
              <a:prstGeom prst="rect">
                <a:avLst/>
              </a:prstGeom>
              <a:noFill/>
            </p:spPr>
            <p:txBody>
              <a:bodyPr wrap="none" lIns="0" rIns="0" rtlCol="0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𝑙</m:t>
                          </m:r>
                        </m:e>
                        <m:sub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lang="en-KR" sz="1400" dirty="0" err="1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7F175F72-FD6C-8CCF-DC65-CE32B8D3C51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23392" y="3687389"/>
                <a:ext cx="183768" cy="307777"/>
              </a:xfrm>
              <a:prstGeom prst="rect">
                <a:avLst/>
              </a:prstGeom>
              <a:blipFill>
                <a:blip r:embed="rId5"/>
                <a:stretch>
                  <a:fillRect l="-18750"/>
                </a:stretch>
              </a:blipFill>
            </p:spPr>
            <p:txBody>
              <a:bodyPr/>
              <a:lstStyle/>
              <a:p>
                <a:r>
                  <a:rPr lang="en-K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59187922-0D3F-CF2C-1F81-3F5E28ECA8E9}"/>
                  </a:ext>
                </a:extLst>
              </p:cNvPr>
              <p:cNvSpPr txBox="1"/>
              <p:nvPr/>
            </p:nvSpPr>
            <p:spPr>
              <a:xfrm>
                <a:off x="7300827" y="3687388"/>
                <a:ext cx="183768" cy="307777"/>
              </a:xfrm>
              <a:prstGeom prst="rect">
                <a:avLst/>
              </a:prstGeom>
              <a:noFill/>
            </p:spPr>
            <p:txBody>
              <a:bodyPr wrap="none" lIns="0" rIns="0" rtlCol="0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𝑙</m:t>
                          </m:r>
                        </m:e>
                        <m:sub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sub>
                      </m:sSub>
                    </m:oMath>
                  </m:oMathPara>
                </a14:m>
                <a:endParaRPr lang="en-KR" sz="1400" dirty="0" err="1"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59187922-0D3F-CF2C-1F81-3F5E28ECA8E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00827" y="3687388"/>
                <a:ext cx="183768" cy="307777"/>
              </a:xfrm>
              <a:prstGeom prst="rect">
                <a:avLst/>
              </a:prstGeom>
              <a:blipFill>
                <a:blip r:embed="rId6"/>
                <a:stretch>
                  <a:fillRect l="-26667" r="-6667"/>
                </a:stretch>
              </a:blipFill>
            </p:spPr>
            <p:txBody>
              <a:bodyPr/>
              <a:lstStyle/>
              <a:p>
                <a:r>
                  <a:rPr lang="en-K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641F29C7-DDF5-D13B-6957-F8B7AABBA658}"/>
                  </a:ext>
                </a:extLst>
              </p:cNvPr>
              <p:cNvSpPr txBox="1"/>
              <p:nvPr/>
            </p:nvSpPr>
            <p:spPr>
              <a:xfrm>
                <a:off x="8183811" y="3687388"/>
                <a:ext cx="183768" cy="307777"/>
              </a:xfrm>
              <a:prstGeom prst="rect">
                <a:avLst/>
              </a:prstGeom>
              <a:noFill/>
            </p:spPr>
            <p:txBody>
              <a:bodyPr wrap="none" lIns="0" rIns="0" rtlCol="0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𝑙</m:t>
                          </m:r>
                        </m:e>
                        <m:sub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6</m:t>
                          </m:r>
                        </m:sub>
                      </m:sSub>
                    </m:oMath>
                  </m:oMathPara>
                </a14:m>
                <a:endParaRPr lang="en-KR" sz="1400" dirty="0" err="1"/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641F29C7-DDF5-D13B-6957-F8B7AABBA65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83811" y="3687388"/>
                <a:ext cx="183768" cy="307777"/>
              </a:xfrm>
              <a:prstGeom prst="rect">
                <a:avLst/>
              </a:prstGeom>
              <a:blipFill>
                <a:blip r:embed="rId7"/>
                <a:stretch>
                  <a:fillRect l="-25000"/>
                </a:stretch>
              </a:blipFill>
            </p:spPr>
            <p:txBody>
              <a:bodyPr/>
              <a:lstStyle/>
              <a:p>
                <a:r>
                  <a:rPr lang="en-K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8" name="TextBox 77">
            <a:extLst>
              <a:ext uri="{FF2B5EF4-FFF2-40B4-BE49-F238E27FC236}">
                <a16:creationId xmlns:a16="http://schemas.microsoft.com/office/drawing/2014/main" id="{BBE98652-BD89-65A0-FAD1-ECAFF95D8E4B}"/>
              </a:ext>
            </a:extLst>
          </p:cNvPr>
          <p:cNvSpPr txBox="1"/>
          <p:nvPr/>
        </p:nvSpPr>
        <p:spPr>
          <a:xfrm>
            <a:off x="6096000" y="2652296"/>
            <a:ext cx="33664" cy="577081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pPr algn="l"/>
            <a:r>
              <a:rPr lang="en-KR" sz="1050" dirty="0"/>
              <a:t>.</a:t>
            </a:r>
          </a:p>
          <a:p>
            <a:pPr algn="l"/>
            <a:r>
              <a:rPr lang="en-KR" sz="1050" dirty="0"/>
              <a:t>.</a:t>
            </a:r>
          </a:p>
          <a:p>
            <a:pPr algn="l"/>
            <a:r>
              <a:rPr lang="en-KR" sz="1050" dirty="0"/>
              <a:t>.</a:t>
            </a:r>
          </a:p>
        </p:txBody>
      </p:sp>
      <p:cxnSp>
        <p:nvCxnSpPr>
          <p:cNvPr id="79" name="Straight Arrow Connector 78">
            <a:extLst>
              <a:ext uri="{FF2B5EF4-FFF2-40B4-BE49-F238E27FC236}">
                <a16:creationId xmlns:a16="http://schemas.microsoft.com/office/drawing/2014/main" id="{77531058-EE27-AAAE-73FD-B4AC9F8868C6}"/>
              </a:ext>
            </a:extLst>
          </p:cNvPr>
          <p:cNvCxnSpPr>
            <a:cxnSpLocks/>
          </p:cNvCxnSpPr>
          <p:nvPr/>
        </p:nvCxnSpPr>
        <p:spPr>
          <a:xfrm>
            <a:off x="4057723" y="3341187"/>
            <a:ext cx="0" cy="247055"/>
          </a:xfrm>
          <a:prstGeom prst="straightConnector1">
            <a:avLst/>
          </a:prstGeom>
          <a:ln w="6350" cap="rnd">
            <a:solidFill>
              <a:schemeClr val="tx1"/>
            </a:solidFill>
            <a:round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Straight Arrow Connector 80">
            <a:extLst>
              <a:ext uri="{FF2B5EF4-FFF2-40B4-BE49-F238E27FC236}">
                <a16:creationId xmlns:a16="http://schemas.microsoft.com/office/drawing/2014/main" id="{3F82815F-FAD5-AEF7-A5E7-3029D373D8A2}"/>
              </a:ext>
            </a:extLst>
          </p:cNvPr>
          <p:cNvCxnSpPr>
            <a:cxnSpLocks/>
          </p:cNvCxnSpPr>
          <p:nvPr/>
        </p:nvCxnSpPr>
        <p:spPr>
          <a:xfrm>
            <a:off x="4807555" y="3341186"/>
            <a:ext cx="0" cy="247055"/>
          </a:xfrm>
          <a:prstGeom prst="straightConnector1">
            <a:avLst/>
          </a:prstGeom>
          <a:ln w="6350" cap="rnd">
            <a:solidFill>
              <a:schemeClr val="tx1"/>
            </a:solidFill>
            <a:round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Straight Arrow Connector 81">
            <a:extLst>
              <a:ext uri="{FF2B5EF4-FFF2-40B4-BE49-F238E27FC236}">
                <a16:creationId xmlns:a16="http://schemas.microsoft.com/office/drawing/2014/main" id="{6BCE4352-DE06-8FE6-607D-1E7E5D1AE9A0}"/>
              </a:ext>
            </a:extLst>
          </p:cNvPr>
          <p:cNvCxnSpPr>
            <a:cxnSpLocks/>
          </p:cNvCxnSpPr>
          <p:nvPr/>
        </p:nvCxnSpPr>
        <p:spPr>
          <a:xfrm>
            <a:off x="5595098" y="3341185"/>
            <a:ext cx="0" cy="247055"/>
          </a:xfrm>
          <a:prstGeom prst="straightConnector1">
            <a:avLst/>
          </a:prstGeom>
          <a:ln w="6350" cap="rnd">
            <a:solidFill>
              <a:schemeClr val="tx1"/>
            </a:solidFill>
            <a:round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Straight Arrow Connector 82">
            <a:extLst>
              <a:ext uri="{FF2B5EF4-FFF2-40B4-BE49-F238E27FC236}">
                <a16:creationId xmlns:a16="http://schemas.microsoft.com/office/drawing/2014/main" id="{0B845FA8-A5F3-5FF8-534B-083BD27F73A7}"/>
              </a:ext>
            </a:extLst>
          </p:cNvPr>
          <p:cNvCxnSpPr>
            <a:cxnSpLocks/>
          </p:cNvCxnSpPr>
          <p:nvPr/>
        </p:nvCxnSpPr>
        <p:spPr>
          <a:xfrm>
            <a:off x="6515276" y="3341184"/>
            <a:ext cx="0" cy="247055"/>
          </a:xfrm>
          <a:prstGeom prst="straightConnector1">
            <a:avLst/>
          </a:prstGeom>
          <a:ln w="6350" cap="rnd">
            <a:solidFill>
              <a:schemeClr val="tx1"/>
            </a:solidFill>
            <a:round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Straight Arrow Connector 83">
            <a:extLst>
              <a:ext uri="{FF2B5EF4-FFF2-40B4-BE49-F238E27FC236}">
                <a16:creationId xmlns:a16="http://schemas.microsoft.com/office/drawing/2014/main" id="{06305A5D-0C2D-97C5-16E0-A1AAB905038C}"/>
              </a:ext>
            </a:extLst>
          </p:cNvPr>
          <p:cNvCxnSpPr>
            <a:cxnSpLocks/>
          </p:cNvCxnSpPr>
          <p:nvPr/>
        </p:nvCxnSpPr>
        <p:spPr>
          <a:xfrm>
            <a:off x="7371813" y="3341183"/>
            <a:ext cx="0" cy="247055"/>
          </a:xfrm>
          <a:prstGeom prst="straightConnector1">
            <a:avLst/>
          </a:prstGeom>
          <a:ln w="6350" cap="rnd">
            <a:solidFill>
              <a:schemeClr val="tx1"/>
            </a:solidFill>
            <a:round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Straight Arrow Connector 84">
            <a:extLst>
              <a:ext uri="{FF2B5EF4-FFF2-40B4-BE49-F238E27FC236}">
                <a16:creationId xmlns:a16="http://schemas.microsoft.com/office/drawing/2014/main" id="{83BD0F42-CBDE-3B40-105C-55C54277580A}"/>
              </a:ext>
            </a:extLst>
          </p:cNvPr>
          <p:cNvCxnSpPr>
            <a:cxnSpLocks/>
          </p:cNvCxnSpPr>
          <p:nvPr/>
        </p:nvCxnSpPr>
        <p:spPr>
          <a:xfrm>
            <a:off x="8264349" y="3338212"/>
            <a:ext cx="0" cy="247055"/>
          </a:xfrm>
          <a:prstGeom prst="straightConnector1">
            <a:avLst/>
          </a:prstGeom>
          <a:ln w="6350" cap="rnd">
            <a:solidFill>
              <a:schemeClr val="tx1"/>
            </a:solidFill>
            <a:round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4" name="TextBox 93">
            <a:extLst>
              <a:ext uri="{FF2B5EF4-FFF2-40B4-BE49-F238E27FC236}">
                <a16:creationId xmlns:a16="http://schemas.microsoft.com/office/drawing/2014/main" id="{53838610-5851-A25D-EEDF-D357980CB0F1}"/>
              </a:ext>
            </a:extLst>
          </p:cNvPr>
          <p:cNvSpPr txBox="1"/>
          <p:nvPr/>
        </p:nvSpPr>
        <p:spPr>
          <a:xfrm>
            <a:off x="2689692" y="2279397"/>
            <a:ext cx="447238" cy="253916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pPr algn="l"/>
            <a:r>
              <a:rPr lang="en-KR" sz="1050" dirty="0"/>
              <a:t>Layer 2</a:t>
            </a:r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1F57BBF8-3DB8-7CCB-93C9-2140D95AD47D}"/>
              </a:ext>
            </a:extLst>
          </p:cNvPr>
          <p:cNvSpPr txBox="1"/>
          <p:nvPr/>
        </p:nvSpPr>
        <p:spPr>
          <a:xfrm>
            <a:off x="2713714" y="3701737"/>
            <a:ext cx="370294" cy="253916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pPr algn="l"/>
            <a:r>
              <a:rPr lang="en-KR" sz="1050" dirty="0"/>
              <a:t>Logits</a:t>
            </a:r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EE967642-CDA2-6D87-4FBA-B15318D77194}"/>
              </a:ext>
            </a:extLst>
          </p:cNvPr>
          <p:cNvSpPr txBox="1"/>
          <p:nvPr/>
        </p:nvSpPr>
        <p:spPr>
          <a:xfrm>
            <a:off x="2689692" y="1695759"/>
            <a:ext cx="428002" cy="253916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pPr algn="l"/>
            <a:r>
              <a:rPr lang="en-KR" sz="1050" dirty="0"/>
              <a:t>Layer </a:t>
            </a:r>
            <a:r>
              <a:rPr lang="en-US" altLang="ko-KR" sz="1050" dirty="0"/>
              <a:t>1</a:t>
            </a:r>
            <a:endParaRPr lang="en-KR" sz="1050" dirty="0"/>
          </a:p>
        </p:txBody>
      </p:sp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FD122B82-2AB9-C266-A4E0-B87C250BEDA4}"/>
              </a:ext>
            </a:extLst>
          </p:cNvPr>
          <p:cNvSpPr/>
          <p:nvPr/>
        </p:nvSpPr>
        <p:spPr>
          <a:xfrm>
            <a:off x="3257715" y="1636445"/>
            <a:ext cx="5813404" cy="370840"/>
          </a:xfrm>
          <a:prstGeom prst="roundRect">
            <a:avLst/>
          </a:prstGeom>
          <a:noFill/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45720" rIns="45720" rtlCol="0" anchor="ctr"/>
          <a:lstStyle/>
          <a:p>
            <a:pPr algn="ctr"/>
            <a:endParaRPr lang="en-KR" dirty="0" err="1">
              <a:solidFill>
                <a:schemeClr val="tx1"/>
              </a:solidFill>
            </a:endParaRP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42545C54-68A3-AD74-624E-EC88D22AD9C7}"/>
              </a:ext>
            </a:extLst>
          </p:cNvPr>
          <p:cNvSpPr/>
          <p:nvPr/>
        </p:nvSpPr>
        <p:spPr>
          <a:xfrm>
            <a:off x="3257715" y="2220935"/>
            <a:ext cx="5813404" cy="370840"/>
          </a:xfrm>
          <a:prstGeom prst="roundRect">
            <a:avLst/>
          </a:prstGeom>
          <a:noFill/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45720" rIns="45720" rtlCol="0" anchor="ctr"/>
          <a:lstStyle/>
          <a:p>
            <a:pPr algn="ctr"/>
            <a:endParaRPr lang="en-KR" dirty="0" err="1">
              <a:solidFill>
                <a:schemeClr val="tx1"/>
              </a:solidFill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B79D1284-AAB1-BF56-811D-0315F882CC17}"/>
              </a:ext>
            </a:extLst>
          </p:cNvPr>
          <p:cNvSpPr/>
          <p:nvPr/>
        </p:nvSpPr>
        <p:spPr>
          <a:xfrm>
            <a:off x="3783225" y="3701737"/>
            <a:ext cx="1330082" cy="363543"/>
          </a:xfrm>
          <a:prstGeom prst="rect">
            <a:avLst/>
          </a:prstGeom>
          <a:noFill/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45720" rIns="45720" rtlCol="0" anchor="ctr"/>
          <a:lstStyle/>
          <a:p>
            <a:pPr algn="ctr"/>
            <a:endParaRPr lang="en-KR" dirty="0" err="1">
              <a:solidFill>
                <a:schemeClr val="tx1"/>
              </a:solidFill>
            </a:endParaRP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806A2841-34DB-9108-761D-9A98922D421C}"/>
              </a:ext>
            </a:extLst>
          </p:cNvPr>
          <p:cNvCxnSpPr>
            <a:cxnSpLocks/>
          </p:cNvCxnSpPr>
          <p:nvPr/>
        </p:nvCxnSpPr>
        <p:spPr>
          <a:xfrm>
            <a:off x="4390726" y="4129427"/>
            <a:ext cx="0" cy="865267"/>
          </a:xfrm>
          <a:prstGeom prst="straightConnector1">
            <a:avLst/>
          </a:prstGeom>
          <a:ln w="6350" cap="rnd">
            <a:solidFill>
              <a:schemeClr val="tx1"/>
            </a:solidFill>
            <a:round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7ECEDC9A-BAE3-8ABF-5A5E-82035843F3B4}"/>
              </a:ext>
            </a:extLst>
          </p:cNvPr>
          <p:cNvSpPr txBox="1"/>
          <p:nvPr/>
        </p:nvSpPr>
        <p:spPr>
          <a:xfrm>
            <a:off x="1171110" y="4408162"/>
            <a:ext cx="3085781" cy="307777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pPr algn="l"/>
            <a:r>
              <a:rPr lang="en-KR" sz="1400" dirty="0"/>
              <a:t>Unmasking is constrained to this block</a:t>
            </a:r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C280B23B-A751-10B7-CFF5-42245874E1B7}"/>
              </a:ext>
            </a:extLst>
          </p:cNvPr>
          <p:cNvCxnSpPr/>
          <p:nvPr/>
        </p:nvCxnSpPr>
        <p:spPr>
          <a:xfrm>
            <a:off x="5364871" y="3683176"/>
            <a:ext cx="3415375" cy="370386"/>
          </a:xfrm>
          <a:prstGeom prst="line">
            <a:avLst/>
          </a:prstGeom>
          <a:ln w="19050" cap="rnd">
            <a:solidFill>
              <a:srgbClr val="FF0000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81AE20BE-D178-19D8-6991-105F98EE5F7B}"/>
              </a:ext>
            </a:extLst>
          </p:cNvPr>
          <p:cNvCxnSpPr>
            <a:cxnSpLocks/>
          </p:cNvCxnSpPr>
          <p:nvPr/>
        </p:nvCxnSpPr>
        <p:spPr>
          <a:xfrm flipV="1">
            <a:off x="5312769" y="3660039"/>
            <a:ext cx="3415375" cy="370386"/>
          </a:xfrm>
          <a:prstGeom prst="line">
            <a:avLst/>
          </a:prstGeom>
          <a:ln w="19050" cap="rnd">
            <a:solidFill>
              <a:srgbClr val="FF0000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CE14F9B2-A4C7-BEBD-335C-3E50B7158261}"/>
              </a:ext>
            </a:extLst>
          </p:cNvPr>
          <p:cNvSpPr txBox="1"/>
          <p:nvPr/>
        </p:nvSpPr>
        <p:spPr>
          <a:xfrm>
            <a:off x="609600" y="1007925"/>
            <a:ext cx="1880323" cy="369332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pPr algn="l"/>
            <a:r>
              <a:rPr lang="en-KR" dirty="0"/>
              <a:t>Semi-AR sampling</a:t>
            </a:r>
          </a:p>
        </p:txBody>
      </p:sp>
    </p:spTree>
    <p:extLst>
      <p:ext uri="{BB962C8B-B14F-4D97-AF65-F5344CB8AC3E}">
        <p14:creationId xmlns:p14="http://schemas.microsoft.com/office/powerpoint/2010/main" val="270637826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7680AB73-4A61-241A-A5B7-742EB92B4E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KR" dirty="0"/>
              <a:t>But why semi-AR sampling for DLMs?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3B41259C-4DA1-FB02-3191-AFF2546140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714500"/>
            <a:ext cx="10972800" cy="2496068"/>
          </a:xfrm>
        </p:spPr>
        <p:txBody>
          <a:bodyPr/>
          <a:lstStyle/>
          <a:p>
            <a:r>
              <a:rPr lang="en-KR" sz="2000" dirty="0"/>
              <a:t>For better variable-length generation</a:t>
            </a:r>
          </a:p>
          <a:p>
            <a:pPr lvl="1"/>
            <a:r>
              <a:rPr lang="en-KR" sz="1800" dirty="0"/>
              <a:t>LLaDA (Nie et al., 2025)</a:t>
            </a:r>
          </a:p>
          <a:p>
            <a:endParaRPr lang="en-KR" sz="2000" dirty="0"/>
          </a:p>
          <a:p>
            <a:r>
              <a:rPr lang="en-KR" sz="2000" dirty="0"/>
              <a:t>For efficient sampling</a:t>
            </a:r>
          </a:p>
          <a:p>
            <a:pPr lvl="1"/>
            <a:r>
              <a:rPr lang="en-KR" sz="1800" dirty="0"/>
              <a:t>Fast-dLLM (Wu et al., 2025)</a:t>
            </a:r>
            <a:endParaRPr lang="en-KR" sz="2200" dirty="0"/>
          </a:p>
          <a:p>
            <a:endParaRPr lang="en-KR" sz="22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36E05A5-990E-6674-9539-2DD01B91A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4B8DE2-A4E8-46E4-8BBF-D75455EFF32C}" type="slidenum">
              <a:rPr lang="en-US" smtClean="0"/>
              <a:pPr/>
              <a:t>17</a:t>
            </a:fld>
            <a:endParaRPr lang="en-US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60963D4E-F2AA-1FBA-FEF1-594D4942C08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09600" y="6423793"/>
            <a:ext cx="10042252" cy="230832"/>
          </a:xfrm>
        </p:spPr>
        <p:txBody>
          <a:bodyPr/>
          <a:lstStyle/>
          <a:p>
            <a:r>
              <a:rPr lang="en-KR" dirty="0"/>
              <a:t>Nie et al., 2025, </a:t>
            </a:r>
            <a:r>
              <a:rPr lang="en-US" dirty="0"/>
              <a:t>Large Language Diffusion Models.  Wu et al., 2025, Fast-</a:t>
            </a:r>
            <a:r>
              <a:rPr lang="en-US" dirty="0" err="1"/>
              <a:t>dLLM</a:t>
            </a:r>
            <a:r>
              <a:rPr lang="en-US" dirty="0"/>
              <a:t>: Training-free Acceleration of Diffusion LLM by Enabling KV Cache and Parallel Decoding</a:t>
            </a:r>
            <a:endParaRPr lang="en-KR" dirty="0"/>
          </a:p>
        </p:txBody>
      </p:sp>
    </p:spTree>
    <p:extLst>
      <p:ext uri="{BB962C8B-B14F-4D97-AF65-F5344CB8AC3E}">
        <p14:creationId xmlns:p14="http://schemas.microsoft.com/office/powerpoint/2010/main" val="252705082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Content Placeholder 2">
            <a:extLst>
              <a:ext uri="{FF2B5EF4-FFF2-40B4-BE49-F238E27FC236}">
                <a16:creationId xmlns:a16="http://schemas.microsoft.com/office/drawing/2014/main" id="{227B01BB-E6A1-BF33-8091-2269BBB7CA8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714500"/>
            <a:ext cx="10972800" cy="2926955"/>
          </a:xfrm>
        </p:spPr>
        <p:txBody>
          <a:bodyPr/>
          <a:lstStyle/>
          <a:p>
            <a:r>
              <a:rPr lang="en-KR" sz="2000" dirty="0"/>
              <a:t>In pre-training, sequence is (almost) always filled up to max seq length</a:t>
            </a:r>
          </a:p>
          <a:p>
            <a:endParaRPr lang="en-KR" sz="2000" dirty="0"/>
          </a:p>
          <a:p>
            <a:endParaRPr lang="en-KR" sz="2000" dirty="0"/>
          </a:p>
          <a:p>
            <a:endParaRPr lang="en-KR" sz="2000" dirty="0"/>
          </a:p>
          <a:p>
            <a:endParaRPr lang="en-KR" sz="2000" dirty="0"/>
          </a:p>
          <a:p>
            <a:r>
              <a:rPr lang="en-KR" sz="2000" dirty="0"/>
              <a:t>In SFT, sequences have differ</a:t>
            </a:r>
            <a:r>
              <a:rPr lang="en-US" sz="2000" dirty="0"/>
              <a:t>e</a:t>
            </a:r>
            <a:r>
              <a:rPr lang="en-KR" sz="2000" dirty="0"/>
              <a:t>nt lengths</a:t>
            </a:r>
            <a:endParaRPr lang="en-KR" sz="1200" dirty="0"/>
          </a:p>
          <a:p>
            <a:pPr lvl="1"/>
            <a:endParaRPr lang="en-KR" sz="180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11D648C-3576-7AB7-4B7E-3B64AF4BFE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KR" dirty="0"/>
              <a:t>For better variable-length generation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064B873-794A-C6E6-E153-499186409A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4B8DE2-A4E8-46E4-8BBF-D75455EFF32C}" type="slidenum">
              <a:rPr lang="en-US" smtClean="0"/>
              <a:pPr/>
              <a:t>18</a:t>
            </a:fld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49AF637-A3C6-BDD2-E013-A4589FDE5EB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KR"/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8D43573F-472B-C40B-B867-1DB1D65CC0B1}"/>
              </a:ext>
            </a:extLst>
          </p:cNvPr>
          <p:cNvGrpSpPr/>
          <p:nvPr/>
        </p:nvGrpSpPr>
        <p:grpSpPr>
          <a:xfrm>
            <a:off x="3948271" y="2360319"/>
            <a:ext cx="3469064" cy="324000"/>
            <a:chOff x="1725855" y="6099793"/>
            <a:chExt cx="3469064" cy="324000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11D914AE-B00B-B260-9E60-EC13AC547B13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725855" y="6099793"/>
              <a:ext cx="324000" cy="324000"/>
            </a:xfrm>
            <a:prstGeom prst="rect">
              <a:avLst/>
            </a:prstGeom>
            <a:solidFill>
              <a:schemeClr val="accent5"/>
            </a:solidFill>
            <a:ln>
              <a:solidFill>
                <a:schemeClr val="tx1"/>
              </a:solidFill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lIns="45720" tIns="45720" rIns="45720" rtlCol="0" anchor="ctr"/>
            <a:lstStyle/>
            <a:p>
              <a:pPr algn="ctr"/>
              <a:endParaRPr lang="en-KR" sz="900" dirty="0">
                <a:solidFill>
                  <a:schemeClr val="tx1"/>
                </a:solidFill>
              </a:endParaRPr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EBE66BAF-E120-8A5D-669D-A3ABFBDE68DF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2049855" y="6099793"/>
              <a:ext cx="324000" cy="324000"/>
            </a:xfrm>
            <a:prstGeom prst="rect">
              <a:avLst/>
            </a:prstGeom>
            <a:solidFill>
              <a:schemeClr val="accent5"/>
            </a:solidFill>
            <a:ln>
              <a:solidFill>
                <a:schemeClr val="tx1"/>
              </a:solidFill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lIns="45720" tIns="45720" rIns="45720" rtlCol="0" anchor="ctr"/>
            <a:lstStyle/>
            <a:p>
              <a:pPr algn="ctr"/>
              <a:endParaRPr lang="en-KR" sz="900" dirty="0">
                <a:solidFill>
                  <a:schemeClr val="tx1"/>
                </a:solidFill>
              </a:endParaRPr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D67394AC-802E-24F1-792D-B412E39CCC5B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2373855" y="6099793"/>
              <a:ext cx="324000" cy="324000"/>
            </a:xfrm>
            <a:prstGeom prst="rect">
              <a:avLst/>
            </a:prstGeom>
            <a:solidFill>
              <a:schemeClr val="accent5"/>
            </a:solidFill>
            <a:ln>
              <a:solidFill>
                <a:schemeClr val="tx1"/>
              </a:solidFill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lIns="45720" tIns="45720" rIns="45720" rtlCol="0" anchor="ctr"/>
            <a:lstStyle/>
            <a:p>
              <a:pPr algn="ctr"/>
              <a:endParaRPr lang="en-KR" sz="900" dirty="0">
                <a:solidFill>
                  <a:schemeClr val="tx1"/>
                </a:solidFill>
              </a:endParaRPr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D2406E5A-01B2-58DF-CBF1-FC20EDAC7FFB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2697855" y="6099793"/>
              <a:ext cx="324000" cy="324000"/>
            </a:xfrm>
            <a:prstGeom prst="rect">
              <a:avLst/>
            </a:prstGeom>
            <a:solidFill>
              <a:schemeClr val="accent5"/>
            </a:solidFill>
            <a:ln>
              <a:solidFill>
                <a:schemeClr val="tx1"/>
              </a:solidFill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lIns="45720" tIns="45720" rIns="45720" rtlCol="0" anchor="ctr"/>
            <a:lstStyle/>
            <a:p>
              <a:pPr algn="ctr"/>
              <a:endParaRPr lang="en-KR" sz="900" dirty="0">
                <a:solidFill>
                  <a:schemeClr val="tx1"/>
                </a:solidFill>
              </a:endParaRPr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336E097D-62CE-73FD-5729-55F7154C8156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3891823" y="6099793"/>
              <a:ext cx="324000" cy="324000"/>
            </a:xfrm>
            <a:prstGeom prst="rect">
              <a:avLst/>
            </a:prstGeom>
            <a:solidFill>
              <a:schemeClr val="accent5"/>
            </a:solidFill>
            <a:ln>
              <a:solidFill>
                <a:schemeClr val="tx1"/>
              </a:solidFill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lIns="45720" tIns="45720" rIns="45720" rtlCol="0" anchor="ctr"/>
            <a:lstStyle/>
            <a:p>
              <a:pPr algn="ctr"/>
              <a:endParaRPr lang="en-KR" sz="900" dirty="0">
                <a:solidFill>
                  <a:schemeClr val="tx1"/>
                </a:solidFill>
              </a:endParaRPr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3E38D003-E0E2-6D48-AEE5-99CFAC7F6428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215823" y="6099793"/>
              <a:ext cx="324000" cy="324000"/>
            </a:xfrm>
            <a:prstGeom prst="rect">
              <a:avLst/>
            </a:prstGeom>
            <a:solidFill>
              <a:schemeClr val="accent5"/>
            </a:solidFill>
            <a:ln>
              <a:solidFill>
                <a:schemeClr val="tx1"/>
              </a:solidFill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lIns="45720" tIns="45720" rIns="45720" rtlCol="0" anchor="ctr"/>
            <a:lstStyle/>
            <a:p>
              <a:pPr algn="ctr"/>
              <a:endParaRPr lang="en-KR" sz="900" dirty="0">
                <a:solidFill>
                  <a:schemeClr val="tx1"/>
                </a:solidFill>
              </a:endParaRPr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BC39836D-12CA-8C22-F644-D7B0E0FC0AB1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543371" y="6099793"/>
              <a:ext cx="324000" cy="324000"/>
            </a:xfrm>
            <a:prstGeom prst="rect">
              <a:avLst/>
            </a:prstGeom>
            <a:solidFill>
              <a:schemeClr val="accent5"/>
            </a:solidFill>
            <a:ln>
              <a:solidFill>
                <a:schemeClr val="tx1"/>
              </a:solidFill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lIns="45720" tIns="45720" rIns="45720" rtlCol="0" anchor="ctr"/>
            <a:lstStyle/>
            <a:p>
              <a:pPr algn="ctr"/>
              <a:endParaRPr lang="en-KR" sz="900" dirty="0">
                <a:solidFill>
                  <a:schemeClr val="tx1"/>
                </a:solidFill>
              </a:endParaRPr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0E730B8E-82C0-8789-5340-B5971C099BAB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870919" y="6099793"/>
              <a:ext cx="324000" cy="324000"/>
            </a:xfrm>
            <a:prstGeom prst="rect">
              <a:avLst/>
            </a:prstGeom>
            <a:solidFill>
              <a:schemeClr val="accent5"/>
            </a:solidFill>
            <a:ln>
              <a:solidFill>
                <a:schemeClr val="tx1"/>
              </a:solidFill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lIns="45720" tIns="45720" rIns="45720" rtlCol="0" anchor="ctr"/>
            <a:lstStyle/>
            <a:p>
              <a:pPr algn="ctr"/>
              <a:endParaRPr lang="en-KR" sz="900" dirty="0">
                <a:solidFill>
                  <a:schemeClr val="tx1"/>
                </a:solidFill>
              </a:endParaRPr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E47EE304-AEC5-26E4-9A8E-6091F82C982B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3021855" y="6099793"/>
              <a:ext cx="324000" cy="324000"/>
            </a:xfrm>
            <a:prstGeom prst="rect">
              <a:avLst/>
            </a:prstGeom>
            <a:solidFill>
              <a:schemeClr val="accent5"/>
            </a:solidFill>
            <a:ln>
              <a:solidFill>
                <a:schemeClr val="tx1"/>
              </a:solidFill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lIns="45720" tIns="45720" rIns="45720" rtlCol="0" anchor="ctr"/>
            <a:lstStyle/>
            <a:p>
              <a:pPr algn="ctr"/>
              <a:endParaRPr lang="en-KR" sz="900" dirty="0">
                <a:solidFill>
                  <a:schemeClr val="tx1"/>
                </a:solidFill>
              </a:endParaRP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295817B8-8221-86FC-EF64-F03E4A2E113C}"/>
                </a:ext>
              </a:extLst>
            </p:cNvPr>
            <p:cNvSpPr txBox="1"/>
            <p:nvPr/>
          </p:nvSpPr>
          <p:spPr>
            <a:xfrm>
              <a:off x="3567823" y="6099793"/>
              <a:ext cx="97784" cy="246221"/>
            </a:xfrm>
            <a:prstGeom prst="rect">
              <a:avLst/>
            </a:prstGeom>
            <a:noFill/>
          </p:spPr>
          <p:txBody>
            <a:bodyPr wrap="none" lIns="0" rIns="0" rtlCol="0" anchor="ctr">
              <a:spAutoFit/>
            </a:bodyPr>
            <a:lstStyle/>
            <a:p>
              <a:pPr algn="ctr"/>
              <a:r>
                <a:rPr lang="en-KR" sz="1000" dirty="0"/>
                <a:t>…</a:t>
              </a:r>
            </a:p>
          </p:txBody>
        </p:sp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B7730216-7FFE-281D-8CF3-74F29E95E24E}"/>
              </a:ext>
            </a:extLst>
          </p:cNvPr>
          <p:cNvGrpSpPr/>
          <p:nvPr/>
        </p:nvGrpSpPr>
        <p:grpSpPr>
          <a:xfrm>
            <a:off x="3948271" y="4353066"/>
            <a:ext cx="3469064" cy="324000"/>
            <a:chOff x="1725855" y="6099793"/>
            <a:chExt cx="3469064" cy="324000"/>
          </a:xfrm>
        </p:grpSpPr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BFBC0C88-DB63-53D3-6CBE-B9E02FCAABF8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725855" y="6099793"/>
              <a:ext cx="324000" cy="324000"/>
            </a:xfrm>
            <a:prstGeom prst="rect">
              <a:avLst/>
            </a:prstGeom>
            <a:solidFill>
              <a:schemeClr val="accent5"/>
            </a:solidFill>
            <a:ln>
              <a:solidFill>
                <a:schemeClr val="tx1"/>
              </a:solidFill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lIns="45720" tIns="45720" rIns="45720" rtlCol="0" anchor="ctr"/>
            <a:lstStyle/>
            <a:p>
              <a:pPr algn="ctr"/>
              <a:endParaRPr lang="en-KR" sz="900" dirty="0">
                <a:solidFill>
                  <a:schemeClr val="tx1"/>
                </a:solidFill>
              </a:endParaRPr>
            </a:p>
          </p:txBody>
        </p:sp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1367561E-C277-648D-259E-F439CA59AC5F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2049855" y="6099793"/>
              <a:ext cx="324000" cy="324000"/>
            </a:xfrm>
            <a:prstGeom prst="rect">
              <a:avLst/>
            </a:prstGeom>
            <a:solidFill>
              <a:schemeClr val="accent5"/>
            </a:solidFill>
            <a:ln>
              <a:solidFill>
                <a:schemeClr val="tx1"/>
              </a:solidFill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lIns="45720" tIns="45720" rIns="45720" rtlCol="0" anchor="ctr"/>
            <a:lstStyle/>
            <a:p>
              <a:pPr algn="ctr"/>
              <a:endParaRPr lang="en-KR" sz="900" dirty="0">
                <a:solidFill>
                  <a:schemeClr val="tx1"/>
                </a:solidFill>
              </a:endParaRPr>
            </a:p>
          </p:txBody>
        </p:sp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499B8825-1D38-557A-AC9D-FDFCFE18BD3F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2373855" y="6099793"/>
              <a:ext cx="324000" cy="324000"/>
            </a:xfrm>
            <a:prstGeom prst="rect">
              <a:avLst/>
            </a:prstGeom>
            <a:solidFill>
              <a:schemeClr val="accent5"/>
            </a:solidFill>
            <a:ln>
              <a:solidFill>
                <a:schemeClr val="tx1"/>
              </a:solidFill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lIns="45720" tIns="45720" rIns="45720" rtlCol="0" anchor="ctr"/>
            <a:lstStyle/>
            <a:p>
              <a:pPr algn="ctr"/>
              <a:endParaRPr lang="en-KR" sz="900" dirty="0">
                <a:solidFill>
                  <a:schemeClr val="tx1"/>
                </a:solidFill>
              </a:endParaRPr>
            </a:p>
          </p:txBody>
        </p:sp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A0E0485A-00CF-E92D-D907-378C72BD0402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2697855" y="6099793"/>
              <a:ext cx="324000" cy="324000"/>
            </a:xfrm>
            <a:prstGeom prst="rect">
              <a:avLst/>
            </a:prstGeom>
            <a:solidFill>
              <a:schemeClr val="accent5"/>
            </a:solidFill>
            <a:ln>
              <a:solidFill>
                <a:schemeClr val="tx1"/>
              </a:solidFill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lIns="45720" tIns="45720" rIns="45720" rtlCol="0" anchor="ctr"/>
            <a:lstStyle/>
            <a:p>
              <a:pPr algn="ctr"/>
              <a:endParaRPr lang="en-KR" sz="900" dirty="0">
                <a:solidFill>
                  <a:schemeClr val="tx1"/>
                </a:solidFill>
              </a:endParaRPr>
            </a:p>
          </p:txBody>
        </p:sp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E33976D7-1E52-1AF4-AD9D-9A28F5CAE6B1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3891823" y="6099793"/>
              <a:ext cx="324000" cy="324000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lIns="45720" tIns="45720" rIns="45720" rtlCol="0" anchor="ctr"/>
            <a:lstStyle/>
            <a:p>
              <a:pPr algn="ctr"/>
              <a:r>
                <a:rPr lang="en-KR" sz="900" dirty="0">
                  <a:solidFill>
                    <a:schemeClr val="tx1"/>
                  </a:solidFill>
                </a:rPr>
                <a:t>EOS</a:t>
              </a:r>
            </a:p>
          </p:txBody>
        </p:sp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7B582ACE-02A3-2C70-DAA3-CA3EFACCAE74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215823" y="6099793"/>
              <a:ext cx="324000" cy="324000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lIns="45720" tIns="45720" rIns="45720" rtlCol="0" anchor="ctr"/>
            <a:lstStyle/>
            <a:p>
              <a:pPr algn="ctr"/>
              <a:r>
                <a:rPr lang="en-KR" sz="900" dirty="0">
                  <a:solidFill>
                    <a:schemeClr val="tx1"/>
                  </a:solidFill>
                </a:rPr>
                <a:t>EOS</a:t>
              </a:r>
            </a:p>
          </p:txBody>
        </p:sp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D473D983-AAF2-B064-CD22-BB237FE1B627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543371" y="6099793"/>
              <a:ext cx="324000" cy="324000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lIns="45720" tIns="45720" rIns="45720" rtlCol="0" anchor="ctr"/>
            <a:lstStyle/>
            <a:p>
              <a:pPr algn="ctr"/>
              <a:r>
                <a:rPr lang="en-KR" sz="900" dirty="0">
                  <a:solidFill>
                    <a:schemeClr val="tx1"/>
                  </a:solidFill>
                </a:rPr>
                <a:t>EOS</a:t>
              </a:r>
            </a:p>
          </p:txBody>
        </p:sp>
        <p:sp>
          <p:nvSpPr>
            <p:cNvPr id="35" name="Rectangle 34">
              <a:extLst>
                <a:ext uri="{FF2B5EF4-FFF2-40B4-BE49-F238E27FC236}">
                  <a16:creationId xmlns:a16="http://schemas.microsoft.com/office/drawing/2014/main" id="{BEC1C024-AB7F-6F00-0DB2-767315E1F3CB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870919" y="6099793"/>
              <a:ext cx="324000" cy="324000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lIns="45720" tIns="45720" rIns="45720" rtlCol="0" anchor="ctr"/>
            <a:lstStyle/>
            <a:p>
              <a:pPr algn="ctr"/>
              <a:r>
                <a:rPr lang="en-KR" sz="900" dirty="0">
                  <a:solidFill>
                    <a:schemeClr val="tx1"/>
                  </a:solidFill>
                </a:rPr>
                <a:t>EOS</a:t>
              </a:r>
            </a:p>
          </p:txBody>
        </p:sp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D54E9391-B1C5-34E6-750D-0B69B76F07F5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3021855" y="6099793"/>
              <a:ext cx="324000" cy="324000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lIns="45720" tIns="45720" rIns="45720" rtlCol="0" anchor="ctr"/>
            <a:lstStyle/>
            <a:p>
              <a:pPr algn="ctr"/>
              <a:r>
                <a:rPr lang="en-KR" sz="900" dirty="0">
                  <a:solidFill>
                    <a:schemeClr val="tx1"/>
                  </a:solidFill>
                </a:rPr>
                <a:t>EOS</a:t>
              </a:r>
            </a:p>
          </p:txBody>
        </p: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BEEE967D-305B-756A-C327-7C5D4C3C4E8D}"/>
                </a:ext>
              </a:extLst>
            </p:cNvPr>
            <p:cNvSpPr txBox="1"/>
            <p:nvPr/>
          </p:nvSpPr>
          <p:spPr>
            <a:xfrm>
              <a:off x="3567823" y="6099793"/>
              <a:ext cx="97784" cy="246221"/>
            </a:xfrm>
            <a:prstGeom prst="rect">
              <a:avLst/>
            </a:prstGeom>
            <a:noFill/>
          </p:spPr>
          <p:txBody>
            <a:bodyPr wrap="none" lIns="0" rIns="0" rtlCol="0" anchor="ctr">
              <a:spAutoFit/>
            </a:bodyPr>
            <a:lstStyle/>
            <a:p>
              <a:pPr algn="ctr"/>
              <a:r>
                <a:rPr lang="en-KR" sz="1000" dirty="0"/>
                <a:t>…</a:t>
              </a:r>
            </a:p>
          </p:txBody>
        </p:sp>
      </p:grpSp>
      <p:sp>
        <p:nvSpPr>
          <p:cNvPr id="40" name="TextBox 39">
            <a:extLst>
              <a:ext uri="{FF2B5EF4-FFF2-40B4-BE49-F238E27FC236}">
                <a16:creationId xmlns:a16="http://schemas.microsoft.com/office/drawing/2014/main" id="{699DE59E-C22B-9E19-D4BF-392FCBFA49D8}"/>
              </a:ext>
            </a:extLst>
          </p:cNvPr>
          <p:cNvSpPr txBox="1"/>
          <p:nvPr/>
        </p:nvSpPr>
        <p:spPr>
          <a:xfrm>
            <a:off x="1372658" y="3097525"/>
            <a:ext cx="8835162" cy="276999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algn="ctr"/>
            <a:r>
              <a:rPr lang="en-US" sz="12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“It is a truth universally acknowledged, that a single man  … get her daughters married: its solace was” (1024 tokens)</a:t>
            </a:r>
            <a:endParaRPr lang="en-KR" sz="12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9EEF5B84-A72E-51F1-1103-87F72BB4B8BD}"/>
              </a:ext>
            </a:extLst>
          </p:cNvPr>
          <p:cNvSpPr txBox="1"/>
          <p:nvPr/>
        </p:nvSpPr>
        <p:spPr>
          <a:xfrm>
            <a:off x="2418322" y="5134931"/>
            <a:ext cx="7463582" cy="276999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r>
              <a:rPr lang="en-KR" sz="12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“&lt;user&gt; Who are you? &lt;\user&gt; &lt;assistant&gt; I am an omnimodal model from AIDAS lab. &lt;</a:t>
            </a:r>
            <a:r>
              <a:rPr lang="en-US" altLang="ko-KR" sz="12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\</a:t>
            </a:r>
            <a:r>
              <a:rPr lang="en-KR" sz="12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a</a:t>
            </a:r>
            <a:r>
              <a:rPr lang="en-US" sz="12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ssistant</a:t>
            </a:r>
            <a:r>
              <a:rPr lang="en-US" sz="12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&gt;” (32 tokens)</a:t>
            </a:r>
          </a:p>
        </p:txBody>
      </p: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324DD728-E869-E656-3B5C-49EC668CF540}"/>
              </a:ext>
            </a:extLst>
          </p:cNvPr>
          <p:cNvCxnSpPr>
            <a:cxnSpLocks/>
          </p:cNvCxnSpPr>
          <p:nvPr/>
        </p:nvCxnSpPr>
        <p:spPr>
          <a:xfrm flipV="1">
            <a:off x="1943071" y="2684319"/>
            <a:ext cx="1938587" cy="390379"/>
          </a:xfrm>
          <a:prstGeom prst="line">
            <a:avLst/>
          </a:prstGeom>
          <a:ln w="6350" cap="rnd">
            <a:solidFill>
              <a:schemeClr val="tx1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D19B7E52-8FBF-2C50-8122-AF697A8486B8}"/>
              </a:ext>
            </a:extLst>
          </p:cNvPr>
          <p:cNvCxnSpPr>
            <a:cxnSpLocks/>
          </p:cNvCxnSpPr>
          <p:nvPr/>
        </p:nvCxnSpPr>
        <p:spPr>
          <a:xfrm flipH="1" flipV="1">
            <a:off x="7500072" y="2684319"/>
            <a:ext cx="2140490" cy="430564"/>
          </a:xfrm>
          <a:prstGeom prst="line">
            <a:avLst/>
          </a:prstGeom>
          <a:ln w="6350" cap="rnd">
            <a:solidFill>
              <a:schemeClr val="tx1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64889152-6651-743F-1499-F2C61FD210A3}"/>
              </a:ext>
            </a:extLst>
          </p:cNvPr>
          <p:cNvCxnSpPr>
            <a:cxnSpLocks/>
          </p:cNvCxnSpPr>
          <p:nvPr/>
        </p:nvCxnSpPr>
        <p:spPr>
          <a:xfrm flipV="1">
            <a:off x="2452530" y="4715956"/>
            <a:ext cx="1429128" cy="396148"/>
          </a:xfrm>
          <a:prstGeom prst="line">
            <a:avLst/>
          </a:prstGeom>
          <a:ln w="6350" cap="rnd">
            <a:solidFill>
              <a:schemeClr val="tx1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CC7DC8AF-CEA2-9A36-2296-07E10627B316}"/>
              </a:ext>
            </a:extLst>
          </p:cNvPr>
          <p:cNvCxnSpPr>
            <a:cxnSpLocks/>
          </p:cNvCxnSpPr>
          <p:nvPr/>
        </p:nvCxnSpPr>
        <p:spPr>
          <a:xfrm flipH="1" flipV="1">
            <a:off x="5244271" y="4715956"/>
            <a:ext cx="4565848" cy="396148"/>
          </a:xfrm>
          <a:prstGeom prst="line">
            <a:avLst/>
          </a:prstGeom>
          <a:ln w="6350" cap="rnd">
            <a:solidFill>
              <a:schemeClr val="tx1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844691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3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78459A-E962-A1E7-EBFD-919CD7F34D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Content Placeholder 2">
            <a:extLst>
              <a:ext uri="{FF2B5EF4-FFF2-40B4-BE49-F238E27FC236}">
                <a16:creationId xmlns:a16="http://schemas.microsoft.com/office/drawing/2014/main" id="{601E040B-10D9-20CF-8EED-94A07E544A3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714500"/>
            <a:ext cx="10972800" cy="2871555"/>
          </a:xfrm>
        </p:spPr>
        <p:txBody>
          <a:bodyPr/>
          <a:lstStyle/>
          <a:p>
            <a:r>
              <a:rPr lang="en-KR" sz="2000" dirty="0"/>
              <a:t>During SFT, model is likely trained on a lot of EOS tokens</a:t>
            </a:r>
          </a:p>
          <a:p>
            <a:r>
              <a:rPr lang="en-KR" sz="2000" dirty="0"/>
              <a:t>LLaDA reports that </a:t>
            </a:r>
          </a:p>
          <a:p>
            <a:pPr lvl="1"/>
            <a:r>
              <a:rPr lang="en-KR" sz="1600" dirty="0"/>
              <a:t>For base model, fixed-length and semi-AR achieved similar results</a:t>
            </a:r>
          </a:p>
          <a:p>
            <a:pPr lvl="1"/>
            <a:r>
              <a:rPr lang="en-KR" sz="1600" b="1" u="sng" dirty="0"/>
              <a:t>Fixed-length sampling + confidence-based unmaksing</a:t>
            </a:r>
            <a:r>
              <a:rPr lang="en-KR" sz="1600" dirty="0"/>
              <a:t> led to unusually </a:t>
            </a:r>
            <a:r>
              <a:rPr lang="en-KR" sz="1600" b="1" u="sng" dirty="0"/>
              <a:t>high proportion of EOS</a:t>
            </a:r>
            <a:r>
              <a:rPr lang="en-KR" sz="1600" b="1" dirty="0"/>
              <a:t> </a:t>
            </a:r>
            <a:r>
              <a:rPr lang="en-KR" sz="1600" dirty="0"/>
              <a:t>tokens (this issue did not happen in random unmasking)</a:t>
            </a:r>
          </a:p>
          <a:p>
            <a:pPr lvl="1"/>
            <a:r>
              <a:rPr lang="en-KR" sz="1600" dirty="0"/>
              <a:t>Semi-AR + confidence-based unmaksing &gt; Fixed-length + random unmasking</a:t>
            </a:r>
          </a:p>
          <a:p>
            <a:pPr marL="0" indent="0">
              <a:buNone/>
            </a:pPr>
            <a:endParaRPr lang="en-KR" sz="1200" dirty="0"/>
          </a:p>
          <a:p>
            <a:pPr lvl="1"/>
            <a:endParaRPr lang="en-KR" sz="180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D512365-18CD-D18C-9600-F509B89E89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KR" dirty="0"/>
              <a:t>For better variable-length generation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35986F4-1B82-FEF0-2E10-570348663B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4B8DE2-A4E8-46E4-8BBF-D75455EFF32C}" type="slidenum">
              <a:rPr lang="en-US" smtClean="0"/>
              <a:pPr/>
              <a:t>19</a:t>
            </a:fld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7BA244F-6EDE-1500-3339-0547E9CDE80B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KR"/>
          </a:p>
        </p:txBody>
      </p:sp>
      <p:grpSp>
        <p:nvGrpSpPr>
          <p:cNvPr id="27" name="Group 26">
            <a:extLst>
              <a:ext uri="{FF2B5EF4-FFF2-40B4-BE49-F238E27FC236}">
                <a16:creationId xmlns:a16="http://schemas.microsoft.com/office/drawing/2014/main" id="{55FEF77F-4677-F627-4648-6D9C73462A9B}"/>
              </a:ext>
            </a:extLst>
          </p:cNvPr>
          <p:cNvGrpSpPr/>
          <p:nvPr/>
        </p:nvGrpSpPr>
        <p:grpSpPr>
          <a:xfrm>
            <a:off x="3960383" y="4884735"/>
            <a:ext cx="3469064" cy="324000"/>
            <a:chOff x="1725855" y="6099793"/>
            <a:chExt cx="3469064" cy="324000"/>
          </a:xfrm>
        </p:grpSpPr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125F0EFB-1260-90BB-11FC-E196D797EE6A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725855" y="6099793"/>
              <a:ext cx="324000" cy="324000"/>
            </a:xfrm>
            <a:prstGeom prst="rect">
              <a:avLst/>
            </a:prstGeom>
            <a:solidFill>
              <a:schemeClr val="accent5"/>
            </a:solidFill>
            <a:ln>
              <a:solidFill>
                <a:schemeClr val="tx1"/>
              </a:solidFill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lIns="45720" tIns="45720" rIns="45720" rtlCol="0" anchor="ctr"/>
            <a:lstStyle/>
            <a:p>
              <a:pPr algn="ctr"/>
              <a:endParaRPr lang="en-KR" sz="900" dirty="0">
                <a:solidFill>
                  <a:schemeClr val="tx1"/>
                </a:solidFill>
              </a:endParaRPr>
            </a:p>
          </p:txBody>
        </p:sp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B3D5561F-602E-4530-8B4C-93B378184062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2049855" y="6099793"/>
              <a:ext cx="324000" cy="324000"/>
            </a:xfrm>
            <a:prstGeom prst="rect">
              <a:avLst/>
            </a:prstGeom>
            <a:solidFill>
              <a:schemeClr val="accent5"/>
            </a:solidFill>
            <a:ln>
              <a:solidFill>
                <a:schemeClr val="tx1"/>
              </a:solidFill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lIns="45720" tIns="45720" rIns="45720" rtlCol="0" anchor="ctr"/>
            <a:lstStyle/>
            <a:p>
              <a:pPr algn="ctr"/>
              <a:endParaRPr lang="en-KR" sz="900" dirty="0">
                <a:solidFill>
                  <a:schemeClr val="tx1"/>
                </a:solidFill>
              </a:endParaRPr>
            </a:p>
          </p:txBody>
        </p:sp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57BA36C5-A694-676F-7C49-961D2E98FBA2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2373855" y="6099793"/>
              <a:ext cx="324000" cy="324000"/>
            </a:xfrm>
            <a:prstGeom prst="rect">
              <a:avLst/>
            </a:prstGeom>
            <a:solidFill>
              <a:schemeClr val="accent5"/>
            </a:solidFill>
            <a:ln>
              <a:solidFill>
                <a:schemeClr val="tx1"/>
              </a:solidFill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lIns="45720" tIns="45720" rIns="45720" rtlCol="0" anchor="ctr"/>
            <a:lstStyle/>
            <a:p>
              <a:pPr algn="ctr"/>
              <a:endParaRPr lang="en-KR" sz="900" dirty="0">
                <a:solidFill>
                  <a:schemeClr val="tx1"/>
                </a:solidFill>
              </a:endParaRPr>
            </a:p>
          </p:txBody>
        </p:sp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3E17365B-F7F7-CAED-1E47-74EFB44E09E2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2697855" y="6099793"/>
              <a:ext cx="324000" cy="324000"/>
            </a:xfrm>
            <a:prstGeom prst="rect">
              <a:avLst/>
            </a:prstGeom>
            <a:solidFill>
              <a:schemeClr val="accent5"/>
            </a:solidFill>
            <a:ln>
              <a:solidFill>
                <a:schemeClr val="tx1"/>
              </a:solidFill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lIns="45720" tIns="45720" rIns="45720" rtlCol="0" anchor="ctr"/>
            <a:lstStyle/>
            <a:p>
              <a:pPr algn="ctr"/>
              <a:endParaRPr lang="en-KR" sz="900" dirty="0">
                <a:solidFill>
                  <a:schemeClr val="tx1"/>
                </a:solidFill>
              </a:endParaRPr>
            </a:p>
          </p:txBody>
        </p:sp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91B57269-D444-E740-5698-69CB662C6688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3891823" y="6099793"/>
              <a:ext cx="324000" cy="324000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lIns="45720" tIns="45720" rIns="45720" rtlCol="0" anchor="ctr"/>
            <a:lstStyle/>
            <a:p>
              <a:pPr algn="ctr"/>
              <a:r>
                <a:rPr lang="en-KR" sz="900" dirty="0">
                  <a:solidFill>
                    <a:schemeClr val="tx1"/>
                  </a:solidFill>
                </a:rPr>
                <a:t>EOS</a:t>
              </a:r>
            </a:p>
          </p:txBody>
        </p:sp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54F7DB9C-F790-C326-B25F-9E86064EAB75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215823" y="6099793"/>
              <a:ext cx="324000" cy="324000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lIns="45720" tIns="45720" rIns="45720" rtlCol="0" anchor="ctr"/>
            <a:lstStyle/>
            <a:p>
              <a:pPr algn="ctr"/>
              <a:r>
                <a:rPr lang="en-KR" sz="900" dirty="0">
                  <a:solidFill>
                    <a:schemeClr val="tx1"/>
                  </a:solidFill>
                </a:rPr>
                <a:t>EOS</a:t>
              </a:r>
            </a:p>
          </p:txBody>
        </p:sp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F653C55E-8BDB-617C-998F-427608E97A26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543371" y="6099793"/>
              <a:ext cx="324000" cy="324000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lIns="45720" tIns="45720" rIns="45720" rtlCol="0" anchor="ctr"/>
            <a:lstStyle/>
            <a:p>
              <a:pPr algn="ctr"/>
              <a:r>
                <a:rPr lang="en-KR" sz="900" dirty="0">
                  <a:solidFill>
                    <a:schemeClr val="tx1"/>
                  </a:solidFill>
                </a:rPr>
                <a:t>EOS</a:t>
              </a:r>
            </a:p>
          </p:txBody>
        </p:sp>
        <p:sp>
          <p:nvSpPr>
            <p:cNvPr id="35" name="Rectangle 34">
              <a:extLst>
                <a:ext uri="{FF2B5EF4-FFF2-40B4-BE49-F238E27FC236}">
                  <a16:creationId xmlns:a16="http://schemas.microsoft.com/office/drawing/2014/main" id="{B44959A1-EA6D-02D1-3A45-F7B5D73623E7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870919" y="6099793"/>
              <a:ext cx="324000" cy="324000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lIns="45720" tIns="45720" rIns="45720" rtlCol="0" anchor="ctr"/>
            <a:lstStyle/>
            <a:p>
              <a:pPr algn="ctr"/>
              <a:r>
                <a:rPr lang="en-KR" sz="900" dirty="0">
                  <a:solidFill>
                    <a:schemeClr val="tx1"/>
                  </a:solidFill>
                </a:rPr>
                <a:t>EOS</a:t>
              </a:r>
            </a:p>
          </p:txBody>
        </p:sp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7F176059-15CE-3FCE-9CC4-F69276A57A16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3021855" y="6099793"/>
              <a:ext cx="324000" cy="324000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lIns="45720" tIns="45720" rIns="45720" rtlCol="0" anchor="ctr"/>
            <a:lstStyle/>
            <a:p>
              <a:pPr algn="ctr"/>
              <a:r>
                <a:rPr lang="en-KR" sz="900" dirty="0">
                  <a:solidFill>
                    <a:schemeClr val="tx1"/>
                  </a:solidFill>
                </a:rPr>
                <a:t>EOS</a:t>
              </a:r>
            </a:p>
          </p:txBody>
        </p: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419433BF-FD67-58EA-3793-5F1B8F07150E}"/>
                </a:ext>
              </a:extLst>
            </p:cNvPr>
            <p:cNvSpPr txBox="1"/>
            <p:nvPr/>
          </p:nvSpPr>
          <p:spPr>
            <a:xfrm>
              <a:off x="3567823" y="6099793"/>
              <a:ext cx="97784" cy="246221"/>
            </a:xfrm>
            <a:prstGeom prst="rect">
              <a:avLst/>
            </a:prstGeom>
            <a:noFill/>
          </p:spPr>
          <p:txBody>
            <a:bodyPr wrap="none" lIns="0" rIns="0" rtlCol="0" anchor="ctr">
              <a:spAutoFit/>
            </a:bodyPr>
            <a:lstStyle/>
            <a:p>
              <a:pPr algn="ctr"/>
              <a:r>
                <a:rPr lang="en-KR" sz="1000" dirty="0"/>
                <a:t>…</a:t>
              </a:r>
            </a:p>
          </p:txBody>
        </p:sp>
      </p:grpSp>
      <p:sp>
        <p:nvSpPr>
          <p:cNvPr id="43" name="TextBox 42">
            <a:extLst>
              <a:ext uri="{FF2B5EF4-FFF2-40B4-BE49-F238E27FC236}">
                <a16:creationId xmlns:a16="http://schemas.microsoft.com/office/drawing/2014/main" id="{F3BFF5F6-561D-5EB0-810F-FF7F04F8D906}"/>
              </a:ext>
            </a:extLst>
          </p:cNvPr>
          <p:cNvSpPr txBox="1"/>
          <p:nvPr/>
        </p:nvSpPr>
        <p:spPr>
          <a:xfrm>
            <a:off x="2430434" y="5666600"/>
            <a:ext cx="7463582" cy="276999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r>
              <a:rPr lang="en-KR" sz="12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“&lt;user&gt; Who are you? &lt;\user&gt; &lt;assistant&gt; I am an omnimodal model from AIDAS lab. &lt;</a:t>
            </a:r>
            <a:r>
              <a:rPr lang="en-US" altLang="ko-KR" sz="12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\</a:t>
            </a:r>
            <a:r>
              <a:rPr lang="en-KR" sz="12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a</a:t>
            </a:r>
            <a:r>
              <a:rPr lang="en-US" sz="12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ssistant</a:t>
            </a:r>
            <a:r>
              <a:rPr lang="en-US" sz="12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&gt;” (32 tokens)</a:t>
            </a:r>
          </a:p>
        </p:txBody>
      </p: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C086B796-FB40-F360-7C79-5B1E49D75359}"/>
              </a:ext>
            </a:extLst>
          </p:cNvPr>
          <p:cNvCxnSpPr>
            <a:cxnSpLocks/>
          </p:cNvCxnSpPr>
          <p:nvPr/>
        </p:nvCxnSpPr>
        <p:spPr>
          <a:xfrm flipV="1">
            <a:off x="2464642" y="5247625"/>
            <a:ext cx="1429128" cy="396148"/>
          </a:xfrm>
          <a:prstGeom prst="line">
            <a:avLst/>
          </a:prstGeom>
          <a:ln w="6350" cap="rnd">
            <a:solidFill>
              <a:schemeClr val="tx1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028862FD-DBB9-33EE-1CBF-21A67369FF0C}"/>
              </a:ext>
            </a:extLst>
          </p:cNvPr>
          <p:cNvCxnSpPr>
            <a:cxnSpLocks/>
          </p:cNvCxnSpPr>
          <p:nvPr/>
        </p:nvCxnSpPr>
        <p:spPr>
          <a:xfrm flipH="1" flipV="1">
            <a:off x="5256383" y="5247625"/>
            <a:ext cx="4565848" cy="396148"/>
          </a:xfrm>
          <a:prstGeom prst="line">
            <a:avLst/>
          </a:prstGeom>
          <a:ln w="6350" cap="rnd">
            <a:solidFill>
              <a:schemeClr val="tx1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2502045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3941A5-BD9E-1522-6A77-DD040858C3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KR" dirty="0"/>
              <a:t>Approximate KV caching in Fast-dLLM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B81E8C61-FFAD-8ACA-3DB1-C75C643B4B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714500"/>
            <a:ext cx="5635925" cy="2259080"/>
          </a:xfrm>
        </p:spPr>
        <p:txBody>
          <a:bodyPr/>
          <a:lstStyle/>
          <a:p>
            <a:r>
              <a:rPr lang="en-KR" sz="2000" dirty="0"/>
              <a:t>Fast-dLLM speeds up DLM inference via</a:t>
            </a:r>
          </a:p>
          <a:p>
            <a:pPr lvl="1"/>
            <a:r>
              <a:rPr lang="en-KR" sz="1600" dirty="0"/>
              <a:t>Approximate KV caching</a:t>
            </a:r>
          </a:p>
          <a:p>
            <a:pPr lvl="1"/>
            <a:r>
              <a:rPr lang="en-KR" sz="1600" dirty="0"/>
              <a:t>Confidence-aware parallel decoding</a:t>
            </a:r>
          </a:p>
          <a:p>
            <a:endParaRPr lang="en-KR" sz="2000" dirty="0"/>
          </a:p>
          <a:p>
            <a:r>
              <a:rPr lang="en-KR" sz="2000" dirty="0"/>
              <a:t>For approximate KV caching, Fast-dLLM adopts semi-AR sampling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214B3E1-6754-813A-E296-D38E5FFC87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4B8DE2-A4E8-46E4-8BBF-D75455EFF32C}" type="slidenum">
              <a:rPr lang="en-US" smtClean="0"/>
              <a:pPr/>
              <a:t>20</a:t>
            </a:fld>
            <a:endParaRPr lang="en-US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E4CC670E-BF63-29CC-42AC-1276888F128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09600" y="6423793"/>
            <a:ext cx="8319600" cy="230832"/>
          </a:xfrm>
        </p:spPr>
        <p:txBody>
          <a:bodyPr/>
          <a:lstStyle/>
          <a:p>
            <a:r>
              <a:rPr lang="en-US" dirty="0"/>
              <a:t>Wu et al., 2025, Fast-</a:t>
            </a:r>
            <a:r>
              <a:rPr lang="en-US" dirty="0" err="1"/>
              <a:t>dLLM</a:t>
            </a:r>
            <a:r>
              <a:rPr lang="en-US" dirty="0"/>
              <a:t>: Training-free Acceleration of Diffusion LLM by Enabling KV Cache and Parallel Decoding</a:t>
            </a:r>
            <a:endParaRPr lang="en-KR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ECAA26AE-0942-A0E2-C7E3-2F0CAFF00C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7126" y="3811336"/>
            <a:ext cx="1639498" cy="2478164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640ABB5B-033D-921F-FDBB-7102249113C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2022" y="2089648"/>
            <a:ext cx="5369300" cy="4199851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058AD276-9C52-190C-8709-1423901C21F6}"/>
              </a:ext>
            </a:extLst>
          </p:cNvPr>
          <p:cNvSpPr txBox="1"/>
          <p:nvPr/>
        </p:nvSpPr>
        <p:spPr>
          <a:xfrm>
            <a:off x="6728604" y="4382219"/>
            <a:ext cx="1027525" cy="276999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pPr algn="l"/>
            <a:r>
              <a:rPr lang="en-KR" sz="1200" b="1" dirty="0">
                <a:solidFill>
                  <a:srgbClr val="0070C0"/>
                </a:solidFill>
              </a:rPr>
              <a:t>Cache refresh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9C843F3-BBB2-1453-7C00-472746511D8B}"/>
              </a:ext>
            </a:extLst>
          </p:cNvPr>
          <p:cNvSpPr txBox="1"/>
          <p:nvPr/>
        </p:nvSpPr>
        <p:spPr>
          <a:xfrm>
            <a:off x="6728604" y="2958934"/>
            <a:ext cx="1009892" cy="276999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pPr algn="l"/>
            <a:r>
              <a:rPr lang="en-KR" sz="1200" b="1" dirty="0">
                <a:solidFill>
                  <a:srgbClr val="0070C0"/>
                </a:solidFill>
              </a:rPr>
              <a:t>Initial caching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D7865E9-62C6-C25C-9E3F-7FD09C1BA79D}"/>
              </a:ext>
            </a:extLst>
          </p:cNvPr>
          <p:cNvSpPr txBox="1"/>
          <p:nvPr/>
        </p:nvSpPr>
        <p:spPr>
          <a:xfrm>
            <a:off x="8166780" y="4382218"/>
            <a:ext cx="1009892" cy="276999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pPr algn="l"/>
            <a:r>
              <a:rPr lang="en-KR" sz="1200" b="1" dirty="0">
                <a:solidFill>
                  <a:srgbClr val="0070C0"/>
                </a:solidFill>
              </a:rPr>
              <a:t>Initial caching</a:t>
            </a:r>
          </a:p>
        </p:txBody>
      </p:sp>
    </p:spTree>
    <p:extLst>
      <p:ext uri="{BB962C8B-B14F-4D97-AF65-F5344CB8AC3E}">
        <p14:creationId xmlns:p14="http://schemas.microsoft.com/office/powerpoint/2010/main" val="415915817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A0E65C-3C5F-03F9-D377-AD584ED329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KR" dirty="0"/>
              <a:t>Approximate KV caching in Fast-dLLM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8118CAD-1969-62AA-306E-834B897F6E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4B8DE2-A4E8-46E4-8BBF-D75455EFF32C}" type="slidenum">
              <a:rPr lang="en-US" smtClean="0"/>
              <a:pPr/>
              <a:t>21</a:t>
            </a:fld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3314881-B8A4-20D7-7E86-2F798D97839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09600" y="6423793"/>
            <a:ext cx="7844287" cy="661720"/>
          </a:xfrm>
        </p:spPr>
        <p:txBody>
          <a:bodyPr/>
          <a:lstStyle/>
          <a:p>
            <a:r>
              <a:rPr lang="en-US" dirty="0"/>
              <a:t>Wu et al., 2025, Fast-</a:t>
            </a:r>
            <a:r>
              <a:rPr lang="en-US" dirty="0" err="1"/>
              <a:t>dLLM</a:t>
            </a:r>
            <a:r>
              <a:rPr lang="en-US" dirty="0"/>
              <a:t>: Training-free Acceleration of Diffusion LLM by Enabling KV Cache and Parallel Decoding</a:t>
            </a:r>
          </a:p>
          <a:p>
            <a:endParaRPr lang="en-KR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AEEFBC2-B7B3-C964-FFC3-5196AEBCE43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2972" y="2343835"/>
            <a:ext cx="10826056" cy="3599764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D7BC3213-0DF0-5254-850E-A2C62499B02D}"/>
              </a:ext>
            </a:extLst>
          </p:cNvPr>
          <p:cNvSpPr txBox="1"/>
          <p:nvPr/>
        </p:nvSpPr>
        <p:spPr>
          <a:xfrm>
            <a:off x="5831457" y="1801553"/>
            <a:ext cx="3823162" cy="369332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pPr algn="l"/>
            <a:r>
              <a:rPr lang="en-KR" dirty="0"/>
              <a:t>Same could be done for mask tokens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7EFE7B8-34A8-75D7-E003-25178FB1B1A0}"/>
              </a:ext>
            </a:extLst>
          </p:cNvPr>
          <p:cNvSpPr txBox="1"/>
          <p:nvPr/>
        </p:nvSpPr>
        <p:spPr>
          <a:xfrm>
            <a:off x="7850038" y="3064788"/>
            <a:ext cx="1009892" cy="276999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pPr algn="l"/>
            <a:r>
              <a:rPr lang="en-KR" sz="1200" b="1" dirty="0">
                <a:solidFill>
                  <a:srgbClr val="0070C0"/>
                </a:solidFill>
              </a:rPr>
              <a:t>Initial caching</a:t>
            </a:r>
          </a:p>
        </p:txBody>
      </p:sp>
    </p:spTree>
    <p:extLst>
      <p:ext uri="{BB962C8B-B14F-4D97-AF65-F5344CB8AC3E}">
        <p14:creationId xmlns:p14="http://schemas.microsoft.com/office/powerpoint/2010/main" val="269259609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30934D-E307-84DD-0CFF-8B48C667DB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KR" dirty="0"/>
              <a:t>Approximate KV caching in DLMs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312F82-E2A3-6B6B-2873-38859F251CE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714500"/>
            <a:ext cx="10972800" cy="800219"/>
          </a:xfrm>
        </p:spPr>
        <p:txBody>
          <a:bodyPr/>
          <a:lstStyle/>
          <a:p>
            <a:r>
              <a:rPr lang="en-KR" sz="2000" dirty="0"/>
              <a:t>Exact KV caching (AR-like) is impossible in DLMs</a:t>
            </a:r>
          </a:p>
          <a:p>
            <a:r>
              <a:rPr lang="en-KR" sz="2000" dirty="0"/>
              <a:t>But what is the rationale behind KV caching? Can we really skip the computation?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18878D0-DC5C-1549-C511-B9D3B48E80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4B8DE2-A4E8-46E4-8BBF-D75455EFF32C}" type="slidenum">
              <a:rPr lang="en-US" smtClean="0"/>
              <a:pPr/>
              <a:t>22</a:t>
            </a:fld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4BD505E-2416-CA0C-784A-64A070820EB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326578922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3F17FB-63C7-1EC3-A1E2-CBA8AC98EC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51D3AC-D238-D417-843B-655C2D37F1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KR" dirty="0"/>
              <a:t>Approximate KV caching in DLMs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BED9D3E-D63F-CC78-2066-56B9B4700AD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09600" y="1594707"/>
                <a:ext cx="10972800" cy="1397306"/>
              </a:xfrm>
            </p:spPr>
            <p:txBody>
              <a:bodyPr/>
              <a:lstStyle/>
              <a:p>
                <a:r>
                  <a:rPr lang="en-KR" sz="1800" u="sng" dirty="0"/>
                  <a:t>Tokens of prompts</a:t>
                </a:r>
                <a:r>
                  <a:rPr lang="en-KR" sz="1800" dirty="0"/>
                  <a:t> do not change throug</a:t>
                </a:r>
                <a:r>
                  <a:rPr lang="en-US" altLang="ko-KR" sz="1800" dirty="0"/>
                  <a:t>h</a:t>
                </a:r>
                <a:r>
                  <a:rPr lang="en-KR" sz="1800" dirty="0"/>
                  <a:t>out all the timesteps (</a:t>
                </a:r>
                <a14:m>
                  <m:oMath xmlns:m="http://schemas.openxmlformats.org/officeDocument/2006/math"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0≤</m:t>
                    </m:r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≤128)</m:t>
                    </m:r>
                  </m:oMath>
                </a14:m>
                <a:endParaRPr lang="en-KR" sz="1800" dirty="0"/>
              </a:p>
              <a:p>
                <a:r>
                  <a:rPr lang="en-KR" sz="1800" u="sng" dirty="0"/>
                  <a:t>Mask tokens of the last block</a:t>
                </a:r>
                <a:r>
                  <a:rPr lang="en-KR" sz="1800" dirty="0"/>
                  <a:t> do not change throughout all the timesteps except for the last block (</a:t>
                </a:r>
                <a14:m>
                  <m:oMath xmlns:m="http://schemas.openxmlformats.org/officeDocument/2006/math">
                    <m:r>
                      <a:rPr lang="en-US" sz="1800" i="1">
                        <a:latin typeface="Cambria Math" panose="02040503050406030204" pitchFamily="18" charset="0"/>
                      </a:rPr>
                      <m:t>0≤</m:t>
                    </m:r>
                    <m:r>
                      <a:rPr lang="en-US" sz="1800" i="1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sz="1800" i="1">
                        <a:latin typeface="Cambria Math" panose="02040503050406030204" pitchFamily="18" charset="0"/>
                      </a:rPr>
                      <m:t>≤96)</m:t>
                    </m:r>
                  </m:oMath>
                </a14:m>
                <a:endParaRPr lang="en-KR" sz="1800" dirty="0"/>
              </a:p>
              <a:p>
                <a:r>
                  <a:rPr lang="en-KR" sz="1800" dirty="0"/>
                  <a:t>High cosine similarity of KV across the timesteps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BED9D3E-D63F-CC78-2066-56B9B4700AD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09600" y="1594707"/>
                <a:ext cx="10972800" cy="1397306"/>
              </a:xfrm>
              <a:blipFill>
                <a:blip r:embed="rId2"/>
                <a:stretch>
                  <a:fillRect l="-1156" t="-3604" b="-5405"/>
                </a:stretch>
              </a:blipFill>
            </p:spPr>
            <p:txBody>
              <a:bodyPr/>
              <a:lstStyle/>
              <a:p>
                <a:r>
                  <a:rPr lang="en-K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EAF01F7-59B9-95D6-46BF-99E1262959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4B8DE2-A4E8-46E4-8BBF-D75455EFF32C}" type="slidenum">
              <a:rPr lang="en-US" smtClean="0"/>
              <a:pPr/>
              <a:t>23</a:t>
            </a:fld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59597C3-BC2F-98B9-A61B-DB3328EC5D8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09600" y="6587693"/>
            <a:ext cx="7732143" cy="369332"/>
          </a:xfrm>
        </p:spPr>
        <p:txBody>
          <a:bodyPr/>
          <a:lstStyle/>
          <a:p>
            <a:r>
              <a:rPr lang="en-US" dirty="0"/>
              <a:t>Wu et al., 2025, Fast-</a:t>
            </a:r>
            <a:r>
              <a:rPr lang="en-US" dirty="0" err="1"/>
              <a:t>dLLM</a:t>
            </a:r>
            <a:r>
              <a:rPr lang="en-US" dirty="0"/>
              <a:t>: Training-free Acceleration of Diffusion LLM by Enabling KV Cache and Parallel Decoding</a:t>
            </a:r>
            <a:endParaRPr lang="en-KR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781A863-95CF-D97C-24CC-D6C4E738D12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" y="3020772"/>
            <a:ext cx="8000485" cy="3441493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4842F954-615E-21D5-E404-28E5E20865CE}"/>
              </a:ext>
            </a:extLst>
          </p:cNvPr>
          <p:cNvSpPr txBox="1"/>
          <p:nvPr/>
        </p:nvSpPr>
        <p:spPr>
          <a:xfrm>
            <a:off x="8610085" y="5450449"/>
            <a:ext cx="2920906" cy="738664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algn="ctr"/>
            <a:r>
              <a:rPr lang="en-KR" sz="1400" dirty="0"/>
              <a:t>LLaDA-Instruct, </a:t>
            </a:r>
          </a:p>
          <a:p>
            <a:pPr algn="ctr"/>
            <a:r>
              <a:rPr lang="en-KR" sz="1400" dirty="0"/>
              <a:t>averaged over all tokens of prompt/last block</a:t>
            </a:r>
          </a:p>
        </p:txBody>
      </p:sp>
    </p:spTree>
    <p:extLst>
      <p:ext uri="{BB962C8B-B14F-4D97-AF65-F5344CB8AC3E}">
        <p14:creationId xmlns:p14="http://schemas.microsoft.com/office/powerpoint/2010/main" val="4804347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346ACC-267B-7916-5324-ACAAE5737B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KR" dirty="0"/>
              <a:t>Approximate KV caching in DLMs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74769B-011B-D671-5514-619DD3829EA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714500"/>
            <a:ext cx="10972800" cy="3539430"/>
          </a:xfrm>
        </p:spPr>
        <p:txBody>
          <a:bodyPr/>
          <a:lstStyle/>
          <a:p>
            <a:r>
              <a:rPr lang="en-KR" sz="2000" dirty="0"/>
              <a:t>Journey of every decoded token of MDLM:</a:t>
            </a:r>
          </a:p>
          <a:p>
            <a:pPr lvl="1"/>
            <a:r>
              <a:rPr lang="en-KR" sz="1600" dirty="0"/>
              <a:t>&lt;M&gt; → &lt;M&gt; → … → &lt;M&gt; → 47 → 47 → … → 47</a:t>
            </a:r>
          </a:p>
          <a:p>
            <a:pPr lvl="1"/>
            <a:endParaRPr lang="en-KR" sz="1600" dirty="0"/>
          </a:p>
          <a:p>
            <a:r>
              <a:rPr lang="en-KR" sz="2000" dirty="0"/>
              <a:t>KV changes most sign</a:t>
            </a:r>
            <a:r>
              <a:rPr lang="en-US" altLang="ko-KR" sz="2000" dirty="0" err="1"/>
              <a:t>i</a:t>
            </a:r>
            <a:r>
              <a:rPr lang="en-KR" sz="2000" dirty="0"/>
              <a:t>ficantly for timesteps</a:t>
            </a:r>
          </a:p>
          <a:p>
            <a:pPr lvl="1"/>
            <a:r>
              <a:rPr lang="en-US" sz="1600" dirty="0"/>
              <a:t>w</a:t>
            </a:r>
            <a:r>
              <a:rPr lang="en-KR" sz="1600" dirty="0"/>
              <a:t>here the token is decoded(unmasked)</a:t>
            </a:r>
          </a:p>
          <a:p>
            <a:pPr lvl="1"/>
            <a:r>
              <a:rPr lang="en-US" sz="1600" dirty="0"/>
              <a:t>in the b</a:t>
            </a:r>
            <a:r>
              <a:rPr lang="en-KR" sz="1600" dirty="0"/>
              <a:t>eginning of each block</a:t>
            </a:r>
          </a:p>
          <a:p>
            <a:pPr lvl="1"/>
            <a:endParaRPr lang="en-KR" sz="1600" dirty="0"/>
          </a:p>
          <a:p>
            <a:r>
              <a:rPr lang="en-KR" sz="2000" dirty="0"/>
              <a:t>KV changes the least for timesteps</a:t>
            </a:r>
          </a:p>
          <a:p>
            <a:pPr lvl="1"/>
            <a:r>
              <a:rPr lang="en-US" sz="1600" dirty="0"/>
              <a:t>in the e</a:t>
            </a:r>
            <a:r>
              <a:rPr lang="en-KR" sz="1600" dirty="0"/>
              <a:t>nd of each block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05C6435-2098-3A28-A1A6-731FF9BB5E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4B8DE2-A4E8-46E4-8BBF-D75455EFF32C}" type="slidenum">
              <a:rPr lang="en-US" smtClean="0"/>
              <a:pPr/>
              <a:t>24</a:t>
            </a:fld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C6C194E-3BE6-BBE0-AB28-68952FC89CC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09600" y="6423793"/>
            <a:ext cx="5247736" cy="369332"/>
          </a:xfrm>
        </p:spPr>
        <p:txBody>
          <a:bodyPr/>
          <a:lstStyle/>
          <a:p>
            <a:r>
              <a:rPr lang="en-KR" dirty="0"/>
              <a:t>Ma et al., 2025, </a:t>
            </a:r>
            <a:r>
              <a:rPr lang="en-US" dirty="0" err="1"/>
              <a:t>dKV</a:t>
            </a:r>
            <a:r>
              <a:rPr lang="en-US" dirty="0"/>
              <a:t>-Cache: The Cache for Diffusion Language Models</a:t>
            </a:r>
            <a:endParaRPr lang="en-KR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BB2F937-6AB7-D380-7C51-F2AEDB2969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51178" y="1839495"/>
            <a:ext cx="4676376" cy="3708498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025C65B-E18D-B3A9-F82A-321B42C96E0E}"/>
              </a:ext>
            </a:extLst>
          </p:cNvPr>
          <p:cNvSpPr txBox="1"/>
          <p:nvPr/>
        </p:nvSpPr>
        <p:spPr>
          <a:xfrm>
            <a:off x="6634367" y="5672988"/>
            <a:ext cx="4909998" cy="338554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pPr algn="l"/>
            <a:r>
              <a:rPr lang="en-KR" sz="1600" dirty="0"/>
              <a:t>LLaDA, gen_len = 128, timestep = 128, block size= 64</a:t>
            </a:r>
          </a:p>
        </p:txBody>
      </p:sp>
    </p:spTree>
    <p:extLst>
      <p:ext uri="{BB962C8B-B14F-4D97-AF65-F5344CB8AC3E}">
        <p14:creationId xmlns:p14="http://schemas.microsoft.com/office/powerpoint/2010/main" val="32499403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32889F-350B-7FC8-ADA0-E4F7762279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KR" dirty="0"/>
              <a:t>Long context + DLM = 🐌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04A7EE-FAB9-38BF-7876-9FAF32A957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714500"/>
            <a:ext cx="10972800" cy="3970318"/>
          </a:xfrm>
        </p:spPr>
        <p:txBody>
          <a:bodyPr/>
          <a:lstStyle/>
          <a:p>
            <a:r>
              <a:rPr lang="en-KR" sz="2000" dirty="0"/>
              <a:t>AR LM decoding time complexity</a:t>
            </a:r>
          </a:p>
          <a:p>
            <a:pPr lvl="1"/>
            <a:r>
              <a:rPr lang="en-KR" sz="1800" dirty="0"/>
              <a:t>Transformer with KV caching: O(n)</a:t>
            </a:r>
          </a:p>
          <a:p>
            <a:pPr lvl="1"/>
            <a:r>
              <a:rPr lang="en-KR" sz="1800" dirty="0"/>
              <a:t>=&gt; O(n^2)</a:t>
            </a:r>
          </a:p>
          <a:p>
            <a:pPr marL="0" indent="0">
              <a:buNone/>
            </a:pPr>
            <a:endParaRPr lang="en-KR" sz="2000" dirty="0"/>
          </a:p>
          <a:p>
            <a:r>
              <a:rPr lang="en-KR" sz="2000" dirty="0"/>
              <a:t>DLM decoding time complexity</a:t>
            </a:r>
          </a:p>
          <a:p>
            <a:pPr lvl="1"/>
            <a:r>
              <a:rPr lang="en-KR" sz="1800" dirty="0"/>
              <a:t>Transformer w/o KV caching: O(n^2)</a:t>
            </a:r>
          </a:p>
          <a:p>
            <a:pPr lvl="2"/>
            <a:r>
              <a:rPr lang="en-KR" sz="1600" dirty="0"/>
              <a:t>If we linearly scale up timesteps with n, we get O(n^3)</a:t>
            </a:r>
          </a:p>
          <a:p>
            <a:pPr lvl="1"/>
            <a:r>
              <a:rPr lang="en-KR" sz="1800" dirty="0"/>
              <a:t>Keeping DLM decoding time complexity to O(n^2) requires either</a:t>
            </a:r>
          </a:p>
          <a:p>
            <a:pPr lvl="2"/>
            <a:r>
              <a:rPr lang="en-US" sz="1600" dirty="0"/>
              <a:t>O(1) parallel decoding</a:t>
            </a:r>
          </a:p>
          <a:p>
            <a:pPr lvl="2"/>
            <a:r>
              <a:rPr lang="en-US" sz="1600" dirty="0"/>
              <a:t>KV cache of only O(1) tokens are re-computed (“</a:t>
            </a:r>
            <a:r>
              <a:rPr lang="en-US" sz="1600" dirty="0" err="1"/>
              <a:t>dKV</a:t>
            </a:r>
            <a:r>
              <a:rPr lang="en-US" sz="1600" dirty="0"/>
              <a:t>-Cache-Greedy”, Ma+ ‘25)</a:t>
            </a:r>
            <a:endParaRPr lang="en-KR" sz="16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79ED928-0BD4-72BB-02AF-F461A4C2CC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4B8DE2-A4E8-46E4-8BBF-D75455EFF32C}" type="slidenum">
              <a:rPr lang="en-US" smtClean="0"/>
              <a:pPr/>
              <a:t>25</a:t>
            </a:fld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6A53542-7CE0-3044-7F1E-D29B4A23FBD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09600" y="6423793"/>
            <a:ext cx="4566249" cy="369332"/>
          </a:xfrm>
        </p:spPr>
        <p:txBody>
          <a:bodyPr/>
          <a:lstStyle/>
          <a:p>
            <a:r>
              <a:rPr lang="en-KR" dirty="0"/>
              <a:t>Ma et al., 2025, </a:t>
            </a:r>
            <a:r>
              <a:rPr lang="en-US" dirty="0" err="1"/>
              <a:t>dKV</a:t>
            </a:r>
            <a:r>
              <a:rPr lang="en-US" dirty="0"/>
              <a:t>-Cache: The Cache for Diffusion Language Models</a:t>
            </a:r>
            <a:endParaRPr lang="en-KR" dirty="0"/>
          </a:p>
        </p:txBody>
      </p:sp>
    </p:spTree>
    <p:extLst>
      <p:ext uri="{BB962C8B-B14F-4D97-AF65-F5344CB8AC3E}">
        <p14:creationId xmlns:p14="http://schemas.microsoft.com/office/powerpoint/2010/main" val="42284367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18440E9B-E59E-2548-EC4F-D37534DB86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2718036"/>
            <a:ext cx="7823200" cy="1421928"/>
          </a:xfrm>
        </p:spPr>
        <p:txBody>
          <a:bodyPr/>
          <a:lstStyle/>
          <a:p>
            <a:r>
              <a:rPr lang="en-KR" dirty="0"/>
              <a:t>Block diffusion:</a:t>
            </a:r>
            <a:br>
              <a:rPr lang="en-KR" dirty="0"/>
            </a:br>
            <a:r>
              <a:rPr lang="en-KR" dirty="0"/>
              <a:t>hybrid of diffusion and AR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E2E4596-010F-0C51-9D10-E49743D015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4B8DE2-A4E8-46E4-8BBF-D75455EFF32C}" type="slidenum">
              <a:rPr lang="en-US" smtClean="0"/>
              <a:pPr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32218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39AA30-FAB9-5667-BCD4-0E376E6172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KR" dirty="0"/>
              <a:t>Block diffusion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3A1976-A880-0DAE-2461-797E9E8DC87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714500"/>
            <a:ext cx="10972800" cy="1551194"/>
          </a:xfrm>
        </p:spPr>
        <p:txBody>
          <a:bodyPr/>
          <a:lstStyle/>
          <a:p>
            <a:r>
              <a:rPr lang="en-KR" sz="2000" dirty="0"/>
              <a:t>Block diffusion(a.k.a. BD3-LM) (ICLR ‘25 Oral)</a:t>
            </a:r>
          </a:p>
          <a:p>
            <a:r>
              <a:rPr lang="en-KR" sz="2000" dirty="0"/>
              <a:t>Hybrid of diffusion and AR</a:t>
            </a:r>
          </a:p>
          <a:p>
            <a:pPr lvl="1"/>
            <a:r>
              <a:rPr lang="en-KR" sz="1600" dirty="0"/>
              <a:t>Diffusion within each block</a:t>
            </a:r>
          </a:p>
          <a:p>
            <a:pPr lvl="1"/>
            <a:r>
              <a:rPr lang="en-KR" sz="1600" dirty="0"/>
              <a:t>AR across the blocks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E5A5A85-4D61-AE0A-55B4-9CE771D482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4B8DE2-A4E8-46E4-8BBF-D75455EFF32C}" type="slidenum">
              <a:rPr lang="en-US" smtClean="0"/>
              <a:pPr/>
              <a:t>27</a:t>
            </a:fld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D2A7C9E-A3A5-0F0C-9C51-C1CA527398E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09600" y="6423793"/>
            <a:ext cx="7722946" cy="369332"/>
          </a:xfrm>
        </p:spPr>
        <p:txBody>
          <a:bodyPr/>
          <a:lstStyle/>
          <a:p>
            <a:r>
              <a:rPr lang="en-KR" dirty="0"/>
              <a:t>Arriola et al., 2025, </a:t>
            </a:r>
            <a:r>
              <a:rPr lang="en-US" dirty="0"/>
              <a:t>Block Diffusion: Interpolating Between Autoregressive and Diffusion Language Models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11891A4-4877-D7FD-9C75-1AFF2FB505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41972" y="3417431"/>
            <a:ext cx="7508055" cy="2854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537313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351A20-F8DE-81F4-F7D2-753E2D5C2F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0FBB752-B7E2-B404-F1BD-133101B4F9C2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EB4B8DE2-A4E8-46E4-8BBF-D75455EFF32C}" type="slidenum">
              <a:rPr lang="en-US" smtClean="0"/>
              <a:pPr/>
              <a:t>28</a:t>
            </a:fld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BF34D58-847E-BF53-5498-8A1A2D744C7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KR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CC48AE05-9161-6982-73F4-7B86A5567D3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88302862"/>
              </p:ext>
            </p:extLst>
          </p:nvPr>
        </p:nvGraphicFramePr>
        <p:xfrm>
          <a:off x="663422" y="1030821"/>
          <a:ext cx="1694454" cy="3708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47227">
                  <a:extLst>
                    <a:ext uri="{9D8B030D-6E8A-4147-A177-3AD203B41FA5}">
                      <a16:colId xmlns:a16="http://schemas.microsoft.com/office/drawing/2014/main" val="2725002957"/>
                    </a:ext>
                  </a:extLst>
                </a:gridCol>
                <a:gridCol w="847227">
                  <a:extLst>
                    <a:ext uri="{9D8B030D-6E8A-4147-A177-3AD203B41FA5}">
                      <a16:colId xmlns:a16="http://schemas.microsoft.com/office/drawing/2014/main" val="296759118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KR" dirty="0"/>
                        <a:t>&lt;M&gt;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KR" dirty="0"/>
                        <a:t>&lt;M&gt;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46548387"/>
                  </a:ext>
                </a:extLst>
              </a:tr>
            </a:tbl>
          </a:graphicData>
        </a:graphic>
      </p:graphicFrame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3A75883C-FDFE-176D-08F6-2EEBA948316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83880853"/>
              </p:ext>
            </p:extLst>
          </p:nvPr>
        </p:nvGraphicFramePr>
        <p:xfrm>
          <a:off x="663422" y="1550284"/>
          <a:ext cx="1694454" cy="3708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47227">
                  <a:extLst>
                    <a:ext uri="{9D8B030D-6E8A-4147-A177-3AD203B41FA5}">
                      <a16:colId xmlns:a16="http://schemas.microsoft.com/office/drawing/2014/main" val="2725002957"/>
                    </a:ext>
                  </a:extLst>
                </a:gridCol>
                <a:gridCol w="847227">
                  <a:extLst>
                    <a:ext uri="{9D8B030D-6E8A-4147-A177-3AD203B41FA5}">
                      <a16:colId xmlns:a16="http://schemas.microsoft.com/office/drawing/2014/main" val="296759118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KR" dirty="0"/>
                        <a:t>&lt;M&gt;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KR" dirty="0"/>
                        <a:t>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46548387"/>
                  </a:ext>
                </a:extLst>
              </a:tr>
            </a:tbl>
          </a:graphicData>
        </a:graphic>
      </p:graphicFrame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5DD1325E-8071-1C3F-6C7A-CA70AB1F26C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99823916"/>
              </p:ext>
            </p:extLst>
          </p:nvPr>
        </p:nvGraphicFramePr>
        <p:xfrm>
          <a:off x="663422" y="2069140"/>
          <a:ext cx="1694454" cy="3708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47227">
                  <a:extLst>
                    <a:ext uri="{9D8B030D-6E8A-4147-A177-3AD203B41FA5}">
                      <a16:colId xmlns:a16="http://schemas.microsoft.com/office/drawing/2014/main" val="2725002957"/>
                    </a:ext>
                  </a:extLst>
                </a:gridCol>
                <a:gridCol w="847227">
                  <a:extLst>
                    <a:ext uri="{9D8B030D-6E8A-4147-A177-3AD203B41FA5}">
                      <a16:colId xmlns:a16="http://schemas.microsoft.com/office/drawing/2014/main" val="296759118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KR" dirty="0"/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KR" dirty="0"/>
                        <a:t>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46548387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549A32F8-981E-E340-D76E-FF1AC9FF8191}"/>
              </a:ext>
            </a:extLst>
          </p:cNvPr>
          <p:cNvSpPr txBox="1"/>
          <p:nvPr/>
        </p:nvSpPr>
        <p:spPr>
          <a:xfrm>
            <a:off x="1289843" y="639081"/>
            <a:ext cx="442429" cy="261610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pPr algn="l"/>
            <a:r>
              <a:rPr lang="en-KR" sz="1100" dirty="0"/>
              <a:t>Block 1</a:t>
            </a:r>
          </a:p>
        </p:txBody>
      </p:sp>
      <p:sp>
        <p:nvSpPr>
          <p:cNvPr id="10" name="Right Brace 9">
            <a:extLst>
              <a:ext uri="{FF2B5EF4-FFF2-40B4-BE49-F238E27FC236}">
                <a16:creationId xmlns:a16="http://schemas.microsoft.com/office/drawing/2014/main" id="{CCD00315-609A-05D5-2961-4B98A750EA5A}"/>
              </a:ext>
            </a:extLst>
          </p:cNvPr>
          <p:cNvSpPr/>
          <p:nvPr/>
        </p:nvSpPr>
        <p:spPr>
          <a:xfrm rot="16200000">
            <a:off x="1434585" y="91600"/>
            <a:ext cx="128106" cy="1665552"/>
          </a:xfrm>
          <a:prstGeom prst="rightBrace">
            <a:avLst/>
          </a:prstGeom>
          <a:ln w="19050" cap="rnd">
            <a:solidFill>
              <a:schemeClr val="tx1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KR"/>
          </a:p>
        </p:txBody>
      </p:sp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213D21E3-3095-61D8-C521-58CDB8703159}"/>
              </a:ext>
            </a:extLst>
          </p:cNvPr>
          <p:cNvSpPr/>
          <p:nvPr/>
        </p:nvSpPr>
        <p:spPr>
          <a:xfrm>
            <a:off x="663422" y="3563542"/>
            <a:ext cx="838373" cy="370840"/>
          </a:xfrm>
          <a:prstGeom prst="roundRect">
            <a:avLst/>
          </a:prstGeom>
          <a:noFill/>
          <a:ln w="19050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45720" rIns="45720" rtlCol="0" anchor="ctr"/>
          <a:lstStyle/>
          <a:p>
            <a:pPr algn="ctr"/>
            <a:r>
              <a:rPr lang="en-US" altLang="ko-KR" sz="1200" dirty="0">
                <a:solidFill>
                  <a:schemeClr val="tx1"/>
                </a:solidFill>
              </a:rPr>
              <a:t>KV_B</a:t>
            </a:r>
            <a:endParaRPr lang="en-KR" sz="1200" dirty="0" err="1">
              <a:solidFill>
                <a:schemeClr val="tx1"/>
              </a:solidFill>
            </a:endParaRP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A879AC47-0BC3-BA4D-D28A-63995B9DA84C}"/>
              </a:ext>
            </a:extLst>
          </p:cNvPr>
          <p:cNvSpPr/>
          <p:nvPr/>
        </p:nvSpPr>
        <p:spPr>
          <a:xfrm>
            <a:off x="1510649" y="3563542"/>
            <a:ext cx="847227" cy="370840"/>
          </a:xfrm>
          <a:prstGeom prst="roundRect">
            <a:avLst/>
          </a:prstGeom>
          <a:noFill/>
          <a:ln w="19050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45720" rIns="45720" rtlCol="0" anchor="ctr"/>
          <a:lstStyle/>
          <a:p>
            <a:pPr algn="ctr"/>
            <a:r>
              <a:rPr lang="en-US" altLang="ko-KR" sz="1200" dirty="0">
                <a:solidFill>
                  <a:schemeClr val="tx1"/>
                </a:solidFill>
              </a:rPr>
              <a:t>KV_A</a:t>
            </a:r>
            <a:endParaRPr lang="en-KR" sz="1200" dirty="0" err="1">
              <a:solidFill>
                <a:schemeClr val="tx1"/>
              </a:solidFill>
            </a:endParaRP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E5B37A9D-C922-2040-84D0-2FA2936E6138}"/>
              </a:ext>
            </a:extLst>
          </p:cNvPr>
          <p:cNvCxnSpPr>
            <a:cxnSpLocks/>
          </p:cNvCxnSpPr>
          <p:nvPr/>
        </p:nvCxnSpPr>
        <p:spPr>
          <a:xfrm>
            <a:off x="2464641" y="1030821"/>
            <a:ext cx="0" cy="1409159"/>
          </a:xfrm>
          <a:prstGeom prst="straightConnector1">
            <a:avLst/>
          </a:prstGeom>
          <a:ln w="19050" cap="rnd">
            <a:solidFill>
              <a:srgbClr val="FF0000"/>
            </a:solidFill>
            <a:round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4B7A5123-53C9-0A48-F5F5-8D326D5D776C}"/>
              </a:ext>
            </a:extLst>
          </p:cNvPr>
          <p:cNvSpPr txBox="1"/>
          <p:nvPr/>
        </p:nvSpPr>
        <p:spPr>
          <a:xfrm>
            <a:off x="2567580" y="1077741"/>
            <a:ext cx="216406" cy="276999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pPr algn="l"/>
            <a:r>
              <a:rPr lang="en-US" sz="1200" dirty="0">
                <a:solidFill>
                  <a:srgbClr val="FF0000"/>
                </a:solidFill>
              </a:rPr>
              <a:t>t=1</a:t>
            </a:r>
            <a:endParaRPr lang="en-KR" sz="1200" dirty="0" err="1">
              <a:solidFill>
                <a:srgbClr val="FF0000"/>
              </a:solidFill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EDCF96FF-D44D-2D70-EB34-05EAD83F8B9D}"/>
              </a:ext>
            </a:extLst>
          </p:cNvPr>
          <p:cNvSpPr txBox="1"/>
          <p:nvPr/>
        </p:nvSpPr>
        <p:spPr>
          <a:xfrm>
            <a:off x="2543536" y="2116060"/>
            <a:ext cx="240450" cy="276999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pPr algn="l"/>
            <a:r>
              <a:rPr lang="en-US" sz="1200" dirty="0">
                <a:solidFill>
                  <a:srgbClr val="FF0000"/>
                </a:solidFill>
              </a:rPr>
              <a:t>t=0</a:t>
            </a:r>
            <a:endParaRPr lang="en-KR" sz="1200" dirty="0" err="1">
              <a:solidFill>
                <a:srgbClr val="FF0000"/>
              </a:solidFill>
            </a:endParaRPr>
          </a:p>
        </p:txBody>
      </p:sp>
      <p:pic>
        <p:nvPicPr>
          <p:cNvPr id="34" name="Picture 33">
            <a:extLst>
              <a:ext uri="{FF2B5EF4-FFF2-40B4-BE49-F238E27FC236}">
                <a16:creationId xmlns:a16="http://schemas.microsoft.com/office/drawing/2014/main" id="{1A74FD82-CB4C-68C6-3218-DBF5698351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62987" y="103874"/>
            <a:ext cx="3950793" cy="2794563"/>
          </a:xfrm>
          <a:prstGeom prst="rect">
            <a:avLst/>
          </a:prstGeom>
        </p:spPr>
      </p:pic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DBAE33D2-8DF4-AD7E-5BD9-CAED9E73D3C4}"/>
              </a:ext>
            </a:extLst>
          </p:cNvPr>
          <p:cNvCxnSpPr>
            <a:cxnSpLocks/>
          </p:cNvCxnSpPr>
          <p:nvPr/>
        </p:nvCxnSpPr>
        <p:spPr>
          <a:xfrm>
            <a:off x="1510649" y="2499079"/>
            <a:ext cx="0" cy="988963"/>
          </a:xfrm>
          <a:prstGeom prst="straightConnector1">
            <a:avLst/>
          </a:prstGeom>
          <a:ln w="19050" cap="rnd">
            <a:solidFill>
              <a:srgbClr val="002060"/>
            </a:solidFill>
            <a:round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TextBox 43">
            <a:extLst>
              <a:ext uri="{FF2B5EF4-FFF2-40B4-BE49-F238E27FC236}">
                <a16:creationId xmlns:a16="http://schemas.microsoft.com/office/drawing/2014/main" id="{45996836-D6EA-DF00-532D-55B301A34C61}"/>
              </a:ext>
            </a:extLst>
          </p:cNvPr>
          <p:cNvSpPr txBox="1"/>
          <p:nvPr/>
        </p:nvSpPr>
        <p:spPr>
          <a:xfrm>
            <a:off x="3896760" y="970705"/>
            <a:ext cx="3020058" cy="1631216"/>
          </a:xfrm>
          <a:prstGeom prst="rect">
            <a:avLst/>
          </a:prstGeom>
          <a:noFill/>
          <a:ln w="9525">
            <a:solidFill>
              <a:srgbClr val="FF0000"/>
            </a:solidFill>
            <a:prstDash val="dash"/>
          </a:ln>
        </p:spPr>
        <p:txBody>
          <a:bodyPr wrap="none" lIns="0" rIns="0" rtlCol="0">
            <a:spAutoFit/>
          </a:bodyPr>
          <a:lstStyle/>
          <a:p>
            <a:pPr algn="ctr"/>
            <a:r>
              <a:rPr lang="en-KR" dirty="0"/>
              <a:t> 1st forward pass:</a:t>
            </a:r>
          </a:p>
          <a:p>
            <a:pPr algn="ctr"/>
            <a:r>
              <a:rPr lang="en-KR" dirty="0"/>
              <a:t> For denoising block 1</a:t>
            </a:r>
          </a:p>
          <a:p>
            <a:pPr algn="ctr"/>
            <a:endParaRPr lang="en-KR" dirty="0"/>
          </a:p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en-KR" sz="1400" dirty="0"/>
              <a:t>Input: masked tokens [&lt;M&gt;, &lt;M&gt;]</a:t>
            </a:r>
          </a:p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en-KR" sz="1400" dirty="0"/>
              <a:t>Output: denoised tokens [B, A]</a:t>
            </a:r>
          </a:p>
          <a:p>
            <a:pPr algn="ctr"/>
            <a:endParaRPr lang="en-KR" dirty="0"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CE2C8478-B250-9E53-8679-598C93FD56C1}"/>
              </a:ext>
            </a:extLst>
          </p:cNvPr>
          <p:cNvSpPr txBox="1"/>
          <p:nvPr/>
        </p:nvSpPr>
        <p:spPr>
          <a:xfrm>
            <a:off x="3896759" y="3158639"/>
            <a:ext cx="3896901" cy="1354217"/>
          </a:xfrm>
          <a:prstGeom prst="rect">
            <a:avLst/>
          </a:prstGeom>
          <a:noFill/>
          <a:ln w="9525">
            <a:solidFill>
              <a:srgbClr val="002060"/>
            </a:solidFill>
            <a:prstDash val="dash"/>
          </a:ln>
        </p:spPr>
        <p:txBody>
          <a:bodyPr wrap="none" lIns="0" rIns="0" rtlCol="0">
            <a:spAutoFit/>
          </a:bodyPr>
          <a:lstStyle/>
          <a:p>
            <a:pPr algn="ctr"/>
            <a:r>
              <a:rPr lang="en-KR" dirty="0"/>
              <a:t>2nd forward pass:</a:t>
            </a:r>
          </a:p>
          <a:p>
            <a:pPr algn="ctr"/>
            <a:r>
              <a:rPr lang="en-KR" dirty="0"/>
              <a:t>For KV caching block 1</a:t>
            </a:r>
          </a:p>
          <a:p>
            <a:pPr algn="ctr"/>
            <a:endParaRPr lang="en-KR" dirty="0"/>
          </a:p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en-KR" sz="1400" dirty="0"/>
              <a:t>Input: clean tokens [B, A]</a:t>
            </a:r>
          </a:p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en-KR" sz="1400" dirty="0"/>
              <a:t>Output: KV of [B, A] via bidirectional attention</a:t>
            </a:r>
          </a:p>
        </p:txBody>
      </p: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F44730BA-99C5-9C64-43C3-9E82D1EB2555}"/>
              </a:ext>
            </a:extLst>
          </p:cNvPr>
          <p:cNvCxnSpPr/>
          <p:nvPr/>
        </p:nvCxnSpPr>
        <p:spPr>
          <a:xfrm>
            <a:off x="2663761" y="1689521"/>
            <a:ext cx="1169452" cy="0"/>
          </a:xfrm>
          <a:prstGeom prst="line">
            <a:avLst/>
          </a:prstGeom>
          <a:ln w="19050" cap="rnd">
            <a:solidFill>
              <a:srgbClr val="FF0000"/>
            </a:solidFill>
            <a:round/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E620DACE-8974-2084-10C2-E8466932428B}"/>
              </a:ext>
            </a:extLst>
          </p:cNvPr>
          <p:cNvCxnSpPr>
            <a:cxnSpLocks/>
          </p:cNvCxnSpPr>
          <p:nvPr/>
        </p:nvCxnSpPr>
        <p:spPr>
          <a:xfrm flipV="1">
            <a:off x="6993535" y="1598686"/>
            <a:ext cx="1575180" cy="61567"/>
          </a:xfrm>
          <a:prstGeom prst="line">
            <a:avLst/>
          </a:prstGeom>
          <a:ln w="19050" cap="rnd">
            <a:solidFill>
              <a:srgbClr val="FF0000"/>
            </a:solidFill>
            <a:round/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3237754B-DBF3-B895-9C39-25FDC23BBC1C}"/>
              </a:ext>
            </a:extLst>
          </p:cNvPr>
          <p:cNvCxnSpPr>
            <a:cxnSpLocks/>
          </p:cNvCxnSpPr>
          <p:nvPr/>
        </p:nvCxnSpPr>
        <p:spPr>
          <a:xfrm>
            <a:off x="1732272" y="3036300"/>
            <a:ext cx="2164487" cy="326941"/>
          </a:xfrm>
          <a:prstGeom prst="line">
            <a:avLst/>
          </a:prstGeom>
          <a:ln w="19050" cap="rnd">
            <a:solidFill>
              <a:srgbClr val="002060"/>
            </a:solidFill>
            <a:round/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4AA9B184-9E32-EB38-1881-A0C0576CAA3A}"/>
              </a:ext>
            </a:extLst>
          </p:cNvPr>
          <p:cNvCxnSpPr>
            <a:cxnSpLocks/>
            <a:endCxn id="45" idx="3"/>
          </p:cNvCxnSpPr>
          <p:nvPr/>
        </p:nvCxnSpPr>
        <p:spPr>
          <a:xfrm flipH="1">
            <a:off x="7793660" y="1811861"/>
            <a:ext cx="775055" cy="2023887"/>
          </a:xfrm>
          <a:prstGeom prst="line">
            <a:avLst/>
          </a:prstGeom>
          <a:ln w="19050" cap="rnd">
            <a:solidFill>
              <a:srgbClr val="002060"/>
            </a:solidFill>
            <a:round/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967337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13" grpId="0" animBg="1"/>
      <p:bldP spid="45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5810B9-F2A6-4E42-EA99-D61BF324FB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E357892-B45C-C20C-1306-928EDB6B7A19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EB4B8DE2-A4E8-46E4-8BBF-D75455EFF32C}" type="slidenum">
              <a:rPr lang="en-US" smtClean="0"/>
              <a:pPr/>
              <a:t>29</a:t>
            </a:fld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9DE3B70-5FF6-FC61-FAD6-9327279B93C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KR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FF85BD2A-DEAF-787C-8A98-6F0F16C7730B}"/>
              </a:ext>
            </a:extLst>
          </p:cNvPr>
          <p:cNvGraphicFramePr>
            <a:graphicFrameLocks noGrp="1"/>
          </p:cNvGraphicFramePr>
          <p:nvPr/>
        </p:nvGraphicFramePr>
        <p:xfrm>
          <a:off x="663422" y="1030821"/>
          <a:ext cx="1694454" cy="3708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47227">
                  <a:extLst>
                    <a:ext uri="{9D8B030D-6E8A-4147-A177-3AD203B41FA5}">
                      <a16:colId xmlns:a16="http://schemas.microsoft.com/office/drawing/2014/main" val="2725002957"/>
                    </a:ext>
                  </a:extLst>
                </a:gridCol>
                <a:gridCol w="847227">
                  <a:extLst>
                    <a:ext uri="{9D8B030D-6E8A-4147-A177-3AD203B41FA5}">
                      <a16:colId xmlns:a16="http://schemas.microsoft.com/office/drawing/2014/main" val="296759118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KR" dirty="0"/>
                        <a:t>&lt;M&gt;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KR" dirty="0"/>
                        <a:t>&lt;M&gt;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46548387"/>
                  </a:ext>
                </a:extLst>
              </a:tr>
            </a:tbl>
          </a:graphicData>
        </a:graphic>
      </p:graphicFrame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268BCCB1-4DF2-0EB2-AD55-222B89286695}"/>
              </a:ext>
            </a:extLst>
          </p:cNvPr>
          <p:cNvGraphicFramePr>
            <a:graphicFrameLocks noGrp="1"/>
          </p:cNvGraphicFramePr>
          <p:nvPr/>
        </p:nvGraphicFramePr>
        <p:xfrm>
          <a:off x="663422" y="1550284"/>
          <a:ext cx="1694454" cy="3708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47227">
                  <a:extLst>
                    <a:ext uri="{9D8B030D-6E8A-4147-A177-3AD203B41FA5}">
                      <a16:colId xmlns:a16="http://schemas.microsoft.com/office/drawing/2014/main" val="2725002957"/>
                    </a:ext>
                  </a:extLst>
                </a:gridCol>
                <a:gridCol w="847227">
                  <a:extLst>
                    <a:ext uri="{9D8B030D-6E8A-4147-A177-3AD203B41FA5}">
                      <a16:colId xmlns:a16="http://schemas.microsoft.com/office/drawing/2014/main" val="296759118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KR" dirty="0"/>
                        <a:t>&lt;M&gt;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KR" dirty="0"/>
                        <a:t>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46548387"/>
                  </a:ext>
                </a:extLst>
              </a:tr>
            </a:tbl>
          </a:graphicData>
        </a:graphic>
      </p:graphicFrame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77260BCA-918F-B566-BB80-5E2501334601}"/>
              </a:ext>
            </a:extLst>
          </p:cNvPr>
          <p:cNvGraphicFramePr>
            <a:graphicFrameLocks noGrp="1"/>
          </p:cNvGraphicFramePr>
          <p:nvPr/>
        </p:nvGraphicFramePr>
        <p:xfrm>
          <a:off x="663422" y="2069140"/>
          <a:ext cx="1694454" cy="3708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47227">
                  <a:extLst>
                    <a:ext uri="{9D8B030D-6E8A-4147-A177-3AD203B41FA5}">
                      <a16:colId xmlns:a16="http://schemas.microsoft.com/office/drawing/2014/main" val="2725002957"/>
                    </a:ext>
                  </a:extLst>
                </a:gridCol>
                <a:gridCol w="847227">
                  <a:extLst>
                    <a:ext uri="{9D8B030D-6E8A-4147-A177-3AD203B41FA5}">
                      <a16:colId xmlns:a16="http://schemas.microsoft.com/office/drawing/2014/main" val="296759118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KR" dirty="0"/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KR" dirty="0"/>
                        <a:t>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46548387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42DCE829-341D-E284-9462-1688D75C8CC9}"/>
              </a:ext>
            </a:extLst>
          </p:cNvPr>
          <p:cNvSpPr txBox="1"/>
          <p:nvPr/>
        </p:nvSpPr>
        <p:spPr>
          <a:xfrm>
            <a:off x="1289843" y="639081"/>
            <a:ext cx="442429" cy="261610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pPr algn="l"/>
            <a:r>
              <a:rPr lang="en-KR" sz="1100" dirty="0"/>
              <a:t>Block 1</a:t>
            </a:r>
          </a:p>
        </p:txBody>
      </p:sp>
      <p:sp>
        <p:nvSpPr>
          <p:cNvPr id="10" name="Right Brace 9">
            <a:extLst>
              <a:ext uri="{FF2B5EF4-FFF2-40B4-BE49-F238E27FC236}">
                <a16:creationId xmlns:a16="http://schemas.microsoft.com/office/drawing/2014/main" id="{882E6D98-1FA5-BEFA-9DD6-89EC63A6E13F}"/>
              </a:ext>
            </a:extLst>
          </p:cNvPr>
          <p:cNvSpPr/>
          <p:nvPr/>
        </p:nvSpPr>
        <p:spPr>
          <a:xfrm rot="16200000">
            <a:off x="1434585" y="91600"/>
            <a:ext cx="128106" cy="1665552"/>
          </a:xfrm>
          <a:prstGeom prst="rightBrace">
            <a:avLst/>
          </a:prstGeom>
          <a:ln w="19050" cap="rnd">
            <a:solidFill>
              <a:schemeClr val="tx1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KR"/>
          </a:p>
        </p:txBody>
      </p:sp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0E775720-9F73-B641-7D60-AAEA0157E575}"/>
              </a:ext>
            </a:extLst>
          </p:cNvPr>
          <p:cNvSpPr/>
          <p:nvPr/>
        </p:nvSpPr>
        <p:spPr>
          <a:xfrm>
            <a:off x="663422" y="3563542"/>
            <a:ext cx="838373" cy="370840"/>
          </a:xfrm>
          <a:prstGeom prst="roundRect">
            <a:avLst/>
          </a:prstGeom>
          <a:noFill/>
          <a:ln w="19050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45720" rIns="45720" rtlCol="0" anchor="ctr"/>
          <a:lstStyle/>
          <a:p>
            <a:pPr algn="ctr"/>
            <a:r>
              <a:rPr lang="en-US" altLang="ko-KR" sz="1200" dirty="0">
                <a:solidFill>
                  <a:schemeClr val="tx1"/>
                </a:solidFill>
              </a:rPr>
              <a:t>KV_B</a:t>
            </a:r>
            <a:endParaRPr lang="en-KR" sz="1200" dirty="0" err="1">
              <a:solidFill>
                <a:schemeClr val="tx1"/>
              </a:solidFill>
            </a:endParaRP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93371119-F4CD-0915-4887-9D69220B53EA}"/>
              </a:ext>
            </a:extLst>
          </p:cNvPr>
          <p:cNvSpPr/>
          <p:nvPr/>
        </p:nvSpPr>
        <p:spPr>
          <a:xfrm>
            <a:off x="1510649" y="3563542"/>
            <a:ext cx="847227" cy="370840"/>
          </a:xfrm>
          <a:prstGeom prst="roundRect">
            <a:avLst/>
          </a:prstGeom>
          <a:noFill/>
          <a:ln w="19050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45720" rIns="45720" rtlCol="0" anchor="ctr"/>
          <a:lstStyle/>
          <a:p>
            <a:pPr algn="ctr"/>
            <a:r>
              <a:rPr lang="en-US" altLang="ko-KR" sz="1200" dirty="0">
                <a:solidFill>
                  <a:schemeClr val="tx1"/>
                </a:solidFill>
              </a:rPr>
              <a:t>KV_A</a:t>
            </a:r>
            <a:endParaRPr lang="en-KR" sz="1200" dirty="0" err="1">
              <a:solidFill>
                <a:schemeClr val="tx1"/>
              </a:solidFill>
            </a:endParaRP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15718558-722C-F0AD-9BBB-F8A4E7B3CA4F}"/>
              </a:ext>
            </a:extLst>
          </p:cNvPr>
          <p:cNvCxnSpPr>
            <a:cxnSpLocks/>
          </p:cNvCxnSpPr>
          <p:nvPr/>
        </p:nvCxnSpPr>
        <p:spPr>
          <a:xfrm>
            <a:off x="2464641" y="1030821"/>
            <a:ext cx="0" cy="1409159"/>
          </a:xfrm>
          <a:prstGeom prst="straightConnector1">
            <a:avLst/>
          </a:prstGeom>
          <a:ln w="19050" cap="rnd">
            <a:solidFill>
              <a:srgbClr val="FF0000"/>
            </a:solidFill>
            <a:round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35C78A14-6EA3-784A-A3A6-6E2CF16C5A60}"/>
              </a:ext>
            </a:extLst>
          </p:cNvPr>
          <p:cNvSpPr txBox="1"/>
          <p:nvPr/>
        </p:nvSpPr>
        <p:spPr>
          <a:xfrm>
            <a:off x="2567580" y="1077741"/>
            <a:ext cx="216406" cy="276999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pPr algn="l"/>
            <a:r>
              <a:rPr lang="en-US" sz="1200" dirty="0">
                <a:solidFill>
                  <a:srgbClr val="FF0000"/>
                </a:solidFill>
              </a:rPr>
              <a:t>t=1</a:t>
            </a:r>
            <a:endParaRPr lang="en-KR" sz="1200" dirty="0" err="1">
              <a:solidFill>
                <a:srgbClr val="FF0000"/>
              </a:solidFill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6880BD2-7EC7-37CE-2165-A88AACC656BA}"/>
              </a:ext>
            </a:extLst>
          </p:cNvPr>
          <p:cNvSpPr txBox="1"/>
          <p:nvPr/>
        </p:nvSpPr>
        <p:spPr>
          <a:xfrm>
            <a:off x="2543536" y="2116060"/>
            <a:ext cx="240450" cy="276999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pPr algn="l"/>
            <a:r>
              <a:rPr lang="en-US" sz="1200" dirty="0">
                <a:solidFill>
                  <a:srgbClr val="FF0000"/>
                </a:solidFill>
              </a:rPr>
              <a:t>t=0</a:t>
            </a:r>
            <a:endParaRPr lang="en-KR" sz="1200" dirty="0" err="1">
              <a:solidFill>
                <a:srgbClr val="FF0000"/>
              </a:solidFill>
            </a:endParaRPr>
          </a:p>
        </p:txBody>
      </p:sp>
      <p:pic>
        <p:nvPicPr>
          <p:cNvPr id="34" name="Picture 33">
            <a:extLst>
              <a:ext uri="{FF2B5EF4-FFF2-40B4-BE49-F238E27FC236}">
                <a16:creationId xmlns:a16="http://schemas.microsoft.com/office/drawing/2014/main" id="{E7B2D7E8-82BE-E205-C730-087988FEE2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62987" y="103874"/>
            <a:ext cx="3950793" cy="2794563"/>
          </a:xfrm>
          <a:prstGeom prst="rect">
            <a:avLst/>
          </a:prstGeom>
        </p:spPr>
      </p:pic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917F7E3F-85B7-EB12-A6CB-669F7EEC26FC}"/>
              </a:ext>
            </a:extLst>
          </p:cNvPr>
          <p:cNvCxnSpPr>
            <a:cxnSpLocks/>
          </p:cNvCxnSpPr>
          <p:nvPr/>
        </p:nvCxnSpPr>
        <p:spPr>
          <a:xfrm>
            <a:off x="1510649" y="2499079"/>
            <a:ext cx="0" cy="988963"/>
          </a:xfrm>
          <a:prstGeom prst="straightConnector1">
            <a:avLst/>
          </a:prstGeom>
          <a:ln w="19050" cap="rnd">
            <a:solidFill>
              <a:srgbClr val="002060"/>
            </a:solidFill>
            <a:round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0F2B5C6D-5B8C-496F-D1C0-4AF6FBD6D55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96443921"/>
              </p:ext>
            </p:extLst>
          </p:nvPr>
        </p:nvGraphicFramePr>
        <p:xfrm>
          <a:off x="3034157" y="3576601"/>
          <a:ext cx="1694454" cy="3708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47227">
                  <a:extLst>
                    <a:ext uri="{9D8B030D-6E8A-4147-A177-3AD203B41FA5}">
                      <a16:colId xmlns:a16="http://schemas.microsoft.com/office/drawing/2014/main" val="2725002957"/>
                    </a:ext>
                  </a:extLst>
                </a:gridCol>
                <a:gridCol w="847227">
                  <a:extLst>
                    <a:ext uri="{9D8B030D-6E8A-4147-A177-3AD203B41FA5}">
                      <a16:colId xmlns:a16="http://schemas.microsoft.com/office/drawing/2014/main" val="296759118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KR" dirty="0"/>
                        <a:t>&lt;M&gt;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KR" dirty="0"/>
                        <a:t>&lt;M&gt;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46548387"/>
                  </a:ext>
                </a:extLst>
              </a:tr>
            </a:tbl>
          </a:graphicData>
        </a:graphic>
      </p:graphicFrame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F6B08BF5-D57B-BFD5-21C5-7BC90628181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91583768"/>
              </p:ext>
            </p:extLst>
          </p:nvPr>
        </p:nvGraphicFramePr>
        <p:xfrm>
          <a:off x="3025303" y="4264990"/>
          <a:ext cx="1694454" cy="3708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47227">
                  <a:extLst>
                    <a:ext uri="{9D8B030D-6E8A-4147-A177-3AD203B41FA5}">
                      <a16:colId xmlns:a16="http://schemas.microsoft.com/office/drawing/2014/main" val="2725002957"/>
                    </a:ext>
                  </a:extLst>
                </a:gridCol>
                <a:gridCol w="847227">
                  <a:extLst>
                    <a:ext uri="{9D8B030D-6E8A-4147-A177-3AD203B41FA5}">
                      <a16:colId xmlns:a16="http://schemas.microsoft.com/office/drawing/2014/main" val="296759118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KR" dirty="0"/>
                        <a:t>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KR" dirty="0"/>
                        <a:t>&lt;M&gt;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46548387"/>
                  </a:ext>
                </a:extLst>
              </a:tr>
            </a:tbl>
          </a:graphicData>
        </a:graphic>
      </p:graphicFrame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8A57BD32-32CA-787E-9AA1-8A666B33DB0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35579424"/>
              </p:ext>
            </p:extLst>
          </p:nvPr>
        </p:nvGraphicFramePr>
        <p:xfrm>
          <a:off x="3025303" y="4961724"/>
          <a:ext cx="1694454" cy="3708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47227">
                  <a:extLst>
                    <a:ext uri="{9D8B030D-6E8A-4147-A177-3AD203B41FA5}">
                      <a16:colId xmlns:a16="http://schemas.microsoft.com/office/drawing/2014/main" val="2725002957"/>
                    </a:ext>
                  </a:extLst>
                </a:gridCol>
                <a:gridCol w="847227">
                  <a:extLst>
                    <a:ext uri="{9D8B030D-6E8A-4147-A177-3AD203B41FA5}">
                      <a16:colId xmlns:a16="http://schemas.microsoft.com/office/drawing/2014/main" val="296759118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KR" dirty="0"/>
                        <a:t>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KR" dirty="0"/>
                        <a:t>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46548387"/>
                  </a:ext>
                </a:extLst>
              </a:tr>
            </a:tbl>
          </a:graphicData>
        </a:graphic>
      </p:graphicFrame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72E9FBB0-F195-5674-3507-4BBD25CDEC59}"/>
              </a:ext>
            </a:extLst>
          </p:cNvPr>
          <p:cNvSpPr/>
          <p:nvPr/>
        </p:nvSpPr>
        <p:spPr>
          <a:xfrm>
            <a:off x="3034157" y="5914475"/>
            <a:ext cx="838373" cy="370840"/>
          </a:xfrm>
          <a:prstGeom prst="roundRect">
            <a:avLst/>
          </a:prstGeom>
          <a:noFill/>
          <a:ln w="19050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45720" rIns="45720" rtlCol="0" anchor="ctr"/>
          <a:lstStyle/>
          <a:p>
            <a:pPr algn="ctr"/>
            <a:r>
              <a:rPr lang="en-US" altLang="ko-KR" sz="1200" dirty="0">
                <a:solidFill>
                  <a:schemeClr val="tx1"/>
                </a:solidFill>
              </a:rPr>
              <a:t>KV_C</a:t>
            </a:r>
            <a:endParaRPr lang="en-KR" sz="1200" dirty="0" err="1">
              <a:solidFill>
                <a:schemeClr val="tx1"/>
              </a:solidFill>
            </a:endParaRPr>
          </a:p>
        </p:txBody>
      </p:sp>
      <p:sp>
        <p:nvSpPr>
          <p:cNvPr id="20" name="Rounded Rectangle 19">
            <a:extLst>
              <a:ext uri="{FF2B5EF4-FFF2-40B4-BE49-F238E27FC236}">
                <a16:creationId xmlns:a16="http://schemas.microsoft.com/office/drawing/2014/main" id="{448BBAC9-5A98-1F40-47BE-B78BD510CBC9}"/>
              </a:ext>
            </a:extLst>
          </p:cNvPr>
          <p:cNvSpPr/>
          <p:nvPr/>
        </p:nvSpPr>
        <p:spPr>
          <a:xfrm>
            <a:off x="3881384" y="5914475"/>
            <a:ext cx="847227" cy="370840"/>
          </a:xfrm>
          <a:prstGeom prst="roundRect">
            <a:avLst/>
          </a:prstGeom>
          <a:noFill/>
          <a:ln w="19050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45720" rIns="45720" rtlCol="0" anchor="ctr"/>
          <a:lstStyle/>
          <a:p>
            <a:pPr algn="ctr"/>
            <a:r>
              <a:rPr lang="en-US" altLang="ko-KR" sz="1200" dirty="0">
                <a:solidFill>
                  <a:schemeClr val="tx1"/>
                </a:solidFill>
              </a:rPr>
              <a:t>KV_D</a:t>
            </a:r>
            <a:endParaRPr lang="en-KR" sz="1200" dirty="0" err="1">
              <a:solidFill>
                <a:schemeClr val="tx1"/>
              </a:solidFill>
            </a:endParaRPr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35F9CCCB-5A82-EC8E-ECBB-C05731EC4EF2}"/>
              </a:ext>
            </a:extLst>
          </p:cNvPr>
          <p:cNvCxnSpPr>
            <a:cxnSpLocks/>
          </p:cNvCxnSpPr>
          <p:nvPr/>
        </p:nvCxnSpPr>
        <p:spPr>
          <a:xfrm>
            <a:off x="4857624" y="3576601"/>
            <a:ext cx="0" cy="1800798"/>
          </a:xfrm>
          <a:prstGeom prst="straightConnector1">
            <a:avLst/>
          </a:prstGeom>
          <a:ln w="19050" cap="rnd">
            <a:solidFill>
              <a:srgbClr val="FF0000"/>
            </a:solidFill>
            <a:round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0076042C-DDC9-900D-0CB8-1A944959692F}"/>
              </a:ext>
            </a:extLst>
          </p:cNvPr>
          <p:cNvSpPr txBox="1"/>
          <p:nvPr/>
        </p:nvSpPr>
        <p:spPr>
          <a:xfrm>
            <a:off x="4960563" y="3623521"/>
            <a:ext cx="216406" cy="276999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pPr algn="l"/>
            <a:r>
              <a:rPr lang="en-US" sz="1200" dirty="0">
                <a:solidFill>
                  <a:srgbClr val="FF0000"/>
                </a:solidFill>
              </a:rPr>
              <a:t>t=1</a:t>
            </a:r>
            <a:endParaRPr lang="en-KR" sz="1200" dirty="0" err="1">
              <a:solidFill>
                <a:srgbClr val="FF0000"/>
              </a:solidFill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D9EB196B-C79C-36D0-A1A5-0BAE2B30B0AB}"/>
              </a:ext>
            </a:extLst>
          </p:cNvPr>
          <p:cNvSpPr txBox="1"/>
          <p:nvPr/>
        </p:nvSpPr>
        <p:spPr>
          <a:xfrm>
            <a:off x="4936519" y="5100400"/>
            <a:ext cx="240450" cy="276999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pPr algn="l"/>
            <a:r>
              <a:rPr lang="en-US" sz="1200" dirty="0">
                <a:solidFill>
                  <a:srgbClr val="FF0000"/>
                </a:solidFill>
              </a:rPr>
              <a:t>t=0</a:t>
            </a:r>
            <a:endParaRPr lang="en-KR" sz="1200" dirty="0" err="1">
              <a:solidFill>
                <a:srgbClr val="FF0000"/>
              </a:solidFill>
            </a:endParaRPr>
          </a:p>
        </p:txBody>
      </p:sp>
      <p:cxnSp>
        <p:nvCxnSpPr>
          <p:cNvPr id="35" name="Curved Connector 34">
            <a:extLst>
              <a:ext uri="{FF2B5EF4-FFF2-40B4-BE49-F238E27FC236}">
                <a16:creationId xmlns:a16="http://schemas.microsoft.com/office/drawing/2014/main" id="{B432A1A6-DAA1-DC38-7BED-F65FEE0C1134}"/>
              </a:ext>
            </a:extLst>
          </p:cNvPr>
          <p:cNvCxnSpPr>
            <a:cxnSpLocks noChangeAspect="1"/>
          </p:cNvCxnSpPr>
          <p:nvPr/>
        </p:nvCxnSpPr>
        <p:spPr>
          <a:xfrm rot="5400000">
            <a:off x="2286003" y="2730491"/>
            <a:ext cx="5209" cy="2412000"/>
          </a:xfrm>
          <a:prstGeom prst="curvedConnector3">
            <a:avLst>
              <a:gd name="adj1" fmla="val 4216900"/>
            </a:avLst>
          </a:prstGeom>
          <a:ln w="6350" cap="rnd">
            <a:solidFill>
              <a:srgbClr val="0070C0"/>
            </a:solidFill>
            <a:round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Curved Connector 35">
            <a:extLst>
              <a:ext uri="{FF2B5EF4-FFF2-40B4-BE49-F238E27FC236}">
                <a16:creationId xmlns:a16="http://schemas.microsoft.com/office/drawing/2014/main" id="{3EBA1C9D-DD62-1E7C-8CB6-4B1C2EDAC65C}"/>
              </a:ext>
            </a:extLst>
          </p:cNvPr>
          <p:cNvCxnSpPr>
            <a:cxnSpLocks noChangeAspect="1"/>
          </p:cNvCxnSpPr>
          <p:nvPr/>
        </p:nvCxnSpPr>
        <p:spPr>
          <a:xfrm rot="5400000">
            <a:off x="2707242" y="3144596"/>
            <a:ext cx="3415" cy="1584000"/>
          </a:xfrm>
          <a:prstGeom prst="curvedConnector3">
            <a:avLst>
              <a:gd name="adj1" fmla="val 4216900"/>
            </a:avLst>
          </a:prstGeom>
          <a:ln w="6350" cap="rnd">
            <a:solidFill>
              <a:srgbClr val="0070C0"/>
            </a:solidFill>
            <a:round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Curved Connector 36">
            <a:extLst>
              <a:ext uri="{FF2B5EF4-FFF2-40B4-BE49-F238E27FC236}">
                <a16:creationId xmlns:a16="http://schemas.microsoft.com/office/drawing/2014/main" id="{6556D638-FDF6-14AA-C549-B559179ADC4B}"/>
              </a:ext>
            </a:extLst>
          </p:cNvPr>
          <p:cNvCxnSpPr>
            <a:cxnSpLocks noChangeAspect="1"/>
          </p:cNvCxnSpPr>
          <p:nvPr/>
        </p:nvCxnSpPr>
        <p:spPr>
          <a:xfrm rot="16200000" flipH="1">
            <a:off x="3925678" y="3513028"/>
            <a:ext cx="1860" cy="864000"/>
          </a:xfrm>
          <a:prstGeom prst="curvedConnector3">
            <a:avLst>
              <a:gd name="adj1" fmla="val 4216900"/>
            </a:avLst>
          </a:prstGeom>
          <a:ln w="6350" cap="rnd">
            <a:solidFill>
              <a:srgbClr val="0070C0"/>
            </a:solidFill>
            <a:round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TextBox 41">
            <a:extLst>
              <a:ext uri="{FF2B5EF4-FFF2-40B4-BE49-F238E27FC236}">
                <a16:creationId xmlns:a16="http://schemas.microsoft.com/office/drawing/2014/main" id="{203C11E2-3243-3714-7351-11A1F592F736}"/>
              </a:ext>
            </a:extLst>
          </p:cNvPr>
          <p:cNvSpPr txBox="1"/>
          <p:nvPr/>
        </p:nvSpPr>
        <p:spPr>
          <a:xfrm>
            <a:off x="501570" y="4411613"/>
            <a:ext cx="1994136" cy="830997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pPr algn="ctr"/>
            <a:r>
              <a:rPr lang="en-KR" sz="1600" dirty="0"/>
              <a:t>KV of previous blocks</a:t>
            </a:r>
          </a:p>
          <a:p>
            <a:pPr algn="ctr"/>
            <a:r>
              <a:rPr lang="en-KR" sz="1600" dirty="0"/>
              <a:t>does not change!</a:t>
            </a:r>
          </a:p>
          <a:p>
            <a:pPr algn="ctr"/>
            <a:r>
              <a:rPr lang="en-KR" sz="1600" dirty="0"/>
              <a:t>(so it can be cached)</a:t>
            </a:r>
          </a:p>
        </p:txBody>
      </p: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410F1625-F0B8-9412-C8AE-CB4C172FD2FB}"/>
              </a:ext>
            </a:extLst>
          </p:cNvPr>
          <p:cNvCxnSpPr>
            <a:cxnSpLocks/>
          </p:cNvCxnSpPr>
          <p:nvPr/>
        </p:nvCxnSpPr>
        <p:spPr>
          <a:xfrm>
            <a:off x="3872530" y="5483099"/>
            <a:ext cx="0" cy="342416"/>
          </a:xfrm>
          <a:prstGeom prst="straightConnector1">
            <a:avLst/>
          </a:prstGeom>
          <a:ln w="19050" cap="rnd">
            <a:solidFill>
              <a:srgbClr val="002060"/>
            </a:solidFill>
            <a:round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9182187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A53ACFB-0ECC-82DB-20F8-3ED538A12D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4B8DE2-A4E8-46E4-8BBF-D75455EFF32C}" type="slidenum">
              <a:rPr lang="en-US" smtClean="0"/>
              <a:pPr/>
              <a:t>30</a:t>
            </a:fld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B3F8696-4612-D24B-FAD3-154569E65F7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KR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0BE3DA4-E338-F869-1156-AF4FE5C5F7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5952" y="3487776"/>
            <a:ext cx="4376226" cy="3093459"/>
          </a:xfrm>
          <a:prstGeom prst="rect">
            <a:avLst/>
          </a:prstGeom>
        </p:spPr>
      </p:pic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E3135EC6-C894-A9D4-9D85-F930B4CA308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06513073"/>
              </p:ext>
            </p:extLst>
          </p:nvPr>
        </p:nvGraphicFramePr>
        <p:xfrm>
          <a:off x="6166582" y="2187111"/>
          <a:ext cx="2541681" cy="3708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47227">
                  <a:extLst>
                    <a:ext uri="{9D8B030D-6E8A-4147-A177-3AD203B41FA5}">
                      <a16:colId xmlns:a16="http://schemas.microsoft.com/office/drawing/2014/main" val="3086679262"/>
                    </a:ext>
                  </a:extLst>
                </a:gridCol>
                <a:gridCol w="847227">
                  <a:extLst>
                    <a:ext uri="{9D8B030D-6E8A-4147-A177-3AD203B41FA5}">
                      <a16:colId xmlns:a16="http://schemas.microsoft.com/office/drawing/2014/main" val="1071723062"/>
                    </a:ext>
                  </a:extLst>
                </a:gridCol>
                <a:gridCol w="847227">
                  <a:extLst>
                    <a:ext uri="{9D8B030D-6E8A-4147-A177-3AD203B41FA5}">
                      <a16:colId xmlns:a16="http://schemas.microsoft.com/office/drawing/2014/main" val="348801999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KR" dirty="0"/>
                        <a:t>&lt;M&gt;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KR" dirty="0"/>
                        <a:t>&lt;M&gt;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KR" dirty="0"/>
                        <a:t>C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24821316"/>
                  </a:ext>
                </a:extLst>
              </a:tr>
            </a:tbl>
          </a:graphicData>
        </a:graphic>
      </p:graphicFrame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C2A1504B-2D3F-797C-19A4-D3112412E8D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67437408"/>
              </p:ext>
            </p:extLst>
          </p:nvPr>
        </p:nvGraphicFramePr>
        <p:xfrm>
          <a:off x="8856291" y="2187111"/>
          <a:ext cx="2541681" cy="3708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47227">
                  <a:extLst>
                    <a:ext uri="{9D8B030D-6E8A-4147-A177-3AD203B41FA5}">
                      <a16:colId xmlns:a16="http://schemas.microsoft.com/office/drawing/2014/main" val="3086679262"/>
                    </a:ext>
                  </a:extLst>
                </a:gridCol>
                <a:gridCol w="847227">
                  <a:extLst>
                    <a:ext uri="{9D8B030D-6E8A-4147-A177-3AD203B41FA5}">
                      <a16:colId xmlns:a16="http://schemas.microsoft.com/office/drawing/2014/main" val="1071723062"/>
                    </a:ext>
                  </a:extLst>
                </a:gridCol>
                <a:gridCol w="847227">
                  <a:extLst>
                    <a:ext uri="{9D8B030D-6E8A-4147-A177-3AD203B41FA5}">
                      <a16:colId xmlns:a16="http://schemas.microsoft.com/office/drawing/2014/main" val="348801999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KR" dirty="0"/>
                        <a:t>D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KR" dirty="0"/>
                        <a:t>&lt;M&gt;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KR" dirty="0"/>
                        <a:t>F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24821316"/>
                  </a:ext>
                </a:extLst>
              </a:tr>
            </a:tbl>
          </a:graphicData>
        </a:graphic>
      </p:graphicFrame>
      <p:sp>
        <p:nvSpPr>
          <p:cNvPr id="11" name="TextBox 10">
            <a:extLst>
              <a:ext uri="{FF2B5EF4-FFF2-40B4-BE49-F238E27FC236}">
                <a16:creationId xmlns:a16="http://schemas.microsoft.com/office/drawing/2014/main" id="{21306086-D09A-7BAA-E85C-68CA826ED66C}"/>
              </a:ext>
            </a:extLst>
          </p:cNvPr>
          <p:cNvSpPr txBox="1"/>
          <p:nvPr/>
        </p:nvSpPr>
        <p:spPr>
          <a:xfrm>
            <a:off x="7655300" y="1707097"/>
            <a:ext cx="2471831" cy="307777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pPr algn="ctr"/>
            <a:r>
              <a:rPr lang="en-KR" sz="1400" dirty="0"/>
              <a:t>2) Random noise to each block</a:t>
            </a:r>
          </a:p>
        </p:txBody>
      </p:sp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60556323-AA67-A077-DAEB-85A8F24AAFC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07817784"/>
              </p:ext>
            </p:extLst>
          </p:nvPr>
        </p:nvGraphicFramePr>
        <p:xfrm>
          <a:off x="639878" y="1242433"/>
          <a:ext cx="2541681" cy="3708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47227">
                  <a:extLst>
                    <a:ext uri="{9D8B030D-6E8A-4147-A177-3AD203B41FA5}">
                      <a16:colId xmlns:a16="http://schemas.microsoft.com/office/drawing/2014/main" val="3086679262"/>
                    </a:ext>
                  </a:extLst>
                </a:gridCol>
                <a:gridCol w="847227">
                  <a:extLst>
                    <a:ext uri="{9D8B030D-6E8A-4147-A177-3AD203B41FA5}">
                      <a16:colId xmlns:a16="http://schemas.microsoft.com/office/drawing/2014/main" val="1071723062"/>
                    </a:ext>
                  </a:extLst>
                </a:gridCol>
                <a:gridCol w="847227">
                  <a:extLst>
                    <a:ext uri="{9D8B030D-6E8A-4147-A177-3AD203B41FA5}">
                      <a16:colId xmlns:a16="http://schemas.microsoft.com/office/drawing/2014/main" val="348801999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KR" dirty="0"/>
                        <a:t>A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KR" dirty="0"/>
                        <a:t>B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KR" dirty="0"/>
                        <a:t>C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24821316"/>
                  </a:ext>
                </a:extLst>
              </a:tr>
            </a:tbl>
          </a:graphicData>
        </a:graphic>
      </p:graphicFrame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6671B06B-34F6-869B-F205-2509D63F503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33465287"/>
              </p:ext>
            </p:extLst>
          </p:nvPr>
        </p:nvGraphicFramePr>
        <p:xfrm>
          <a:off x="3329587" y="1242433"/>
          <a:ext cx="2541681" cy="3708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47227">
                  <a:extLst>
                    <a:ext uri="{9D8B030D-6E8A-4147-A177-3AD203B41FA5}">
                      <a16:colId xmlns:a16="http://schemas.microsoft.com/office/drawing/2014/main" val="3086679262"/>
                    </a:ext>
                  </a:extLst>
                </a:gridCol>
                <a:gridCol w="847227">
                  <a:extLst>
                    <a:ext uri="{9D8B030D-6E8A-4147-A177-3AD203B41FA5}">
                      <a16:colId xmlns:a16="http://schemas.microsoft.com/office/drawing/2014/main" val="1071723062"/>
                    </a:ext>
                  </a:extLst>
                </a:gridCol>
                <a:gridCol w="847227">
                  <a:extLst>
                    <a:ext uri="{9D8B030D-6E8A-4147-A177-3AD203B41FA5}">
                      <a16:colId xmlns:a16="http://schemas.microsoft.com/office/drawing/2014/main" val="348801999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KR" dirty="0"/>
                        <a:t>D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KR" dirty="0"/>
                        <a:t>E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KR" dirty="0"/>
                        <a:t>F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24821316"/>
                  </a:ext>
                </a:extLst>
              </a:tr>
            </a:tbl>
          </a:graphicData>
        </a:graphic>
      </p:graphicFrame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3BB06D2E-A1D8-8E3A-2733-B7E96AF57A55}"/>
              </a:ext>
            </a:extLst>
          </p:cNvPr>
          <p:cNvSpPr/>
          <p:nvPr/>
        </p:nvSpPr>
        <p:spPr>
          <a:xfrm>
            <a:off x="639878" y="2172258"/>
            <a:ext cx="2541681" cy="370840"/>
          </a:xfrm>
          <a:prstGeom prst="roundRect">
            <a:avLst/>
          </a:prstGeom>
          <a:noFill/>
          <a:ln w="19050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45720" rIns="45720" rtlCol="0" anchor="ctr"/>
          <a:lstStyle/>
          <a:p>
            <a:pPr algn="ctr"/>
            <a:r>
              <a:rPr lang="en-US" altLang="ko-KR" sz="1200" dirty="0">
                <a:solidFill>
                  <a:schemeClr val="tx1"/>
                </a:solidFill>
              </a:rPr>
              <a:t>KV</a:t>
            </a:r>
            <a:endParaRPr lang="en-KR" sz="1200" dirty="0" err="1">
              <a:solidFill>
                <a:schemeClr val="tx1"/>
              </a:solidFill>
            </a:endParaRPr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428CA19F-EE96-4F50-29B5-7502B0965AB5}"/>
              </a:ext>
            </a:extLst>
          </p:cNvPr>
          <p:cNvSpPr/>
          <p:nvPr/>
        </p:nvSpPr>
        <p:spPr>
          <a:xfrm>
            <a:off x="3329587" y="2172258"/>
            <a:ext cx="2541681" cy="370840"/>
          </a:xfrm>
          <a:prstGeom prst="roundRect">
            <a:avLst/>
          </a:prstGeom>
          <a:noFill/>
          <a:ln w="19050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45720" rIns="45720" rtlCol="0" anchor="ctr"/>
          <a:lstStyle/>
          <a:p>
            <a:pPr algn="ctr"/>
            <a:r>
              <a:rPr lang="en-US" altLang="ko-KR" sz="1200" dirty="0">
                <a:solidFill>
                  <a:schemeClr val="tx1"/>
                </a:solidFill>
              </a:rPr>
              <a:t>KV</a:t>
            </a:r>
            <a:endParaRPr lang="en-KR" sz="1200" dirty="0" err="1">
              <a:solidFill>
                <a:schemeClr val="tx1"/>
              </a:solidFill>
            </a:endParaRP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7A9EC272-5F53-7897-A556-97BCA53C254F}"/>
              </a:ext>
            </a:extLst>
          </p:cNvPr>
          <p:cNvCxnSpPr>
            <a:cxnSpLocks/>
          </p:cNvCxnSpPr>
          <p:nvPr/>
        </p:nvCxnSpPr>
        <p:spPr>
          <a:xfrm>
            <a:off x="3251281" y="1613273"/>
            <a:ext cx="0" cy="558985"/>
          </a:xfrm>
          <a:prstGeom prst="straightConnector1">
            <a:avLst/>
          </a:prstGeom>
          <a:ln w="19050" cap="rnd">
            <a:solidFill>
              <a:srgbClr val="002060"/>
            </a:solidFill>
            <a:round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02EEA087-4A13-A56A-EEDA-7D9559B21815}"/>
              </a:ext>
            </a:extLst>
          </p:cNvPr>
          <p:cNvSpPr txBox="1"/>
          <p:nvPr/>
        </p:nvSpPr>
        <p:spPr>
          <a:xfrm>
            <a:off x="1638811" y="1722485"/>
            <a:ext cx="3138680" cy="276999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pPr algn="ctr"/>
            <a:r>
              <a:rPr lang="en-KR" sz="1200" dirty="0"/>
              <a:t>DLM forward pass with block causal attention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57DFFDE-398C-86A6-12B8-DE001D1B5211}"/>
              </a:ext>
            </a:extLst>
          </p:cNvPr>
          <p:cNvSpPr txBox="1"/>
          <p:nvPr/>
        </p:nvSpPr>
        <p:spPr>
          <a:xfrm>
            <a:off x="1592974" y="683448"/>
            <a:ext cx="3316614" cy="307777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pPr algn="ctr"/>
            <a:r>
              <a:rPr lang="en-KR" sz="1400" dirty="0"/>
              <a:t>1) Pre-compute KV cache of clean tokens</a:t>
            </a:r>
          </a:p>
        </p:txBody>
      </p:sp>
      <p:graphicFrame>
        <p:nvGraphicFramePr>
          <p:cNvPr id="20" name="Table 19">
            <a:extLst>
              <a:ext uri="{FF2B5EF4-FFF2-40B4-BE49-F238E27FC236}">
                <a16:creationId xmlns:a16="http://schemas.microsoft.com/office/drawing/2014/main" id="{ED740D5C-03CA-9E30-4120-0864245BE32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69934659"/>
              </p:ext>
            </p:extLst>
          </p:nvPr>
        </p:nvGraphicFramePr>
        <p:xfrm>
          <a:off x="8856291" y="3792435"/>
          <a:ext cx="2541681" cy="3708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47227">
                  <a:extLst>
                    <a:ext uri="{9D8B030D-6E8A-4147-A177-3AD203B41FA5}">
                      <a16:colId xmlns:a16="http://schemas.microsoft.com/office/drawing/2014/main" val="3086679262"/>
                    </a:ext>
                  </a:extLst>
                </a:gridCol>
                <a:gridCol w="847227">
                  <a:extLst>
                    <a:ext uri="{9D8B030D-6E8A-4147-A177-3AD203B41FA5}">
                      <a16:colId xmlns:a16="http://schemas.microsoft.com/office/drawing/2014/main" val="1071723062"/>
                    </a:ext>
                  </a:extLst>
                </a:gridCol>
                <a:gridCol w="847227">
                  <a:extLst>
                    <a:ext uri="{9D8B030D-6E8A-4147-A177-3AD203B41FA5}">
                      <a16:colId xmlns:a16="http://schemas.microsoft.com/office/drawing/2014/main" val="348801999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KR" dirty="0"/>
                        <a:t>D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KR" dirty="0"/>
                        <a:t>E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KR" dirty="0"/>
                        <a:t>F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24821316"/>
                  </a:ext>
                </a:extLst>
              </a:tr>
            </a:tbl>
          </a:graphicData>
        </a:graphic>
      </p:graphicFrame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EE2A29C0-FC75-3CBB-B8EF-BEF61568042C}"/>
              </a:ext>
            </a:extLst>
          </p:cNvPr>
          <p:cNvCxnSpPr>
            <a:cxnSpLocks/>
          </p:cNvCxnSpPr>
          <p:nvPr/>
        </p:nvCxnSpPr>
        <p:spPr>
          <a:xfrm>
            <a:off x="11546000" y="2187111"/>
            <a:ext cx="0" cy="2027607"/>
          </a:xfrm>
          <a:prstGeom prst="straightConnector1">
            <a:avLst/>
          </a:prstGeom>
          <a:ln w="19050" cap="rnd">
            <a:solidFill>
              <a:srgbClr val="FF0000"/>
            </a:solidFill>
            <a:round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D158AD2D-F00B-7EF9-55A8-A228BBC4CCB7}"/>
              </a:ext>
            </a:extLst>
          </p:cNvPr>
          <p:cNvSpPr txBox="1"/>
          <p:nvPr/>
        </p:nvSpPr>
        <p:spPr>
          <a:xfrm>
            <a:off x="11648939" y="2234031"/>
            <a:ext cx="413575" cy="461665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pPr algn="l"/>
            <a:r>
              <a:rPr lang="en-US" sz="1200" dirty="0">
                <a:solidFill>
                  <a:srgbClr val="FF0000"/>
                </a:solidFill>
              </a:rPr>
              <a:t>t~</a:t>
            </a:r>
            <a:br>
              <a:rPr lang="en-US" sz="1200" dirty="0">
                <a:solidFill>
                  <a:srgbClr val="FF0000"/>
                </a:solidFill>
              </a:rPr>
            </a:br>
            <a:r>
              <a:rPr lang="en-US" sz="1200" dirty="0">
                <a:solidFill>
                  <a:srgbClr val="FF0000"/>
                </a:solidFill>
              </a:rPr>
              <a:t>U[0,1]</a:t>
            </a:r>
            <a:endParaRPr lang="en-KR" sz="1200" dirty="0" err="1">
              <a:solidFill>
                <a:srgbClr val="FF0000"/>
              </a:solidFill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226E7710-6F20-CB12-A1EE-7DAC8A403F05}"/>
              </a:ext>
            </a:extLst>
          </p:cNvPr>
          <p:cNvSpPr txBox="1"/>
          <p:nvPr/>
        </p:nvSpPr>
        <p:spPr>
          <a:xfrm>
            <a:off x="11648939" y="3977855"/>
            <a:ext cx="240450" cy="276999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pPr algn="l"/>
            <a:r>
              <a:rPr lang="en-US" sz="1200" dirty="0">
                <a:solidFill>
                  <a:srgbClr val="FF0000"/>
                </a:solidFill>
              </a:rPr>
              <a:t>t=0</a:t>
            </a:r>
            <a:endParaRPr lang="en-KR" sz="1200" dirty="0" err="1">
              <a:solidFill>
                <a:srgbClr val="FF0000"/>
              </a:solidFill>
            </a:endParaRPr>
          </a:p>
        </p:txBody>
      </p:sp>
      <p:graphicFrame>
        <p:nvGraphicFramePr>
          <p:cNvPr id="26" name="Table 25">
            <a:extLst>
              <a:ext uri="{FF2B5EF4-FFF2-40B4-BE49-F238E27FC236}">
                <a16:creationId xmlns:a16="http://schemas.microsoft.com/office/drawing/2014/main" id="{ACCE7AEC-48CA-B261-85DE-1995C4CDB7A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75483668"/>
              </p:ext>
            </p:extLst>
          </p:nvPr>
        </p:nvGraphicFramePr>
        <p:xfrm>
          <a:off x="6166581" y="3797093"/>
          <a:ext cx="2541681" cy="3708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47227">
                  <a:extLst>
                    <a:ext uri="{9D8B030D-6E8A-4147-A177-3AD203B41FA5}">
                      <a16:colId xmlns:a16="http://schemas.microsoft.com/office/drawing/2014/main" val="3086679262"/>
                    </a:ext>
                  </a:extLst>
                </a:gridCol>
                <a:gridCol w="847227">
                  <a:extLst>
                    <a:ext uri="{9D8B030D-6E8A-4147-A177-3AD203B41FA5}">
                      <a16:colId xmlns:a16="http://schemas.microsoft.com/office/drawing/2014/main" val="1071723062"/>
                    </a:ext>
                  </a:extLst>
                </a:gridCol>
                <a:gridCol w="847227">
                  <a:extLst>
                    <a:ext uri="{9D8B030D-6E8A-4147-A177-3AD203B41FA5}">
                      <a16:colId xmlns:a16="http://schemas.microsoft.com/office/drawing/2014/main" val="348801999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KR" dirty="0"/>
                        <a:t>A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KR" dirty="0"/>
                        <a:t>B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KR" dirty="0"/>
                        <a:t>C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24821316"/>
                  </a:ext>
                </a:extLst>
              </a:tr>
            </a:tbl>
          </a:graphicData>
        </a:graphic>
      </p:graphicFrame>
      <p:cxnSp>
        <p:nvCxnSpPr>
          <p:cNvPr id="27" name="Curved Connector 26">
            <a:extLst>
              <a:ext uri="{FF2B5EF4-FFF2-40B4-BE49-F238E27FC236}">
                <a16:creationId xmlns:a16="http://schemas.microsoft.com/office/drawing/2014/main" id="{39C77622-EA6C-FFAD-4193-C410CB542905}"/>
              </a:ext>
            </a:extLst>
          </p:cNvPr>
          <p:cNvCxnSpPr>
            <a:cxnSpLocks noChangeAspect="1"/>
          </p:cNvCxnSpPr>
          <p:nvPr/>
        </p:nvCxnSpPr>
        <p:spPr>
          <a:xfrm rot="5400000">
            <a:off x="6032288" y="-1519204"/>
            <a:ext cx="17689" cy="8172000"/>
          </a:xfrm>
          <a:prstGeom prst="curvedConnector3">
            <a:avLst>
              <a:gd name="adj1" fmla="val 4216900"/>
            </a:avLst>
          </a:prstGeom>
          <a:ln w="6350" cap="rnd">
            <a:solidFill>
              <a:srgbClr val="0070C0"/>
            </a:solidFill>
            <a:round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Curved Connector 30">
            <a:extLst>
              <a:ext uri="{FF2B5EF4-FFF2-40B4-BE49-F238E27FC236}">
                <a16:creationId xmlns:a16="http://schemas.microsoft.com/office/drawing/2014/main" id="{2B52E8D3-D9BA-BC23-5BFA-9969C9714204}"/>
              </a:ext>
            </a:extLst>
          </p:cNvPr>
          <p:cNvCxnSpPr>
            <a:cxnSpLocks noChangeAspect="1"/>
          </p:cNvCxnSpPr>
          <p:nvPr/>
        </p:nvCxnSpPr>
        <p:spPr>
          <a:xfrm rot="5400000">
            <a:off x="9694201" y="2124114"/>
            <a:ext cx="1860" cy="864000"/>
          </a:xfrm>
          <a:prstGeom prst="curvedConnector3">
            <a:avLst>
              <a:gd name="adj1" fmla="val 4216900"/>
            </a:avLst>
          </a:prstGeom>
          <a:ln w="6350" cap="rnd">
            <a:solidFill>
              <a:srgbClr val="0070C0"/>
            </a:solidFill>
            <a:round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TextBox 31">
            <a:extLst>
              <a:ext uri="{FF2B5EF4-FFF2-40B4-BE49-F238E27FC236}">
                <a16:creationId xmlns:a16="http://schemas.microsoft.com/office/drawing/2014/main" id="{A5BB7BB8-3466-019F-408D-D8C98833CE20}"/>
              </a:ext>
            </a:extLst>
          </p:cNvPr>
          <p:cNvSpPr txBox="1"/>
          <p:nvPr/>
        </p:nvSpPr>
        <p:spPr>
          <a:xfrm>
            <a:off x="7276189" y="4529380"/>
            <a:ext cx="3230051" cy="307777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pPr algn="ctr"/>
            <a:r>
              <a:rPr lang="en-KR" sz="1400" dirty="0"/>
              <a:t>3) Apply MDLM loss on denoised tokens</a:t>
            </a:r>
          </a:p>
        </p:txBody>
      </p:sp>
      <p:cxnSp>
        <p:nvCxnSpPr>
          <p:cNvPr id="33" name="Curved Connector 32">
            <a:extLst>
              <a:ext uri="{FF2B5EF4-FFF2-40B4-BE49-F238E27FC236}">
                <a16:creationId xmlns:a16="http://schemas.microsoft.com/office/drawing/2014/main" id="{8DC7565A-BDC6-A388-6EF0-9D2E2A641C03}"/>
              </a:ext>
            </a:extLst>
          </p:cNvPr>
          <p:cNvCxnSpPr>
            <a:cxnSpLocks noChangeAspect="1"/>
          </p:cNvCxnSpPr>
          <p:nvPr/>
        </p:nvCxnSpPr>
        <p:spPr>
          <a:xfrm rot="16200000" flipH="1">
            <a:off x="10576163" y="2122874"/>
            <a:ext cx="1939" cy="900000"/>
          </a:xfrm>
          <a:prstGeom prst="curvedConnector3">
            <a:avLst>
              <a:gd name="adj1" fmla="val 4216900"/>
            </a:avLst>
          </a:prstGeom>
          <a:ln w="6350" cap="rnd">
            <a:solidFill>
              <a:srgbClr val="0070C0"/>
            </a:solidFill>
            <a:round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TextBox 33">
            <a:extLst>
              <a:ext uri="{FF2B5EF4-FFF2-40B4-BE49-F238E27FC236}">
                <a16:creationId xmlns:a16="http://schemas.microsoft.com/office/drawing/2014/main" id="{91FDEFE8-6864-4ADB-6053-8C71FEC3C7DD}"/>
              </a:ext>
            </a:extLst>
          </p:cNvPr>
          <p:cNvSpPr txBox="1"/>
          <p:nvPr/>
        </p:nvSpPr>
        <p:spPr>
          <a:xfrm>
            <a:off x="8155901" y="3050769"/>
            <a:ext cx="3130665" cy="276999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pPr algn="l"/>
            <a:r>
              <a:rPr lang="en-KR" sz="1200" dirty="0"/>
              <a:t>A</a:t>
            </a:r>
            <a:r>
              <a:rPr lang="en-US" sz="1200" dirty="0" err="1"/>
              <a:t>ll</a:t>
            </a:r>
            <a:r>
              <a:rPr lang="en-US" sz="1200" dirty="0"/>
              <a:t> blocks </a:t>
            </a:r>
            <a:r>
              <a:rPr lang="en-KR" sz="1200" dirty="0"/>
              <a:t>done with single DLM forward pass</a:t>
            </a:r>
          </a:p>
        </p:txBody>
      </p:sp>
    </p:spTree>
    <p:extLst>
      <p:ext uri="{BB962C8B-B14F-4D97-AF65-F5344CB8AC3E}">
        <p14:creationId xmlns:p14="http://schemas.microsoft.com/office/powerpoint/2010/main" val="3185021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23" grpId="0"/>
      <p:bldP spid="24" grpId="0"/>
      <p:bldP spid="32" grpId="0"/>
      <p:bldP spid="34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03F3D462-51C1-79A1-CE42-7A5FCD8C11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3502" y="3049706"/>
            <a:ext cx="6639997" cy="366554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63FAF3A-0680-EE7B-C27A-D58D2E5C07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KR" dirty="0"/>
              <a:t>Block diffusion is very much like AR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EB6D13D-AD76-A52E-B42D-ECC4A4ECEB9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09600" y="1599611"/>
                <a:ext cx="10972800" cy="1064587"/>
              </a:xfrm>
            </p:spPr>
            <p:txBody>
              <a:bodyPr/>
              <a:lstStyle/>
              <a:p>
                <a:r>
                  <a:rPr lang="en-KR" sz="1800" dirty="0"/>
                  <a:t>With below two constraints, block diffusion is equivalent to AR (in expectation)</a:t>
                </a:r>
              </a:p>
              <a:p>
                <a:pPr lvl="1"/>
                <a:r>
                  <a:rPr lang="en-KR" sz="1400" dirty="0"/>
                  <a:t>Block size = 1</a:t>
                </a:r>
              </a:p>
              <a:p>
                <a:pPr lvl="1"/>
                <a:r>
                  <a:rPr lang="en-US" sz="1400" dirty="0"/>
                  <a:t>Tuned schedule:  During training, always mask the tokens of each block, i.e., </a:t>
                </a:r>
                <a14:m>
                  <m:oMath xmlns:m="http://schemas.openxmlformats.org/officeDocument/2006/math">
                    <m:r>
                      <a:rPr lang="en-US" sz="1400" b="0" i="1" smtClean="0">
                        <a:latin typeface="Cambria Math" panose="02040503050406030204" pitchFamily="18" charset="0"/>
                      </a:rPr>
                      <m:t>𝑞</m:t>
                    </m:r>
                    <m:d>
                      <m:dPr>
                        <m:ctrlPr>
                          <a:rPr lang="en-US" sz="1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Sup>
                          <m:sSubSupPr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sz="1400" b="1" i="0" smtClean="0">
                                <a:latin typeface="Cambria Math" panose="02040503050406030204" pitchFamily="18" charset="0"/>
                              </a:rPr>
                              <m:t>𝐱</m:t>
                            </m:r>
                          </m:e>
                          <m:sub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  <m:sup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𝑙</m:t>
                            </m:r>
                          </m:sup>
                        </m:sSubSup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sz="1400" b="1" i="0" smtClean="0">
                            <a:latin typeface="Cambria Math" panose="02040503050406030204" pitchFamily="18" charset="0"/>
                          </a:rPr>
                          <m:t>𝐦</m:t>
                        </m:r>
                      </m:e>
                      <m:e>
                        <m:sSup>
                          <m:sSupPr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1400" b="1" i="0" smtClean="0">
                                <a:latin typeface="Cambria Math" panose="02040503050406030204" pitchFamily="18" charset="0"/>
                              </a:rPr>
                              <m:t>𝐱</m:t>
                            </m:r>
                          </m:e>
                          <m:sup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𝑙</m:t>
                            </m:r>
                          </m:sup>
                        </m:sSup>
                      </m:e>
                    </m:d>
                    <m:r>
                      <a:rPr lang="en-US" sz="1400" b="0" i="1" smtClean="0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endParaRPr lang="en-KR" sz="14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EB6D13D-AD76-A52E-B42D-ECC4A4ECEB9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09600" y="1599611"/>
                <a:ext cx="10972800" cy="1064587"/>
              </a:xfrm>
              <a:blipFill>
                <a:blip r:embed="rId3"/>
                <a:stretch>
                  <a:fillRect l="-1156" t="-4706" b="-3529"/>
                </a:stretch>
              </a:blipFill>
            </p:spPr>
            <p:txBody>
              <a:bodyPr/>
              <a:lstStyle/>
              <a:p>
                <a:r>
                  <a:rPr lang="en-K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2985FA0-E086-5241-CB53-7127380A7D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4B8DE2-A4E8-46E4-8BBF-D75455EFF32C}" type="slidenum">
              <a:rPr lang="en-US" smtClean="0"/>
              <a:pPr/>
              <a:t>31</a:t>
            </a:fld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E34E4F1-D292-8E0A-93C9-8A561340E3F3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KR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7D130CD-79EA-D665-3BBB-A3A310A5D132}"/>
              </a:ext>
            </a:extLst>
          </p:cNvPr>
          <p:cNvSpPr txBox="1"/>
          <p:nvPr/>
        </p:nvSpPr>
        <p:spPr>
          <a:xfrm>
            <a:off x="6019295" y="5348997"/>
            <a:ext cx="5563105" cy="307777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algn="l"/>
            <a:r>
              <a:rPr lang="en-KR" sz="1400" dirty="0"/>
              <a:t>NLL curve of BD3-LM (Tuned schedule) == AR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20DB9EC-5029-122D-107F-E9FB1653FA73}"/>
              </a:ext>
            </a:extLst>
          </p:cNvPr>
          <p:cNvSpPr txBox="1"/>
          <p:nvPr/>
        </p:nvSpPr>
        <p:spPr>
          <a:xfrm>
            <a:off x="6019294" y="4179778"/>
            <a:ext cx="5563105" cy="738664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algn="l"/>
            <a:r>
              <a:rPr lang="en-KR" sz="1400" dirty="0"/>
              <a:t>Vanilla BD3-LM and AR with random batch size show higher variance</a:t>
            </a:r>
          </a:p>
          <a:p>
            <a:pPr algn="l"/>
            <a:endParaRPr lang="en-KR" sz="1400" dirty="0"/>
          </a:p>
          <a:p>
            <a:pPr algn="l"/>
            <a:r>
              <a:rPr lang="en-KR" sz="1400" dirty="0"/>
              <a:t>(both shows inconsistent #(unmasked tokens) per step)</a:t>
            </a:r>
          </a:p>
        </p:txBody>
      </p:sp>
    </p:spTree>
    <p:extLst>
      <p:ext uri="{BB962C8B-B14F-4D97-AF65-F5344CB8AC3E}">
        <p14:creationId xmlns:p14="http://schemas.microsoft.com/office/powerpoint/2010/main" val="22935332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9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E9E38D-A8F1-6D1E-6D96-B1F1ED9231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KR" dirty="0"/>
              <a:t>Block diffusion -- results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7540736E-DDDC-537E-A6FC-D187219C80D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861174" y="1800214"/>
            <a:ext cx="3449261" cy="3323013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45B4D70-CC5B-387A-CC75-EAE045D8EB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4B8DE2-A4E8-46E4-8BBF-D75455EFF32C}" type="slidenum">
              <a:rPr lang="en-US" smtClean="0"/>
              <a:pPr/>
              <a:t>32</a:t>
            </a:fld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BC339BB-B5E7-AF94-861A-6CB80F27432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KR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8B47CD2E-232F-D29D-4A34-CAC107DE29B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32293" y="1805788"/>
            <a:ext cx="3942234" cy="3311864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EFBCB213-906D-4CE9-F919-A979F3E4B8B9}"/>
              </a:ext>
            </a:extLst>
          </p:cNvPr>
          <p:cNvSpPr txBox="1"/>
          <p:nvPr/>
        </p:nvSpPr>
        <p:spPr>
          <a:xfrm>
            <a:off x="2502174" y="5491967"/>
            <a:ext cx="2167260" cy="369332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r>
              <a:rPr lang="en-US" dirty="0"/>
              <a:t>context</a:t>
            </a:r>
            <a:r>
              <a:rPr lang="en-KR" dirty="0"/>
              <a:t>_length = 128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A65E238-D0DC-79D6-DACF-291E621A52D1}"/>
              </a:ext>
            </a:extLst>
          </p:cNvPr>
          <p:cNvSpPr txBox="1"/>
          <p:nvPr/>
        </p:nvSpPr>
        <p:spPr>
          <a:xfrm>
            <a:off x="939316" y="4702889"/>
            <a:ext cx="1826644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KR" sz="1600" dirty="0"/>
              <a:t>L’ = block size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2AA6599-FA48-B5F5-77FF-777ED16EE86C}"/>
              </a:ext>
            </a:extLst>
          </p:cNvPr>
          <p:cNvSpPr txBox="1"/>
          <p:nvPr/>
        </p:nvSpPr>
        <p:spPr>
          <a:xfrm>
            <a:off x="7048446" y="5498598"/>
            <a:ext cx="2309928" cy="369332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r>
              <a:rPr lang="en-US" dirty="0"/>
              <a:t>context</a:t>
            </a:r>
            <a:r>
              <a:rPr lang="en-KR" dirty="0"/>
              <a:t>_length = 1024</a:t>
            </a:r>
          </a:p>
        </p:txBody>
      </p:sp>
    </p:spTree>
    <p:extLst>
      <p:ext uri="{BB962C8B-B14F-4D97-AF65-F5344CB8AC3E}">
        <p14:creationId xmlns:p14="http://schemas.microsoft.com/office/powerpoint/2010/main" val="311172164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5EE091-D1DB-B2D0-81FA-1CF768D7CE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901E94A-B148-DF47-20B2-0935DAF01F6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09600" y="724834"/>
            <a:ext cx="10972800" cy="1609671"/>
          </a:xfrm>
        </p:spPr>
        <p:txBody>
          <a:bodyPr/>
          <a:lstStyle/>
          <a:p>
            <a:r>
              <a:rPr lang="en-KR" sz="1800" dirty="0"/>
              <a:t>Now you can differentiate between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KR" sz="1800" dirty="0"/>
              <a:t>LLaDA’s semi-AR sampling   </a:t>
            </a:r>
            <a:r>
              <a:rPr lang="en-KR" sz="1800" i="1" dirty="0"/>
              <a:t>vs</a:t>
            </a:r>
            <a:r>
              <a:rPr lang="en-KR" sz="1800" dirty="0"/>
              <a:t>   block diffusion’s semi-AR sampling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KR" sz="1800" dirty="0"/>
              <a:t>Intra-block (approximate) KV caching    </a:t>
            </a:r>
            <a:r>
              <a:rPr lang="en-KR" sz="1800" i="1" dirty="0"/>
              <a:t>vs</a:t>
            </a:r>
            <a:r>
              <a:rPr lang="en-KR" sz="1800" dirty="0"/>
              <a:t>    inter-block (exact) KV caching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BE82FCB-E655-19DF-A2E8-D33914A7CC5E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EB4B8DE2-A4E8-46E4-8BBF-D75455EFF32C}" type="slidenum">
              <a:rPr lang="en-US" smtClean="0"/>
              <a:pPr/>
              <a:t>33</a:t>
            </a:fld>
            <a:endParaRPr lang="en-US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3A0391CF-9628-DD36-3053-A65FD6BB97F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4429" y="3117198"/>
            <a:ext cx="11663141" cy="19074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5889F5E3-ABA1-E60F-DB78-78765DEDC51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09600" y="6423793"/>
            <a:ext cx="5330972" cy="369332"/>
          </a:xfrm>
        </p:spPr>
        <p:txBody>
          <a:bodyPr/>
          <a:lstStyle/>
          <a:p>
            <a:r>
              <a:rPr lang="en-US" dirty="0"/>
              <a:t>https://</a:t>
            </a:r>
            <a:r>
              <a:rPr lang="en-US" dirty="0" err="1"/>
              <a:t>github.com</a:t>
            </a:r>
            <a:r>
              <a:rPr lang="en-US" dirty="0"/>
              <a:t>/ML-GSAI/</a:t>
            </a:r>
            <a:r>
              <a:rPr lang="en-US" dirty="0" err="1"/>
              <a:t>LLaDA</a:t>
            </a:r>
            <a:r>
              <a:rPr lang="en-US" dirty="0"/>
              <a:t>/blob/main/</a:t>
            </a:r>
            <a:r>
              <a:rPr lang="en-US" dirty="0" err="1"/>
              <a:t>GUIDELINES.md</a:t>
            </a:r>
            <a:endParaRPr lang="en-KR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3573028-72DA-F430-ADF6-23394E2B0DBD}"/>
              </a:ext>
            </a:extLst>
          </p:cNvPr>
          <p:cNvSpPr/>
          <p:nvPr/>
        </p:nvSpPr>
        <p:spPr>
          <a:xfrm>
            <a:off x="3421430" y="2745551"/>
            <a:ext cx="3960382" cy="2504680"/>
          </a:xfrm>
          <a:prstGeom prst="rect">
            <a:avLst/>
          </a:prstGeom>
          <a:noFill/>
          <a:ln w="285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45720" rIns="45720" rtlCol="0" anchor="ctr"/>
          <a:lstStyle/>
          <a:p>
            <a:pPr algn="ctr"/>
            <a:endParaRPr lang="en-KR" dirty="0" err="1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4258185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ABB7144B-12BD-AB10-2161-23298585F6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3050435"/>
            <a:ext cx="7823200" cy="757130"/>
          </a:xfrm>
        </p:spPr>
        <p:txBody>
          <a:bodyPr/>
          <a:lstStyle/>
          <a:p>
            <a:r>
              <a:rPr lang="en-KR" dirty="0"/>
              <a:t>Post-training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0C0AA55-F6B2-4514-E749-34A5FBA0BD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4B8DE2-A4E8-46E4-8BBF-D75455EFF32C}" type="slidenum">
              <a:rPr lang="en-US" smtClean="0"/>
              <a:pPr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1691425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16EF6D23-D25C-A775-3A1E-C888359A5C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KR" dirty="0"/>
              <a:t>Diffusion of Thought (NeurIPS ‘24)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2D4E5CC8-0F62-4B4C-DD12-A31F86BCA58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714500"/>
            <a:ext cx="5657976" cy="2452979"/>
          </a:xfrm>
        </p:spPr>
        <p:txBody>
          <a:bodyPr/>
          <a:lstStyle/>
          <a:p>
            <a:r>
              <a:rPr lang="en-KR" sz="1800" dirty="0"/>
              <a:t>AR LMs use chain-of-thought to solve hard problems. How can DLMs use similar approach?</a:t>
            </a:r>
          </a:p>
          <a:p>
            <a:endParaRPr lang="en-KR" sz="1800" dirty="0"/>
          </a:p>
          <a:p>
            <a:r>
              <a:rPr lang="en-KR" sz="1800" dirty="0"/>
              <a:t>Diffusion-of-thought(DoT) generates reasoning path along the diffusion timesteps</a:t>
            </a:r>
          </a:p>
          <a:p>
            <a:endParaRPr lang="en-KR" sz="1800" dirty="0"/>
          </a:p>
          <a:p>
            <a:endParaRPr lang="en-KR" sz="1800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1BCC260-FBD1-95F9-B086-D730B83308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4B8DE2-A4E8-46E4-8BBF-D75455EFF32C}" type="slidenum">
              <a:rPr lang="en-US" smtClean="0"/>
              <a:pPr/>
              <a:t>35</a:t>
            </a:fld>
            <a:endParaRPr lang="en-US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F4BF48-9B2A-47AB-B2BC-78B6DBB8944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09599" y="6423793"/>
            <a:ext cx="6015487" cy="369332"/>
          </a:xfrm>
        </p:spPr>
        <p:txBody>
          <a:bodyPr/>
          <a:lstStyle/>
          <a:p>
            <a:r>
              <a:rPr lang="en-US" dirty="0"/>
              <a:t>Ye et al., 2024, Diffusion of Thought: Chain-of-Thought Reasoning in Diffusion Language Models</a:t>
            </a:r>
            <a:endParaRPr lang="en-KR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9DBBE50-7B22-F26B-F731-B1405325E1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44800" y="1602766"/>
            <a:ext cx="4927600" cy="4533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1556114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F8CC0A-4277-6C33-9F8A-E738F3CEC8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KR" dirty="0"/>
              <a:t>DoT -- modeling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879DE89-6455-E4F7-DCCE-3C01D7A906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4B8DE2-A4E8-46E4-8BBF-D75455EFF32C}" type="slidenum">
              <a:rPr lang="en-US" smtClean="0"/>
              <a:pPr/>
              <a:t>36</a:t>
            </a:fld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26E358E-0650-9853-E0AB-B451FBCEE8E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KR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FE87FB5-2479-DD5E-15FA-D47BEA2C44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1814977"/>
            <a:ext cx="2815279" cy="3655441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9FC87053-9BEF-C4B9-8513-A39B7CE9C1E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50871" y="1648797"/>
            <a:ext cx="4622800" cy="398780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DE33D1D8-FC9C-9D07-F2F2-35662DC1E84D}"/>
              </a:ext>
            </a:extLst>
          </p:cNvPr>
          <p:cNvSpPr txBox="1"/>
          <p:nvPr/>
        </p:nvSpPr>
        <p:spPr>
          <a:xfrm>
            <a:off x="8299663" y="2731089"/>
            <a:ext cx="3082575" cy="307777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pPr algn="l"/>
            <a:r>
              <a:rPr lang="en-KR" sz="1400" dirty="0"/>
              <a:t>All rationales are generated </a:t>
            </a:r>
            <a:r>
              <a:rPr lang="en-US" sz="1400" dirty="0"/>
              <a:t>in parallel</a:t>
            </a:r>
            <a:endParaRPr lang="en-KR" sz="1400" dirty="0" err="1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E9D0386-624A-D556-FEDE-DF122025EAE9}"/>
              </a:ext>
            </a:extLst>
          </p:cNvPr>
          <p:cNvSpPr txBox="1"/>
          <p:nvPr/>
        </p:nvSpPr>
        <p:spPr>
          <a:xfrm>
            <a:off x="6048603" y="1296043"/>
            <a:ext cx="2880597" cy="307777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pPr algn="l"/>
            <a:r>
              <a:rPr lang="en-US" sz="1400" dirty="0"/>
              <a:t>Only the rationale tokens are noised</a:t>
            </a:r>
            <a:endParaRPr lang="en-KR" sz="1400" dirty="0" err="1"/>
          </a:p>
        </p:txBody>
      </p:sp>
      <p:sp>
        <p:nvSpPr>
          <p:cNvPr id="3" name="Text Placeholder 5">
            <a:extLst>
              <a:ext uri="{FF2B5EF4-FFF2-40B4-BE49-F238E27FC236}">
                <a16:creationId xmlns:a16="http://schemas.microsoft.com/office/drawing/2014/main" id="{A61F968C-BDE3-29E5-92BB-FEC675954E9C}"/>
              </a:ext>
            </a:extLst>
          </p:cNvPr>
          <p:cNvSpPr txBox="1">
            <a:spLocks/>
          </p:cNvSpPr>
          <p:nvPr/>
        </p:nvSpPr>
        <p:spPr>
          <a:xfrm>
            <a:off x="609599" y="6423793"/>
            <a:ext cx="6015487" cy="369332"/>
          </a:xfrm>
          <a:prstGeom prst="rect">
            <a:avLst/>
          </a:prstGeom>
        </p:spPr>
        <p:txBody>
          <a:bodyPr vert="horz" wrap="square" lIns="0" tIns="45720" rIns="0" bIns="45720" rtlCol="0">
            <a:sp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Arial" panose="020B0604020202020204" pitchFamily="34" charset="0"/>
              <a:buNone/>
              <a:defRPr sz="1000" b="0" i="0" kern="1200" baseline="0">
                <a:solidFill>
                  <a:schemeClr val="tx2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1pPr>
            <a:lvl2pPr marL="51435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Wingdings" panose="05000000000000000000" pitchFamily="2" charset="2"/>
              <a:buChar char="§"/>
              <a:defRPr sz="2400" kern="1200" baseline="0">
                <a:solidFill>
                  <a:schemeClr val="tx2"/>
                </a:solidFill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defRPr>
            </a:lvl2pPr>
            <a:lvl3pPr marL="85725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mazon Ember" panose="020B0603020204020204" pitchFamily="34" charset="0"/>
              <a:buChar char="–"/>
              <a:defRPr sz="2000" kern="1200" baseline="0">
                <a:solidFill>
                  <a:schemeClr val="tx2"/>
                </a:solidFill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defRPr>
            </a:lvl3pPr>
            <a:lvl4pPr marL="1030288" indent="-17145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800" kern="1200" baseline="0">
                <a:solidFill>
                  <a:schemeClr val="tx2"/>
                </a:solidFill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defRPr>
            </a:lvl4pPr>
            <a:lvl5pPr marL="1201738" indent="-17145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800" kern="1200" baseline="0">
                <a:solidFill>
                  <a:schemeClr val="tx2"/>
                </a:solidFill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Ye et al., 2024, Diffusion of Thought: Chain-of-Thought Reasoning in Diffusion Language Models</a:t>
            </a:r>
            <a:endParaRPr lang="en-KR" dirty="0"/>
          </a:p>
        </p:txBody>
      </p:sp>
    </p:spTree>
    <p:extLst>
      <p:ext uri="{BB962C8B-B14F-4D97-AF65-F5344CB8AC3E}">
        <p14:creationId xmlns:p14="http://schemas.microsoft.com/office/powerpoint/2010/main" val="221509912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3433F8-8980-060F-CB54-0DA07D1A23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9DA567-178F-C1D3-3D72-7053375798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KR" dirty="0"/>
              <a:t>DoT -- modeling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585E111-5296-FC7F-1763-7BB96C128B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4B8DE2-A4E8-46E4-8BBF-D75455EFF32C}" type="slidenum">
              <a:rPr lang="en-US" smtClean="0"/>
              <a:pPr/>
              <a:t>37</a:t>
            </a:fld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B57B8EC-7E73-BCB1-0B04-68953539838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KR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04D414E-9DDE-E1F3-F840-30E19BA04F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1814977"/>
            <a:ext cx="2815279" cy="3655441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CD1FEA05-7D01-EE25-E63A-BC2B8820619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24288" y="1814978"/>
            <a:ext cx="8048112" cy="365544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4D1440FF-EA16-29AB-3051-0E992504EAA7}"/>
              </a:ext>
            </a:extLst>
          </p:cNvPr>
          <p:cNvSpPr txBox="1"/>
          <p:nvPr/>
        </p:nvSpPr>
        <p:spPr>
          <a:xfrm>
            <a:off x="7860206" y="1305475"/>
            <a:ext cx="3664465" cy="369332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pPr algn="l"/>
            <a:r>
              <a:rPr lang="en-KR" dirty="0"/>
              <a:t>Multi-pass DoT == semi-AR version</a:t>
            </a:r>
          </a:p>
        </p:txBody>
      </p:sp>
      <p:sp>
        <p:nvSpPr>
          <p:cNvPr id="8" name="Text Placeholder 5">
            <a:extLst>
              <a:ext uri="{FF2B5EF4-FFF2-40B4-BE49-F238E27FC236}">
                <a16:creationId xmlns:a16="http://schemas.microsoft.com/office/drawing/2014/main" id="{40D284ED-44C3-E08C-7000-63D1D663ADDD}"/>
              </a:ext>
            </a:extLst>
          </p:cNvPr>
          <p:cNvSpPr txBox="1">
            <a:spLocks/>
          </p:cNvSpPr>
          <p:nvPr/>
        </p:nvSpPr>
        <p:spPr>
          <a:xfrm>
            <a:off x="609599" y="6423793"/>
            <a:ext cx="6015487" cy="369332"/>
          </a:xfrm>
          <a:prstGeom prst="rect">
            <a:avLst/>
          </a:prstGeom>
        </p:spPr>
        <p:txBody>
          <a:bodyPr vert="horz" wrap="square" lIns="0" tIns="45720" rIns="0" bIns="45720" rtlCol="0">
            <a:sp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Arial" panose="020B0604020202020204" pitchFamily="34" charset="0"/>
              <a:buNone/>
              <a:defRPr sz="1000" b="0" i="0" kern="1200" baseline="0">
                <a:solidFill>
                  <a:schemeClr val="tx2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1pPr>
            <a:lvl2pPr marL="51435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Wingdings" panose="05000000000000000000" pitchFamily="2" charset="2"/>
              <a:buChar char="§"/>
              <a:defRPr sz="2400" kern="1200" baseline="0">
                <a:solidFill>
                  <a:schemeClr val="tx2"/>
                </a:solidFill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defRPr>
            </a:lvl2pPr>
            <a:lvl3pPr marL="85725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mazon Ember" panose="020B0603020204020204" pitchFamily="34" charset="0"/>
              <a:buChar char="–"/>
              <a:defRPr sz="2000" kern="1200" baseline="0">
                <a:solidFill>
                  <a:schemeClr val="tx2"/>
                </a:solidFill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defRPr>
            </a:lvl3pPr>
            <a:lvl4pPr marL="1030288" indent="-17145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800" kern="1200" baseline="0">
                <a:solidFill>
                  <a:schemeClr val="tx2"/>
                </a:solidFill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defRPr>
            </a:lvl4pPr>
            <a:lvl5pPr marL="1201738" indent="-17145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800" kern="1200" baseline="0">
                <a:solidFill>
                  <a:schemeClr val="tx2"/>
                </a:solidFill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Ye et al., 2024, Diffusion of Thought: Chain-of-Thought Reasoning in Diffusion Language Models</a:t>
            </a:r>
            <a:endParaRPr lang="en-KR" dirty="0"/>
          </a:p>
        </p:txBody>
      </p:sp>
    </p:spTree>
    <p:extLst>
      <p:ext uri="{BB962C8B-B14F-4D97-AF65-F5344CB8AC3E}">
        <p14:creationId xmlns:p14="http://schemas.microsoft.com/office/powerpoint/2010/main" val="2386808148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FA5B48-361A-B420-4805-70FC42C397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KR" dirty="0"/>
              <a:t>Training DoT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0671BC-B502-5018-3E4D-228617DAF5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714500"/>
            <a:ext cx="10972800" cy="369332"/>
          </a:xfrm>
        </p:spPr>
        <p:txBody>
          <a:bodyPr/>
          <a:lstStyle/>
          <a:p>
            <a:r>
              <a:rPr lang="en-KR" sz="2000" dirty="0"/>
              <a:t>Scheduled sampling helps the model to recover from its reasoning errors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3D9D0C1-3D0E-57F8-2C83-9F1017EA40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4B8DE2-A4E8-46E4-8BBF-D75455EFF32C}" type="slidenum">
              <a:rPr lang="en-US" smtClean="0"/>
              <a:pPr/>
              <a:t>38</a:t>
            </a:fld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B5D2D36-3E8D-5988-166E-F3DD9220251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KR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Oval 7">
                <a:extLst>
                  <a:ext uri="{FF2B5EF4-FFF2-40B4-BE49-F238E27FC236}">
                    <a16:creationId xmlns:a16="http://schemas.microsoft.com/office/drawing/2014/main" id="{CBBA4FC4-F341-441C-EFC8-FC55C9D5EFCD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1901465" y="5020117"/>
                <a:ext cx="720000" cy="720000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45720" tIns="45720" rIns="45720"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en-KR" dirty="0" err="1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8" name="Oval 7">
                <a:extLst>
                  <a:ext uri="{FF2B5EF4-FFF2-40B4-BE49-F238E27FC236}">
                    <a16:creationId xmlns:a16="http://schemas.microsoft.com/office/drawing/2014/main" id="{CBBA4FC4-F341-441C-EFC8-FC55C9D5EFC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01465" y="5020117"/>
                <a:ext cx="720000" cy="720000"/>
              </a:xfrm>
              <a:prstGeom prst="ellipse">
                <a:avLst/>
              </a:prstGeom>
              <a:blipFill>
                <a:blip r:embed="rId2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K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Oval 8">
                <a:extLst>
                  <a:ext uri="{FF2B5EF4-FFF2-40B4-BE49-F238E27FC236}">
                    <a16:creationId xmlns:a16="http://schemas.microsoft.com/office/drawing/2014/main" id="{6FFFFDCD-4BA7-DAA8-AAC4-2C2551009DBE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1901465" y="3429000"/>
                <a:ext cx="720000" cy="720000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45720" tIns="45720" rIns="45720"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</m:oMath>
                  </m:oMathPara>
                </a14:m>
                <a:endParaRPr lang="en-KR" dirty="0" err="1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9" name="Oval 8">
                <a:extLst>
                  <a:ext uri="{FF2B5EF4-FFF2-40B4-BE49-F238E27FC236}">
                    <a16:creationId xmlns:a16="http://schemas.microsoft.com/office/drawing/2014/main" id="{6FFFFDCD-4BA7-DAA8-AAC4-2C2551009DB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01465" y="3429000"/>
                <a:ext cx="720000" cy="720000"/>
              </a:xfrm>
              <a:prstGeom prst="ellipse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KR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1" name="Curved Connector 10">
            <a:extLst>
              <a:ext uri="{FF2B5EF4-FFF2-40B4-BE49-F238E27FC236}">
                <a16:creationId xmlns:a16="http://schemas.microsoft.com/office/drawing/2014/main" id="{09896277-7007-18FB-F19E-B608A0AB0A21}"/>
              </a:ext>
            </a:extLst>
          </p:cNvPr>
          <p:cNvCxnSpPr>
            <a:stCxn id="8" idx="2"/>
            <a:endCxn id="9" idx="2"/>
          </p:cNvCxnSpPr>
          <p:nvPr/>
        </p:nvCxnSpPr>
        <p:spPr>
          <a:xfrm rot="10800000">
            <a:off x="1901465" y="3789001"/>
            <a:ext cx="12700" cy="1591117"/>
          </a:xfrm>
          <a:prstGeom prst="curvedConnector3">
            <a:avLst>
              <a:gd name="adj1" fmla="val 1800000"/>
            </a:avLst>
          </a:prstGeom>
          <a:ln w="19050" cap="rnd">
            <a:solidFill>
              <a:schemeClr val="tx1"/>
            </a:solidFill>
            <a:round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Curved Connector 12">
            <a:extLst>
              <a:ext uri="{FF2B5EF4-FFF2-40B4-BE49-F238E27FC236}">
                <a16:creationId xmlns:a16="http://schemas.microsoft.com/office/drawing/2014/main" id="{8BE57127-8240-785A-5AD6-6FB3985532FF}"/>
              </a:ext>
            </a:extLst>
          </p:cNvPr>
          <p:cNvCxnSpPr>
            <a:stCxn id="9" idx="6"/>
            <a:endCxn id="8" idx="6"/>
          </p:cNvCxnSpPr>
          <p:nvPr/>
        </p:nvCxnSpPr>
        <p:spPr>
          <a:xfrm>
            <a:off x="2621465" y="3789000"/>
            <a:ext cx="12700" cy="1591117"/>
          </a:xfrm>
          <a:prstGeom prst="curvedConnector3">
            <a:avLst>
              <a:gd name="adj1" fmla="val 1800000"/>
            </a:avLst>
          </a:prstGeom>
          <a:ln w="19050" cap="rnd">
            <a:solidFill>
              <a:srgbClr val="FF0000"/>
            </a:solidFill>
            <a:round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BEB1BA9B-EC80-8CC6-6450-40692577BEFD}"/>
              </a:ext>
            </a:extLst>
          </p:cNvPr>
          <p:cNvSpPr txBox="1"/>
          <p:nvPr/>
        </p:nvSpPr>
        <p:spPr>
          <a:xfrm>
            <a:off x="566590" y="4453753"/>
            <a:ext cx="1037143" cy="261610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pPr algn="l"/>
            <a:r>
              <a:rPr lang="en-US" sz="1100" dirty="0"/>
              <a:t>forward process</a:t>
            </a:r>
            <a:endParaRPr lang="en-KR" sz="1100" dirty="0" err="1"/>
          </a:p>
        </p:txBody>
      </p:sp>
      <p:cxnSp>
        <p:nvCxnSpPr>
          <p:cNvPr id="24" name="Curved Connector 23">
            <a:extLst>
              <a:ext uri="{FF2B5EF4-FFF2-40B4-BE49-F238E27FC236}">
                <a16:creationId xmlns:a16="http://schemas.microsoft.com/office/drawing/2014/main" id="{EE5F9824-D5EC-FA6A-B016-C0E210CE3755}"/>
              </a:ext>
            </a:extLst>
          </p:cNvPr>
          <p:cNvCxnSpPr>
            <a:stCxn id="19" idx="6"/>
            <a:endCxn id="21" idx="6"/>
          </p:cNvCxnSpPr>
          <p:nvPr/>
        </p:nvCxnSpPr>
        <p:spPr>
          <a:xfrm>
            <a:off x="6455257" y="2643383"/>
            <a:ext cx="702067" cy="2736734"/>
          </a:xfrm>
          <a:prstGeom prst="curvedConnector3">
            <a:avLst>
              <a:gd name="adj1" fmla="val 132561"/>
            </a:avLst>
          </a:prstGeom>
          <a:ln w="19050" cap="rnd">
            <a:solidFill>
              <a:schemeClr val="tx1"/>
            </a:solidFill>
            <a:round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TextBox 32">
            <a:extLst>
              <a:ext uri="{FF2B5EF4-FFF2-40B4-BE49-F238E27FC236}">
                <a16:creationId xmlns:a16="http://schemas.microsoft.com/office/drawing/2014/main" id="{4F1580BC-5156-36B3-99F8-064A882E6B55}"/>
              </a:ext>
            </a:extLst>
          </p:cNvPr>
          <p:cNvSpPr txBox="1"/>
          <p:nvPr/>
        </p:nvSpPr>
        <p:spPr>
          <a:xfrm>
            <a:off x="2994165" y="4453753"/>
            <a:ext cx="1340110" cy="261610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pPr algn="l"/>
            <a:r>
              <a:rPr lang="en-US" sz="1100" dirty="0">
                <a:solidFill>
                  <a:srgbClr val="FF0000"/>
                </a:solidFill>
              </a:rPr>
              <a:t>train reverse process</a:t>
            </a:r>
            <a:endParaRPr lang="en-KR" sz="1100" dirty="0" err="1">
              <a:solidFill>
                <a:srgbClr val="FF0000"/>
              </a:solidFill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682D8818-C1C8-4895-C1D2-72A48BBB19FD}"/>
              </a:ext>
            </a:extLst>
          </p:cNvPr>
          <p:cNvSpPr txBox="1"/>
          <p:nvPr/>
        </p:nvSpPr>
        <p:spPr>
          <a:xfrm>
            <a:off x="1126539" y="5981723"/>
            <a:ext cx="2269852" cy="307777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pPr algn="l"/>
            <a:r>
              <a:rPr lang="en-KR" sz="1400" u="sng" dirty="0"/>
              <a:t>Without scheduled sampling</a:t>
            </a:r>
          </a:p>
        </p:txBody>
      </p:sp>
      <p:grpSp>
        <p:nvGrpSpPr>
          <p:cNvPr id="48" name="Group 47">
            <a:extLst>
              <a:ext uri="{FF2B5EF4-FFF2-40B4-BE49-F238E27FC236}">
                <a16:creationId xmlns:a16="http://schemas.microsoft.com/office/drawing/2014/main" id="{93FAC0E7-A14E-9706-83A4-5DA4AF84653E}"/>
              </a:ext>
            </a:extLst>
          </p:cNvPr>
          <p:cNvGrpSpPr/>
          <p:nvPr/>
        </p:nvGrpSpPr>
        <p:grpSpPr>
          <a:xfrm>
            <a:off x="4900007" y="2283383"/>
            <a:ext cx="2257317" cy="4006117"/>
            <a:chOff x="4900007" y="2283383"/>
            <a:chExt cx="2257317" cy="4006117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" name="Oval 14">
                  <a:extLst>
                    <a:ext uri="{FF2B5EF4-FFF2-40B4-BE49-F238E27FC236}">
                      <a16:creationId xmlns:a16="http://schemas.microsoft.com/office/drawing/2014/main" id="{4D127DDC-C5F5-B152-D7CE-7EA1813B10D1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4900007" y="5020117"/>
                  <a:ext cx="720000" cy="720000"/>
                </a:xfrm>
                <a:prstGeom prst="ellipse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45720" tIns="45720" rIns="45720"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oMath>
                    </m:oMathPara>
                  </a14:m>
                  <a:endParaRPr lang="en-KR" dirty="0" err="1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5" name="Oval 14">
                  <a:extLst>
                    <a:ext uri="{FF2B5EF4-FFF2-40B4-BE49-F238E27FC236}">
                      <a16:creationId xmlns:a16="http://schemas.microsoft.com/office/drawing/2014/main" id="{4D127DDC-C5F5-B152-D7CE-7EA1813B10D1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900007" y="5020117"/>
                  <a:ext cx="720000" cy="720000"/>
                </a:xfrm>
                <a:prstGeom prst="ellipse">
                  <a:avLst/>
                </a:prstGeom>
                <a:blipFill>
                  <a:blip r:embed="rId4"/>
                  <a:stretch>
                    <a:fillRect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en-KR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" name="Oval 15">
                  <a:extLst>
                    <a:ext uri="{FF2B5EF4-FFF2-40B4-BE49-F238E27FC236}">
                      <a16:creationId xmlns:a16="http://schemas.microsoft.com/office/drawing/2014/main" id="{53D873FC-32E0-C9D4-11B9-B9B1D52870BC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5735257" y="3466666"/>
                  <a:ext cx="720000" cy="720000"/>
                </a:xfrm>
                <a:prstGeom prst="ellipse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45720" tIns="45720" rIns="45720"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</m:oMath>
                    </m:oMathPara>
                  </a14:m>
                  <a:endParaRPr lang="en-KR" dirty="0" err="1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6" name="Oval 15">
                  <a:extLst>
                    <a:ext uri="{FF2B5EF4-FFF2-40B4-BE49-F238E27FC236}">
                      <a16:creationId xmlns:a16="http://schemas.microsoft.com/office/drawing/2014/main" id="{53D873FC-32E0-C9D4-11B9-B9B1D52870BC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735257" y="3466666"/>
                  <a:ext cx="720000" cy="720000"/>
                </a:xfrm>
                <a:prstGeom prst="ellipse">
                  <a:avLst/>
                </a:prstGeom>
                <a:blipFill>
                  <a:blip r:embed="rId5"/>
                  <a:stretch>
                    <a:fillRect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en-KR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7" name="Curved Connector 16">
              <a:extLst>
                <a:ext uri="{FF2B5EF4-FFF2-40B4-BE49-F238E27FC236}">
                  <a16:creationId xmlns:a16="http://schemas.microsoft.com/office/drawing/2014/main" id="{9CCE2AF3-1D39-9BA5-A1AF-130C729F3526}"/>
                </a:ext>
              </a:extLst>
            </p:cNvPr>
            <p:cNvCxnSpPr>
              <a:cxnSpLocks/>
              <a:stCxn id="15" idx="2"/>
              <a:endCxn id="19" idx="2"/>
            </p:cNvCxnSpPr>
            <p:nvPr/>
          </p:nvCxnSpPr>
          <p:spPr>
            <a:xfrm rot="10800000" flipH="1">
              <a:off x="4900007" y="2643383"/>
              <a:ext cx="835250" cy="2736734"/>
            </a:xfrm>
            <a:prstGeom prst="curvedConnector3">
              <a:avLst>
                <a:gd name="adj1" fmla="val -27369"/>
              </a:avLst>
            </a:prstGeom>
            <a:ln w="19050" cap="rnd">
              <a:solidFill>
                <a:schemeClr val="tx1"/>
              </a:solidFill>
              <a:round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" name="Oval 18">
                  <a:extLst>
                    <a:ext uri="{FF2B5EF4-FFF2-40B4-BE49-F238E27FC236}">
                      <a16:creationId xmlns:a16="http://schemas.microsoft.com/office/drawing/2014/main" id="{A3F809D4-820B-9B15-B52B-D70CEE78E5FB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5735257" y="2283383"/>
                  <a:ext cx="720000" cy="720000"/>
                </a:xfrm>
                <a:prstGeom prst="ellipse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45720" tIns="45720" rIns="45720"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𝑢</m:t>
                            </m:r>
                          </m:sub>
                        </m:sSub>
                      </m:oMath>
                    </m:oMathPara>
                  </a14:m>
                  <a:endParaRPr lang="en-KR" dirty="0" err="1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9" name="Oval 18">
                  <a:extLst>
                    <a:ext uri="{FF2B5EF4-FFF2-40B4-BE49-F238E27FC236}">
                      <a16:creationId xmlns:a16="http://schemas.microsoft.com/office/drawing/2014/main" id="{A3F809D4-820B-9B15-B52B-D70CEE78E5FB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735257" y="2283383"/>
                  <a:ext cx="720000" cy="720000"/>
                </a:xfrm>
                <a:prstGeom prst="ellipse">
                  <a:avLst/>
                </a:prstGeom>
                <a:blipFill>
                  <a:blip r:embed="rId6"/>
                  <a:stretch>
                    <a:fillRect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en-KR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" name="Oval 20">
                  <a:extLst>
                    <a:ext uri="{FF2B5EF4-FFF2-40B4-BE49-F238E27FC236}">
                      <a16:creationId xmlns:a16="http://schemas.microsoft.com/office/drawing/2014/main" id="{CCD4D313-BB5C-F223-E86E-F98AEA83B292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6437324" y="5020117"/>
                  <a:ext cx="720000" cy="720000"/>
                </a:xfrm>
                <a:prstGeom prst="ellipse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45720" tIns="45720" rIns="45720"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̂"/>
                                <m:ctrlPr>
                                  <a:rPr lang="en-US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𝑧</m:t>
                                </m:r>
                              </m:e>
                            </m:acc>
                          </m:e>
                          <m:sub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oMath>
                    </m:oMathPara>
                  </a14:m>
                  <a:endParaRPr lang="en-KR" dirty="0" err="1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21" name="Oval 20">
                  <a:extLst>
                    <a:ext uri="{FF2B5EF4-FFF2-40B4-BE49-F238E27FC236}">
                      <a16:creationId xmlns:a16="http://schemas.microsoft.com/office/drawing/2014/main" id="{CCD4D313-BB5C-F223-E86E-F98AEA83B292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437324" y="5020117"/>
                  <a:ext cx="720000" cy="720000"/>
                </a:xfrm>
                <a:prstGeom prst="ellipse">
                  <a:avLst/>
                </a:prstGeom>
                <a:blipFill>
                  <a:blip r:embed="rId7"/>
                  <a:stretch>
                    <a:fillRect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en-KR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30" name="Straight Arrow Connector 29">
              <a:extLst>
                <a:ext uri="{FF2B5EF4-FFF2-40B4-BE49-F238E27FC236}">
                  <a16:creationId xmlns:a16="http://schemas.microsoft.com/office/drawing/2014/main" id="{E273C4FB-FB42-25AD-9952-AA8D6618C29F}"/>
                </a:ext>
              </a:extLst>
            </p:cNvPr>
            <p:cNvCxnSpPr>
              <a:stCxn id="21" idx="0"/>
              <a:endCxn id="16" idx="5"/>
            </p:cNvCxnSpPr>
            <p:nvPr/>
          </p:nvCxnSpPr>
          <p:spPr>
            <a:xfrm flipH="1" flipV="1">
              <a:off x="6349815" y="4081224"/>
              <a:ext cx="447509" cy="938893"/>
            </a:xfrm>
            <a:prstGeom prst="straightConnector1">
              <a:avLst/>
            </a:prstGeom>
            <a:ln w="19050" cap="rnd">
              <a:solidFill>
                <a:schemeClr val="tx1"/>
              </a:solidFill>
              <a:round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Arrow Connector 31">
              <a:extLst>
                <a:ext uri="{FF2B5EF4-FFF2-40B4-BE49-F238E27FC236}">
                  <a16:creationId xmlns:a16="http://schemas.microsoft.com/office/drawing/2014/main" id="{1019D67D-99C9-198C-5F3C-F4A1AB566BEB}"/>
                </a:ext>
              </a:extLst>
            </p:cNvPr>
            <p:cNvCxnSpPr>
              <a:stCxn id="16" idx="3"/>
              <a:endCxn id="15" idx="0"/>
            </p:cNvCxnSpPr>
            <p:nvPr/>
          </p:nvCxnSpPr>
          <p:spPr>
            <a:xfrm flipH="1">
              <a:off x="5260007" y="4081224"/>
              <a:ext cx="580692" cy="938893"/>
            </a:xfrm>
            <a:prstGeom prst="straightConnector1">
              <a:avLst/>
            </a:prstGeom>
            <a:ln w="19050" cap="rnd">
              <a:solidFill>
                <a:srgbClr val="FF0000"/>
              </a:solidFill>
              <a:round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C5ECE757-F903-2F80-4CC6-E0B5AE7384D7}"/>
                </a:ext>
              </a:extLst>
            </p:cNvPr>
            <p:cNvSpPr txBox="1"/>
            <p:nvPr/>
          </p:nvSpPr>
          <p:spPr>
            <a:xfrm>
              <a:off x="4976527" y="5981723"/>
              <a:ext cx="2006960" cy="307777"/>
            </a:xfrm>
            <a:prstGeom prst="rect">
              <a:avLst/>
            </a:prstGeom>
            <a:noFill/>
          </p:spPr>
          <p:txBody>
            <a:bodyPr wrap="none" lIns="0" rIns="0" rtlCol="0">
              <a:spAutoFit/>
            </a:bodyPr>
            <a:lstStyle/>
            <a:p>
              <a:pPr algn="ctr"/>
              <a:r>
                <a:rPr lang="en-KR" sz="1400" u="sng" dirty="0"/>
                <a:t>With scheduled sampling</a:t>
              </a: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45C1883D-CF2B-20A9-991F-C0AA862F081D}"/>
                  </a:ext>
                </a:extLst>
              </p:cNvPr>
              <p:cNvSpPr txBox="1"/>
              <p:nvPr/>
            </p:nvSpPr>
            <p:spPr>
              <a:xfrm>
                <a:off x="8074824" y="3926534"/>
                <a:ext cx="3414589" cy="1384995"/>
              </a:xfrm>
              <a:prstGeom prst="rect">
                <a:avLst/>
              </a:prstGeom>
              <a:noFill/>
            </p:spPr>
            <p:txBody>
              <a:bodyPr wrap="none" lIns="0" rIns="0" rtlCol="0">
                <a:spAutoFit/>
              </a:bodyPr>
              <a:lstStyle/>
              <a:p>
                <a:pPr marL="285750" indent="-285750" algn="l">
                  <a:buFont typeface="Arial" panose="020B0604020202020204" pitchFamily="34" charset="0"/>
                  <a:buChar char="•"/>
                </a:pPr>
                <a:r>
                  <a:rPr lang="en-KR" sz="1400" dirty="0"/>
                  <a:t>Sample from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𝑢</m:t>
                        </m:r>
                      </m:sub>
                    </m:sSub>
                  </m:oMath>
                </a14:m>
                <a:r>
                  <a:rPr lang="en-KR" sz="1400" dirty="0"/>
                  <a:t> with prob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𝜖</m:t>
                        </m:r>
                      </m:e>
                      <m:sub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sz="1400" b="0" i="1" smtClean="0">
                        <a:latin typeface="Cambria Math" panose="02040503050406030204" pitchFamily="18" charset="0"/>
                      </a:rPr>
                      <m:t>∈</m:t>
                    </m:r>
                    <m:d>
                      <m:dPr>
                        <m:begChr m:val="["/>
                        <m:endChr m:val="]"/>
                        <m:ctrlPr>
                          <a:rPr lang="en-US" sz="1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1,</m:t>
                        </m:r>
                        <m:sSub>
                          <m:sSubPr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𝜖</m:t>
                            </m:r>
                          </m:e>
                          <m:sub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𝑚𝑖𝑛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sz="1400" b="0" dirty="0"/>
                  <a:t>,</a:t>
                </a:r>
              </a:p>
              <a:p>
                <a:pPr algn="l"/>
                <a14:m>
                  <m:oMath xmlns:m="http://schemas.openxmlformats.org/officeDocument/2006/math">
                    <m:r>
                      <a:rPr lang="en-US" sz="1400" b="0" i="1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sz="1400" dirty="0"/>
                  <a:t> is a training step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𝜖</m:t>
                        </m:r>
                      </m:e>
                      <m:sub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sz="1400" b="0" dirty="0"/>
                  <a:t> linearly decays</a:t>
                </a:r>
              </a:p>
              <a:p>
                <a:pPr algn="l"/>
                <a:endParaRPr lang="en-US" sz="1400" dirty="0"/>
              </a:p>
              <a:p>
                <a:pPr algn="l"/>
                <a:r>
                  <a:rPr lang="en-US" sz="1400" b="0" dirty="0"/>
                  <a:t>(Authors suggest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𝜖</m:t>
                        </m:r>
                      </m:e>
                      <m:sub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𝑚𝑖𝑛</m:t>
                        </m:r>
                      </m:sub>
                    </m:sSub>
                    <m:r>
                      <a:rPr lang="en-US" sz="1400" b="0" i="1" smtClean="0">
                        <a:latin typeface="Cambria Math" panose="02040503050406030204" pitchFamily="18" charset="0"/>
                      </a:rPr>
                      <m:t>=.95)</m:t>
                    </m:r>
                  </m:oMath>
                </a14:m>
                <a:endParaRPr lang="en-US" sz="1400" b="0" dirty="0"/>
              </a:p>
              <a:p>
                <a:pPr algn="l"/>
                <a:endParaRPr lang="en-US" sz="1400" dirty="0"/>
              </a:p>
              <a:p>
                <a:pPr marL="285750" indent="-285750" algn="l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sz="1400" b="0" i="1" smtClean="0">
                        <a:latin typeface="Cambria Math" panose="02040503050406030204" pitchFamily="18" charset="0"/>
                      </a:rPr>
                      <m:t>𝑢</m:t>
                    </m:r>
                    <m:r>
                      <a:rPr lang="en-US" sz="1400" b="0" i="1" smtClean="0">
                        <a:latin typeface="Cambria Math" panose="02040503050406030204" pitchFamily="18" charset="0"/>
                      </a:rPr>
                      <m:t>∼</m:t>
                    </m:r>
                    <m:r>
                      <a:rPr lang="en-US" sz="1400" b="0" i="1" smtClean="0">
                        <a:latin typeface="Cambria Math" panose="02040503050406030204" pitchFamily="18" charset="0"/>
                      </a:rPr>
                      <m:t>𝑈</m:t>
                    </m:r>
                    <m:r>
                      <a:rPr lang="en-US" sz="14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1400" b="0" i="1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sz="1400" b="0" i="1" smtClean="0">
                        <a:latin typeface="Cambria Math" panose="02040503050406030204" pitchFamily="18" charset="0"/>
                      </a:rPr>
                      <m:t>+1, </m:t>
                    </m:r>
                    <m:r>
                      <a:rPr lang="en-US" sz="1400" b="0" i="1" smtClean="0">
                        <a:latin typeface="Cambria Math" panose="02040503050406030204" pitchFamily="18" charset="0"/>
                      </a:rPr>
                      <m:t>𝑇</m:t>
                    </m:r>
                    <m:r>
                      <a:rPr lang="en-US" sz="14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1400" b="0" dirty="0"/>
              </a:p>
            </p:txBody>
          </p:sp>
        </mc:Choice>
        <mc:Fallback xmlns=""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45C1883D-CF2B-20A9-991F-C0AA862F081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74824" y="3926534"/>
                <a:ext cx="3414589" cy="1384995"/>
              </a:xfrm>
              <a:prstGeom prst="rect">
                <a:avLst/>
              </a:prstGeom>
              <a:blipFill>
                <a:blip r:embed="rId8"/>
                <a:stretch>
                  <a:fillRect l="-3717" t="-909" r="-2602" b="-1818"/>
                </a:stretch>
              </a:blipFill>
            </p:spPr>
            <p:txBody>
              <a:bodyPr/>
              <a:lstStyle/>
              <a:p>
                <a:r>
                  <a:rPr lang="en-K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9" name="Rounded Rectangle 48">
            <a:extLst>
              <a:ext uri="{FF2B5EF4-FFF2-40B4-BE49-F238E27FC236}">
                <a16:creationId xmlns:a16="http://schemas.microsoft.com/office/drawing/2014/main" id="{28269522-8D63-71FE-25BC-385366824F5A}"/>
              </a:ext>
            </a:extLst>
          </p:cNvPr>
          <p:cNvSpPr/>
          <p:nvPr/>
        </p:nvSpPr>
        <p:spPr>
          <a:xfrm>
            <a:off x="5711034" y="2161861"/>
            <a:ext cx="1846387" cy="3681822"/>
          </a:xfrm>
          <a:prstGeom prst="roundRect">
            <a:avLst/>
          </a:prstGeom>
          <a:noFill/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45720" rIns="45720" rtlCol="0" anchor="ctr"/>
          <a:lstStyle/>
          <a:p>
            <a:pPr algn="ctr"/>
            <a:endParaRPr lang="en-KR" dirty="0" err="1">
              <a:solidFill>
                <a:schemeClr val="tx1"/>
              </a:solidFill>
            </a:endParaRP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F6F000F5-E59A-A921-C15B-F69CB47C7FEA}"/>
              </a:ext>
            </a:extLst>
          </p:cNvPr>
          <p:cNvSpPr txBox="1"/>
          <p:nvPr/>
        </p:nvSpPr>
        <p:spPr>
          <a:xfrm>
            <a:off x="7691982" y="2209900"/>
            <a:ext cx="1352934" cy="276999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pPr algn="l"/>
            <a:r>
              <a:rPr lang="en-US" sz="1200" dirty="0">
                <a:solidFill>
                  <a:srgbClr val="002060"/>
                </a:solidFill>
              </a:rPr>
              <a:t>mimic the inference</a:t>
            </a:r>
            <a:endParaRPr lang="en-KR" sz="1200" dirty="0">
              <a:solidFill>
                <a:srgbClr val="0020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323625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7" grpId="0"/>
      <p:bldP spid="49" grpId="0" animBg="1"/>
      <p:bldP spid="50" grpId="0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05EFBC-7EA8-0B67-F9D3-489D55BF5C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KR" dirty="0"/>
              <a:t>Training DoT-MP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F362FF-7C2B-28BD-6C6A-6760A2DBA9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714500"/>
            <a:ext cx="10972800" cy="744819"/>
          </a:xfrm>
        </p:spPr>
        <p:txBody>
          <a:bodyPr/>
          <a:lstStyle/>
          <a:p>
            <a:r>
              <a:rPr lang="en-KR" sz="2000" dirty="0"/>
              <a:t>Coupled sampling helps the model to recover from its reasoning errors</a:t>
            </a:r>
            <a:endParaRPr lang="en-KR" sz="1600" dirty="0"/>
          </a:p>
          <a:p>
            <a:pPr lvl="1"/>
            <a:r>
              <a:rPr lang="en-KR" sz="1600" dirty="0"/>
              <a:t>Add noise to not only the current block but also to the previous blocks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3743696-11ED-4C8F-4E34-73C789BDF9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4B8DE2-A4E8-46E4-8BBF-D75455EFF32C}" type="slidenum">
              <a:rPr lang="en-US" smtClean="0"/>
              <a:pPr/>
              <a:t>39</a:t>
            </a:fld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3D95093-8F72-87B7-88E3-9AFF0C9B65A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KR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5672094-54F2-3011-6D4E-9D94C3B576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8623" y="2774650"/>
            <a:ext cx="7186194" cy="3263958"/>
          </a:xfrm>
          <a:prstGeom prst="rect">
            <a:avLst/>
          </a:prstGeom>
        </p:spPr>
      </p:pic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9F49FBE6-4FFD-CC00-8211-0067A37DB09C}"/>
              </a:ext>
            </a:extLst>
          </p:cNvPr>
          <p:cNvSpPr txBox="1">
            <a:spLocks/>
          </p:cNvSpPr>
          <p:nvPr/>
        </p:nvSpPr>
        <p:spPr>
          <a:xfrm>
            <a:off x="609599" y="6423793"/>
            <a:ext cx="6015487" cy="369332"/>
          </a:xfrm>
          <a:prstGeom prst="rect">
            <a:avLst/>
          </a:prstGeom>
        </p:spPr>
        <p:txBody>
          <a:bodyPr vert="horz" wrap="square" lIns="0" tIns="45720" rIns="0" bIns="45720" rtlCol="0">
            <a:sp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Arial" panose="020B0604020202020204" pitchFamily="34" charset="0"/>
              <a:buNone/>
              <a:defRPr sz="1000" b="0" i="0" kern="1200" baseline="0">
                <a:solidFill>
                  <a:schemeClr val="tx2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1pPr>
            <a:lvl2pPr marL="51435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Wingdings" panose="05000000000000000000" pitchFamily="2" charset="2"/>
              <a:buChar char="§"/>
              <a:defRPr sz="2400" kern="1200" baseline="0">
                <a:solidFill>
                  <a:schemeClr val="tx2"/>
                </a:solidFill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defRPr>
            </a:lvl2pPr>
            <a:lvl3pPr marL="85725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mazon Ember" panose="020B0603020204020204" pitchFamily="34" charset="0"/>
              <a:buChar char="–"/>
              <a:defRPr sz="2000" kern="1200" baseline="0">
                <a:solidFill>
                  <a:schemeClr val="tx2"/>
                </a:solidFill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defRPr>
            </a:lvl3pPr>
            <a:lvl4pPr marL="1030288" indent="-17145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800" kern="1200" baseline="0">
                <a:solidFill>
                  <a:schemeClr val="tx2"/>
                </a:solidFill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defRPr>
            </a:lvl4pPr>
            <a:lvl5pPr marL="1201738" indent="-17145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800" kern="1200" baseline="0">
                <a:solidFill>
                  <a:schemeClr val="tx2"/>
                </a:solidFill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Ye et al., 2024, Diffusion of Thought: Chain-of-Thought Reasoning in Diffusion Language Models</a:t>
            </a:r>
            <a:endParaRPr lang="en-KR" dirty="0"/>
          </a:p>
        </p:txBody>
      </p:sp>
    </p:spTree>
    <p:extLst>
      <p:ext uri="{BB962C8B-B14F-4D97-AF65-F5344CB8AC3E}">
        <p14:creationId xmlns:p14="http://schemas.microsoft.com/office/powerpoint/2010/main" val="3893895449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DF9FB9-52C2-609C-1F56-13A05EAD9E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KR" dirty="0"/>
              <a:t>DoT -- result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7257DC-F98C-5FAF-49C9-9F0BF80A93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714500"/>
            <a:ext cx="6463522" cy="2259080"/>
          </a:xfrm>
        </p:spPr>
        <p:txBody>
          <a:bodyPr/>
          <a:lstStyle/>
          <a:p>
            <a:r>
              <a:rPr lang="en-KR" sz="2000" dirty="0"/>
              <a:t>DoT-MP (semi-AR) was better than DoT (non-AR)</a:t>
            </a:r>
          </a:p>
          <a:p>
            <a:pPr lvl="1"/>
            <a:r>
              <a:rPr lang="en-KR" sz="1600" dirty="0"/>
              <a:t>Coupled sampling helps in DoT-MP</a:t>
            </a:r>
          </a:p>
          <a:p>
            <a:pPr lvl="1"/>
            <a:endParaRPr lang="en-KR" sz="1600" dirty="0"/>
          </a:p>
          <a:p>
            <a:r>
              <a:rPr lang="en-KR" sz="2000" dirty="0"/>
              <a:t>GSM8K(math) favors left-to-right ordering, but for other tasks, semi-AR sampling may not have an edge</a:t>
            </a:r>
          </a:p>
          <a:p>
            <a:pPr lvl="1"/>
            <a:r>
              <a:rPr lang="en-KR" sz="1600" dirty="0"/>
              <a:t>Coding?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7D771BA-F6C7-D404-D8A1-FFBE202E1D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4B8DE2-A4E8-46E4-8BBF-D75455EFF32C}" type="slidenum">
              <a:rPr lang="en-US" smtClean="0"/>
              <a:pPr/>
              <a:t>40</a:t>
            </a:fld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16CA7A8-80C8-1937-BEB2-43E84442018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KR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21903ED-4B16-CE4A-08CB-66B3C8B51F7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05821" y="1308434"/>
            <a:ext cx="3643880" cy="24125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2523550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27C1B9-9F6E-FF5B-8CF5-5004273C45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KR" dirty="0"/>
              <a:t>Post-training DLMs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CA3026-1D5E-DFDB-B1E8-52AF7D11B33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714500"/>
            <a:ext cx="10972800" cy="3385542"/>
          </a:xfrm>
        </p:spPr>
        <p:txBody>
          <a:bodyPr/>
          <a:lstStyle/>
          <a:p>
            <a:r>
              <a:rPr lang="en-KR" sz="2000" dirty="0"/>
              <a:t>DoT is the first work to present post-training for DLMs</a:t>
            </a:r>
          </a:p>
          <a:p>
            <a:pPr lvl="1"/>
            <a:r>
              <a:rPr lang="en-KR" sz="1600" dirty="0"/>
              <a:t>DoT = SFT on CoT dataset</a:t>
            </a:r>
          </a:p>
          <a:p>
            <a:pPr lvl="1"/>
            <a:endParaRPr lang="en-KR" sz="1600" dirty="0"/>
          </a:p>
          <a:p>
            <a:r>
              <a:rPr lang="en-KR" sz="2000" dirty="0"/>
              <a:t>In RL, applying GRPO for DLMs is challenging because obatining the log-likelihood of tokens (thereby sequences) is hard and inefficient</a:t>
            </a:r>
          </a:p>
          <a:p>
            <a:pPr lvl="1"/>
            <a:r>
              <a:rPr lang="en-KR" sz="1600" dirty="0"/>
              <a:t>In contrast, applying PPO seems to be more straightforward?</a:t>
            </a:r>
          </a:p>
          <a:p>
            <a:pPr lvl="1"/>
            <a:endParaRPr lang="en-KR" sz="1600" dirty="0"/>
          </a:p>
          <a:p>
            <a:pPr lvl="1"/>
            <a:endParaRPr lang="en-KR" sz="1600" dirty="0"/>
          </a:p>
          <a:p>
            <a:pPr lvl="1"/>
            <a:endParaRPr lang="en-KR" sz="16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310F73A-8D40-FCA7-86A5-7F1764277D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4B8DE2-A4E8-46E4-8BBF-D75455EFF32C}" type="slidenum">
              <a:rPr lang="en-US" smtClean="0"/>
              <a:pPr/>
              <a:t>41</a:t>
            </a:fld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14D1D0F-5020-09E6-F717-A8716E1E8E6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3860421882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D8282D-D9F1-782B-5E54-FDCCB88911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B8D578-9CC8-BE66-36D4-CEB1F9DB2F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KR" dirty="0"/>
              <a:t>Estimating the likelihood of each token is hard in DLMs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3104DBE-C4BB-E9D4-D7C0-6C88D7287F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4B8DE2-A4E8-46E4-8BBF-D75455EFF32C}" type="slidenum">
              <a:rPr lang="en-US" smtClean="0"/>
              <a:pPr/>
              <a:t>42</a:t>
            </a:fld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FB59E22-45D2-7F53-E9EB-57CBB4E5272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KR"/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B74C716E-CBF2-AD7D-15DA-50DF3A28DC0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88862511"/>
              </p:ext>
            </p:extLst>
          </p:nvPr>
        </p:nvGraphicFramePr>
        <p:xfrm>
          <a:off x="609600" y="3040053"/>
          <a:ext cx="5083362" cy="3708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47227">
                  <a:extLst>
                    <a:ext uri="{9D8B030D-6E8A-4147-A177-3AD203B41FA5}">
                      <a16:colId xmlns:a16="http://schemas.microsoft.com/office/drawing/2014/main" val="2725002957"/>
                    </a:ext>
                  </a:extLst>
                </a:gridCol>
                <a:gridCol w="847227">
                  <a:extLst>
                    <a:ext uri="{9D8B030D-6E8A-4147-A177-3AD203B41FA5}">
                      <a16:colId xmlns:a16="http://schemas.microsoft.com/office/drawing/2014/main" val="2967591184"/>
                    </a:ext>
                  </a:extLst>
                </a:gridCol>
                <a:gridCol w="847227">
                  <a:extLst>
                    <a:ext uri="{9D8B030D-6E8A-4147-A177-3AD203B41FA5}">
                      <a16:colId xmlns:a16="http://schemas.microsoft.com/office/drawing/2014/main" val="3465237977"/>
                    </a:ext>
                  </a:extLst>
                </a:gridCol>
                <a:gridCol w="847227">
                  <a:extLst>
                    <a:ext uri="{9D8B030D-6E8A-4147-A177-3AD203B41FA5}">
                      <a16:colId xmlns:a16="http://schemas.microsoft.com/office/drawing/2014/main" val="4043266946"/>
                    </a:ext>
                  </a:extLst>
                </a:gridCol>
                <a:gridCol w="847227">
                  <a:extLst>
                    <a:ext uri="{9D8B030D-6E8A-4147-A177-3AD203B41FA5}">
                      <a16:colId xmlns:a16="http://schemas.microsoft.com/office/drawing/2014/main" val="758914307"/>
                    </a:ext>
                  </a:extLst>
                </a:gridCol>
                <a:gridCol w="847227">
                  <a:extLst>
                    <a:ext uri="{9D8B030D-6E8A-4147-A177-3AD203B41FA5}">
                      <a16:colId xmlns:a16="http://schemas.microsoft.com/office/drawing/2014/main" val="209698160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KR" dirty="0"/>
                        <a:t>&lt;M&gt;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KR" dirty="0"/>
                        <a:t>&lt;M&gt;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KR" dirty="0"/>
                        <a:t>&lt;M&gt;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KR" dirty="0"/>
                        <a:t>&lt;M&gt;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KR" dirty="0"/>
                        <a:t>&lt;M&gt;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KR" dirty="0"/>
                        <a:t>&lt;M&gt;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46548387"/>
                  </a:ext>
                </a:extLst>
              </a:tr>
            </a:tbl>
          </a:graphicData>
        </a:graphic>
      </p:graphicFrame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4232AEA2-460E-70E9-D7FD-7ADC9C24AEA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79856470"/>
              </p:ext>
            </p:extLst>
          </p:nvPr>
        </p:nvGraphicFramePr>
        <p:xfrm>
          <a:off x="609600" y="3669826"/>
          <a:ext cx="5083362" cy="3708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47227">
                  <a:extLst>
                    <a:ext uri="{9D8B030D-6E8A-4147-A177-3AD203B41FA5}">
                      <a16:colId xmlns:a16="http://schemas.microsoft.com/office/drawing/2014/main" val="2725002957"/>
                    </a:ext>
                  </a:extLst>
                </a:gridCol>
                <a:gridCol w="847227">
                  <a:extLst>
                    <a:ext uri="{9D8B030D-6E8A-4147-A177-3AD203B41FA5}">
                      <a16:colId xmlns:a16="http://schemas.microsoft.com/office/drawing/2014/main" val="2967591184"/>
                    </a:ext>
                  </a:extLst>
                </a:gridCol>
                <a:gridCol w="847227">
                  <a:extLst>
                    <a:ext uri="{9D8B030D-6E8A-4147-A177-3AD203B41FA5}">
                      <a16:colId xmlns:a16="http://schemas.microsoft.com/office/drawing/2014/main" val="3465237977"/>
                    </a:ext>
                  </a:extLst>
                </a:gridCol>
                <a:gridCol w="847227">
                  <a:extLst>
                    <a:ext uri="{9D8B030D-6E8A-4147-A177-3AD203B41FA5}">
                      <a16:colId xmlns:a16="http://schemas.microsoft.com/office/drawing/2014/main" val="4043266946"/>
                    </a:ext>
                  </a:extLst>
                </a:gridCol>
                <a:gridCol w="847227">
                  <a:extLst>
                    <a:ext uri="{9D8B030D-6E8A-4147-A177-3AD203B41FA5}">
                      <a16:colId xmlns:a16="http://schemas.microsoft.com/office/drawing/2014/main" val="758914307"/>
                    </a:ext>
                  </a:extLst>
                </a:gridCol>
                <a:gridCol w="847227">
                  <a:extLst>
                    <a:ext uri="{9D8B030D-6E8A-4147-A177-3AD203B41FA5}">
                      <a16:colId xmlns:a16="http://schemas.microsoft.com/office/drawing/2014/main" val="209698160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KR" dirty="0"/>
                        <a:t>&lt;M&gt;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KR" dirty="0"/>
                        <a:t>&lt;M&gt;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&lt;M&gt;</a:t>
                      </a:r>
                      <a:endParaRPr lang="en-K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KR" dirty="0"/>
                        <a:t>&lt;M&gt;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&lt;M&gt;</a:t>
                      </a:r>
                      <a:endParaRPr lang="en-K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KR" dirty="0"/>
                        <a:t>F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46548387"/>
                  </a:ext>
                </a:extLst>
              </a:tr>
            </a:tbl>
          </a:graphicData>
        </a:graphic>
      </p:graphicFrame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BF4ACDAC-7CD5-9906-011F-F15C7B9427F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91045143"/>
              </p:ext>
            </p:extLst>
          </p:nvPr>
        </p:nvGraphicFramePr>
        <p:xfrm>
          <a:off x="6387519" y="3040053"/>
          <a:ext cx="5083362" cy="3708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47227">
                  <a:extLst>
                    <a:ext uri="{9D8B030D-6E8A-4147-A177-3AD203B41FA5}">
                      <a16:colId xmlns:a16="http://schemas.microsoft.com/office/drawing/2014/main" val="2725002957"/>
                    </a:ext>
                  </a:extLst>
                </a:gridCol>
                <a:gridCol w="847227">
                  <a:extLst>
                    <a:ext uri="{9D8B030D-6E8A-4147-A177-3AD203B41FA5}">
                      <a16:colId xmlns:a16="http://schemas.microsoft.com/office/drawing/2014/main" val="2967591184"/>
                    </a:ext>
                  </a:extLst>
                </a:gridCol>
                <a:gridCol w="847227">
                  <a:extLst>
                    <a:ext uri="{9D8B030D-6E8A-4147-A177-3AD203B41FA5}">
                      <a16:colId xmlns:a16="http://schemas.microsoft.com/office/drawing/2014/main" val="3465237977"/>
                    </a:ext>
                  </a:extLst>
                </a:gridCol>
                <a:gridCol w="847227">
                  <a:extLst>
                    <a:ext uri="{9D8B030D-6E8A-4147-A177-3AD203B41FA5}">
                      <a16:colId xmlns:a16="http://schemas.microsoft.com/office/drawing/2014/main" val="4043266946"/>
                    </a:ext>
                  </a:extLst>
                </a:gridCol>
                <a:gridCol w="847227">
                  <a:extLst>
                    <a:ext uri="{9D8B030D-6E8A-4147-A177-3AD203B41FA5}">
                      <a16:colId xmlns:a16="http://schemas.microsoft.com/office/drawing/2014/main" val="758914307"/>
                    </a:ext>
                  </a:extLst>
                </a:gridCol>
                <a:gridCol w="847227">
                  <a:extLst>
                    <a:ext uri="{9D8B030D-6E8A-4147-A177-3AD203B41FA5}">
                      <a16:colId xmlns:a16="http://schemas.microsoft.com/office/drawing/2014/main" val="209698160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KR" dirty="0"/>
                        <a:t>&lt;M&gt;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KR" dirty="0"/>
                        <a:t>&lt;M&gt;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KR" dirty="0"/>
                        <a:t>&lt;M&gt;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KR" dirty="0"/>
                        <a:t>&lt;M&gt;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KR" dirty="0"/>
                        <a:t>&lt;M&gt;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KR" dirty="0"/>
                        <a:t>&lt;M&gt;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46548387"/>
                  </a:ext>
                </a:extLst>
              </a:tr>
            </a:tbl>
          </a:graphicData>
        </a:graphic>
      </p:graphicFrame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9928A775-CC27-6D8A-7C93-C2ECE4155FC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37343813"/>
              </p:ext>
            </p:extLst>
          </p:nvPr>
        </p:nvGraphicFramePr>
        <p:xfrm>
          <a:off x="6387519" y="4291619"/>
          <a:ext cx="5083362" cy="3708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47227">
                  <a:extLst>
                    <a:ext uri="{9D8B030D-6E8A-4147-A177-3AD203B41FA5}">
                      <a16:colId xmlns:a16="http://schemas.microsoft.com/office/drawing/2014/main" val="2725002957"/>
                    </a:ext>
                  </a:extLst>
                </a:gridCol>
                <a:gridCol w="847227">
                  <a:extLst>
                    <a:ext uri="{9D8B030D-6E8A-4147-A177-3AD203B41FA5}">
                      <a16:colId xmlns:a16="http://schemas.microsoft.com/office/drawing/2014/main" val="2967591184"/>
                    </a:ext>
                  </a:extLst>
                </a:gridCol>
                <a:gridCol w="847227">
                  <a:extLst>
                    <a:ext uri="{9D8B030D-6E8A-4147-A177-3AD203B41FA5}">
                      <a16:colId xmlns:a16="http://schemas.microsoft.com/office/drawing/2014/main" val="3465237977"/>
                    </a:ext>
                  </a:extLst>
                </a:gridCol>
                <a:gridCol w="847227">
                  <a:extLst>
                    <a:ext uri="{9D8B030D-6E8A-4147-A177-3AD203B41FA5}">
                      <a16:colId xmlns:a16="http://schemas.microsoft.com/office/drawing/2014/main" val="4043266946"/>
                    </a:ext>
                  </a:extLst>
                </a:gridCol>
                <a:gridCol w="847227">
                  <a:extLst>
                    <a:ext uri="{9D8B030D-6E8A-4147-A177-3AD203B41FA5}">
                      <a16:colId xmlns:a16="http://schemas.microsoft.com/office/drawing/2014/main" val="758914307"/>
                    </a:ext>
                  </a:extLst>
                </a:gridCol>
                <a:gridCol w="847227">
                  <a:extLst>
                    <a:ext uri="{9D8B030D-6E8A-4147-A177-3AD203B41FA5}">
                      <a16:colId xmlns:a16="http://schemas.microsoft.com/office/drawing/2014/main" val="209698160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KR" dirty="0"/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KR" dirty="0"/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KR" dirty="0"/>
                        <a:t>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KR" dirty="0"/>
                        <a:t>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KR" dirty="0"/>
                        <a:t>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KR" dirty="0"/>
                        <a:t>&lt;M&gt;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46548387"/>
                  </a:ext>
                </a:extLst>
              </a:tr>
            </a:tbl>
          </a:graphicData>
        </a:graphic>
      </p:graphicFrame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48B1EF7C-4546-A358-7339-6F73E7037AD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66946213"/>
              </p:ext>
            </p:extLst>
          </p:nvPr>
        </p:nvGraphicFramePr>
        <p:xfrm>
          <a:off x="6387519" y="4886957"/>
          <a:ext cx="5083362" cy="3708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47227">
                  <a:extLst>
                    <a:ext uri="{9D8B030D-6E8A-4147-A177-3AD203B41FA5}">
                      <a16:colId xmlns:a16="http://schemas.microsoft.com/office/drawing/2014/main" val="2725002957"/>
                    </a:ext>
                  </a:extLst>
                </a:gridCol>
                <a:gridCol w="847227">
                  <a:extLst>
                    <a:ext uri="{9D8B030D-6E8A-4147-A177-3AD203B41FA5}">
                      <a16:colId xmlns:a16="http://schemas.microsoft.com/office/drawing/2014/main" val="2967591184"/>
                    </a:ext>
                  </a:extLst>
                </a:gridCol>
                <a:gridCol w="847227">
                  <a:extLst>
                    <a:ext uri="{9D8B030D-6E8A-4147-A177-3AD203B41FA5}">
                      <a16:colId xmlns:a16="http://schemas.microsoft.com/office/drawing/2014/main" val="3465237977"/>
                    </a:ext>
                  </a:extLst>
                </a:gridCol>
                <a:gridCol w="847227">
                  <a:extLst>
                    <a:ext uri="{9D8B030D-6E8A-4147-A177-3AD203B41FA5}">
                      <a16:colId xmlns:a16="http://schemas.microsoft.com/office/drawing/2014/main" val="4043266946"/>
                    </a:ext>
                  </a:extLst>
                </a:gridCol>
                <a:gridCol w="847227">
                  <a:extLst>
                    <a:ext uri="{9D8B030D-6E8A-4147-A177-3AD203B41FA5}">
                      <a16:colId xmlns:a16="http://schemas.microsoft.com/office/drawing/2014/main" val="758914307"/>
                    </a:ext>
                  </a:extLst>
                </a:gridCol>
                <a:gridCol w="847227">
                  <a:extLst>
                    <a:ext uri="{9D8B030D-6E8A-4147-A177-3AD203B41FA5}">
                      <a16:colId xmlns:a16="http://schemas.microsoft.com/office/drawing/2014/main" val="209698160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KR" dirty="0"/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KR" dirty="0"/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KR" dirty="0"/>
                        <a:t>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KR" dirty="0"/>
                        <a:t>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KR" dirty="0"/>
                        <a:t>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KR" dirty="0"/>
                        <a:t>F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46548387"/>
                  </a:ext>
                </a:extLst>
              </a:tr>
            </a:tbl>
          </a:graphicData>
        </a:graphic>
      </p:graphicFrame>
      <p:sp>
        <p:nvSpPr>
          <p:cNvPr id="13" name="TextBox 12">
            <a:extLst>
              <a:ext uri="{FF2B5EF4-FFF2-40B4-BE49-F238E27FC236}">
                <a16:creationId xmlns:a16="http://schemas.microsoft.com/office/drawing/2014/main" id="{E460AC56-8124-C493-4C7F-D6D3004B8775}"/>
              </a:ext>
            </a:extLst>
          </p:cNvPr>
          <p:cNvSpPr txBox="1"/>
          <p:nvPr/>
        </p:nvSpPr>
        <p:spPr>
          <a:xfrm>
            <a:off x="8928340" y="3484954"/>
            <a:ext cx="59312" cy="646331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pPr algn="l"/>
            <a:r>
              <a:rPr lang="en-KR" dirty="0"/>
              <a:t>.</a:t>
            </a:r>
          </a:p>
          <a:p>
            <a:pPr algn="l"/>
            <a:r>
              <a:rPr lang="en-KR" dirty="0"/>
              <a:t>.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226B217-2C74-BD15-6DAF-F3324FEE1880}"/>
              </a:ext>
            </a:extLst>
          </p:cNvPr>
          <p:cNvSpPr txBox="1"/>
          <p:nvPr/>
        </p:nvSpPr>
        <p:spPr>
          <a:xfrm>
            <a:off x="664234" y="1639019"/>
            <a:ext cx="8970404" cy="923330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pPr algn="l"/>
            <a:r>
              <a:rPr lang="en-KR" dirty="0"/>
              <a:t>There are so many paths to decode a single token. “Sampling” shows just one of many.</a:t>
            </a:r>
          </a:p>
          <a:p>
            <a:pPr algn="l"/>
            <a:endParaRPr lang="en-KR" dirty="0"/>
          </a:p>
          <a:p>
            <a:pPr algn="l"/>
            <a:r>
              <a:rPr lang="en-KR" dirty="0"/>
              <a:t>&lt;-&gt; In AR, there is one and only path to decode a single token.</a:t>
            </a:r>
          </a:p>
        </p:txBody>
      </p:sp>
    </p:spTree>
    <p:extLst>
      <p:ext uri="{BB962C8B-B14F-4D97-AF65-F5344CB8AC3E}">
        <p14:creationId xmlns:p14="http://schemas.microsoft.com/office/powerpoint/2010/main" val="4196125982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340FD9-4F6B-D080-1B12-DBC796E100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KR" dirty="0"/>
              <a:t>How to efficiently estimate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5EF1B9-2D1F-0B5C-19B5-689F79EA330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714500"/>
            <a:ext cx="10972800" cy="4053417"/>
          </a:xfrm>
        </p:spPr>
        <p:txBody>
          <a:bodyPr/>
          <a:lstStyle/>
          <a:p>
            <a:r>
              <a:rPr lang="en-KR" sz="2000" dirty="0"/>
              <a:t>LLaDA uses Monte Carlo estimation with </a:t>
            </a:r>
            <a:r>
              <a:rPr lang="en-KR" sz="2000" u="sng" dirty="0"/>
              <a:t>random maksing on response tokens</a:t>
            </a:r>
          </a:p>
          <a:p>
            <a:pPr lvl="1"/>
            <a:r>
              <a:rPr lang="en-US" sz="1800" dirty="0"/>
              <a:t>c.f. </a:t>
            </a:r>
            <a:r>
              <a:rPr lang="en-US" sz="1800" dirty="0" err="1"/>
              <a:t>LLaDA</a:t>
            </a:r>
            <a:r>
              <a:rPr lang="en-US" sz="1800" dirty="0"/>
              <a:t> does not use GRPO, but algorithm for log-likelihood estimation is suggested</a:t>
            </a:r>
          </a:p>
          <a:p>
            <a:pPr lvl="1"/>
            <a:endParaRPr lang="en-US" sz="1800" dirty="0"/>
          </a:p>
          <a:p>
            <a:pPr lvl="1"/>
            <a:endParaRPr lang="en-US" sz="1800" dirty="0"/>
          </a:p>
          <a:p>
            <a:pPr lvl="1"/>
            <a:endParaRPr lang="en-US" sz="1800" dirty="0"/>
          </a:p>
          <a:p>
            <a:pPr lvl="1"/>
            <a:endParaRPr lang="en-US" sz="1800" dirty="0"/>
          </a:p>
          <a:p>
            <a:pPr lvl="1"/>
            <a:endParaRPr lang="en-US" sz="1800" dirty="0"/>
          </a:p>
          <a:p>
            <a:pPr lvl="1"/>
            <a:endParaRPr lang="en-US" sz="1800" dirty="0"/>
          </a:p>
          <a:p>
            <a:pPr lvl="1"/>
            <a:endParaRPr lang="en-US" sz="1800" dirty="0"/>
          </a:p>
          <a:p>
            <a:r>
              <a:rPr lang="en-US" sz="2000" dirty="0"/>
              <a:t>Problem? Monte Carlo estimation is too costly</a:t>
            </a:r>
            <a:endParaRPr lang="en-KR" sz="20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6C3E75E-9627-63FC-09A1-952B1D0BD4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4B8DE2-A4E8-46E4-8BBF-D75455EFF32C}" type="slidenum">
              <a:rPr lang="en-US" smtClean="0"/>
              <a:pPr/>
              <a:t>43</a:t>
            </a:fld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70F074E-BEE2-7F57-8ABC-C253EA82B13B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KR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D15FA24-FEF2-5547-4F4D-553260A5B5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749" y="2648002"/>
            <a:ext cx="9584896" cy="25767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40623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9AACB6-F40B-646C-4C62-1D54483DBF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041F68-52AC-9890-B280-E59585A747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914401"/>
            <a:ext cx="10972800" cy="535531"/>
          </a:xfrm>
        </p:spPr>
        <p:txBody>
          <a:bodyPr/>
          <a:lstStyle/>
          <a:p>
            <a:r>
              <a:rPr lang="en-US" dirty="0"/>
              <a:t>d</a:t>
            </a:r>
            <a:r>
              <a:rPr lang="en-KR" dirty="0"/>
              <a:t>1: estimation via one-step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D0B3FC-DE69-A5F8-62EB-6D0EE16A8B9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714499"/>
            <a:ext cx="6550325" cy="3200876"/>
          </a:xfrm>
        </p:spPr>
        <p:txBody>
          <a:bodyPr/>
          <a:lstStyle/>
          <a:p>
            <a:r>
              <a:rPr lang="en-US" sz="2000" dirty="0"/>
              <a:t>Zhao et al., 2025, d1: Scaling Reasoning in Diffusion Large Language Models via Reinforcement Learning</a:t>
            </a:r>
          </a:p>
          <a:p>
            <a:endParaRPr lang="en-US" sz="2000" dirty="0"/>
          </a:p>
          <a:p>
            <a:r>
              <a:rPr lang="en-US" sz="2000" dirty="0"/>
              <a:t>d1 proposes </a:t>
            </a:r>
            <a:r>
              <a:rPr lang="en-US" sz="2000" i="1" dirty="0" err="1"/>
              <a:t>diffu</a:t>
            </a:r>
            <a:r>
              <a:rPr lang="en-US" sz="2000" i="1" dirty="0"/>
              <a:t>-GRPO, </a:t>
            </a:r>
            <a:r>
              <a:rPr lang="en-US" sz="2000" dirty="0"/>
              <a:t>where log-likelihood of all tokens are estimated by a </a:t>
            </a:r>
            <a:r>
              <a:rPr lang="en-US" sz="2000" u="sng" dirty="0"/>
              <a:t>single unmasking process</a:t>
            </a:r>
            <a:r>
              <a:rPr lang="en-US" sz="2000" dirty="0"/>
              <a:t>, i.e., t = T -&gt; t =0</a:t>
            </a:r>
          </a:p>
          <a:p>
            <a:r>
              <a:rPr lang="en-US" sz="2000" dirty="0"/>
              <a:t>Log-likelihood of the sequence is simply a sum of the log-likelihood of all tokens</a:t>
            </a:r>
          </a:p>
          <a:p>
            <a:endParaRPr lang="en-US" sz="20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BCA9603-3DF9-E1EC-333A-58BBFB99D7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4B8DE2-A4E8-46E4-8BBF-D75455EFF32C}" type="slidenum">
              <a:rPr lang="en-US" smtClean="0"/>
              <a:pPr/>
              <a:t>44</a:t>
            </a:fld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09D8EB3-1381-CBD5-54E9-F63BE07CD6B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KR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0658A3C-1B46-3D6C-0D06-E56829539C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96740" y="2009956"/>
            <a:ext cx="2836592" cy="34477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5393931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EFEF4A-0B00-6E95-E7A1-F82C6498BA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1B2B5A-0C40-9597-55DE-49A12DC9DB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914401"/>
            <a:ext cx="10972800" cy="535531"/>
          </a:xfrm>
        </p:spPr>
        <p:txBody>
          <a:bodyPr/>
          <a:lstStyle/>
          <a:p>
            <a:r>
              <a:rPr lang="en-US" dirty="0"/>
              <a:t>Mask the prompt?</a:t>
            </a:r>
            <a:endParaRPr lang="en-KR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786A3A-0E83-9208-8C04-8E9AF85739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714500"/>
            <a:ext cx="10972800" cy="3219343"/>
          </a:xfrm>
        </p:spPr>
        <p:txBody>
          <a:bodyPr/>
          <a:lstStyle/>
          <a:p>
            <a:r>
              <a:rPr lang="en-US" sz="2000" dirty="0"/>
              <a:t>d1 also masks 15% of prompt tokens</a:t>
            </a:r>
          </a:p>
          <a:p>
            <a:pPr lvl="1"/>
            <a:r>
              <a:rPr lang="en-US" sz="1600" dirty="0"/>
              <a:t>d1 claims that this serves as a regularization for policy optimization</a:t>
            </a:r>
          </a:p>
          <a:p>
            <a:endParaRPr lang="en-US" sz="2000" dirty="0"/>
          </a:p>
          <a:p>
            <a:r>
              <a:rPr lang="en-US" sz="2000" dirty="0"/>
              <a:t>This is later rejected by </a:t>
            </a:r>
            <a:r>
              <a:rPr lang="en-US" sz="2000" dirty="0" err="1"/>
              <a:t>DiffuCoder</a:t>
            </a:r>
            <a:r>
              <a:rPr lang="en-US" sz="2000" dirty="0"/>
              <a:t> (Gong+ ‘25)</a:t>
            </a:r>
          </a:p>
          <a:p>
            <a:pPr lvl="1"/>
            <a:r>
              <a:rPr lang="en-US" sz="1600" dirty="0" err="1"/>
              <a:t>DiffuCoder</a:t>
            </a:r>
            <a:r>
              <a:rPr lang="en-US" sz="1600" dirty="0"/>
              <a:t> reports no yield in stable reward improvement</a:t>
            </a:r>
          </a:p>
          <a:p>
            <a:pPr lvl="1"/>
            <a:r>
              <a:rPr lang="en-US" sz="1600" dirty="0"/>
              <a:t>Difference: math(d1)  </a:t>
            </a:r>
            <a:r>
              <a:rPr lang="en-US" sz="1600" i="1" dirty="0"/>
              <a:t>vs  </a:t>
            </a:r>
            <a:r>
              <a:rPr lang="en-US" sz="1600" dirty="0"/>
              <a:t>coding(</a:t>
            </a:r>
            <a:r>
              <a:rPr lang="en-US" sz="1600" dirty="0" err="1"/>
              <a:t>DiffuCoder</a:t>
            </a:r>
            <a:r>
              <a:rPr lang="en-US" sz="1600" dirty="0"/>
              <a:t>)</a:t>
            </a:r>
          </a:p>
          <a:p>
            <a:endParaRPr lang="en-US" sz="2000" dirty="0"/>
          </a:p>
          <a:p>
            <a:pPr marL="0" indent="0">
              <a:buNone/>
            </a:pPr>
            <a:endParaRPr lang="en-US" sz="2000" i="1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B51AECF-C9FE-5F52-53C8-4907541D6F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4B8DE2-A4E8-46E4-8BBF-D75455EFF32C}" type="slidenum">
              <a:rPr lang="en-US" smtClean="0"/>
              <a:pPr/>
              <a:t>45</a:t>
            </a:fld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F70040E-8E9E-BF4C-A6D5-8B1FC9859F9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09600" y="6423793"/>
            <a:ext cx="6653842" cy="661720"/>
          </a:xfrm>
        </p:spPr>
        <p:txBody>
          <a:bodyPr/>
          <a:lstStyle/>
          <a:p>
            <a:r>
              <a:rPr lang="en-US" dirty="0"/>
              <a:t>Zhao et al., 2025, d1: Scaling Reasoning in Diffusion Large Language Models via Reinforcement Learning</a:t>
            </a:r>
          </a:p>
          <a:p>
            <a:endParaRPr lang="en-KR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849F03D-5BD6-74F2-4FF2-1743E8DA58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87196" y="3713076"/>
            <a:ext cx="6195204" cy="26425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17285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EE41AF-D57E-EF78-F21A-07E273AF4D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KR" dirty="0"/>
              <a:t>References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F49358-2661-A462-3A9E-2CD5BC8380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714500"/>
            <a:ext cx="10972800" cy="3594830"/>
          </a:xfrm>
        </p:spPr>
        <p:txBody>
          <a:bodyPr/>
          <a:lstStyle/>
          <a:p>
            <a:r>
              <a:rPr lang="en-KR" sz="1800" dirty="0"/>
              <a:t>Sampling</a:t>
            </a:r>
          </a:p>
          <a:p>
            <a:pPr lvl="1"/>
            <a:r>
              <a:rPr lang="en-KR" sz="1600" dirty="0"/>
              <a:t>Nie et al., 2025, </a:t>
            </a:r>
            <a:r>
              <a:rPr lang="en-US" sz="1600" dirty="0"/>
              <a:t>Large Language Diffusion Models</a:t>
            </a:r>
          </a:p>
          <a:p>
            <a:pPr lvl="1"/>
            <a:r>
              <a:rPr lang="en-US" sz="1600" dirty="0"/>
              <a:t>Wu et al., 2025, Fast-</a:t>
            </a:r>
            <a:r>
              <a:rPr lang="en-US" sz="1600" dirty="0" err="1"/>
              <a:t>dLLM</a:t>
            </a:r>
            <a:r>
              <a:rPr lang="en-US" sz="1600" dirty="0"/>
              <a:t>: Training-free Acceleration of Diffusion LLM by Enabling KV Cache and Parallel Decoding</a:t>
            </a:r>
          </a:p>
          <a:p>
            <a:pPr lvl="1"/>
            <a:r>
              <a:rPr lang="en-KR" sz="1600" dirty="0"/>
              <a:t>Ma et al., 2025, </a:t>
            </a:r>
            <a:r>
              <a:rPr lang="en-US" sz="1600" dirty="0" err="1"/>
              <a:t>dKV</a:t>
            </a:r>
            <a:r>
              <a:rPr lang="en-US" sz="1600" dirty="0"/>
              <a:t>-Cache: The Cache for Diffusion Language Models</a:t>
            </a:r>
            <a:endParaRPr lang="en-KR" sz="1600" dirty="0"/>
          </a:p>
          <a:p>
            <a:pPr lvl="1"/>
            <a:r>
              <a:rPr lang="en-KR" sz="1600" dirty="0"/>
              <a:t>Arriola et al., 2025, </a:t>
            </a:r>
            <a:r>
              <a:rPr lang="en-US" sz="1600" dirty="0"/>
              <a:t>Block Diffusion: Interpolating Between Autoregressive and Diffusion Language Models</a:t>
            </a:r>
            <a:endParaRPr lang="en-US" dirty="0"/>
          </a:p>
          <a:p>
            <a:r>
              <a:rPr lang="en-US" sz="1800" dirty="0"/>
              <a:t>Post-training</a:t>
            </a:r>
          </a:p>
          <a:p>
            <a:pPr lvl="1"/>
            <a:r>
              <a:rPr lang="en-US" sz="1600" dirty="0"/>
              <a:t>Ye et al., 2024, Diffusion of Thought: Chain-of-Thought Reasoning in Diffusion Language Models</a:t>
            </a:r>
          </a:p>
          <a:p>
            <a:pPr lvl="1"/>
            <a:r>
              <a:rPr lang="en-US" sz="1600" dirty="0"/>
              <a:t>Zhao et al., 2025, d1: Scaling Reasoning in Diffusion Large Language Models via Reinforcement Learning</a:t>
            </a:r>
          </a:p>
          <a:p>
            <a:pPr lvl="1"/>
            <a:r>
              <a:rPr lang="en-US" sz="1600" dirty="0"/>
              <a:t>Gond et al., 2025, </a:t>
            </a:r>
            <a:r>
              <a:rPr lang="en-US" sz="1600" dirty="0" err="1"/>
              <a:t>DiffuCoder</a:t>
            </a:r>
            <a:r>
              <a:rPr lang="en-US" sz="1600" dirty="0"/>
              <a:t>: Understanding and Improving Masked Diffusion Models for Code Generation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6D1293F-6643-1969-A24E-BD25AE1886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4B8DE2-A4E8-46E4-8BBF-D75455EFF32C}" type="slidenum">
              <a:rPr lang="en-US" smtClean="0"/>
              <a:pPr/>
              <a:t>46</a:t>
            </a:fld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8220F90-1FD3-079F-3E72-11818465C18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83808072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76B4981B-A76D-0E2C-074D-FDD859975E7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Yejoon Lee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43FE5C2F-CC4B-69D5-6C7D-8A76A017BBA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19125" y="3990975"/>
            <a:ext cx="1994088" cy="313932"/>
          </a:xfrm>
        </p:spPr>
        <p:txBody>
          <a:bodyPr/>
          <a:lstStyle/>
          <a:p>
            <a:r>
              <a:rPr lang="en-US" dirty="0" err="1"/>
              <a:t>leeyejoon@snu.ac.kr</a:t>
            </a:r>
            <a:endParaRPr lang="en-US" dirty="0"/>
          </a:p>
        </p:txBody>
      </p:sp>
      <p:pic>
        <p:nvPicPr>
          <p:cNvPr id="2" name="Picture 1" descr="정장 - 대학상징 - 대학소개 - 서울대학교">
            <a:extLst>
              <a:ext uri="{FF2B5EF4-FFF2-40B4-BE49-F238E27FC236}">
                <a16:creationId xmlns:a16="http://schemas.microsoft.com/office/drawing/2014/main" id="{702E2321-423B-71D8-EEC4-9AD6CA66F31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61088" y="5858852"/>
            <a:ext cx="617768" cy="6409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76A86F8B-64E3-1646-059B-B68DFC881E5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90451" y="5901343"/>
            <a:ext cx="949740" cy="5559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70131609"/>
      </p:ext>
    </p:extLst>
  </p:cSld>
  <p:clrMapOvr>
    <a:masterClrMapping/>
  </p:clrMapOvr>
</p:sld>
</file>

<file path=ppt/theme/theme1.xml><?xml version="1.0" encoding="utf-8"?>
<a:theme xmlns:a="http://schemas.openxmlformats.org/drawingml/2006/main" name="AWS Confidential Light">
  <a:themeElements>
    <a:clrScheme name="AWS_2022_Light">
      <a:dk1>
        <a:srgbClr val="000000"/>
      </a:dk1>
      <a:lt1>
        <a:srgbClr val="FFFFFF"/>
      </a:lt1>
      <a:dk2>
        <a:srgbClr val="232F3E"/>
      </a:dk2>
      <a:lt2>
        <a:srgbClr val="F1F3F3"/>
      </a:lt2>
      <a:accent1>
        <a:srgbClr val="2074D5"/>
      </a:accent1>
      <a:accent2>
        <a:srgbClr val="7C59ED"/>
      </a:accent2>
      <a:accent3>
        <a:srgbClr val="38EF7D"/>
      </a:accent3>
      <a:accent4>
        <a:srgbClr val="F46DBA"/>
      </a:accent4>
      <a:accent5>
        <a:srgbClr val="9FFCEA"/>
      </a:accent5>
      <a:accent6>
        <a:srgbClr val="FBD8BF"/>
      </a:accent6>
      <a:hlink>
        <a:srgbClr val="41B1E8"/>
      </a:hlink>
      <a:folHlink>
        <a:srgbClr val="41B1E8"/>
      </a:folHlink>
    </a:clrScheme>
    <a:fontScheme name="사용자 지정 1">
      <a:majorFont>
        <a:latin typeface="Pretendard"/>
        <a:ea typeface="Pretendard"/>
        <a:cs typeface=""/>
      </a:majorFont>
      <a:minorFont>
        <a:latin typeface="Pretendard"/>
        <a:ea typeface="Pretendard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1"/>
        </a:solidFill>
        <a:ln>
          <a:noFill/>
        </a:ln>
      </a:spPr>
      <a:bodyPr lIns="45720" tIns="45720" rIns="45720" rtlCol="0" anchor="ctr"/>
      <a:lstStyle>
        <a:defPPr algn="ctr">
          <a:defRPr dirty="0" err="1" smtClean="0">
            <a:solidFill>
              <a:schemeClr val="tx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9050" cap="rnd">
          <a:solidFill>
            <a:schemeClr val="tx1"/>
          </a:solidFill>
          <a:round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rIns="0" rtlCol="0">
        <a:spAutoFit/>
      </a:bodyPr>
      <a:lstStyle>
        <a:defPPr algn="l">
          <a:defRPr dirty="0" err="1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Presentation15" id="{53BDB8A2-CD6C-C749-ABDC-265FF8736D9E}" vid="{EC413510-C8E7-EA4E-AA82-7C61127BDA43}"/>
    </a:ext>
  </a:extLst>
</a:theme>
</file>

<file path=ppt/theme/theme2.xml><?xml version="1.0" encoding="utf-8"?>
<a:theme xmlns:a="http://schemas.openxmlformats.org/drawingml/2006/main" name="Office Theme">
  <a:themeElements>
    <a:clrScheme name="One Brand 2022 Dark">
      <a:dk1>
        <a:srgbClr val="000000"/>
      </a:dk1>
      <a:lt1>
        <a:sysClr val="window" lastClr="FFFFFF"/>
      </a:lt1>
      <a:dk2>
        <a:srgbClr val="232F3E"/>
      </a:dk2>
      <a:lt2>
        <a:srgbClr val="F1F3F3"/>
      </a:lt2>
      <a:accent1>
        <a:srgbClr val="FF8500"/>
      </a:accent1>
      <a:accent2>
        <a:srgbClr val="7C59ED"/>
      </a:accent2>
      <a:accent3>
        <a:srgbClr val="38EF7D"/>
      </a:accent3>
      <a:accent4>
        <a:srgbClr val="F46DBA"/>
      </a:accent4>
      <a:accent5>
        <a:srgbClr val="9FFCEA"/>
      </a:accent5>
      <a:accent6>
        <a:srgbClr val="FBD8BF"/>
      </a:accent6>
      <a:hlink>
        <a:srgbClr val="41B1E8"/>
      </a:hlink>
      <a:folHlink>
        <a:srgbClr val="41B1E8"/>
      </a:folHlink>
    </a:clrScheme>
    <a:fontScheme name="Ember Heavy and Normal">
      <a:majorFont>
        <a:latin typeface="Amazon Ember Heavy"/>
        <a:ea typeface=""/>
        <a:cs typeface=""/>
      </a:majorFont>
      <a:minorFont>
        <a:latin typeface="Amazon Ember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ne Brand 2022 Dark">
      <a:dk1>
        <a:srgbClr val="000000"/>
      </a:dk1>
      <a:lt1>
        <a:sysClr val="window" lastClr="FFFFFF"/>
      </a:lt1>
      <a:dk2>
        <a:srgbClr val="232F3E"/>
      </a:dk2>
      <a:lt2>
        <a:srgbClr val="F1F3F3"/>
      </a:lt2>
      <a:accent1>
        <a:srgbClr val="FF8500"/>
      </a:accent1>
      <a:accent2>
        <a:srgbClr val="7C59ED"/>
      </a:accent2>
      <a:accent3>
        <a:srgbClr val="38EF7D"/>
      </a:accent3>
      <a:accent4>
        <a:srgbClr val="F46DBA"/>
      </a:accent4>
      <a:accent5>
        <a:srgbClr val="9FFCEA"/>
      </a:accent5>
      <a:accent6>
        <a:srgbClr val="FBD8BF"/>
      </a:accent6>
      <a:hlink>
        <a:srgbClr val="41B1E8"/>
      </a:hlink>
      <a:folHlink>
        <a:srgbClr val="41B1E8"/>
      </a:folHlink>
    </a:clrScheme>
    <a:fontScheme name="Ember Heavy and Normal">
      <a:majorFont>
        <a:latin typeface="Amazon Ember Heavy"/>
        <a:ea typeface=""/>
        <a:cs typeface=""/>
      </a:majorFont>
      <a:minorFont>
        <a:latin typeface="Amazon Ember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문서" ma:contentTypeID="0x01010068B642EF64ED0F47B920132EBB4BA1B1" ma:contentTypeVersion="19" ma:contentTypeDescription="새 문서를 만듭니다." ma:contentTypeScope="" ma:versionID="80e348e2e4ab8159d9dc33ee247191d0">
  <xsd:schema xmlns:xsd="http://www.w3.org/2001/XMLSchema" xmlns:xs="http://www.w3.org/2001/XMLSchema" xmlns:p="http://schemas.microsoft.com/office/2006/metadata/properties" xmlns:ns2="bcb2b4a5-cb44-4291-9886-2edaa9e85bdf" xmlns:ns3="e88e242b-24fc-4e0f-9d1e-ff21a8f51232" targetNamespace="http://schemas.microsoft.com/office/2006/metadata/properties" ma:root="true" ma:fieldsID="bb43ea3dc43c3bf6afd2e4364d3117d0" ns2:_="" ns3:_="">
    <xsd:import namespace="bcb2b4a5-cb44-4291-9886-2edaa9e85bdf"/>
    <xsd:import namespace="e88e242b-24fc-4e0f-9d1e-ff21a8f51232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Location" minOccurs="0"/>
                <xsd:element ref="ns2:MediaServiceAutoKeyPoints" minOccurs="0"/>
                <xsd:element ref="ns2:MediaServiceKeyPoints" minOccurs="0"/>
                <xsd:element ref="ns3:SharedWithUsers" minOccurs="0"/>
                <xsd:element ref="ns3:SharedWithDetails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SearchProperties" minOccurs="0"/>
                <xsd:element ref="ns2:MediaServiceObjectDetectorVersions" minOccurs="0"/>
                <xsd:element ref="ns2:_xbbf8__xb9ac__xbcf4__xae30_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cb2b4a5-cb44-4291-9886-2edaa9e85bdf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ServiceOCR" ma:index="1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Location" ma:index="14" nillable="true" ma:displayName="Location" ma:internalName="MediaServiceLocation" ma:readOnly="true">
      <xsd:simpleType>
        <xsd:restriction base="dms:Text"/>
      </xsd:simpleType>
    </xsd:element>
    <xsd:element name="MediaServiceAutoKeyPoints" ma:index="15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6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LengthInSeconds" ma:index="19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21" nillable="true" ma:taxonomy="true" ma:internalName="lcf76f155ced4ddcb4097134ff3c332f" ma:taxonomyFieldName="MediaServiceImageTags" ma:displayName="이미지 태그" ma:readOnly="false" ma:fieldId="{5cf76f15-5ced-4ddc-b409-7134ff3c332f}" ma:taxonomyMulti="true" ma:sspId="2641299d-3420-4534-9c49-27313639e989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SearchProperties" ma:index="23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24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_xbbf8__xb9ac__xbcf4__xae30_" ma:index="25" nillable="true" ma:displayName="미리보기" ma:format="Thumbnail" ma:internalName="_xbbf8__xb9ac__xbcf4__xae30_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88e242b-24fc-4e0f-9d1e-ff21a8f51232" elementFormDefault="qualified">
    <xsd:import namespace="http://schemas.microsoft.com/office/2006/documentManagement/types"/>
    <xsd:import namespace="http://schemas.microsoft.com/office/infopath/2007/PartnerControls"/>
    <xsd:element name="SharedWithUsers" ma:index="17" nillable="true" ma:displayName="공유 대상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8" nillable="true" ma:displayName="세부 정보 공유" ma:internalName="SharedWithDetails" ma:readOnly="true">
      <xsd:simpleType>
        <xsd:restriction base="dms:Note">
          <xsd:maxLength value="255"/>
        </xsd:restriction>
      </xsd:simpleType>
    </xsd:element>
    <xsd:element name="TaxCatchAll" ma:index="22" nillable="true" ma:displayName="Taxonomy Catch All Column" ma:hidden="true" ma:list="{00543c7f-4928-4de1-899e-5400b04075d5}" ma:internalName="TaxCatchAll" ma:showField="CatchAllData" ma:web="e88e242b-24fc-4e0f-9d1e-ff21a8f51232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콘텐츠 형식"/>
        <xsd:element ref="dc:title" minOccurs="0" maxOccurs="1" ma:index="4" ma:displayName="제목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38D3ED33-DD31-4F1F-A409-9876B920A0AC}">
  <ds:schemaRefs>
    <ds:schemaRef ds:uri="bcb2b4a5-cb44-4291-9886-2edaa9e85bdf"/>
    <ds:schemaRef ds:uri="e88e242b-24fc-4e0f-9d1e-ff21a8f51232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F714D744-C26F-4649-A6D6-5DDDD270EE20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AWS Confidential Light</Template>
  <TotalTime>804</TotalTime>
  <Words>2830</Words>
  <Application>Microsoft Macintosh PowerPoint</Application>
  <PresentationFormat>Widescreen</PresentationFormat>
  <Paragraphs>697</Paragraphs>
  <Slides>47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47</vt:i4>
      </vt:variant>
    </vt:vector>
  </HeadingPairs>
  <TitlesOfParts>
    <vt:vector size="58" baseType="lpstr">
      <vt:lpstr>Amazon Ember</vt:lpstr>
      <vt:lpstr>Pretendard SemiBold</vt:lpstr>
      <vt:lpstr>Pretendard Medium</vt:lpstr>
      <vt:lpstr>Pretendard Variable Black</vt:lpstr>
      <vt:lpstr>Pretendard Variable Medium</vt:lpstr>
      <vt:lpstr>Cambria Math</vt:lpstr>
      <vt:lpstr>Wingdings</vt:lpstr>
      <vt:lpstr>Pretendard Light</vt:lpstr>
      <vt:lpstr>Pretendard</vt:lpstr>
      <vt:lpstr>Arial</vt:lpstr>
      <vt:lpstr>AWS Confidential Light</vt:lpstr>
      <vt:lpstr>Week 10 – Diffusion language models 3 </vt:lpstr>
      <vt:lpstr>Table of contents</vt:lpstr>
      <vt:lpstr>DLM Sampling</vt:lpstr>
      <vt:lpstr>Review: Masked Diffusion Language Model (MDLM)</vt:lpstr>
      <vt:lpstr>Three flavors of sampling DLM</vt:lpstr>
      <vt:lpstr>Three flavors of sampling DLM</vt:lpstr>
      <vt:lpstr>Table of contents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Semi-AR sampling &amp; approximate KV caching</vt:lpstr>
      <vt:lpstr>PowerPoint Presentation</vt:lpstr>
      <vt:lpstr>PowerPoint Presentation</vt:lpstr>
      <vt:lpstr>But why semi-AR sampling for DLMs?</vt:lpstr>
      <vt:lpstr>For better variable-length generation</vt:lpstr>
      <vt:lpstr>For better variable-length generation</vt:lpstr>
      <vt:lpstr>Approximate KV caching in Fast-dLLM</vt:lpstr>
      <vt:lpstr>Approximate KV caching in Fast-dLLM</vt:lpstr>
      <vt:lpstr>Approximate KV caching in DLMs</vt:lpstr>
      <vt:lpstr>Approximate KV caching in DLMs</vt:lpstr>
      <vt:lpstr>Approximate KV caching in DLMs</vt:lpstr>
      <vt:lpstr>Long context + DLM = 🐌</vt:lpstr>
      <vt:lpstr>Block diffusion: hybrid of diffusion and AR</vt:lpstr>
      <vt:lpstr>Block diffusion</vt:lpstr>
      <vt:lpstr>PowerPoint Presentation</vt:lpstr>
      <vt:lpstr>PowerPoint Presentation</vt:lpstr>
      <vt:lpstr>PowerPoint Presentation</vt:lpstr>
      <vt:lpstr>Block diffusion is very much like AR</vt:lpstr>
      <vt:lpstr>Block diffusion -- results</vt:lpstr>
      <vt:lpstr>PowerPoint Presentation</vt:lpstr>
      <vt:lpstr>Post-training</vt:lpstr>
      <vt:lpstr>Diffusion of Thought (NeurIPS ‘24)</vt:lpstr>
      <vt:lpstr>DoT -- modeling</vt:lpstr>
      <vt:lpstr>DoT -- modeling</vt:lpstr>
      <vt:lpstr>Training DoT</vt:lpstr>
      <vt:lpstr>Training DoT-MP</vt:lpstr>
      <vt:lpstr>DoT -- result</vt:lpstr>
      <vt:lpstr>Post-training DLMs</vt:lpstr>
      <vt:lpstr>Estimating the likelihood of each token is hard in DLMs</vt:lpstr>
      <vt:lpstr>How to efficiently estimate </vt:lpstr>
      <vt:lpstr>d1: estimation via one-step</vt:lpstr>
      <vt:lpstr>Mask the prompt?</vt:lpstr>
      <vt:lpstr>References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This template includes</dc:title>
  <dc:creator>Microsoft Office User</dc:creator>
  <cp:lastModifiedBy>Yejoon Lee</cp:lastModifiedBy>
  <cp:revision>2</cp:revision>
  <dcterms:created xsi:type="dcterms:W3CDTF">2023-03-29T00:28:06Z</dcterms:created>
  <dcterms:modified xsi:type="dcterms:W3CDTF">2025-08-27T05:01:48Z</dcterms:modified>
</cp:coreProperties>
</file>